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本页左侧依据Su等论文Figure 5J重新绘制，采用本套PPT的蓝白配色，删除原图中的彩色小球，仅保留可编辑的分子式、候选物种和反应箭头。PS、氧化中间体和芳香产物采用类别式结构表达；“PS–OOH / PS–C(=O)–”及“Ph–CHO / Ph–CO2H”用于概括文献讨论的氧化物种和芳香含氧产物，不表示这些结构在每一步均被逐一直接证明。右侧两张实验图仍保留论文原图。讲解时强调：GPC提供链长下降证据，PBN–EPR提供Cl自由基归属证据，两类证据共同支持含氯介质参与PS光裂解，但不能直接外推到PVC/EAQ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理论可行性：活性物种介导 PS 氧化断链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PS / CH₂Cl₂ 无外加光催化剂：原文机理、GPC 降链与 PBN–EPR 活性物种证据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Su et al., Angew. Chem. Int. Ed. 2026, e5578835. DOI: 10.1002/anie.5578835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35024"/>
            <a:ext cx="7543800" cy="4535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749039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81912"/>
            <a:ext cx="3566159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模板重绘｜仅保留分子式与反应路径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1783080" cy="932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212848"/>
            <a:ext cx="1618488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30" b="1">
                <a:solidFill>
                  <a:srgbClr val="063584"/>
                </a:solidFill>
                <a:latin typeface="Microsoft YaHei"/>
              </a:defRPr>
            </a:pPr>
            <a:r>
              <a:t>聚苯乙烯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87752"/>
            <a:ext cx="1673352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[–CH₂–CH(Ph)–]ₙ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2103120"/>
            <a:ext cx="1901952" cy="932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212848"/>
            <a:ext cx="1737360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30" b="1">
                <a:solidFill>
                  <a:srgbClr val="063584"/>
                </a:solidFill>
                <a:latin typeface="Microsoft YaHei"/>
              </a:defRPr>
            </a:pPr>
            <a:r>
              <a:t>氧化中间体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587752"/>
            <a:ext cx="1792224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PS–OOH / PS–C(=O)–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2" y="2103120"/>
            <a:ext cx="1755648" cy="932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2212848"/>
            <a:ext cx="1591056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30" b="1">
                <a:solidFill>
                  <a:srgbClr val="063584"/>
                </a:solidFill>
                <a:latin typeface="Microsoft YaHei"/>
              </a:defRPr>
            </a:pPr>
            <a:r>
              <a:t>芳香产物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696" y="2587752"/>
            <a:ext cx="1645919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Ph–CHO / Ph–CO₂H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95728" y="2578608"/>
            <a:ext cx="475488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95728" y="2258568"/>
            <a:ext cx="45720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69" b="1">
                <a:solidFill>
                  <a:srgbClr val="063584"/>
                </a:solidFill>
                <a:latin typeface="Microsoft YaHei"/>
              </a:defRPr>
            </a:pPr>
            <a:r>
              <a:t>活性物种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2040" y="2578608"/>
            <a:ext cx="548640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10328" y="2221992"/>
            <a:ext cx="512064" cy="32918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30" b="1">
                <a:solidFill>
                  <a:srgbClr val="063584"/>
                </a:solidFill>
                <a:latin typeface="Microsoft YaHei"/>
              </a:defRPr>
            </a:pPr>
            <a:r>
              <a:t>C–H / C–C</a:t>
            </a:r>
          </a:p>
          <a:p>
            <a:pPr algn="ctr">
              <a:spcAft>
                <a:spcPts val="200"/>
              </a:spcAft>
              <a:defRPr sz="830" b="1">
                <a:solidFill>
                  <a:srgbClr val="063584"/>
                </a:solidFill>
                <a:latin typeface="Microsoft YaHei"/>
              </a:defRPr>
            </a:pPr>
            <a:r>
              <a:t>断裂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" y="3337560"/>
            <a:ext cx="1920240" cy="0"/>
          </a:xfrm>
          <a:prstGeom prst="line">
            <a:avLst/>
          </a:prstGeom>
          <a:ln w="13970">
            <a:solidFill>
              <a:srgbClr val="566273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15568" y="3090672"/>
            <a:ext cx="140817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19" b="1">
                <a:solidFill>
                  <a:srgbClr val="566273"/>
                </a:solidFill>
                <a:latin typeface="Microsoft YaHei"/>
              </a:defRPr>
            </a:pPr>
            <a:r>
              <a:t>直接光解不足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3191256"/>
            <a:ext cx="274320" cy="25603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05072"/>
            <a:ext cx="1874519" cy="65836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133087"/>
            <a:ext cx="1691640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063584"/>
                </a:solidFill>
                <a:latin typeface="Arial"/>
              </a:defRPr>
            </a:pPr>
            <a:r>
              <a:t>O₂ + CH₂Cl₂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90672" y="3913632"/>
            <a:ext cx="1993392" cy="841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91256" y="4023360"/>
            <a:ext cx="1792224" cy="2103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150" b="1">
                <a:solidFill>
                  <a:srgbClr val="063584"/>
                </a:solidFill>
                <a:latin typeface="Microsoft YaHei"/>
              </a:defRPr>
            </a:pPr>
            <a:r>
              <a:t>候选活性物种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256" y="4370832"/>
            <a:ext cx="1792224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50" b="1">
                <a:solidFill>
                  <a:srgbClr val="111111"/>
                </a:solidFill>
                <a:latin typeface="Arial"/>
              </a:defRPr>
            </a:pPr>
            <a:r>
              <a:t>¹O₂ / O₂•⁻ / Cl•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78608" y="4334256"/>
            <a:ext cx="438912" cy="0"/>
          </a:xfrm>
          <a:prstGeom prst="line">
            <a:avLst/>
          </a:prstGeom>
          <a:ln w="2159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87752" y="4069080"/>
            <a:ext cx="429768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hν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754880"/>
            <a:ext cx="233172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80" b="1">
                <a:solidFill>
                  <a:srgbClr val="063584"/>
                </a:solidFill>
                <a:latin typeface="Arial"/>
              </a:defRPr>
            </a:pPr>
            <a:r>
              <a:t>Pathway A｜含氯介质提供活性入口</a:t>
            </a:r>
          </a:p>
        </p:txBody>
      </p:sp>
      <p:sp>
        <p:nvSpPr>
          <p:cNvPr id="34" name="Freeform 33"/>
          <p:cNvSpPr/>
          <p:nvPr/>
        </p:nvSpPr>
        <p:spPr>
          <a:xfrm>
            <a:off x="1463040" y="3072384"/>
            <a:ext cx="2624328" cy="813816"/>
          </a:xfrm>
          <a:custGeom>
            <a:avLst/>
            <a:gdLst/>
            <a:ahLst/>
            <a:cxnLst/>
            <a:rect l="l" t="t" r="r" b="b"/>
            <a:pathLst>
              <a:path w="2624328" h="813816">
                <a:moveTo>
                  <a:pt x="2624328" y="813816"/>
                </a:moveTo>
                <a:lnTo>
                  <a:pt x="2624328" y="448056"/>
                </a:lnTo>
                <a:lnTo>
                  <a:pt x="0" y="448056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4C7FC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886200" y="3054096"/>
            <a:ext cx="1435608" cy="832104"/>
          </a:xfrm>
          <a:custGeom>
            <a:avLst/>
            <a:gdLst/>
            <a:ahLst/>
            <a:cxnLst/>
            <a:rect l="l" t="t" r="r" b="b"/>
            <a:pathLst>
              <a:path w="1435608" h="832104">
                <a:moveTo>
                  <a:pt x="0" y="0"/>
                </a:moveTo>
                <a:lnTo>
                  <a:pt x="0" y="585216"/>
                </a:lnTo>
                <a:lnTo>
                  <a:pt x="1435608" y="585216"/>
                </a:lnTo>
                <a:lnTo>
                  <a:pt x="1435608" y="832104"/>
                </a:lnTo>
              </a:path>
            </a:pathLst>
          </a:custGeom>
          <a:noFill/>
          <a:ln w="19050">
            <a:solidFill>
              <a:srgbClr val="4C7FC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3208" y="4754880"/>
            <a:ext cx="2359152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80" b="1">
                <a:solidFill>
                  <a:srgbClr val="063584"/>
                </a:solidFill>
                <a:latin typeface="Arial"/>
              </a:defRPr>
            </a:pPr>
            <a:r>
              <a:t>Pathway B｜氧化中间体促进后续反应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5102352"/>
            <a:ext cx="6912864" cy="34747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566273"/>
                </a:solidFill>
                <a:latin typeface="Microsoft YaHei"/>
              </a:defRPr>
            </a:pPr>
            <a:r>
              <a:t>该图为依据原文 Figure 5J 的模板化重绘；分子式用于表达物种类别，不代表产物均已逐一确认。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4152" y="1335024"/>
            <a:ext cx="3794760" cy="22128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7031" y="1499616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1563624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Cl· 证据｜PBN–EPR（Fig. 5A–B）</a:t>
            </a:r>
          </a:p>
        </p:txBody>
      </p:sp>
      <p:pic>
        <p:nvPicPr>
          <p:cNvPr id="41" name="Picture 40" descr="epr_fig5ab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920240"/>
            <a:ext cx="3383280" cy="1307592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8266175" y="3383280"/>
            <a:ext cx="3419856" cy="14630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850" b="0">
                <a:solidFill>
                  <a:srgbClr val="566273"/>
                </a:solidFill>
                <a:latin typeface="Microsoft YaHei"/>
              </a:defRPr>
            </a:pPr>
            <a:r>
              <a:t>实验谱与 PBN–Cl· 模拟谱相符；作者据此归属 Cl·。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74152" y="3685032"/>
            <a:ext cx="3794760" cy="21854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57031" y="3840480"/>
            <a:ext cx="34290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1" y="3904488"/>
            <a:ext cx="32461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30" b="1">
                <a:solidFill>
                  <a:srgbClr val="063584"/>
                </a:solidFill>
                <a:latin typeface="Microsoft YaHei"/>
              </a:defRPr>
            </a:pPr>
            <a:r>
              <a:t>降链证据｜GPC 结果（Fig. 2D）</a:t>
            </a:r>
          </a:p>
        </p:txBody>
      </p:sp>
      <p:pic>
        <p:nvPicPr>
          <p:cNvPr id="46" name="Picture 45" descr="gpc_fig2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4251960"/>
            <a:ext cx="2606040" cy="1353312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8284464" y="5605272"/>
            <a:ext cx="33832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Mₙ 75.1→1.2 kDa；Mᵥ 208.4→1.3 kDa。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文献启发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6099048"/>
            <a:ext cx="950976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90" b="1">
                <a:solidFill>
                  <a:srgbClr val="C00000"/>
                </a:solidFill>
                <a:latin typeface="Microsoft YaHei"/>
              </a:defRPr>
            </a:pPr>
            <a:r>
              <a:t>GPC 证实 PS 降链，PBN–EPR 支持 Cl· 生成：“含氯介质—活性物种—聚合物断裂”具有可行性，为引入 EAQ 提供依据。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