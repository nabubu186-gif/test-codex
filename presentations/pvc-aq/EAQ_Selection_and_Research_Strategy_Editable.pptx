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将EAQ定位为反应的光敏启动组分。左侧为2-乙基蒽醌光循环的文献原图：EAQ吸光后从供氢体获得氢，形成半醌或氢化态物种，并在氧气参与下恢复EAQ。右侧三点依次说明长寿命激发态、HAT/电子转移生成初始碳自由基以及氧气参与再生。下方流程中，从光照到初始自由基使用实线；初始自由基进一步导致PVC氧化与断链使用虚线，表示尚待本课题验证。本页不声称EAQ已直接活化PVC的C-Cl键，也不预设Cl自由基已形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解释为什么采用由简单到复杂的底物路线。第一阶段先确认EAQ光化学入口是否必要，避免把溶剂自身反应误判为底物活化。第二阶段使用已经开展的2-氯戊烷模型反应，后续可扩展到2-氯己烷，重点用GC-MS、可靠产物归属和氯平衡定位局部C-H/C-Cl反应。第三阶段进入氯代石蜡等连续含氯位点底物，观察链式传播、竞争反应和产物分布。第四阶段研究PVC，必须同时评价脱氯、氧化与SEC/GPC分子量变化，不能只凭官能团变化判断降解。模型分子帮助研究局部化学步骤，但不能完全模拟PVC的链构象、聚集态和传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0896" y="155448"/>
            <a:ext cx="11567160" cy="4937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063584"/>
                </a:solidFill>
                <a:latin typeface="Microsoft YaHei"/>
              </a:defRPr>
            </a:pPr>
            <a:r>
              <a:t>光敏组分选择：EAQ用于启动初始自由基过程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10896" y="758952"/>
            <a:ext cx="11558016" cy="0"/>
          </a:xfrm>
          <a:prstGeom prst="line">
            <a:avLst/>
          </a:prstGeom>
          <a:ln w="2159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56616" y="896112"/>
            <a:ext cx="11457432" cy="32004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200"/>
              </a:spcAft>
              <a:defRPr sz="1250" b="0">
                <a:solidFill>
                  <a:srgbClr val="566273"/>
                </a:solidFill>
                <a:latin typeface="Microsoft YaHei"/>
              </a:defRPr>
            </a:pPr>
            <a:r>
              <a:t>文献证明2-EAQ可经历光激发、供氢体活化与O₂再生；本课题将其定位为候选光敏启动组分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" y="6574536"/>
            <a:ext cx="1088136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200"/>
              </a:spcAft>
              <a:defRPr sz="760" b="0">
                <a:solidFill>
                  <a:srgbClr val="566273"/>
                </a:solidFill>
                <a:latin typeface="Arial"/>
              </a:defRPr>
            </a:pPr>
            <a:r>
              <a:t>Chen et al., Environ. Sci. Ecotechnol. 2024, 22, 100449.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56248"/>
            <a:ext cx="448056" cy="20116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200"/>
              </a:spcAft>
              <a:defRPr sz="950" b="1">
                <a:solidFill>
                  <a:srgbClr val="063584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307592"/>
            <a:ext cx="4599432" cy="327355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57784" y="1508760"/>
            <a:ext cx="4114800" cy="329184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572768"/>
            <a:ext cx="3931920" cy="20116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200"/>
              </a:spcAft>
              <a:defRPr sz="1320" b="1">
                <a:solidFill>
                  <a:srgbClr val="063584"/>
                </a:solidFill>
                <a:latin typeface="Microsoft YaHei"/>
              </a:defRPr>
            </a:pPr>
            <a:r>
              <a:t>文献先例｜光激发—供氢体—氧气</a:t>
            </a:r>
          </a:p>
        </p:txBody>
      </p:sp>
      <p:pic>
        <p:nvPicPr>
          <p:cNvPr id="10" name="Picture 9" descr="fig2b_clean_for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993392"/>
            <a:ext cx="4023360" cy="1929384"/>
          </a:xfrm>
          <a:prstGeom prst="rect">
            <a:avLst/>
          </a:prstGeom>
          <a:effectLst/>
        </p:spPr>
      </p:pic>
      <p:sp>
        <p:nvSpPr>
          <p:cNvPr id="11" name="TextBox 10"/>
          <p:cNvSpPr txBox="1"/>
          <p:nvPr/>
        </p:nvSpPr>
        <p:spPr>
          <a:xfrm>
            <a:off x="603504" y="4041648"/>
            <a:ext cx="4023360" cy="29260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200"/>
              </a:spcAft>
              <a:defRPr sz="1110" b="0">
                <a:solidFill>
                  <a:srgbClr val="111111"/>
                </a:solidFill>
                <a:latin typeface="Microsoft YaHei"/>
              </a:defRPr>
            </a:pPr>
            <a:r>
              <a:t>2-EAQ从供氢体获得氢，还原态物种再与O₂反应并恢复EAQ。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4389120"/>
            <a:ext cx="3986784" cy="12801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200"/>
              </a:spcAft>
              <a:defRPr sz="780" b="0">
                <a:solidFill>
                  <a:srgbClr val="566273"/>
                </a:solidFill>
                <a:latin typeface="Microsoft YaHei"/>
              </a:defRPr>
            </a:pPr>
            <a:r>
              <a:t>Chen et al. 2024, Fig. 2b；原图引自其 Ref. 99。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75504" y="1335024"/>
            <a:ext cx="6693408" cy="9144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266944" y="1591056"/>
            <a:ext cx="402336" cy="402336"/>
          </a:xfrm>
          <a:prstGeom prst="ellipse">
            <a:avLst/>
          </a:prstGeom>
          <a:solidFill>
            <a:srgbClr val="063584"/>
          </a:solidFill>
          <a:ln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0096" y="1682495"/>
            <a:ext cx="256032" cy="20116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8152" y="1481328"/>
            <a:ext cx="2331720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200"/>
              </a:spcAft>
              <a:defRPr sz="1620" b="1">
                <a:solidFill>
                  <a:srgbClr val="063584"/>
                </a:solidFill>
                <a:latin typeface="Microsoft YaHei"/>
              </a:defRPr>
            </a:pPr>
            <a:r>
              <a:t>形成长寿命激发态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431" y="1490472"/>
            <a:ext cx="3529584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200"/>
              </a:spcAft>
              <a:defRPr sz="1220" b="1">
                <a:solidFill>
                  <a:srgbClr val="063584"/>
                </a:solidFill>
                <a:latin typeface="Arial"/>
              </a:defRPr>
            </a:pPr>
            <a:r>
              <a:t>EAQ ─hν→ ¹EAQ* ─ISC→ ³EAQ*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88152" y="1874519"/>
            <a:ext cx="5724144" cy="21031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566273"/>
                </a:solidFill>
                <a:latin typeface="Microsoft YaHei"/>
              </a:defRPr>
            </a:pPr>
            <a:r>
              <a:t>为HAT或电子转移提供反应时间窗口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75504" y="2404872"/>
            <a:ext cx="6693408" cy="9144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66944" y="2660903"/>
            <a:ext cx="402336" cy="402336"/>
          </a:xfrm>
          <a:prstGeom prst="ellipse">
            <a:avLst/>
          </a:prstGeom>
          <a:solidFill>
            <a:srgbClr val="063584"/>
          </a:solidFill>
          <a:ln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0096" y="2752344"/>
            <a:ext cx="256032" cy="20116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88152" y="2551176"/>
            <a:ext cx="2331720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200"/>
              </a:spcAft>
              <a:defRPr sz="1620" b="1">
                <a:solidFill>
                  <a:srgbClr val="063584"/>
                </a:solidFill>
                <a:latin typeface="Microsoft YaHei"/>
              </a:defRPr>
            </a:pPr>
            <a:r>
              <a:t>启动底物自由基过程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28431" y="2560320"/>
            <a:ext cx="3529584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200"/>
              </a:spcAft>
              <a:defRPr sz="1220" b="1">
                <a:solidFill>
                  <a:srgbClr val="063584"/>
                </a:solidFill>
                <a:latin typeface="Arial"/>
              </a:defRPr>
            </a:pPr>
            <a:r>
              <a:t>HAT / 电子转移 → R·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88152" y="2944368"/>
            <a:ext cx="5724144" cy="21031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566273"/>
                </a:solidFill>
                <a:latin typeface="Microsoft YaHei"/>
              </a:defRPr>
            </a:pPr>
            <a:r>
              <a:t>将光能转化为初始碳中心自由基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75504" y="3474720"/>
            <a:ext cx="6693408" cy="9144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266944" y="3730752"/>
            <a:ext cx="402336" cy="402336"/>
          </a:xfrm>
          <a:prstGeom prst="ellipse">
            <a:avLst/>
          </a:prstGeom>
          <a:solidFill>
            <a:srgbClr val="063584"/>
          </a:solidFill>
          <a:ln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0096" y="3822191"/>
            <a:ext cx="256032" cy="20116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88152" y="3621024"/>
            <a:ext cx="2331720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200"/>
              </a:spcAft>
              <a:defRPr sz="1620" b="1">
                <a:solidFill>
                  <a:srgbClr val="063584"/>
                </a:solidFill>
                <a:latin typeface="Microsoft YaHei"/>
              </a:defRPr>
            </a:pPr>
            <a:r>
              <a:t>与O₂耦合并再生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28431" y="3630168"/>
            <a:ext cx="3529584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200"/>
              </a:spcAft>
              <a:defRPr sz="1220" b="1">
                <a:solidFill>
                  <a:srgbClr val="063584"/>
                </a:solidFill>
                <a:latin typeface="Arial"/>
              </a:defRPr>
            </a:pPr>
            <a:r>
              <a:t>EAQH· / EAQH₂ + O₂ → EAQ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88152" y="4014215"/>
            <a:ext cx="5724144" cy="21031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566273"/>
                </a:solidFill>
                <a:latin typeface="Microsoft YaHei"/>
              </a:defRPr>
            </a:pPr>
            <a:r>
              <a:t>支持光敏循环及后续氧化过程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4754880"/>
            <a:ext cx="11548872" cy="1042415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57784" y="4928616"/>
            <a:ext cx="1417320" cy="329184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" y="4992624"/>
            <a:ext cx="1234440" cy="20116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200"/>
              </a:spcAft>
              <a:defRPr sz="1320" b="1">
                <a:solidFill>
                  <a:srgbClr val="063584"/>
                </a:solidFill>
                <a:latin typeface="Microsoft YaHei"/>
              </a:defRPr>
            </a:pPr>
            <a:r>
              <a:t>本课题作用定位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94560" y="4928616"/>
            <a:ext cx="1481328" cy="420624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31136" y="5038344"/>
            <a:ext cx="1408176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200"/>
              </a:spcAft>
              <a:defRPr sz="1080" b="1">
                <a:solidFill>
                  <a:srgbClr val="063584"/>
                </a:solidFill>
                <a:latin typeface="Microsoft YaHei"/>
              </a:defRPr>
            </a:pPr>
            <a:r>
              <a:t>365 nm 光照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703320" y="5138928"/>
            <a:ext cx="411480" cy="0"/>
          </a:xfrm>
          <a:prstGeom prst="line">
            <a:avLst/>
          </a:prstGeom>
          <a:ln w="19050">
            <a:solidFill>
              <a:srgbClr val="4C7FC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187952" y="4928616"/>
            <a:ext cx="1481328" cy="420624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24528" y="5038344"/>
            <a:ext cx="1408176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200"/>
              </a:spcAft>
              <a:defRPr sz="1080" b="1">
                <a:solidFill>
                  <a:srgbClr val="063584"/>
                </a:solidFill>
                <a:latin typeface="Microsoft YaHei"/>
              </a:defRPr>
            </a:pPr>
            <a:r>
              <a:t>EAQ 激发态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696712" y="5138928"/>
            <a:ext cx="402336" cy="0"/>
          </a:xfrm>
          <a:prstGeom prst="line">
            <a:avLst/>
          </a:prstGeom>
          <a:ln w="19050">
            <a:solidFill>
              <a:srgbClr val="4C7FC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172200" y="4928616"/>
            <a:ext cx="1481328" cy="420624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08776" y="5038344"/>
            <a:ext cx="1408176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200"/>
              </a:spcAft>
              <a:defRPr sz="1080" b="1">
                <a:solidFill>
                  <a:srgbClr val="063584"/>
                </a:solidFill>
                <a:latin typeface="Microsoft YaHei"/>
              </a:defRPr>
            </a:pPr>
            <a:r>
              <a:t>HAT / 电子转移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680960" y="5138928"/>
            <a:ext cx="466344" cy="0"/>
          </a:xfrm>
          <a:prstGeom prst="line">
            <a:avLst/>
          </a:prstGeom>
          <a:ln w="19050">
            <a:solidFill>
              <a:srgbClr val="4C7FC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8220456" y="4928616"/>
            <a:ext cx="1481328" cy="420624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57031" y="5038344"/>
            <a:ext cx="1408176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200"/>
              </a:spcAft>
              <a:defRPr sz="1080" b="1">
                <a:solidFill>
                  <a:srgbClr val="063584"/>
                </a:solidFill>
                <a:latin typeface="Arial"/>
              </a:defRPr>
            </a:pPr>
            <a:r>
              <a:t>初始自由基 R·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729216" y="5138928"/>
            <a:ext cx="420624" cy="0"/>
          </a:xfrm>
          <a:prstGeom prst="line">
            <a:avLst/>
          </a:prstGeom>
          <a:ln w="19050">
            <a:solidFill>
              <a:srgbClr val="4C7FC1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0222992" y="4928616"/>
            <a:ext cx="1481328" cy="42062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4C7F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259567" y="5038344"/>
            <a:ext cx="1408176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200"/>
              </a:spcAft>
              <a:defRPr sz="1080" b="1">
                <a:solidFill>
                  <a:srgbClr val="063584"/>
                </a:solidFill>
                <a:latin typeface="Microsoft YaHei"/>
              </a:defRPr>
            </a:pPr>
            <a:r>
              <a:t>氧化与潜在断链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4464" y="5422392"/>
            <a:ext cx="3429000" cy="1645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200"/>
              </a:spcAft>
              <a:defRPr sz="860" b="0">
                <a:solidFill>
                  <a:srgbClr val="566273"/>
                </a:solidFill>
                <a:latin typeface="Microsoft YaHei"/>
              </a:defRPr>
            </a:pPr>
            <a:r>
              <a:t>虚线：在PVC体系中尚待验证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6007608"/>
            <a:ext cx="11548872" cy="438912"/>
          </a:xfrm>
          <a:prstGeom prst="rect">
            <a:avLst/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hevron 49"/>
          <p:cNvSpPr/>
          <p:nvPr/>
        </p:nvSpPr>
        <p:spPr>
          <a:xfrm>
            <a:off x="438912" y="6080760"/>
            <a:ext cx="1527048" cy="274320"/>
          </a:xfrm>
          <a:prstGeom prst="chevron">
            <a:avLst/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6108192"/>
            <a:ext cx="1234440" cy="20116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核心结论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03120" y="6099048"/>
            <a:ext cx="9528048" cy="24688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200"/>
              </a:spcAft>
              <a:defRPr sz="1280" b="1">
                <a:solidFill>
                  <a:srgbClr val="C00000"/>
                </a:solidFill>
                <a:latin typeface="Microsoft YaHei"/>
              </a:defRPr>
            </a:pPr>
            <a:r>
              <a:t>EAQ通过吸收光能并经HAT/电子转移产生初始自由基，启动后续氧化与潜在断链，因此选作光敏启动组分。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0896" y="155448"/>
            <a:ext cx="11567160" cy="4937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063584"/>
                </a:solidFill>
                <a:latin typeface="Microsoft YaHei"/>
              </a:defRPr>
            </a:pPr>
            <a:r>
              <a:t>研究策略：由模型反应逐级验证至PVC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10896" y="758952"/>
            <a:ext cx="11558016" cy="0"/>
          </a:xfrm>
          <a:prstGeom prst="line">
            <a:avLst/>
          </a:prstGeom>
          <a:ln w="2159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56616" y="896112"/>
            <a:ext cx="11457432" cy="32004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200"/>
              </a:spcAft>
              <a:defRPr sz="1250" b="0">
                <a:solidFill>
                  <a:srgbClr val="566273"/>
                </a:solidFill>
                <a:latin typeface="Microsoft YaHei"/>
              </a:defRPr>
            </a:pPr>
            <a:r>
              <a:t>从光敏入口、局部C–H/C–Cl反应、连续含氯位点到真实聚合物链环境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" y="6574536"/>
            <a:ext cx="1088136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200"/>
              </a:spcAft>
              <a:defRPr sz="760" b="0">
                <a:solidFill>
                  <a:srgbClr val="566273"/>
                </a:solidFill>
                <a:latin typeface="Arial"/>
              </a:defRPr>
            </a:pPr>
            <a:r>
              <a:t>本课题研究路线；模型底物与PVC的证据层级分别评价。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56248"/>
            <a:ext cx="448056" cy="20116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200"/>
              </a:spcAft>
              <a:defRPr sz="950" b="1">
                <a:solidFill>
                  <a:srgbClr val="063584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344168"/>
            <a:ext cx="2587752" cy="444398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7472" y="1371600"/>
            <a:ext cx="2532888" cy="384048"/>
          </a:xfrm>
          <a:prstGeom prst="roundRect">
            <a:avLst>
              <a:gd name="adj" fmla="val 2500"/>
            </a:avLst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453896"/>
            <a:ext cx="2350008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200"/>
              </a:spcAft>
              <a:defRPr sz="1370" b="1">
                <a:solidFill>
                  <a:srgbClr val="FFFFFF"/>
                </a:solidFill>
                <a:latin typeface="Microsoft YaHei"/>
              </a:defRPr>
            </a:pPr>
            <a:r>
              <a:t>EAQ 光化学入口</a:t>
            </a:r>
          </a:p>
        </p:txBody>
      </p:sp>
      <p:sp>
        <p:nvSpPr>
          <p:cNvPr id="10" name="Oval 9"/>
          <p:cNvSpPr/>
          <p:nvPr/>
        </p:nvSpPr>
        <p:spPr>
          <a:xfrm>
            <a:off x="484632" y="1865376"/>
            <a:ext cx="365760" cy="365760"/>
          </a:xfrm>
          <a:prstGeom prst="ellipse">
            <a:avLst/>
          </a:prstGeom>
          <a:solidFill>
            <a:srgbClr val="063584"/>
          </a:solidFill>
          <a:ln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" y="1947672"/>
            <a:ext cx="219456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404872"/>
            <a:ext cx="2130552" cy="603504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7" y="2578608"/>
            <a:ext cx="2002536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200"/>
              </a:spcAft>
              <a:defRPr sz="1260" b="1">
                <a:solidFill>
                  <a:srgbClr val="063584"/>
                </a:solidFill>
                <a:latin typeface="Arial"/>
              </a:defRPr>
            </a:pPr>
            <a:r>
              <a:t>EAQ ─hν→ EAQ*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3218688"/>
            <a:ext cx="2075688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200"/>
              </a:spcAft>
              <a:defRPr sz="1019" b="1">
                <a:solidFill>
                  <a:srgbClr val="566273"/>
                </a:solidFill>
                <a:latin typeface="Microsoft YaHei"/>
              </a:defRPr>
            </a:pPr>
            <a:r>
              <a:t>核心任务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3493008"/>
            <a:ext cx="2075688" cy="56692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200"/>
              </a:spcAft>
              <a:defRPr sz="1310" b="1">
                <a:solidFill>
                  <a:srgbClr val="111111"/>
                </a:solidFill>
                <a:latin typeface="Microsoft YaHei"/>
              </a:defRPr>
            </a:pPr>
            <a:r>
              <a:t>确认EAQ是否真正启动反应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6072" y="4178808"/>
            <a:ext cx="2075688" cy="0"/>
          </a:xfrm>
          <a:prstGeom prst="line">
            <a:avLst/>
          </a:prstGeom>
          <a:ln w="12700">
            <a:solidFill>
              <a:srgbClr val="D5DF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76072" y="4334256"/>
            <a:ext cx="2075688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200"/>
              </a:spcAft>
              <a:defRPr sz="1019" b="1">
                <a:solidFill>
                  <a:srgbClr val="566273"/>
                </a:solidFill>
                <a:latin typeface="Microsoft YaHei"/>
              </a:defRPr>
            </a:pPr>
            <a:r>
              <a:t>判断依据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59" y="4617720"/>
            <a:ext cx="2039112" cy="43891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200"/>
              </a:spcAft>
              <a:defRPr sz="1070" b="0">
                <a:solidFill>
                  <a:srgbClr val="111111"/>
                </a:solidFill>
                <a:latin typeface="Microsoft YaHei"/>
              </a:defRPr>
            </a:pPr>
            <a:r>
              <a:t>光/暗；有/无EAQ；吸收与稳定性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" y="5239512"/>
            <a:ext cx="1965960" cy="320040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5321808"/>
            <a:ext cx="1874519" cy="1645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200"/>
              </a:spcAft>
              <a:defRPr sz="1040" b="1">
                <a:solidFill>
                  <a:srgbClr val="063584"/>
                </a:solidFill>
                <a:latin typeface="Microsoft YaHei"/>
              </a:defRPr>
            </a:pPr>
            <a:r>
              <a:t>入口必要性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935224" y="3456432"/>
            <a:ext cx="237744" cy="0"/>
          </a:xfrm>
          <a:prstGeom prst="line">
            <a:avLst/>
          </a:prstGeom>
          <a:ln w="20320">
            <a:solidFill>
              <a:srgbClr val="0635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246120" y="1344168"/>
            <a:ext cx="2587752" cy="444398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273551" y="1371600"/>
            <a:ext cx="2532888" cy="384048"/>
          </a:xfrm>
          <a:prstGeom prst="roundRect">
            <a:avLst>
              <a:gd name="adj" fmla="val 2500"/>
            </a:avLst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64991" y="1453896"/>
            <a:ext cx="2350008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200"/>
              </a:spcAft>
              <a:defRPr sz="1370" b="1">
                <a:solidFill>
                  <a:srgbClr val="FFFFFF"/>
                </a:solidFill>
                <a:latin typeface="Microsoft YaHei"/>
              </a:defRPr>
            </a:pPr>
            <a:r>
              <a:t>氯代烷烃模型</a:t>
            </a:r>
          </a:p>
        </p:txBody>
      </p:sp>
      <p:sp>
        <p:nvSpPr>
          <p:cNvPr id="25" name="Oval 24"/>
          <p:cNvSpPr/>
          <p:nvPr/>
        </p:nvSpPr>
        <p:spPr>
          <a:xfrm>
            <a:off x="3410711" y="1865376"/>
            <a:ext cx="365760" cy="365760"/>
          </a:xfrm>
          <a:prstGeom prst="ellipse">
            <a:avLst/>
          </a:prstGeom>
          <a:solidFill>
            <a:srgbClr val="063584"/>
          </a:solidFill>
          <a:ln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83863" y="1947672"/>
            <a:ext cx="219456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2404872"/>
            <a:ext cx="2130552" cy="603504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38727" y="2578608"/>
            <a:ext cx="2002536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200"/>
              </a:spcAft>
              <a:defRPr sz="1260" b="1">
                <a:solidFill>
                  <a:srgbClr val="063584"/>
                </a:solidFill>
                <a:latin typeface="Arial"/>
              </a:defRPr>
            </a:pPr>
            <a:r>
              <a:t>CH₃–CH(Cl)–(CH₂)₂–CH₃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3218688"/>
            <a:ext cx="2075688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200"/>
              </a:spcAft>
              <a:defRPr sz="1019" b="1">
                <a:solidFill>
                  <a:srgbClr val="566273"/>
                </a:solidFill>
                <a:latin typeface="Microsoft YaHei"/>
              </a:defRPr>
            </a:pPr>
            <a:r>
              <a:t>核心任务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3493008"/>
            <a:ext cx="2075688" cy="56692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200"/>
              </a:spcAft>
              <a:defRPr sz="1310" b="1">
                <a:solidFill>
                  <a:srgbClr val="111111"/>
                </a:solidFill>
                <a:latin typeface="Microsoft YaHei"/>
              </a:defRPr>
            </a:pPr>
            <a:r>
              <a:t>定位局部C–H/C–Cl转化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502152" y="4178808"/>
            <a:ext cx="2075688" cy="0"/>
          </a:xfrm>
          <a:prstGeom prst="line">
            <a:avLst/>
          </a:prstGeom>
          <a:ln w="12700">
            <a:solidFill>
              <a:srgbClr val="D5DF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502152" y="4334256"/>
            <a:ext cx="2075688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200"/>
              </a:spcAft>
              <a:defRPr sz="1019" b="1">
                <a:solidFill>
                  <a:srgbClr val="566273"/>
                </a:solidFill>
                <a:latin typeface="Microsoft YaHei"/>
              </a:defRPr>
            </a:pPr>
            <a:r>
              <a:t>判断依据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39" y="4617720"/>
            <a:ext cx="2039112" cy="43891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200"/>
              </a:spcAft>
              <a:defRPr sz="1070" b="0">
                <a:solidFill>
                  <a:srgbClr val="111111"/>
                </a:solidFill>
                <a:latin typeface="Microsoft YaHei"/>
              </a:defRPr>
            </a:pPr>
            <a:r>
              <a:t>GC–MS；产物归属；氯平衡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57015" y="5239512"/>
            <a:ext cx="1965960" cy="320040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02736" y="5321808"/>
            <a:ext cx="1874519" cy="1645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200"/>
              </a:spcAft>
              <a:defRPr sz="1040" b="1">
                <a:solidFill>
                  <a:srgbClr val="063584"/>
                </a:solidFill>
                <a:latin typeface="Microsoft YaHei"/>
              </a:defRPr>
            </a:pPr>
            <a:r>
              <a:t>局部反应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861304" y="3456432"/>
            <a:ext cx="237744" cy="0"/>
          </a:xfrm>
          <a:prstGeom prst="line">
            <a:avLst/>
          </a:prstGeom>
          <a:ln w="20320">
            <a:solidFill>
              <a:srgbClr val="0635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172200" y="1344168"/>
            <a:ext cx="2587752" cy="444398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199632" y="1371600"/>
            <a:ext cx="2532888" cy="384048"/>
          </a:xfrm>
          <a:prstGeom prst="roundRect">
            <a:avLst>
              <a:gd name="adj" fmla="val 2500"/>
            </a:avLst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91072" y="1453896"/>
            <a:ext cx="2350008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200"/>
              </a:spcAft>
              <a:defRPr sz="1370" b="1">
                <a:solidFill>
                  <a:srgbClr val="FFFFFF"/>
                </a:solidFill>
                <a:latin typeface="Microsoft YaHei"/>
              </a:defRPr>
            </a:pPr>
            <a:r>
              <a:t>氯代石蜡</a:t>
            </a:r>
          </a:p>
        </p:txBody>
      </p:sp>
      <p:sp>
        <p:nvSpPr>
          <p:cNvPr id="40" name="Oval 39"/>
          <p:cNvSpPr/>
          <p:nvPr/>
        </p:nvSpPr>
        <p:spPr>
          <a:xfrm>
            <a:off x="6336792" y="1865376"/>
            <a:ext cx="365760" cy="365760"/>
          </a:xfrm>
          <a:prstGeom prst="ellipse">
            <a:avLst/>
          </a:prstGeom>
          <a:solidFill>
            <a:srgbClr val="063584"/>
          </a:solidFill>
          <a:ln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9944" y="1947672"/>
            <a:ext cx="219456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2404872"/>
            <a:ext cx="2130552" cy="603504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64808" y="2578608"/>
            <a:ext cx="2002536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200"/>
              </a:spcAft>
              <a:defRPr sz="1260" b="1">
                <a:solidFill>
                  <a:srgbClr val="063584"/>
                </a:solidFill>
                <a:latin typeface="Arial"/>
              </a:defRPr>
            </a:pPr>
            <a:r>
              <a:t>CH₃–[CHCl–CH₂]ₘ–CH₃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28232" y="3218688"/>
            <a:ext cx="2075688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200"/>
              </a:spcAft>
              <a:defRPr sz="1019" b="1">
                <a:solidFill>
                  <a:srgbClr val="566273"/>
                </a:solidFill>
                <a:latin typeface="Microsoft YaHei"/>
              </a:defRPr>
            </a:pPr>
            <a:r>
              <a:t>核心任务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8232" y="3493008"/>
            <a:ext cx="2075688" cy="56692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200"/>
              </a:spcAft>
              <a:defRPr sz="1310" b="1">
                <a:solidFill>
                  <a:srgbClr val="111111"/>
                </a:solidFill>
                <a:latin typeface="Microsoft YaHei"/>
              </a:defRPr>
            </a:pPr>
            <a:r>
              <a:t>考察连续含氯位点与链式反应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428232" y="4178808"/>
            <a:ext cx="2075688" cy="0"/>
          </a:xfrm>
          <a:prstGeom prst="line">
            <a:avLst/>
          </a:prstGeom>
          <a:ln w="12700">
            <a:solidFill>
              <a:srgbClr val="D5DF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428232" y="4334256"/>
            <a:ext cx="2075688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200"/>
              </a:spcAft>
              <a:defRPr sz="1019" b="1">
                <a:solidFill>
                  <a:srgbClr val="566273"/>
                </a:solidFill>
                <a:latin typeface="Microsoft YaHei"/>
              </a:defRPr>
            </a:pPr>
            <a:r>
              <a:t>判断依据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4617720"/>
            <a:ext cx="2039112" cy="43891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200"/>
              </a:spcAft>
              <a:defRPr sz="1070" b="0">
                <a:solidFill>
                  <a:srgbClr val="111111"/>
                </a:solidFill>
                <a:latin typeface="Microsoft YaHei"/>
              </a:defRPr>
            </a:pPr>
            <a:r>
              <a:t>产物分布；脱氯；氧化程度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83096" y="5239512"/>
            <a:ext cx="1965960" cy="320040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28816" y="5321808"/>
            <a:ext cx="1874519" cy="1645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200"/>
              </a:spcAft>
              <a:defRPr sz="1040" b="1">
                <a:solidFill>
                  <a:srgbClr val="063584"/>
                </a:solidFill>
                <a:latin typeface="Microsoft YaHei"/>
              </a:defRPr>
            </a:pPr>
            <a:r>
              <a:t>复杂底物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787384" y="3456432"/>
            <a:ext cx="237744" cy="0"/>
          </a:xfrm>
          <a:prstGeom prst="line">
            <a:avLst/>
          </a:prstGeom>
          <a:ln w="20320">
            <a:solidFill>
              <a:srgbClr val="0635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9098280" y="1344168"/>
            <a:ext cx="2587752" cy="444398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125711" y="1371600"/>
            <a:ext cx="2532888" cy="384048"/>
          </a:xfrm>
          <a:prstGeom prst="roundRect">
            <a:avLst>
              <a:gd name="adj" fmla="val 2500"/>
            </a:avLst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17152" y="1453896"/>
            <a:ext cx="2350008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200"/>
              </a:spcAft>
              <a:defRPr sz="1370" b="1">
                <a:solidFill>
                  <a:srgbClr val="FFFFFF"/>
                </a:solidFill>
                <a:latin typeface="Microsoft YaHei"/>
              </a:defRPr>
            </a:pPr>
            <a:r>
              <a:t>PVC 聚合物</a:t>
            </a:r>
          </a:p>
        </p:txBody>
      </p:sp>
      <p:sp>
        <p:nvSpPr>
          <p:cNvPr id="55" name="Oval 54"/>
          <p:cNvSpPr/>
          <p:nvPr/>
        </p:nvSpPr>
        <p:spPr>
          <a:xfrm>
            <a:off x="9262872" y="1865376"/>
            <a:ext cx="365760" cy="365760"/>
          </a:xfrm>
          <a:prstGeom prst="ellipse">
            <a:avLst/>
          </a:prstGeom>
          <a:solidFill>
            <a:srgbClr val="063584"/>
          </a:solidFill>
          <a:ln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36024" y="1947672"/>
            <a:ext cx="219456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326880" y="2404872"/>
            <a:ext cx="2130552" cy="603504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90888" y="2578608"/>
            <a:ext cx="2002536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200"/>
              </a:spcAft>
              <a:defRPr sz="1260" b="1">
                <a:solidFill>
                  <a:srgbClr val="063584"/>
                </a:solidFill>
                <a:latin typeface="Arial"/>
              </a:defRPr>
            </a:pPr>
            <a:r>
              <a:t>[–CH₂–CH(Cl)–]ₙ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54311" y="3218688"/>
            <a:ext cx="2075688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200"/>
              </a:spcAft>
              <a:defRPr sz="1019" b="1">
                <a:solidFill>
                  <a:srgbClr val="566273"/>
                </a:solidFill>
                <a:latin typeface="Microsoft YaHei"/>
              </a:defRPr>
            </a:pPr>
            <a:r>
              <a:t>核心任务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54311" y="3493008"/>
            <a:ext cx="2075688" cy="56692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200"/>
              </a:spcAft>
              <a:defRPr sz="1310" b="1">
                <a:solidFill>
                  <a:srgbClr val="111111"/>
                </a:solidFill>
                <a:latin typeface="Microsoft YaHei"/>
              </a:defRPr>
            </a:pPr>
            <a:r>
              <a:t>判断是否发生真正聚合物降解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9354311" y="4178808"/>
            <a:ext cx="2075689" cy="0"/>
          </a:xfrm>
          <a:prstGeom prst="line">
            <a:avLst/>
          </a:prstGeom>
          <a:ln w="12700">
            <a:solidFill>
              <a:srgbClr val="D5DF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9354311" y="4334256"/>
            <a:ext cx="2075688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200"/>
              </a:spcAft>
              <a:defRPr sz="1019" b="1">
                <a:solidFill>
                  <a:srgbClr val="566273"/>
                </a:solidFill>
                <a:latin typeface="Microsoft YaHei"/>
              </a:defRPr>
            </a:pPr>
            <a:r>
              <a:t>判断依据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72600" y="4617720"/>
            <a:ext cx="2039112" cy="43891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200"/>
              </a:spcAft>
              <a:defRPr sz="1070" b="0">
                <a:solidFill>
                  <a:srgbClr val="111111"/>
                </a:solidFill>
                <a:latin typeface="Microsoft YaHei"/>
              </a:defRPr>
            </a:pPr>
            <a:r>
              <a:t>氯平衡；SEC/GPC；产物分析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409176" y="5239512"/>
            <a:ext cx="1965960" cy="320040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454896" y="5321808"/>
            <a:ext cx="1874519" cy="1645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200"/>
              </a:spcAft>
              <a:defRPr sz="1040" b="1">
                <a:solidFill>
                  <a:srgbClr val="063584"/>
                </a:solidFill>
                <a:latin typeface="Microsoft YaHei"/>
              </a:defRPr>
            </a:pPr>
            <a:r>
              <a:t>真实断链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6007608"/>
            <a:ext cx="11548872" cy="438912"/>
          </a:xfrm>
          <a:prstGeom prst="rect">
            <a:avLst/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Chevron 66"/>
          <p:cNvSpPr/>
          <p:nvPr/>
        </p:nvSpPr>
        <p:spPr>
          <a:xfrm>
            <a:off x="438912" y="6080760"/>
            <a:ext cx="1527048" cy="274320"/>
          </a:xfrm>
          <a:prstGeom prst="chevron">
            <a:avLst/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2920" y="6108192"/>
            <a:ext cx="1234440" cy="20116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研究主线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103120" y="6099048"/>
            <a:ext cx="9528048" cy="24688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C00000"/>
                </a:solidFill>
                <a:latin typeface="Microsoft YaHei"/>
              </a:defRPr>
            </a:pPr>
            <a:r>
              <a:t>由小分子定位初始活化与产物，再逐步引入连续含氯结构和聚合物链环境，最终判断PVC是否脱氯并发生真实主链断裂。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