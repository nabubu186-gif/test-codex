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77" r:id="rId6"/>
    <p:sldId id="259" r:id="rId7"/>
    <p:sldId id="261" r:id="rId8"/>
    <p:sldId id="279" r:id="rId9"/>
    <p:sldId id="260" r:id="rId10"/>
    <p:sldId id="264" r:id="rId11"/>
    <p:sldId id="265" r:id="rId12"/>
    <p:sldId id="271" r:id="rId13"/>
    <p:sldId id="278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8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88"/>
        <p:guide pos="291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各位老师好，我是佟可心。今天汇报的是蒽醌参与PVC光化学转化的阶段性工作。内容主要分成四部分：为什么选择PVC，两篇文献给我们的机理启发，EAQ在体系中的作用设想，以及目前的模型实验和下一步安排。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为什么选择PVC。PVC产量大、应用广，而且每个重复单元都带有C–Cl键，这让它的回收既有挑战，也提供了独特的反应入口。机械回收容易带来性能下降，热化学处理又需要较高温度，容易出现交联和过度裂解。所以我们希望用光能在更温和的条件下启动反应，把脱氯、主链变化和后续升级转化结合起来。这也是本课题的总体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VC里的C–Cl键主要有三种转化方式。第一种是异裂或亲核取代，氯以Cl⁻离开；第二种是均裂，同时产生碳中心自由基和Cl·；第三种是脱HCl，形成双键和多烯结构。我们重点关注第二条自由基路径，因为它可能把局部的C–Cl活化进一步传递到氧化和主链断裂。右边的键能比较给出了一个可能的活化入口，真正能不能启动，还要看光敏组分和反应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早期PVC光氧化研究主要是从“如何延缓老化、保护材料”的角度出发。文献给出的基本过程是：光先激活含氯位点，氧气参与自由基链式传播，形成过氧和烷氧中间体，最后产生含氧产物并伴随主链断裂。我们的想法是把这条失效路径反过来利用，通过合适的光敏组分主动启动并调节它。右侧就是对应的验证思路：先引入光敏剂，再确认自由基，最后用氯平衡、产物和分子量变化判断是否真的发生降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篇文献研究的是聚苯乙烯在二氯甲烷中的光裂解。这个体系不加额外光催化剂，在365到415纳米光照下就能得到芳香族产物。右上角的PBN–EPR实验支持体系中出现Cl·，右下角的GPC显示分子量明显下降。作者提出的过程是光引发、氢原子转移、氧化断链和产物生成。对我们最重要的启发是：含氯介质不一定只是溶剂，它也可能提供活性物种并参与聚合物断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篇Science论文把这条证据链做得更完整。作者用1,2-二氯苯作为介质，在415纳米光照下实现了商业PMMA的主链起始解聚。左边的机理是：DCB光激发后发生C–Cl均裂，产生Cl·；Cl·从PMMA主链攫氢，留下碳中心自由基，随后发生β-裂解并继续解聚。右上EPR支持含氯自由基和聚合物烷基自由基的形成，右下SEC显示分子量随时间持续下降。这说明“含氯介质—Cl·—主链自由基—断链”是一条可以被实验建立的路径，也为我们设计PVC体系提供了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有了前面的文献基础，我们需要一个能够把光能转成初始自由基的启动组分，所以选择了乙基蒽醌EAQ。EAQ是有机光敏剂，受到紫外光激发后，可以通过氢原子转移或电子转移启动自由基；还原态EAQ还能与氧气作用并回到原来的状态。这里我们把EAQ定位成反应的“启动按钮”。下面的路线是从简单到复杂逐级验证：先确认EAQ能否启动，再做氯代烷烃模型，然后扩展到氯代石蜡，最后进入PVC并结合氯平衡和GPC判断真实降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目前的工作假说。左边是EAQ的小循环：光照生成激发态EAQ，随后通过HAT形成还原态物种，并在氧气参与下再生。右边是PVC的主要反应网络。第一条路径是EAQ激发态从PVC上攫氢，形成碳中心自由基R·；R·与氧气反应，经过过氧自由基和含氧中间体，进一步发生β-裂解。另一条路径是C–Cl活化产生Cl·，Cl·也可以通过攫氢继续生成R·。两条路径最终都汇聚到碳自由基以及后续氧化断链。接下来的实验就是判断哪条支路贡献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前期先用2-氯戊烷做模型底物，EAQ浓度是5毫克每毫升，DCE四毫升，365纳米光照六小时，并比较不同气氛。表中记录的转化率在73.8%到87.6%之间，氧气条件最高；同时在DCE体系中观察到多种含氯候选信号。更有意思的是，换成乙腈后，即使提高底物用量，也没有看到同类产物。这个结果提示DCE可能直接参与了反应。目前最优先的工作是补做DCE加EAQ的无底物空白，并把候选产物和转化率重新做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一步按五个层级推进。第一步先确认现有产物，通过气相、液相色谱和标准品把峰归属清楚。第二步优化模型反应，继续考察2-氯己烷、溶剂、气氛和光照条件。第三步扩展到氯代石蜡，观察连续含氯位点的反应。第四步进入PVC，用氯平衡、SEC或GPC、凝胶和小分子产物判断脱氯与主链变化。最后再结合EPR等手段，把各类自由基和关键步骤串成完整的机理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我的汇报就到这里。目前这项工作的核心，是先把初始自由基来自哪里、溶剂和底物各自起什么作用，以及聚合物是否真正断链这三件事逐步说明白。也请各位老师对实验设计和机理判断提出建议，谢谢大家。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image" Target="../media/image5.png"/><Relationship Id="rId10" Type="http://schemas.openxmlformats.org/officeDocument/2006/relationships/tags" Target="../tags/tag8.xml"/><Relationship Id="rId11" Type="http://schemas.openxmlformats.org/officeDocument/2006/relationships/tags" Target="../tags/tag9.xml"/><Relationship Id="rId12" Type="http://schemas.openxmlformats.org/officeDocument/2006/relationships/tags" Target="../tags/tag10.xml"/><Relationship Id="rId13" Type="http://schemas.openxmlformats.org/officeDocument/2006/relationships/tags" Target="../tags/tag11.xml"/><Relationship Id="rId14" Type="http://schemas.openxmlformats.org/officeDocument/2006/relationships/image" Target="../media/image6.png"/><Relationship Id="rId15" Type="http://schemas.openxmlformats.org/officeDocument/2006/relationships/tags" Target="../tags/tag12.xml"/><Relationship Id="rId16" Type="http://schemas.openxmlformats.org/officeDocument/2006/relationships/image" Target="../media/image7.png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image" Target="../media/image14.png"/><Relationship Id="rId3" Type="http://schemas.openxmlformats.org/officeDocument/2006/relationships/tags" Target="../tags/tag14.xml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Relationship Id="rId9" Type="http://schemas.openxmlformats.org/officeDocument/2006/relationships/tags" Target="../tags/tag23.xml"/><Relationship Id="rId10" Type="http://schemas.openxmlformats.org/officeDocument/2006/relationships/tags" Target="../tags/tag24.xml"/><Relationship Id="rId11" Type="http://schemas.openxmlformats.org/officeDocument/2006/relationships/tags" Target="../tags/tag25.xml"/><Relationship Id="rId12" Type="http://schemas.openxmlformats.org/officeDocument/2006/relationships/tags" Target="../tags/tag26.xml"/><Relationship Id="rId13" Type="http://schemas.openxmlformats.org/officeDocument/2006/relationships/tags" Target="../tags/tag27.xml"/><Relationship Id="rId14" Type="http://schemas.openxmlformats.org/officeDocument/2006/relationships/tags" Target="../tags/tag28.xml"/><Relationship Id="rId15" Type="http://schemas.openxmlformats.org/officeDocument/2006/relationships/tags" Target="../tags/tag29.xml"/><Relationship Id="rId16" Type="http://schemas.openxmlformats.org/officeDocument/2006/relationships/tags" Target="../tags/tag30.xml"/><Relationship Id="rId17" Type="http://schemas.openxmlformats.org/officeDocument/2006/relationships/tags" Target="../tags/tag31.xml"/><Relationship Id="rId18" Type="http://schemas.openxmlformats.org/officeDocument/2006/relationships/tags" Target="../tags/tag32.xml"/><Relationship Id="rId19" Type="http://schemas.openxmlformats.org/officeDocument/2006/relationships/tags" Target="../tags/tag33.xml"/><Relationship Id="rId20" Type="http://schemas.openxmlformats.org/officeDocument/2006/relationships/tags" Target="../tags/tag34.xml"/><Relationship Id="rId21" Type="http://schemas.openxmlformats.org/officeDocument/2006/relationships/tags" Target="../tags/tag35.xml"/><Relationship Id="rId22" Type="http://schemas.openxmlformats.org/officeDocument/2006/relationships/tags" Target="../tags/tag36.xml"/><Relationship Id="rId23" Type="http://schemas.openxmlformats.org/officeDocument/2006/relationships/tags" Target="../tags/tag37.xml"/><Relationship Id="rId24" Type="http://schemas.openxmlformats.org/officeDocument/2006/relationships/tags" Target="../tags/tag38.xml"/><Relationship Id="rId25" Type="http://schemas.openxmlformats.org/officeDocument/2006/relationships/tags" Target="../tags/tag39.xml"/><Relationship Id="rId26" Type="http://schemas.openxmlformats.org/officeDocument/2006/relationships/tags" Target="../tags/tag40.xml"/><Relationship Id="rId27" Type="http://schemas.openxmlformats.org/officeDocument/2006/relationships/slideLayout" Target="../slideLayouts/slideLayout7.xml"/><Relationship Id="rId2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" name="Connector 2"/>
          <p:cNvCxnSpPr/>
          <p:nvPr/>
        </p:nvCxnSpPr>
        <p:spPr>
          <a:xfrm>
            <a:off x="381" y="992632"/>
            <a:ext cx="12190730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17825" y="4461129"/>
            <a:ext cx="6099048" cy="0"/>
          </a:xfrm>
          <a:prstGeom prst="line">
            <a:avLst/>
          </a:prstGeom>
          <a:ln w="1905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0" y="1064260"/>
            <a:ext cx="12190730" cy="3322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"/>
          <p:cNvSpPr txBox="1"/>
          <p:nvPr/>
        </p:nvSpPr>
        <p:spPr>
          <a:xfrm>
            <a:off x="3717925" y="2368550"/>
            <a:ext cx="4911090" cy="10604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zh-CN" sz="5400" kern="0" spc="700" dirty="0">
                <a:solidFill>
                  <a:schemeClr val="bg1">
                    <a:alpha val="100000"/>
                  </a:schemeClr>
                </a:solidFill>
                <a:ea typeface="微软雅黑" panose="020B0503020204020204" charset="-122"/>
                <a:cs typeface="微软雅黑" panose="020B0503020204020204" charset="-122"/>
              </a:rPr>
              <a:t>组会工作汇报</a:t>
            </a:r>
            <a:endParaRPr lang="zh-CN" sz="5400" kern="0" spc="700" dirty="0">
              <a:solidFill>
                <a:schemeClr val="bg1">
                  <a:alpha val="100000"/>
                </a:scheme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18135" y="5169535"/>
            <a:ext cx="117106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报告人：佟可心</a:t>
            </a:r>
            <a:r>
              <a:rPr lang="en-US"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</a:t>
            </a:r>
            <a:r>
              <a:rPr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指导</a:t>
            </a:r>
            <a:r>
              <a:rPr lang="zh-CN"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老</a:t>
            </a:r>
            <a:r>
              <a:rPr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师</a:t>
            </a:r>
            <a:r>
              <a:rPr lang="zh-CN"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孙再成 教授 </a:t>
            </a:r>
            <a:r>
              <a:rPr lang="en-US"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</a:t>
            </a:r>
            <a:r>
              <a:rPr lang="zh-CN" altLang="en-US"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日期：</a:t>
            </a:r>
            <a:r>
              <a:rPr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en-US"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en-US"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17 </a:t>
            </a:r>
            <a:endParaRPr sz="1800" b="1">
              <a:solidFill>
                <a:schemeClr val="tx2">
                  <a:lumMod val="75000"/>
                </a:schemeClr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en-US"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                            </a:t>
            </a:r>
            <a:r>
              <a:rPr sz="1800" b="1">
                <a:solidFill>
                  <a:schemeClr val="tx2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李鹏飞 博士 </a:t>
            </a:r>
            <a:endParaRPr sz="1800" b="1">
              <a:solidFill>
                <a:schemeClr val="tx2">
                  <a:lumMod val="75000"/>
                </a:schemeClr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spcAft>
                <a:spcPts val="600"/>
              </a:spcAft>
              <a:defRPr sz="1900" b="1">
                <a:solidFill>
                  <a:srgbClr val="063584"/>
                </a:solidFill>
                <a:latin typeface="微软雅黑" panose="020B0503020204020204" charset="-122"/>
              </a:defRPr>
            </a:pPr>
            <a:endParaRPr lang="en-US" sz="1800" b="1">
              <a:solidFill>
                <a:schemeClr val="tx2">
                  <a:lumMod val="75000"/>
                </a:schemeClr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150" y="155575"/>
            <a:ext cx="1868170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研究背景</a:t>
            </a:r>
            <a:endParaRPr>
              <a:ea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3131" y="6574536"/>
            <a:ext cx="10881360" cy="14732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 panose="020B0604020202020204"/>
              </a:defRPr>
            </a:pPr>
            <a:r>
              <a:rPr sz="960" b="1" i="1"/>
              <a:t>Xu et al., Nat. Rev. Methods Primers 2023, 3, 44.</a:t>
            </a:r>
            <a:endParaRPr sz="960" b="1" i="1"/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146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en-US"/>
              <a:t>2</a:t>
            </a:r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66725" y="5793105"/>
            <a:ext cx="11558270" cy="593725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evron 40"/>
          <p:cNvSpPr/>
          <p:nvPr/>
        </p:nvSpPr>
        <p:spPr>
          <a:xfrm>
            <a:off x="560070" y="5847080"/>
            <a:ext cx="1598930" cy="49911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095" y="5928995"/>
            <a:ext cx="1235075" cy="30861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>
                <a:ea typeface="微软雅黑" panose="020B0503020204020204" charset="-122"/>
              </a:rPr>
              <a:t>研究目标</a:t>
            </a:r>
            <a:endParaRPr sz="1800"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16785" y="5928995"/>
            <a:ext cx="9453245" cy="50038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rPr lang="zh-CN" altLang="en-US" sz="2000" kern="100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本研究旨在提升脱氯效率的同时，探索PVC温和条件下高效降解与升级转化新策略</a:t>
            </a:r>
            <a:endParaRPr lang="zh-CN" altLang="en-US" sz="2000" b="1" kern="100" dirty="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6747450" y="-59141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37219890" y="-116467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7219890" y="-173792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37219890" y="-231117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37219890" y="-288443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37219890" y="-3457682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0443785" y="-402449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0443785" y="-4591297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07851575" y="-516630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107675680" y="-574014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07675680" y="-631398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50759995" y="-637611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68931155" y="-694408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62483365" y="-671490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40737155" y="-751968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40737155" y="-809527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36047680" y="-865915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36047680" y="-922302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36047680" y="-978689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36047680" y="-1035077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108379260" y="-1091406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-1905527050" y="806266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-2147483648" y="806031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283845" y="1047115"/>
            <a:ext cx="6227064" cy="17465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7"/>
          <p:cNvSpPr/>
          <p:nvPr/>
        </p:nvSpPr>
        <p:spPr>
          <a:xfrm>
            <a:off x="311277" y="1074547"/>
            <a:ext cx="6172200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8"/>
          <p:cNvSpPr txBox="1"/>
          <p:nvPr/>
        </p:nvSpPr>
        <p:spPr>
          <a:xfrm>
            <a:off x="430149" y="1124839"/>
            <a:ext cx="5934456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PVC：重要的含氯通用塑料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reeform 9"/>
          <p:cNvSpPr/>
          <p:nvPr/>
        </p:nvSpPr>
        <p:spPr>
          <a:xfrm>
            <a:off x="677037" y="1623187"/>
            <a:ext cx="1700783" cy="118872"/>
          </a:xfrm>
          <a:custGeom>
            <a:avLst/>
            <a:gdLst/>
            <a:ahLst/>
            <a:cxnLst/>
            <a:rect l="l" t="t" r="r" b="b"/>
            <a:pathLst>
              <a:path w="1700783" h="118872">
                <a:moveTo>
                  <a:pt x="0" y="0"/>
                </a:moveTo>
                <a:lnTo>
                  <a:pt x="283464" y="118872"/>
                </a:lnTo>
                <a:lnTo>
                  <a:pt x="566928" y="0"/>
                </a:lnTo>
                <a:lnTo>
                  <a:pt x="850392" y="118872"/>
                </a:lnTo>
                <a:lnTo>
                  <a:pt x="1133856" y="0"/>
                </a:lnTo>
                <a:lnTo>
                  <a:pt x="1417320" y="118872"/>
                </a:lnTo>
                <a:lnTo>
                  <a:pt x="1700783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0"/>
          <p:cNvCxnSpPr/>
          <p:nvPr/>
        </p:nvCxnSpPr>
        <p:spPr>
          <a:xfrm>
            <a:off x="960501" y="1742059"/>
            <a:ext cx="0" cy="219456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1"/>
          <p:cNvSpPr txBox="1"/>
          <p:nvPr/>
        </p:nvSpPr>
        <p:spPr>
          <a:xfrm>
            <a:off x="869061" y="1988947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63584"/>
                </a:solidFill>
                <a:latin typeface="Arial" panose="020B0604020202020204"/>
              </a:defRPr>
            </a:pPr>
            <a:r>
              <a:t>Cl</a:t>
            </a:r>
          </a:p>
        </p:txBody>
      </p:sp>
      <p:cxnSp>
        <p:nvCxnSpPr>
          <p:cNvPr id="22" name="Connector 12"/>
          <p:cNvCxnSpPr/>
          <p:nvPr/>
        </p:nvCxnSpPr>
        <p:spPr>
          <a:xfrm>
            <a:off x="1527429" y="1742059"/>
            <a:ext cx="0" cy="219456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3"/>
          <p:cNvSpPr txBox="1"/>
          <p:nvPr/>
        </p:nvSpPr>
        <p:spPr>
          <a:xfrm>
            <a:off x="1435989" y="1988947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63584"/>
                </a:solidFill>
                <a:latin typeface="Arial" panose="020B0604020202020204"/>
              </a:defRPr>
            </a:pPr>
            <a:r>
              <a:t>Cl</a:t>
            </a:r>
          </a:p>
        </p:txBody>
      </p:sp>
      <p:cxnSp>
        <p:nvCxnSpPr>
          <p:cNvPr id="24" name="Connector 14"/>
          <p:cNvCxnSpPr/>
          <p:nvPr/>
        </p:nvCxnSpPr>
        <p:spPr>
          <a:xfrm>
            <a:off x="2094357" y="1742059"/>
            <a:ext cx="0" cy="219456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5"/>
          <p:cNvSpPr txBox="1"/>
          <p:nvPr/>
        </p:nvSpPr>
        <p:spPr>
          <a:xfrm>
            <a:off x="2002917" y="1988947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63584"/>
                </a:solidFill>
                <a:latin typeface="Arial" panose="020B0604020202020204"/>
              </a:defRPr>
            </a:pPr>
            <a:r>
              <a:t>Cl</a:t>
            </a:r>
          </a:p>
        </p:txBody>
      </p:sp>
      <p:sp>
        <p:nvSpPr>
          <p:cNvPr id="26" name="Freeform 16"/>
          <p:cNvSpPr/>
          <p:nvPr/>
        </p:nvSpPr>
        <p:spPr>
          <a:xfrm>
            <a:off x="539877" y="1467739"/>
            <a:ext cx="82296" cy="822960"/>
          </a:xfrm>
          <a:custGeom>
            <a:avLst/>
            <a:gdLst/>
            <a:ahLst/>
            <a:cxnLst/>
            <a:rect l="l" t="t" r="r" b="b"/>
            <a:pathLst>
              <a:path w="82296" h="822960">
                <a:moveTo>
                  <a:pt x="82296" y="0"/>
                </a:moveTo>
                <a:lnTo>
                  <a:pt x="0" y="0"/>
                </a:lnTo>
                <a:lnTo>
                  <a:pt x="0" y="822960"/>
                </a:lnTo>
                <a:lnTo>
                  <a:pt x="82296" y="822960"/>
                </a:lnTo>
              </a:path>
            </a:pathLst>
          </a:custGeom>
          <a:noFill/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17"/>
          <p:cNvSpPr/>
          <p:nvPr/>
        </p:nvSpPr>
        <p:spPr>
          <a:xfrm>
            <a:off x="2478405" y="1467739"/>
            <a:ext cx="82296" cy="822960"/>
          </a:xfrm>
          <a:custGeom>
            <a:avLst/>
            <a:gdLst/>
            <a:ahLst/>
            <a:cxnLst/>
            <a:rect l="l" t="t" r="r" b="b"/>
            <a:pathLst>
              <a:path w="82296" h="822960">
                <a:moveTo>
                  <a:pt x="0" y="0"/>
                </a:moveTo>
                <a:lnTo>
                  <a:pt x="82296" y="0"/>
                </a:lnTo>
                <a:lnTo>
                  <a:pt x="82296" y="822960"/>
                </a:lnTo>
                <a:lnTo>
                  <a:pt x="0" y="822960"/>
                </a:lnTo>
              </a:path>
            </a:pathLst>
          </a:custGeom>
          <a:noFill/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18"/>
          <p:cNvSpPr txBox="1"/>
          <p:nvPr/>
        </p:nvSpPr>
        <p:spPr>
          <a:xfrm>
            <a:off x="2588133" y="2144395"/>
            <a:ext cx="201168" cy="21031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11111"/>
                </a:solidFill>
                <a:latin typeface="Arial" panose="020B0604020202020204"/>
              </a:defRPr>
            </a:pPr>
            <a:r>
              <a:t>n</a:t>
            </a:r>
          </a:p>
        </p:txBody>
      </p:sp>
      <p:sp>
        <p:nvSpPr>
          <p:cNvPr id="32" name="TextBox 19"/>
          <p:cNvSpPr txBox="1"/>
          <p:nvPr/>
        </p:nvSpPr>
        <p:spPr>
          <a:xfrm>
            <a:off x="576453" y="2499741"/>
            <a:ext cx="2011680" cy="19177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PVC </a:t>
            </a:r>
            <a:r>
              <a:rPr>
                <a:ea typeface="微软雅黑" panose="020B0503020204020204" charset="-122"/>
              </a:rPr>
              <a:t>结构单元</a:t>
            </a:r>
            <a:endParaRPr>
              <a:ea typeface="微软雅黑" panose="020B0503020204020204" charset="-122"/>
            </a:endParaRPr>
          </a:p>
        </p:txBody>
      </p:sp>
      <p:sp>
        <p:nvSpPr>
          <p:cNvPr id="33" name="Oval 20"/>
          <p:cNvSpPr/>
          <p:nvPr/>
        </p:nvSpPr>
        <p:spPr>
          <a:xfrm>
            <a:off x="2920060" y="1635074"/>
            <a:ext cx="104241" cy="104241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21"/>
          <p:cNvSpPr txBox="1"/>
          <p:nvPr/>
        </p:nvSpPr>
        <p:spPr>
          <a:xfrm>
            <a:off x="3118485" y="1595755"/>
            <a:ext cx="3182112" cy="19177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</a:rPr>
              <a:t>产量大、应用广泛</a:t>
            </a:r>
            <a:endParaRPr b="1">
              <a:ea typeface="微软雅黑" panose="020B0503020204020204" charset="-122"/>
            </a:endParaRPr>
          </a:p>
        </p:txBody>
      </p:sp>
      <p:sp>
        <p:nvSpPr>
          <p:cNvPr id="35" name="Oval 22"/>
          <p:cNvSpPr/>
          <p:nvPr/>
        </p:nvSpPr>
        <p:spPr>
          <a:xfrm>
            <a:off x="2920060" y="1927682"/>
            <a:ext cx="104241" cy="104241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23"/>
          <p:cNvSpPr txBox="1"/>
          <p:nvPr/>
        </p:nvSpPr>
        <p:spPr>
          <a:xfrm>
            <a:off x="3118485" y="1888363"/>
            <a:ext cx="3182112" cy="19177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  <a:cs typeface="微软雅黑" panose="020B0503020204020204" charset="-122"/>
              </a:rPr>
              <a:t>含有大量 C–Cl 键，具有独特的化学结构</a:t>
            </a:r>
            <a:endParaRPr b="1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val 24"/>
          <p:cNvSpPr/>
          <p:nvPr/>
        </p:nvSpPr>
        <p:spPr>
          <a:xfrm>
            <a:off x="2920060" y="2220290"/>
            <a:ext cx="104241" cy="104241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25"/>
          <p:cNvSpPr txBox="1"/>
          <p:nvPr/>
        </p:nvSpPr>
        <p:spPr>
          <a:xfrm>
            <a:off x="3118485" y="2180971"/>
            <a:ext cx="3182112" cy="19177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</a:rPr>
              <a:t>实际制品含增塑剂、稳定剂等多种添加剂</a:t>
            </a:r>
            <a:endParaRPr b="1">
              <a:ea typeface="微软雅黑" panose="020B0503020204020204" charset="-122"/>
            </a:endParaRPr>
          </a:p>
        </p:txBody>
      </p:sp>
      <p:sp>
        <p:nvSpPr>
          <p:cNvPr id="46" name="Rounded Rectangle 28"/>
          <p:cNvSpPr/>
          <p:nvPr/>
        </p:nvSpPr>
        <p:spPr>
          <a:xfrm>
            <a:off x="267970" y="3014980"/>
            <a:ext cx="6227064" cy="250545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29"/>
          <p:cNvSpPr/>
          <p:nvPr/>
        </p:nvSpPr>
        <p:spPr>
          <a:xfrm>
            <a:off x="294767" y="3044951"/>
            <a:ext cx="6172200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30"/>
          <p:cNvSpPr txBox="1"/>
          <p:nvPr/>
        </p:nvSpPr>
        <p:spPr>
          <a:xfrm>
            <a:off x="413385" y="3094990"/>
            <a:ext cx="5934710" cy="34544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PVC 的主要回收与转化方式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Rounded Rectangle 31"/>
          <p:cNvSpPr/>
          <p:nvPr/>
        </p:nvSpPr>
        <p:spPr>
          <a:xfrm>
            <a:off x="386207" y="3456432"/>
            <a:ext cx="5989320" cy="59436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35"/>
          <p:cNvSpPr txBox="1"/>
          <p:nvPr/>
        </p:nvSpPr>
        <p:spPr>
          <a:xfrm>
            <a:off x="539750" y="3630549"/>
            <a:ext cx="155448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机械回收</a:t>
            </a:r>
            <a:endParaRPr>
              <a:ea typeface="微软雅黑" panose="020B0503020204020204" charset="-122"/>
            </a:endParaRPr>
          </a:p>
        </p:txBody>
      </p:sp>
      <p:sp>
        <p:nvSpPr>
          <p:cNvPr id="85" name="TextBox 44"/>
          <p:cNvSpPr txBox="1"/>
          <p:nvPr/>
        </p:nvSpPr>
        <p:spPr>
          <a:xfrm>
            <a:off x="3185032" y="3645027"/>
            <a:ext cx="2596896" cy="18859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3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</a:rPr>
              <a:t>保留聚合物主体结构，</a:t>
            </a:r>
            <a:r>
              <a:rPr lang="zh-CN" altLang="en-US" b="1" dirty="0"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力学性能下降</a:t>
            </a:r>
            <a:endParaRPr b="1">
              <a:ea typeface="微软雅黑" panose="020B0503020204020204" charset="-122"/>
            </a:endParaRPr>
          </a:p>
        </p:txBody>
      </p:sp>
      <p:sp>
        <p:nvSpPr>
          <p:cNvPr id="87" name="Rounded Rectangle 46"/>
          <p:cNvSpPr/>
          <p:nvPr/>
        </p:nvSpPr>
        <p:spPr>
          <a:xfrm>
            <a:off x="386207" y="4123944"/>
            <a:ext cx="5989320" cy="59436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54"/>
          <p:cNvSpPr txBox="1"/>
          <p:nvPr/>
        </p:nvSpPr>
        <p:spPr>
          <a:xfrm>
            <a:off x="539750" y="4298061"/>
            <a:ext cx="155448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热化学转化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5" name="TextBox 64"/>
          <p:cNvSpPr txBox="1"/>
          <p:nvPr/>
        </p:nvSpPr>
        <p:spPr>
          <a:xfrm>
            <a:off x="3185032" y="4158234"/>
            <a:ext cx="2596896" cy="37782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3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altLang="en-US" b="1" dirty="0"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依赖高温驱动高分子断链转化，高温易诱发交联、过度裂解等副反应</a:t>
            </a:r>
            <a:endParaRPr b="1">
              <a:ea typeface="微软雅黑" panose="020B0503020204020204" charset="-122"/>
            </a:endParaRPr>
          </a:p>
        </p:txBody>
      </p:sp>
      <p:sp>
        <p:nvSpPr>
          <p:cNvPr id="107" name="Rounded Rectangle 66"/>
          <p:cNvSpPr/>
          <p:nvPr/>
        </p:nvSpPr>
        <p:spPr>
          <a:xfrm>
            <a:off x="386207" y="4791456"/>
            <a:ext cx="5989320" cy="594360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80"/>
          <p:cNvSpPr txBox="1"/>
          <p:nvPr/>
        </p:nvSpPr>
        <p:spPr>
          <a:xfrm>
            <a:off x="539750" y="4965573"/>
            <a:ext cx="155448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光化学转化</a:t>
            </a:r>
            <a:endParaRPr>
              <a:ea typeface="微软雅黑" panose="020B0503020204020204" charset="-122"/>
            </a:endParaRPr>
          </a:p>
        </p:txBody>
      </p:sp>
      <p:sp>
        <p:nvSpPr>
          <p:cNvPr id="136" name="TextBox 95"/>
          <p:cNvSpPr txBox="1"/>
          <p:nvPr/>
        </p:nvSpPr>
        <p:spPr>
          <a:xfrm>
            <a:off x="3185032" y="4825746"/>
            <a:ext cx="2596896" cy="37782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23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</a:rPr>
              <a:t>利用光能启动或调控反应，实现结构转化与高值利用</a:t>
            </a:r>
            <a:endParaRPr b="1">
              <a:ea typeface="微软雅黑" panose="020B0503020204020204" charset="-122"/>
            </a:endParaRPr>
          </a:p>
        </p:txBody>
      </p:sp>
      <p:sp>
        <p:nvSpPr>
          <p:cNvPr id="138" name="Rounded Rectangle 98"/>
          <p:cNvSpPr/>
          <p:nvPr/>
        </p:nvSpPr>
        <p:spPr>
          <a:xfrm>
            <a:off x="6775958" y="1075182"/>
            <a:ext cx="5056632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99"/>
          <p:cNvSpPr txBox="1"/>
          <p:nvPr/>
        </p:nvSpPr>
        <p:spPr>
          <a:xfrm>
            <a:off x="6894830" y="1125474"/>
            <a:ext cx="4818888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</a:rPr>
              <a:t>含氯塑料的化学升级利用</a:t>
            </a:r>
            <a:endParaRPr sz="1600">
              <a:ea typeface="微软雅黑" panose="020B0503020204020204" charset="-122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1"/>
          <a:srcRect t="12018" r="31258" b="-1709"/>
          <a:stretch>
            <a:fillRect/>
          </a:stretch>
        </p:blipFill>
        <p:spPr>
          <a:xfrm>
            <a:off x="6696075" y="1623060"/>
            <a:ext cx="5231130" cy="3900170"/>
          </a:xfrm>
          <a:prstGeom prst="rect">
            <a:avLst/>
          </a:prstGeom>
        </p:spPr>
      </p:pic>
      <p:pic>
        <p:nvPicPr>
          <p:cNvPr id="140" name="图片 139"/>
          <p:cNvPicPr>
            <a:picLocks noChangeAspect="1"/>
          </p:cNvPicPr>
          <p:nvPr/>
        </p:nvPicPr>
        <p:blipFill>
          <a:blip r:embed="rId2"/>
          <a:srcRect r="30000" b="-9683"/>
          <a:stretch>
            <a:fillRect/>
          </a:stretch>
        </p:blipFill>
        <p:spPr>
          <a:xfrm>
            <a:off x="10857865" y="3017520"/>
            <a:ext cx="1333500" cy="438785"/>
          </a:xfrm>
          <a:prstGeom prst="rect">
            <a:avLst/>
          </a:prstGeom>
        </p:spPr>
      </p:pic>
      <p:sp>
        <p:nvSpPr>
          <p:cNvPr id="142" name="Freeform 37"/>
          <p:cNvSpPr/>
          <p:nvPr/>
        </p:nvSpPr>
        <p:spPr>
          <a:xfrm>
            <a:off x="1856831" y="3562705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2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9" y="120975"/>
                </a:lnTo>
                <a:lnTo>
                  <a:pt x="0" y="69129"/>
                </a:lnTo>
                <a:lnTo>
                  <a:pt x="11521" y="11522"/>
                </a:lnTo>
              </a:path>
            </a:pathLst>
          </a:custGeom>
          <a:solidFill>
            <a:srgbClr val="D2E1F6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38"/>
          <p:cNvSpPr/>
          <p:nvPr/>
        </p:nvSpPr>
        <p:spPr>
          <a:xfrm>
            <a:off x="2029653" y="3579987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2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8" y="120975"/>
                </a:lnTo>
                <a:lnTo>
                  <a:pt x="0" y="69129"/>
                </a:lnTo>
                <a:lnTo>
                  <a:pt x="11521" y="11522"/>
                </a:lnTo>
              </a:path>
            </a:pathLst>
          </a:custGeom>
          <a:solidFill>
            <a:srgbClr val="EDF3FF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39"/>
          <p:cNvSpPr/>
          <p:nvPr/>
        </p:nvSpPr>
        <p:spPr>
          <a:xfrm>
            <a:off x="1937481" y="3695202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1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9" y="120975"/>
                </a:lnTo>
                <a:lnTo>
                  <a:pt x="0" y="69128"/>
                </a:lnTo>
                <a:lnTo>
                  <a:pt x="11521" y="11521"/>
                </a:lnTo>
              </a:path>
            </a:pathLst>
          </a:custGeom>
          <a:solidFill>
            <a:srgbClr val="D2E1F6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40"/>
          <p:cNvSpPr/>
          <p:nvPr/>
        </p:nvSpPr>
        <p:spPr>
          <a:xfrm>
            <a:off x="2121824" y="3712484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2" y="11521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9" y="120975"/>
                </a:lnTo>
                <a:lnTo>
                  <a:pt x="0" y="69128"/>
                </a:lnTo>
                <a:lnTo>
                  <a:pt x="11522" y="11521"/>
                </a:lnTo>
              </a:path>
            </a:pathLst>
          </a:custGeom>
          <a:solidFill>
            <a:srgbClr val="EDF3FF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41"/>
          <p:cNvSpPr/>
          <p:nvPr/>
        </p:nvSpPr>
        <p:spPr>
          <a:xfrm>
            <a:off x="1845310" y="3798895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1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8" y="120975"/>
                </a:lnTo>
                <a:lnTo>
                  <a:pt x="0" y="69128"/>
                </a:lnTo>
                <a:lnTo>
                  <a:pt x="11521" y="11521"/>
                </a:lnTo>
              </a:path>
            </a:pathLst>
          </a:custGeom>
          <a:solidFill>
            <a:srgbClr val="D2E1F6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42"/>
          <p:cNvSpPr/>
          <p:nvPr/>
        </p:nvSpPr>
        <p:spPr>
          <a:xfrm>
            <a:off x="2041174" y="3833459"/>
            <a:ext cx="138257" cy="120975"/>
          </a:xfrm>
          <a:custGeom>
            <a:avLst/>
            <a:gdLst/>
            <a:ahLst/>
            <a:cxnLst/>
            <a:rect l="l" t="t" r="r" b="b"/>
            <a:pathLst>
              <a:path w="138257" h="120975">
                <a:moveTo>
                  <a:pt x="11521" y="11521"/>
                </a:moveTo>
                <a:lnTo>
                  <a:pt x="115214" y="0"/>
                </a:lnTo>
                <a:lnTo>
                  <a:pt x="138257" y="80650"/>
                </a:lnTo>
                <a:lnTo>
                  <a:pt x="69129" y="120975"/>
                </a:lnTo>
                <a:lnTo>
                  <a:pt x="0" y="69129"/>
                </a:lnTo>
                <a:lnTo>
                  <a:pt x="11521" y="11521"/>
                </a:lnTo>
              </a:path>
            </a:pathLst>
          </a:custGeom>
          <a:solidFill>
            <a:srgbClr val="EDF3FF"/>
          </a:solidFill>
          <a:ln w="12700">
            <a:solidFill>
              <a:srgbClr val="336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43"/>
          <p:cNvCxnSpPr/>
          <p:nvPr/>
        </p:nvCxnSpPr>
        <p:spPr>
          <a:xfrm>
            <a:off x="2403094" y="3725926"/>
            <a:ext cx="292608" cy="0"/>
          </a:xfrm>
          <a:prstGeom prst="line">
            <a:avLst/>
          </a:prstGeom>
          <a:ln w="2413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Can 56"/>
          <p:cNvSpPr/>
          <p:nvPr/>
        </p:nvSpPr>
        <p:spPr>
          <a:xfrm>
            <a:off x="1920199" y="4264781"/>
            <a:ext cx="276514" cy="264993"/>
          </a:xfrm>
          <a:prstGeom prst="can">
            <a:avLst/>
          </a:prstGeom>
          <a:solidFill>
            <a:srgbClr val="D8E5F6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57"/>
          <p:cNvCxnSpPr/>
          <p:nvPr/>
        </p:nvCxnSpPr>
        <p:spPr>
          <a:xfrm flipV="1">
            <a:off x="2058456" y="4195653"/>
            <a:ext cx="0" cy="69128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58"/>
          <p:cNvCxnSpPr/>
          <p:nvPr/>
        </p:nvCxnSpPr>
        <p:spPr>
          <a:xfrm flipH="1">
            <a:off x="1839549" y="4362714"/>
            <a:ext cx="57607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59"/>
          <p:cNvCxnSpPr/>
          <p:nvPr/>
        </p:nvCxnSpPr>
        <p:spPr>
          <a:xfrm>
            <a:off x="2225517" y="4362714"/>
            <a:ext cx="51847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60"/>
          <p:cNvCxnSpPr/>
          <p:nvPr/>
        </p:nvCxnSpPr>
        <p:spPr>
          <a:xfrm flipH="1">
            <a:off x="1949002" y="4529775"/>
            <a:ext cx="28804" cy="74889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61"/>
          <p:cNvCxnSpPr/>
          <p:nvPr/>
        </p:nvCxnSpPr>
        <p:spPr>
          <a:xfrm>
            <a:off x="2139106" y="4529775"/>
            <a:ext cx="28804" cy="74889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62"/>
          <p:cNvCxnSpPr/>
          <p:nvPr/>
        </p:nvCxnSpPr>
        <p:spPr>
          <a:xfrm>
            <a:off x="1920199" y="4610425"/>
            <a:ext cx="282275" cy="0"/>
          </a:xfrm>
          <a:prstGeom prst="line">
            <a:avLst/>
          </a:prstGeom>
          <a:ln w="1778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63"/>
          <p:cNvCxnSpPr/>
          <p:nvPr/>
        </p:nvCxnSpPr>
        <p:spPr>
          <a:xfrm>
            <a:off x="2403094" y="4393437"/>
            <a:ext cx="292608" cy="0"/>
          </a:xfrm>
          <a:prstGeom prst="line">
            <a:avLst/>
          </a:prstGeom>
          <a:ln w="2413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82"/>
          <p:cNvSpPr/>
          <p:nvPr/>
        </p:nvSpPr>
        <p:spPr>
          <a:xfrm>
            <a:off x="1845310" y="4926533"/>
            <a:ext cx="86410" cy="264993"/>
          </a:xfrm>
          <a:prstGeom prst="rect">
            <a:avLst/>
          </a:prstGeom>
          <a:solidFill>
            <a:srgbClr val="FFFFFF"/>
          </a:solidFill>
          <a:ln w="1651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83"/>
          <p:cNvSpPr/>
          <p:nvPr/>
        </p:nvSpPr>
        <p:spPr>
          <a:xfrm>
            <a:off x="1845310" y="5053269"/>
            <a:ext cx="86410" cy="138257"/>
          </a:xfrm>
          <a:prstGeom prst="rect">
            <a:avLst/>
          </a:prstGeom>
          <a:solidFill>
            <a:srgbClr val="D0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84"/>
          <p:cNvSpPr/>
          <p:nvPr/>
        </p:nvSpPr>
        <p:spPr>
          <a:xfrm>
            <a:off x="1836668" y="4897729"/>
            <a:ext cx="103692" cy="34564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85"/>
          <p:cNvCxnSpPr/>
          <p:nvPr/>
        </p:nvCxnSpPr>
        <p:spPr>
          <a:xfrm flipV="1">
            <a:off x="1885635" y="5226090"/>
            <a:ext cx="0" cy="97932"/>
          </a:xfrm>
          <a:prstGeom prst="line">
            <a:avLst/>
          </a:prstGeom>
          <a:ln w="13970">
            <a:solidFill>
              <a:srgbClr val="3365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86"/>
          <p:cNvSpPr/>
          <p:nvPr/>
        </p:nvSpPr>
        <p:spPr>
          <a:xfrm>
            <a:off x="1983567" y="4926533"/>
            <a:ext cx="86410" cy="264993"/>
          </a:xfrm>
          <a:prstGeom prst="rect">
            <a:avLst/>
          </a:prstGeom>
          <a:solidFill>
            <a:srgbClr val="FFFFFF"/>
          </a:solidFill>
          <a:ln w="1651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87"/>
          <p:cNvSpPr/>
          <p:nvPr/>
        </p:nvSpPr>
        <p:spPr>
          <a:xfrm>
            <a:off x="1983567" y="5053269"/>
            <a:ext cx="86410" cy="138257"/>
          </a:xfrm>
          <a:prstGeom prst="rect">
            <a:avLst/>
          </a:prstGeom>
          <a:solidFill>
            <a:srgbClr val="D0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88"/>
          <p:cNvSpPr/>
          <p:nvPr/>
        </p:nvSpPr>
        <p:spPr>
          <a:xfrm>
            <a:off x="1974926" y="4897729"/>
            <a:ext cx="103692" cy="34564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89"/>
          <p:cNvCxnSpPr/>
          <p:nvPr/>
        </p:nvCxnSpPr>
        <p:spPr>
          <a:xfrm flipV="1">
            <a:off x="2023892" y="5226090"/>
            <a:ext cx="0" cy="97932"/>
          </a:xfrm>
          <a:prstGeom prst="line">
            <a:avLst/>
          </a:prstGeom>
          <a:ln w="13970">
            <a:solidFill>
              <a:srgbClr val="3365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90"/>
          <p:cNvSpPr/>
          <p:nvPr/>
        </p:nvSpPr>
        <p:spPr>
          <a:xfrm>
            <a:off x="2121824" y="4926533"/>
            <a:ext cx="86410" cy="264993"/>
          </a:xfrm>
          <a:prstGeom prst="rect">
            <a:avLst/>
          </a:prstGeom>
          <a:solidFill>
            <a:srgbClr val="FFFFFF"/>
          </a:solidFill>
          <a:ln w="1651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91"/>
          <p:cNvSpPr/>
          <p:nvPr/>
        </p:nvSpPr>
        <p:spPr>
          <a:xfrm>
            <a:off x="2121824" y="5053269"/>
            <a:ext cx="86410" cy="138257"/>
          </a:xfrm>
          <a:prstGeom prst="rect">
            <a:avLst/>
          </a:prstGeom>
          <a:solidFill>
            <a:srgbClr val="D0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92"/>
          <p:cNvSpPr/>
          <p:nvPr/>
        </p:nvSpPr>
        <p:spPr>
          <a:xfrm>
            <a:off x="2113183" y="4897729"/>
            <a:ext cx="103692" cy="34564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93"/>
          <p:cNvCxnSpPr/>
          <p:nvPr/>
        </p:nvCxnSpPr>
        <p:spPr>
          <a:xfrm flipV="1">
            <a:off x="2162149" y="5226090"/>
            <a:ext cx="0" cy="97932"/>
          </a:xfrm>
          <a:prstGeom prst="line">
            <a:avLst/>
          </a:prstGeom>
          <a:ln w="13970">
            <a:solidFill>
              <a:srgbClr val="3365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94"/>
          <p:cNvCxnSpPr/>
          <p:nvPr/>
        </p:nvCxnSpPr>
        <p:spPr>
          <a:xfrm>
            <a:off x="2403094" y="5060950"/>
            <a:ext cx="292608" cy="0"/>
          </a:xfrm>
          <a:prstGeom prst="line">
            <a:avLst/>
          </a:prstGeom>
          <a:ln w="2413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6616" y="6574536"/>
            <a:ext cx="10881360" cy="11620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 panose="020B0604020202020204"/>
              </a:defRPr>
            </a:pPr>
            <a:r>
              <a:rPr i="1"/>
              <a:t> Xu et al., Nat. Rev. Methods Primers 2023, 3, 44</a:t>
            </a:r>
            <a:r>
              <a:rPr lang="en-US"/>
              <a:t>.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146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en-US"/>
              <a:t>3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92735" y="1015238"/>
            <a:ext cx="7461504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167" y="1042670"/>
            <a:ext cx="7406640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039" y="1092962"/>
            <a:ext cx="7168896" cy="22860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PVC 中 C–Cl 键的三种主要转化路径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607" y="1527301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7735" y="1597710"/>
            <a:ext cx="224942" cy="224942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195" y="1623313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663" y="1600454"/>
            <a:ext cx="1956816" cy="21209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</a:rPr>
              <a:t>异裂 / 亲核取代脱氯</a:t>
            </a:r>
            <a:endParaRPr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24855" y="1840865"/>
            <a:ext cx="1801495" cy="44577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1200" b="1">
                <a:ea typeface="微软雅黑" panose="020B0503020204020204" charset="-122"/>
                <a:cs typeface="微软雅黑" panose="020B0503020204020204" charset="-122"/>
              </a:rPr>
              <a:t>• 生成 Cl⁻ 等含氯副产物</a:t>
            </a:r>
            <a:endParaRPr sz="1200" b="1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1200" b="1">
                <a:ea typeface="微软雅黑" panose="020B0503020204020204" charset="-122"/>
                <a:cs typeface="微软雅黑" panose="020B0503020204020204" charset="-122"/>
              </a:rPr>
              <a:t>• 主链可保留或官能化</a:t>
            </a:r>
            <a:endParaRPr sz="1200" b="1"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1" name="Path1_Substrate"/>
          <p:cNvGrpSpPr/>
          <p:nvPr/>
        </p:nvGrpSpPr>
        <p:grpSpPr>
          <a:xfrm>
            <a:off x="2793618" y="1861058"/>
            <a:ext cx="1234440" cy="617220"/>
            <a:chOff x="2820923" y="2189988"/>
            <a:chExt cx="1234440" cy="617220"/>
          </a:xfrm>
        </p:grpSpPr>
        <p:sp>
          <p:nvSpPr>
            <p:cNvPr id="19" name="Path1_Substrate_Bonds"/>
            <p:cNvSpPr/>
            <p:nvPr/>
          </p:nvSpPr>
          <p:spPr>
            <a:xfrm>
              <a:off x="2820923" y="2189988"/>
              <a:ext cx="1234440" cy="374904"/>
            </a:xfrm>
            <a:custGeom>
              <a:avLst/>
              <a:gdLst/>
              <a:ahLst/>
              <a:cxnLst/>
              <a:rect l="0" t="0" r="r" b="b"/>
              <a:pathLst>
                <a:path w="1234440" h="374904" fill="none" extrusionOk="0">
                  <a:moveTo>
                    <a:pt x="123444" y="150876"/>
                  </a:moveTo>
                  <a:lnTo>
                    <a:pt x="361188" y="13716"/>
                  </a:lnTo>
                  <a:lnTo>
                    <a:pt x="617220" y="169164"/>
                  </a:lnTo>
                  <a:lnTo>
                    <a:pt x="873252" y="13716"/>
                  </a:lnTo>
                  <a:lnTo>
                    <a:pt x="1110996" y="150876"/>
                  </a:lnTo>
                  <a:moveTo>
                    <a:pt x="13716" y="77723"/>
                  </a:moveTo>
                  <a:lnTo>
                    <a:pt x="68580" y="109728"/>
                  </a:lnTo>
                  <a:moveTo>
                    <a:pt x="1165860" y="109728"/>
                  </a:moveTo>
                  <a:lnTo>
                    <a:pt x="1220724" y="77723"/>
                  </a:lnTo>
                  <a:moveTo>
                    <a:pt x="617220" y="169164"/>
                  </a:moveTo>
                  <a:lnTo>
                    <a:pt x="617220" y="361188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10127" y="2578608"/>
              <a:ext cx="402336" cy="228600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063584"/>
                  </a:solidFill>
                  <a:latin typeface="Arial" panose="020B0604020202020204"/>
                </a:defRPr>
              </a:pPr>
              <a:r>
                <a:t>Cl</a:t>
              </a:r>
            </a:p>
          </p:txBody>
        </p:sp>
      </p:grpSp>
      <p:grpSp>
        <p:nvGrpSpPr>
          <p:cNvPr id="24" name="Path1_SubstitutedProduct"/>
          <p:cNvGrpSpPr/>
          <p:nvPr/>
        </p:nvGrpSpPr>
        <p:grpSpPr>
          <a:xfrm>
            <a:off x="4421251" y="1861058"/>
            <a:ext cx="1234439" cy="617220"/>
            <a:chOff x="4448556" y="2189988"/>
            <a:chExt cx="1234439" cy="617220"/>
          </a:xfrm>
        </p:grpSpPr>
        <p:sp>
          <p:nvSpPr>
            <p:cNvPr id="22" name="Path1_SubstitutedProduct_Bonds"/>
            <p:cNvSpPr/>
            <p:nvPr/>
          </p:nvSpPr>
          <p:spPr>
            <a:xfrm>
              <a:off x="4448556" y="2189988"/>
              <a:ext cx="1234439" cy="374904"/>
            </a:xfrm>
            <a:custGeom>
              <a:avLst/>
              <a:gdLst/>
              <a:ahLst/>
              <a:cxnLst/>
              <a:rect l="0" t="0" r="r" b="b"/>
              <a:pathLst>
                <a:path w="1234439" h="374904" fill="none" extrusionOk="0">
                  <a:moveTo>
                    <a:pt x="123443" y="150876"/>
                  </a:moveTo>
                  <a:lnTo>
                    <a:pt x="361187" y="13716"/>
                  </a:lnTo>
                  <a:lnTo>
                    <a:pt x="617219" y="169164"/>
                  </a:lnTo>
                  <a:lnTo>
                    <a:pt x="873252" y="13716"/>
                  </a:lnTo>
                  <a:lnTo>
                    <a:pt x="1110995" y="150876"/>
                  </a:lnTo>
                  <a:moveTo>
                    <a:pt x="13715" y="77723"/>
                  </a:moveTo>
                  <a:lnTo>
                    <a:pt x="68580" y="109728"/>
                  </a:lnTo>
                  <a:moveTo>
                    <a:pt x="1165859" y="109728"/>
                  </a:moveTo>
                  <a:lnTo>
                    <a:pt x="1220724" y="77723"/>
                  </a:lnTo>
                  <a:moveTo>
                    <a:pt x="617219" y="169164"/>
                  </a:moveTo>
                  <a:lnTo>
                    <a:pt x="617219" y="361188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37760" y="2578608"/>
              <a:ext cx="402336" cy="228600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C00000"/>
                  </a:solidFill>
                  <a:latin typeface="Arial" panose="020B0604020202020204"/>
                </a:defRPr>
              </a:pPr>
              <a:r>
                <a:t>Nu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935351" y="1550161"/>
            <a:ext cx="502920" cy="237744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C00000"/>
                </a:solidFill>
                <a:latin typeface="Arial" panose="020B0604020202020204"/>
              </a:defRPr>
            </a:pPr>
            <a:r>
              <a:t>Nu</a:t>
            </a:r>
          </a:p>
        </p:txBody>
      </p:sp>
      <p:sp>
        <p:nvSpPr>
          <p:cNvPr id="26" name="Path1_NucleophileAttack"/>
          <p:cNvSpPr/>
          <p:nvPr/>
        </p:nvSpPr>
        <p:spPr>
          <a:xfrm>
            <a:off x="3195955" y="1659889"/>
            <a:ext cx="292608" cy="329183"/>
          </a:xfrm>
          <a:custGeom>
            <a:avLst/>
            <a:gdLst/>
            <a:ahLst/>
            <a:cxnLst/>
            <a:rect l="0" t="0" r="r" b="b"/>
            <a:pathLst>
              <a:path w="292608" h="329183" fill="none" extrusionOk="0">
                <a:moveTo>
                  <a:pt x="13716" y="22859"/>
                </a:moveTo>
                <a:cubicBezTo>
                  <a:pt x="224028" y="13716"/>
                  <a:pt x="278892" y="150876"/>
                  <a:pt x="214883" y="315467"/>
                </a:cubicBezTo>
              </a:path>
            </a:pathLst>
          </a:custGeom>
          <a:noFill/>
          <a:ln w="16510">
            <a:solidFill>
              <a:srgbClr val="C0000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th1_BondPairToChlorine"/>
          <p:cNvSpPr/>
          <p:nvPr/>
        </p:nvSpPr>
        <p:spPr>
          <a:xfrm>
            <a:off x="3415410" y="2098802"/>
            <a:ext cx="274319" cy="274320"/>
          </a:xfrm>
          <a:custGeom>
            <a:avLst/>
            <a:gdLst/>
            <a:ahLst/>
            <a:cxnLst/>
            <a:rect l="0" t="0" r="r" b="b"/>
            <a:pathLst>
              <a:path w="274319" h="274320" fill="none" extrusionOk="0">
                <a:moveTo>
                  <a:pt x="13716" y="32004"/>
                </a:moveTo>
                <a:cubicBezTo>
                  <a:pt x="242316" y="13716"/>
                  <a:pt x="260604" y="196595"/>
                  <a:pt x="86868" y="260604"/>
                </a:cubicBezTo>
              </a:path>
            </a:pathLst>
          </a:custGeom>
          <a:noFill/>
          <a:ln w="1651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th1_ReactionArrow"/>
          <p:cNvSpPr/>
          <p:nvPr/>
        </p:nvSpPr>
        <p:spPr>
          <a:xfrm>
            <a:off x="4055491" y="2016506"/>
            <a:ext cx="448055" cy="27432"/>
          </a:xfrm>
          <a:custGeom>
            <a:avLst/>
            <a:gdLst/>
            <a:ahLst/>
            <a:cxnLst/>
            <a:rect l="0" t="0" r="r" b="b"/>
            <a:pathLst>
              <a:path w="448055" h="27432" fill="none" extrusionOk="0">
                <a:moveTo>
                  <a:pt x="13715" y="13716"/>
                </a:moveTo>
                <a:lnTo>
                  <a:pt x="434339" y="13716"/>
                </a:lnTo>
              </a:path>
            </a:pathLst>
          </a:custGeom>
          <a:noFill/>
          <a:ln w="2159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LeavingGroup_Label"/>
          <p:cNvGrpSpPr/>
          <p:nvPr/>
        </p:nvGrpSpPr>
        <p:grpSpPr>
          <a:xfrm>
            <a:off x="4023486" y="2110841"/>
            <a:ext cx="566928" cy="247802"/>
            <a:chOff x="4050791" y="2550261"/>
            <a:chExt cx="566928" cy="247802"/>
          </a:xfrm>
        </p:grpSpPr>
        <p:sp>
          <p:nvSpPr>
            <p:cNvPr id="29" name="TextBox 28"/>
            <p:cNvSpPr txBox="1"/>
            <p:nvPr/>
          </p:nvSpPr>
          <p:spPr>
            <a:xfrm>
              <a:off x="4050791" y="2569463"/>
              <a:ext cx="566928" cy="228600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320" b="0">
                  <a:solidFill>
                    <a:srgbClr val="063584"/>
                  </a:solidFill>
                  <a:latin typeface="Arial" panose="020B0604020202020204"/>
                </a:defRPr>
              </a:pPr>
              <a:r>
                <a:t>-Cl</a:t>
              </a:r>
            </a:p>
          </p:txBody>
        </p:sp>
        <p:sp>
          <p:nvSpPr>
            <p:cNvPr id="30" name="CircledNegativeCharge"/>
            <p:cNvSpPr/>
            <p:nvPr/>
          </p:nvSpPr>
          <p:spPr>
            <a:xfrm>
              <a:off x="4311396" y="2550261"/>
              <a:ext cx="137159" cy="137160"/>
            </a:xfrm>
            <a:custGeom>
              <a:avLst/>
              <a:gdLst/>
              <a:ahLst/>
              <a:cxnLst/>
              <a:rect l="0" t="0" r="r" b="b"/>
              <a:pathLst>
                <a:path w="137159" h="137160" fill="none" extrusionOk="0">
                  <a:moveTo>
                    <a:pt x="123443" y="68580"/>
                  </a:moveTo>
                  <a:cubicBezTo>
                    <a:pt x="123443" y="98880"/>
                    <a:pt x="98880" y="123444"/>
                    <a:pt x="68579" y="123444"/>
                  </a:cubicBezTo>
                  <a:cubicBezTo>
                    <a:pt x="38279" y="123444"/>
                    <a:pt x="13715" y="98880"/>
                    <a:pt x="13715" y="68580"/>
                  </a:cubicBezTo>
                  <a:cubicBezTo>
                    <a:pt x="13715" y="38279"/>
                    <a:pt x="38279" y="13716"/>
                    <a:pt x="68579" y="13716"/>
                  </a:cubicBezTo>
                  <a:cubicBezTo>
                    <a:pt x="98880" y="13716"/>
                    <a:pt x="123443" y="38279"/>
                    <a:pt x="123443" y="68580"/>
                  </a:cubicBezTo>
                  <a:moveTo>
                    <a:pt x="40233" y="68580"/>
                  </a:moveTo>
                  <a:lnTo>
                    <a:pt x="96926" y="68580"/>
                  </a:lnTo>
                </a:path>
              </a:pathLst>
            </a:custGeom>
            <a:noFill/>
            <a:ln w="12700">
              <a:solidFill>
                <a:srgbClr val="0635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411607" y="2834894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7735" y="2905302"/>
            <a:ext cx="224942" cy="224942"/>
          </a:xfrm>
          <a:prstGeom prst="ellipse">
            <a:avLst/>
          </a:prstGeom>
          <a:solidFill>
            <a:srgbClr val="C00000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195" y="2930906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663" y="2908046"/>
            <a:ext cx="1956816" cy="21209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C–Cl 键均裂脱氯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24855" y="3189224"/>
            <a:ext cx="1673352" cy="36893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18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200" b="1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发生均裂，生成碳自</a:t>
            </a:r>
            <a:r>
              <a:rPr lang="en-US" sz="1200" b="1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sz="1200" b="1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由基与 Cl·</a:t>
            </a:r>
            <a:endParaRPr sz="1200" b="1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0" name="Path2_Substrate"/>
          <p:cNvGrpSpPr/>
          <p:nvPr/>
        </p:nvGrpSpPr>
        <p:grpSpPr>
          <a:xfrm>
            <a:off x="2793618" y="3168649"/>
            <a:ext cx="1234440" cy="617221"/>
            <a:chOff x="2820923" y="3497579"/>
            <a:chExt cx="1234440" cy="617221"/>
          </a:xfrm>
        </p:grpSpPr>
        <p:sp>
          <p:nvSpPr>
            <p:cNvPr id="38" name="Path2_Substrate_Bonds"/>
            <p:cNvSpPr/>
            <p:nvPr/>
          </p:nvSpPr>
          <p:spPr>
            <a:xfrm>
              <a:off x="2820923" y="3497579"/>
              <a:ext cx="1234440" cy="374903"/>
            </a:xfrm>
            <a:custGeom>
              <a:avLst/>
              <a:gdLst/>
              <a:ahLst/>
              <a:cxnLst/>
              <a:rect l="0" t="0" r="r" b="b"/>
              <a:pathLst>
                <a:path w="1234440" h="374903" fill="none" extrusionOk="0">
                  <a:moveTo>
                    <a:pt x="123444" y="150876"/>
                  </a:moveTo>
                  <a:lnTo>
                    <a:pt x="361188" y="13716"/>
                  </a:lnTo>
                  <a:lnTo>
                    <a:pt x="617220" y="169164"/>
                  </a:lnTo>
                  <a:lnTo>
                    <a:pt x="873252" y="13716"/>
                  </a:lnTo>
                  <a:lnTo>
                    <a:pt x="1110996" y="150876"/>
                  </a:lnTo>
                  <a:moveTo>
                    <a:pt x="13716" y="77723"/>
                  </a:moveTo>
                  <a:lnTo>
                    <a:pt x="68580" y="109728"/>
                  </a:lnTo>
                  <a:moveTo>
                    <a:pt x="1165860" y="109728"/>
                  </a:moveTo>
                  <a:lnTo>
                    <a:pt x="1220724" y="77723"/>
                  </a:lnTo>
                  <a:moveTo>
                    <a:pt x="617220" y="169164"/>
                  </a:moveTo>
                  <a:lnTo>
                    <a:pt x="617220" y="361188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10127" y="3886200"/>
              <a:ext cx="402336" cy="228600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063584"/>
                  </a:solidFill>
                  <a:latin typeface="Arial" panose="020B0604020202020204"/>
                </a:defRPr>
              </a:pPr>
              <a:r>
                <a:t>Cl</a:t>
              </a:r>
            </a:p>
          </p:txBody>
        </p:sp>
      </p:grpSp>
      <p:grpSp>
        <p:nvGrpSpPr>
          <p:cNvPr id="43" name="Path2_CarbonRadicalProduct"/>
          <p:cNvGrpSpPr/>
          <p:nvPr/>
        </p:nvGrpSpPr>
        <p:grpSpPr>
          <a:xfrm>
            <a:off x="4421251" y="3168649"/>
            <a:ext cx="1234439" cy="237973"/>
            <a:chOff x="4448556" y="3497579"/>
            <a:chExt cx="1234439" cy="237973"/>
          </a:xfrm>
        </p:grpSpPr>
        <p:sp>
          <p:nvSpPr>
            <p:cNvPr id="41" name="Path2_CarbonRadicalProduct_Bonds"/>
            <p:cNvSpPr/>
            <p:nvPr/>
          </p:nvSpPr>
          <p:spPr>
            <a:xfrm>
              <a:off x="4448556" y="3497579"/>
              <a:ext cx="1234439" cy="182879"/>
            </a:xfrm>
            <a:custGeom>
              <a:avLst/>
              <a:gdLst/>
              <a:ahLst/>
              <a:cxnLst/>
              <a:rect l="0" t="0" r="r" b="b"/>
              <a:pathLst>
                <a:path w="1234439" h="182879" fill="none" extrusionOk="0">
                  <a:moveTo>
                    <a:pt x="123443" y="150876"/>
                  </a:moveTo>
                  <a:lnTo>
                    <a:pt x="361187" y="13716"/>
                  </a:lnTo>
                  <a:lnTo>
                    <a:pt x="617219" y="169164"/>
                  </a:lnTo>
                  <a:lnTo>
                    <a:pt x="873252" y="13716"/>
                  </a:lnTo>
                  <a:lnTo>
                    <a:pt x="1110995" y="150876"/>
                  </a:lnTo>
                  <a:moveTo>
                    <a:pt x="13715" y="77723"/>
                  </a:moveTo>
                  <a:lnTo>
                    <a:pt x="68580" y="109728"/>
                  </a:lnTo>
                  <a:moveTo>
                    <a:pt x="1165859" y="109728"/>
                  </a:moveTo>
                  <a:lnTo>
                    <a:pt x="1220724" y="77723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Path2_CarbonRadicalProduct_CarbonRadical"/>
            <p:cNvSpPr/>
            <p:nvPr/>
          </p:nvSpPr>
          <p:spPr>
            <a:xfrm>
              <a:off x="5045659" y="3695319"/>
              <a:ext cx="40233" cy="40233"/>
            </a:xfrm>
            <a:prstGeom prst="ellipse">
              <a:avLst/>
            </a:prstGeom>
            <a:solidFill>
              <a:srgbClr val="0635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4" name="Path2_OneElectronToCarbon"/>
          <p:cNvSpPr/>
          <p:nvPr/>
        </p:nvSpPr>
        <p:spPr>
          <a:xfrm>
            <a:off x="3131947" y="3250945"/>
            <a:ext cx="274320" cy="210311"/>
          </a:xfrm>
          <a:custGeom>
            <a:avLst/>
            <a:gdLst/>
            <a:ahLst/>
            <a:cxnLst/>
            <a:rect l="0" t="0" r="r" b="b"/>
            <a:pathLst>
              <a:path w="274320" h="210311" fill="none" extrusionOk="0">
                <a:moveTo>
                  <a:pt x="260604" y="196596"/>
                </a:moveTo>
                <a:cubicBezTo>
                  <a:pt x="22859" y="187452"/>
                  <a:pt x="13716" y="13716"/>
                  <a:pt x="242316" y="68580"/>
                </a:cubicBezTo>
                <a:lnTo>
                  <a:pt x="167093" y="88141"/>
                </a:lnTo>
              </a:path>
            </a:pathLst>
          </a:custGeom>
          <a:noFill/>
          <a:ln w="1651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th2_OneElectronToChlorine"/>
          <p:cNvSpPr/>
          <p:nvPr/>
        </p:nvSpPr>
        <p:spPr>
          <a:xfrm>
            <a:off x="3424555" y="3406394"/>
            <a:ext cx="265175" cy="274319"/>
          </a:xfrm>
          <a:custGeom>
            <a:avLst/>
            <a:gdLst/>
            <a:ahLst/>
            <a:cxnLst/>
            <a:rect l="0" t="0" r="r" b="b"/>
            <a:pathLst>
              <a:path w="265175" h="274319" fill="none" extrusionOk="0">
                <a:moveTo>
                  <a:pt x="13716" y="41147"/>
                </a:moveTo>
                <a:cubicBezTo>
                  <a:pt x="224027" y="13715"/>
                  <a:pt x="251459" y="196595"/>
                  <a:pt x="77723" y="260604"/>
                </a:cubicBezTo>
                <a:lnTo>
                  <a:pt x="129431" y="202574"/>
                </a:lnTo>
              </a:path>
            </a:pathLst>
          </a:custGeom>
          <a:noFill/>
          <a:ln w="1651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th2_ReactionArrow"/>
          <p:cNvSpPr/>
          <p:nvPr/>
        </p:nvSpPr>
        <p:spPr>
          <a:xfrm>
            <a:off x="4055491" y="3324097"/>
            <a:ext cx="448055" cy="27432"/>
          </a:xfrm>
          <a:custGeom>
            <a:avLst/>
            <a:gdLst/>
            <a:ahLst/>
            <a:cxnLst/>
            <a:rect l="0" t="0" r="r" b="b"/>
            <a:pathLst>
              <a:path w="448055" h="27432" fill="none" extrusionOk="0">
                <a:moveTo>
                  <a:pt x="13715" y="13716"/>
                </a:moveTo>
                <a:lnTo>
                  <a:pt x="434339" y="13716"/>
                </a:lnTo>
              </a:path>
            </a:pathLst>
          </a:custGeom>
          <a:noFill/>
          <a:ln w="2159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9" name="LeavingGroup_Label"/>
          <p:cNvGrpSpPr/>
          <p:nvPr/>
        </p:nvGrpSpPr>
        <p:grpSpPr>
          <a:xfrm>
            <a:off x="4055871" y="3377946"/>
            <a:ext cx="566928" cy="228600"/>
            <a:chOff x="4050791" y="3877056"/>
            <a:chExt cx="566928" cy="228600"/>
          </a:xfrm>
        </p:grpSpPr>
        <p:sp>
          <p:nvSpPr>
            <p:cNvPr id="47" name="TextBox 46"/>
            <p:cNvSpPr txBox="1"/>
            <p:nvPr/>
          </p:nvSpPr>
          <p:spPr>
            <a:xfrm>
              <a:off x="4050791" y="3877056"/>
              <a:ext cx="566928" cy="228600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320" b="0">
                  <a:solidFill>
                    <a:srgbClr val="063584"/>
                  </a:solidFill>
                  <a:latin typeface="Arial" panose="020B0604020202020204"/>
                </a:defRPr>
              </a:pPr>
              <a:r>
                <a:t>-Cl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4334255" y="3935577"/>
              <a:ext cx="30175" cy="30175"/>
            </a:xfrm>
            <a:prstGeom prst="ellipse">
              <a:avLst/>
            </a:prstGeom>
            <a:solidFill>
              <a:srgbClr val="0635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0" name="Rounded Rectangle 49"/>
          <p:cNvSpPr/>
          <p:nvPr/>
        </p:nvSpPr>
        <p:spPr>
          <a:xfrm>
            <a:off x="411607" y="4142486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7735" y="4212894"/>
            <a:ext cx="224942" cy="224942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195" y="4238498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663" y="4215638"/>
            <a:ext cx="1956816" cy="21209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脱 HCl（消除）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824855" y="4461891"/>
            <a:ext cx="1673352" cy="70739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1200" b="1">
                <a:ea typeface="微软雅黑" panose="020B0503020204020204" charset="-122"/>
                <a:cs typeface="微软雅黑" panose="020B0503020204020204" charset="-122"/>
              </a:rPr>
              <a:t>• 生成 C=C 不饱和结构</a:t>
            </a:r>
            <a:endParaRPr sz="1200" b="1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1200" b="1">
                <a:ea typeface="微软雅黑" panose="020B0503020204020204" charset="-122"/>
                <a:cs typeface="微软雅黑" panose="020B0503020204020204" charset="-122"/>
              </a:rPr>
              <a:t>• 可逐步形成共轭多烯</a:t>
            </a:r>
            <a:endParaRPr sz="1200" b="1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微软雅黑" panose="020B0503020204020204" charset="-122"/>
              </a:defRPr>
            </a:pPr>
            <a:endParaRPr sz="1200" b="1"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9" name="Path3_BetaH_Substrate"/>
          <p:cNvGrpSpPr/>
          <p:nvPr/>
        </p:nvGrpSpPr>
        <p:grpSpPr>
          <a:xfrm>
            <a:off x="2793618" y="4156201"/>
            <a:ext cx="1234440" cy="937261"/>
            <a:chOff x="2820923" y="4485131"/>
            <a:chExt cx="1234440" cy="937261"/>
          </a:xfrm>
        </p:grpSpPr>
        <p:sp>
          <p:nvSpPr>
            <p:cNvPr id="56" name="Path3_BetaH_Substrate_Bonds"/>
            <p:cNvSpPr/>
            <p:nvPr/>
          </p:nvSpPr>
          <p:spPr>
            <a:xfrm>
              <a:off x="2820923" y="4640580"/>
              <a:ext cx="1234440" cy="539495"/>
            </a:xfrm>
            <a:custGeom>
              <a:avLst/>
              <a:gdLst/>
              <a:ahLst/>
              <a:cxnLst/>
              <a:rect l="0" t="0" r="r" b="b"/>
              <a:pathLst>
                <a:path w="1234440" h="539495" fill="none" extrusionOk="0">
                  <a:moveTo>
                    <a:pt x="123444" y="315467"/>
                  </a:moveTo>
                  <a:lnTo>
                    <a:pt x="361188" y="178307"/>
                  </a:lnTo>
                  <a:lnTo>
                    <a:pt x="617220" y="333755"/>
                  </a:lnTo>
                  <a:lnTo>
                    <a:pt x="873252" y="178307"/>
                  </a:lnTo>
                  <a:lnTo>
                    <a:pt x="1110996" y="315467"/>
                  </a:lnTo>
                  <a:moveTo>
                    <a:pt x="13716" y="242315"/>
                  </a:moveTo>
                  <a:lnTo>
                    <a:pt x="68580" y="274319"/>
                  </a:lnTo>
                  <a:moveTo>
                    <a:pt x="1165860" y="274319"/>
                  </a:moveTo>
                  <a:lnTo>
                    <a:pt x="1220724" y="242315"/>
                  </a:lnTo>
                  <a:moveTo>
                    <a:pt x="617220" y="333755"/>
                  </a:moveTo>
                  <a:lnTo>
                    <a:pt x="617220" y="525779"/>
                  </a:lnTo>
                  <a:moveTo>
                    <a:pt x="361188" y="178307"/>
                  </a:moveTo>
                  <a:lnTo>
                    <a:pt x="361188" y="13715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310127" y="5193792"/>
              <a:ext cx="402336" cy="228600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063584"/>
                  </a:solidFill>
                  <a:latin typeface="Arial" panose="020B0604020202020204"/>
                </a:defRPr>
              </a:pPr>
              <a:r>
                <a:t>Cl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090672" y="4485131"/>
              <a:ext cx="256032" cy="237744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063584"/>
                  </a:solidFill>
                  <a:latin typeface="Arial" panose="020B0604020202020204"/>
                </a:defRPr>
              </a:pPr>
              <a:r>
                <a:t>H</a:t>
              </a:r>
            </a:p>
          </p:txBody>
        </p:sp>
      </p:grpSp>
      <p:grpSp>
        <p:nvGrpSpPr>
          <p:cNvPr id="61" name="Path3_AlkeneProduct"/>
          <p:cNvGrpSpPr/>
          <p:nvPr/>
        </p:nvGrpSpPr>
        <p:grpSpPr>
          <a:xfrm>
            <a:off x="4421251" y="4462424"/>
            <a:ext cx="1234439" cy="196697"/>
            <a:chOff x="4448556" y="4791354"/>
            <a:chExt cx="1234439" cy="196697"/>
          </a:xfrm>
        </p:grpSpPr>
        <p:sp>
          <p:nvSpPr>
            <p:cNvPr id="60" name="Path3_AlkeneProduct_Bonds"/>
            <p:cNvSpPr/>
            <p:nvPr/>
          </p:nvSpPr>
          <p:spPr>
            <a:xfrm>
              <a:off x="4448556" y="4791354"/>
              <a:ext cx="1234439" cy="196697"/>
            </a:xfrm>
            <a:custGeom>
              <a:avLst/>
              <a:gdLst/>
              <a:ahLst/>
              <a:cxnLst/>
              <a:rect l="0" t="0" r="r" b="b"/>
              <a:pathLst>
                <a:path w="1234439" h="196697" fill="none" extrusionOk="0">
                  <a:moveTo>
                    <a:pt x="123443" y="164693"/>
                  </a:moveTo>
                  <a:lnTo>
                    <a:pt x="361187" y="27533"/>
                  </a:lnTo>
                  <a:lnTo>
                    <a:pt x="617219" y="182981"/>
                  </a:lnTo>
                  <a:lnTo>
                    <a:pt x="873252" y="27533"/>
                  </a:lnTo>
                  <a:lnTo>
                    <a:pt x="1110995" y="164693"/>
                  </a:lnTo>
                  <a:moveTo>
                    <a:pt x="13715" y="91541"/>
                  </a:moveTo>
                  <a:lnTo>
                    <a:pt x="68580" y="123545"/>
                  </a:lnTo>
                  <a:moveTo>
                    <a:pt x="1165859" y="123545"/>
                  </a:moveTo>
                  <a:lnTo>
                    <a:pt x="1220724" y="91541"/>
                  </a:lnTo>
                  <a:moveTo>
                    <a:pt x="417715" y="13715"/>
                  </a:moveTo>
                  <a:lnTo>
                    <a:pt x="603402" y="126454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2770759" y="4156201"/>
            <a:ext cx="274320" cy="22860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C00000"/>
                </a:solidFill>
                <a:latin typeface="Arial" panose="020B0604020202020204"/>
              </a:defRPr>
            </a:pPr>
            <a:r>
              <a:t>B</a:t>
            </a:r>
          </a:p>
        </p:txBody>
      </p:sp>
      <p:sp>
        <p:nvSpPr>
          <p:cNvPr id="63" name="CircledNegativeCharge"/>
          <p:cNvSpPr/>
          <p:nvPr/>
        </p:nvSpPr>
        <p:spPr>
          <a:xfrm>
            <a:off x="2903347" y="4115054"/>
            <a:ext cx="137160" cy="137159"/>
          </a:xfrm>
          <a:custGeom>
            <a:avLst/>
            <a:gdLst/>
            <a:ahLst/>
            <a:cxnLst/>
            <a:rect l="0" t="0" r="r" b="b"/>
            <a:pathLst>
              <a:path w="137160" h="137159" fill="none" extrusionOk="0">
                <a:moveTo>
                  <a:pt x="123444" y="68579"/>
                </a:moveTo>
                <a:cubicBezTo>
                  <a:pt x="123444" y="98880"/>
                  <a:pt x="98880" y="123443"/>
                  <a:pt x="68580" y="123443"/>
                </a:cubicBezTo>
                <a:cubicBezTo>
                  <a:pt x="38279" y="123443"/>
                  <a:pt x="13716" y="98880"/>
                  <a:pt x="13716" y="68579"/>
                </a:cubicBezTo>
                <a:cubicBezTo>
                  <a:pt x="13716" y="38279"/>
                  <a:pt x="38279" y="13715"/>
                  <a:pt x="68580" y="13715"/>
                </a:cubicBezTo>
                <a:cubicBezTo>
                  <a:pt x="98880" y="13715"/>
                  <a:pt x="123444" y="38279"/>
                  <a:pt x="123444" y="68579"/>
                </a:cubicBezTo>
                <a:moveTo>
                  <a:pt x="40233" y="68579"/>
                </a:moveTo>
                <a:lnTo>
                  <a:pt x="96926" y="68579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th3_BaseToBetaHydrogen"/>
          <p:cNvSpPr/>
          <p:nvPr/>
        </p:nvSpPr>
        <p:spPr>
          <a:xfrm>
            <a:off x="2903347" y="4384421"/>
            <a:ext cx="210312" cy="146303"/>
          </a:xfrm>
          <a:custGeom>
            <a:avLst/>
            <a:gdLst/>
            <a:ahLst/>
            <a:cxnLst/>
            <a:rect l="0" t="0" r="r" b="b"/>
            <a:pathLst>
              <a:path w="210312" h="146303" fill="none" extrusionOk="0">
                <a:moveTo>
                  <a:pt x="13716" y="13715"/>
                </a:moveTo>
                <a:cubicBezTo>
                  <a:pt x="41147" y="132587"/>
                  <a:pt x="169164" y="123443"/>
                  <a:pt x="196596" y="22859"/>
                </a:cubicBezTo>
              </a:path>
            </a:pathLst>
          </a:custGeom>
          <a:noFill/>
          <a:ln w="16510">
            <a:solidFill>
              <a:srgbClr val="C0000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th3_CHBondPairToCCBond"/>
          <p:cNvSpPr/>
          <p:nvPr/>
        </p:nvSpPr>
        <p:spPr>
          <a:xfrm>
            <a:off x="3141091" y="4357370"/>
            <a:ext cx="274320" cy="219455"/>
          </a:xfrm>
          <a:custGeom>
            <a:avLst/>
            <a:gdLst/>
            <a:ahLst/>
            <a:cxnLst/>
            <a:rect l="0" t="0" r="r" b="b"/>
            <a:pathLst>
              <a:path w="274320" h="219455" fill="none" extrusionOk="0">
                <a:moveTo>
                  <a:pt x="13716" y="32004"/>
                </a:moveTo>
                <a:cubicBezTo>
                  <a:pt x="169164" y="13715"/>
                  <a:pt x="260604" y="68579"/>
                  <a:pt x="160020" y="205739"/>
                </a:cubicBezTo>
              </a:path>
            </a:pathLst>
          </a:custGeom>
          <a:noFill/>
          <a:ln w="1651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th3_CClPairToChlorine"/>
          <p:cNvSpPr/>
          <p:nvPr/>
        </p:nvSpPr>
        <p:spPr>
          <a:xfrm>
            <a:off x="3415410" y="4713986"/>
            <a:ext cx="274319" cy="274319"/>
          </a:xfrm>
          <a:custGeom>
            <a:avLst/>
            <a:gdLst/>
            <a:ahLst/>
            <a:cxnLst/>
            <a:rect l="0" t="0" r="r" b="b"/>
            <a:pathLst>
              <a:path w="274319" h="274319" fill="none" extrusionOk="0">
                <a:moveTo>
                  <a:pt x="13716" y="32004"/>
                </a:moveTo>
                <a:cubicBezTo>
                  <a:pt x="242316" y="13715"/>
                  <a:pt x="260604" y="196595"/>
                  <a:pt x="86868" y="260604"/>
                </a:cubicBezTo>
              </a:path>
            </a:pathLst>
          </a:custGeom>
          <a:noFill/>
          <a:ln w="1651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th3_ReactionArrow"/>
          <p:cNvSpPr/>
          <p:nvPr/>
        </p:nvSpPr>
        <p:spPr>
          <a:xfrm>
            <a:off x="4055491" y="4631690"/>
            <a:ext cx="448055" cy="27432"/>
          </a:xfrm>
          <a:custGeom>
            <a:avLst/>
            <a:gdLst/>
            <a:ahLst/>
            <a:cxnLst/>
            <a:rect l="0" t="0" r="r" b="b"/>
            <a:pathLst>
              <a:path w="448055" h="27432" fill="none" extrusionOk="0">
                <a:moveTo>
                  <a:pt x="13715" y="13715"/>
                </a:moveTo>
                <a:lnTo>
                  <a:pt x="434339" y="13715"/>
                </a:lnTo>
              </a:path>
            </a:pathLst>
          </a:custGeom>
          <a:noFill/>
          <a:ln w="2159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1" name="LeavingGroup_Label"/>
          <p:cNvGrpSpPr/>
          <p:nvPr/>
        </p:nvGrpSpPr>
        <p:grpSpPr>
          <a:xfrm>
            <a:off x="4055871" y="4714341"/>
            <a:ext cx="667512" cy="439827"/>
            <a:chOff x="4050791" y="5156301"/>
            <a:chExt cx="667512" cy="439827"/>
          </a:xfrm>
        </p:grpSpPr>
        <p:sp>
          <p:nvSpPr>
            <p:cNvPr id="68" name="TextBox 67"/>
            <p:cNvSpPr txBox="1"/>
            <p:nvPr/>
          </p:nvSpPr>
          <p:spPr>
            <a:xfrm>
              <a:off x="4050791" y="5175504"/>
              <a:ext cx="566928" cy="228600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320" b="0">
                  <a:solidFill>
                    <a:srgbClr val="063584"/>
                  </a:solidFill>
                  <a:latin typeface="Arial" panose="020B0604020202020204"/>
                </a:defRPr>
              </a:pPr>
              <a:r>
                <a:t>-Cl</a:t>
              </a:r>
            </a:p>
          </p:txBody>
        </p:sp>
        <p:sp>
          <p:nvSpPr>
            <p:cNvPr id="69" name="CircledNegativeCharge"/>
            <p:cNvSpPr/>
            <p:nvPr/>
          </p:nvSpPr>
          <p:spPr>
            <a:xfrm>
              <a:off x="4311396" y="5156301"/>
              <a:ext cx="137159" cy="137159"/>
            </a:xfrm>
            <a:custGeom>
              <a:avLst/>
              <a:gdLst/>
              <a:ahLst/>
              <a:cxnLst/>
              <a:rect l="0" t="0" r="r" b="b"/>
              <a:pathLst>
                <a:path w="137159" h="137159" fill="none" extrusionOk="0">
                  <a:moveTo>
                    <a:pt x="123443" y="68579"/>
                  </a:moveTo>
                  <a:cubicBezTo>
                    <a:pt x="123443" y="98880"/>
                    <a:pt x="98880" y="123443"/>
                    <a:pt x="68579" y="123443"/>
                  </a:cubicBezTo>
                  <a:cubicBezTo>
                    <a:pt x="38279" y="123443"/>
                    <a:pt x="13715" y="98880"/>
                    <a:pt x="13715" y="68579"/>
                  </a:cubicBezTo>
                  <a:cubicBezTo>
                    <a:pt x="13715" y="38279"/>
                    <a:pt x="38279" y="13715"/>
                    <a:pt x="68579" y="13715"/>
                  </a:cubicBezTo>
                  <a:cubicBezTo>
                    <a:pt x="98880" y="13715"/>
                    <a:pt x="123443" y="38279"/>
                    <a:pt x="123443" y="68579"/>
                  </a:cubicBezTo>
                  <a:moveTo>
                    <a:pt x="40233" y="68579"/>
                  </a:moveTo>
                  <a:lnTo>
                    <a:pt x="96926" y="68579"/>
                  </a:lnTo>
                </a:path>
              </a:pathLst>
            </a:custGeom>
            <a:noFill/>
            <a:ln w="12700">
              <a:solidFill>
                <a:srgbClr val="0635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050791" y="5376672"/>
              <a:ext cx="667512" cy="219456"/>
            </a:xfrm>
            <a:prstGeom prst="rect">
              <a:avLst/>
            </a:prstGeom>
            <a:noFill/>
          </p:spPr>
          <p:txBody>
            <a:bodyPr wrap="square" lIns="22860" tIns="0" rIns="22860" bIns="0">
              <a:spAutoFit/>
            </a:bodyPr>
            <a:lstStyle/>
            <a:p>
              <a:pPr>
                <a:spcAft>
                  <a:spcPts val="600"/>
                </a:spcAft>
                <a:defRPr sz="1280" b="0">
                  <a:solidFill>
                    <a:srgbClr val="063584"/>
                  </a:solidFill>
                  <a:latin typeface="Arial" panose="020B0604020202020204"/>
                </a:defRPr>
              </a:pPr>
              <a:r>
                <a:t>-HB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265430" y="5669280"/>
            <a:ext cx="11603990" cy="651510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hevron 85"/>
          <p:cNvSpPr/>
          <p:nvPr/>
        </p:nvSpPr>
        <p:spPr>
          <a:xfrm>
            <a:off x="395605" y="5793105"/>
            <a:ext cx="1654175" cy="40894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5155" y="5869432"/>
            <a:ext cx="123444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</a:rPr>
              <a:t>研究思路</a:t>
            </a:r>
            <a:endParaRPr sz="1600"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036445" y="5725033"/>
            <a:ext cx="9445752" cy="49212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</a:rPr>
              <a:t>PVC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</a:rPr>
              <a:t>C-CI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键相对较低的键能及其多样的转化路径，关注可能生成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</a:rPr>
              <a:t>Cl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自由基路径，探索其参与 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</a:rPr>
              <a:t>PVC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的氧化反应及主链断裂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311150" y="155575"/>
            <a:ext cx="1868170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研究背景</a:t>
            </a:r>
            <a:endParaRPr>
              <a:ea typeface="微软雅黑" panose="020B0503020204020204" charset="-122"/>
            </a:endParaRPr>
          </a:p>
        </p:txBody>
      </p:sp>
      <p:sp>
        <p:nvSpPr>
          <p:cNvPr id="76" name="Rounded Rectangle 9"/>
          <p:cNvSpPr/>
          <p:nvPr/>
        </p:nvSpPr>
        <p:spPr>
          <a:xfrm>
            <a:off x="7936611" y="1015238"/>
            <a:ext cx="3877056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0" name="Table 72"/>
          <p:cNvGraphicFramePr>
            <a:graphicFrameLocks noGrp="1"/>
          </p:cNvGraphicFramePr>
          <p:nvPr/>
        </p:nvGraphicFramePr>
        <p:xfrm>
          <a:off x="8082661" y="1155065"/>
          <a:ext cx="3511296" cy="1197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76"/>
                <a:gridCol w="2103120"/>
              </a:tblGrid>
              <a:tr h="299466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化学键</a:t>
                      </a:r>
                    </a:p>
                  </a:txBody>
                  <a:tcPr marR="64008" marT="64008">
                    <a:solidFill>
                      <a:srgbClr val="0635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键能 / kJ·mol⁻¹</a:t>
                      </a:r>
                    </a:p>
                  </a:txBody>
                  <a:tcPr marR="64008" marT="64008">
                    <a:solidFill>
                      <a:srgbClr val="063584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C–H</a:t>
                      </a:r>
                    </a:p>
                  </a:txBody>
                  <a:tcPr marR="64008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414</a:t>
                      </a:r>
                    </a:p>
                  </a:txBody>
                  <a:tcPr marR="64008" marT="64008">
                    <a:solidFill>
                      <a:srgbClr val="FFFFFF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C–C</a:t>
                      </a:r>
                    </a:p>
                  </a:txBody>
                  <a:tcPr marR="64008" marT="64008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332</a:t>
                      </a:r>
                    </a:p>
                  </a:txBody>
                  <a:tcPr marR="64008" marT="64008">
                    <a:solidFill>
                      <a:srgbClr val="EDF3FF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C00000"/>
                          </a:solidFill>
                          <a:latin typeface="微软雅黑" panose="020B0503020204020204" charset="-122"/>
                        </a:defRPr>
                      </a:pPr>
                      <a:r>
                        <a:t>C–Cl</a:t>
                      </a:r>
                    </a:p>
                  </a:txBody>
                  <a:tcPr marR="64008" marT="64008"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C00000"/>
                          </a:solidFill>
                          <a:latin typeface="微软雅黑" panose="020B0503020204020204" charset="-122"/>
                        </a:defRPr>
                      </a:pPr>
                      <a:r>
                        <a:t>328</a:t>
                      </a:r>
                    </a:p>
                  </a:txBody>
                  <a:tcPr marR="64008" marT="64008">
                    <a:solidFill>
                      <a:srgbClr val="FFF1F1"/>
                    </a:solidFill>
                  </a:tcPr>
                </a:tc>
              </a:tr>
            </a:tbl>
          </a:graphicData>
        </a:graphic>
      </p:graphicFrame>
      <p:sp>
        <p:nvSpPr>
          <p:cNvPr id="81" name="Rounded Rectangle 73"/>
          <p:cNvSpPr/>
          <p:nvPr/>
        </p:nvSpPr>
        <p:spPr>
          <a:xfrm>
            <a:off x="8082915" y="2905125"/>
            <a:ext cx="3511550" cy="2012950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74"/>
          <p:cNvSpPr txBox="1"/>
          <p:nvPr/>
        </p:nvSpPr>
        <p:spPr>
          <a:xfrm>
            <a:off x="8215630" y="3130550"/>
            <a:ext cx="3246120" cy="174180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4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1400" b="1"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altLang="zh-CN" sz="1400" b="1">
                <a:ea typeface="微软雅黑" panose="020B0503020204020204" charset="-122"/>
                <a:cs typeface="微软雅黑" panose="020B0503020204020204" charset="-122"/>
              </a:rPr>
              <a:t>C-CI</a:t>
            </a:r>
            <a:r>
              <a:rPr lang="zh-CN" altLang="en-US" sz="1400" b="1">
                <a:ea typeface="微软雅黑" panose="020B0503020204020204" charset="-122"/>
                <a:cs typeface="微软雅黑" panose="020B0503020204020204" charset="-122"/>
              </a:rPr>
              <a:t>键的键能低于</a:t>
            </a:r>
            <a:r>
              <a:rPr lang="en-US" altLang="zh-CN" sz="1400" b="1">
                <a:ea typeface="微软雅黑" panose="020B0503020204020204" charset="-122"/>
                <a:cs typeface="微软雅黑" panose="020B0503020204020204" charset="-122"/>
              </a:rPr>
              <a:t>C-C</a:t>
            </a:r>
            <a:r>
              <a:rPr lang="zh-CN" altLang="en-US" sz="1400" b="1"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400" b="1">
                <a:ea typeface="微软雅黑" panose="020B0503020204020204" charset="-122"/>
                <a:cs typeface="微软雅黑" panose="020B0503020204020204" charset="-122"/>
              </a:rPr>
              <a:t>C-H,</a:t>
            </a:r>
            <a:r>
              <a:rPr lang="zh-CN" altLang="en-US" sz="1400" b="1">
                <a:ea typeface="微软雅黑" panose="020B0503020204020204" charset="-122"/>
                <a:cs typeface="微软雅黑" panose="020B0503020204020204" charset="-122"/>
              </a:rPr>
              <a:t>从热力学角度具有较好的活化可能性。</a:t>
            </a:r>
            <a:endParaRPr lang="zh-CN" altLang="en-US" sz="1400" b="1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600"/>
              </a:spcAft>
              <a:defRPr sz="1240" b="0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1400" b="1"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en-US" altLang="zh-CN" sz="1400" b="1">
                <a:ea typeface="微软雅黑" panose="020B0503020204020204" charset="-122"/>
                <a:cs typeface="微软雅黑" panose="020B0503020204020204" charset="-122"/>
                <a:sym typeface="+mn-ea"/>
              </a:rPr>
              <a:t>C-CI</a:t>
            </a:r>
            <a:r>
              <a:rPr lang="zh-CN" altLang="en-US" sz="1400" b="1">
                <a:ea typeface="微软雅黑" panose="020B0503020204020204" charset="-122"/>
                <a:cs typeface="微软雅黑" panose="020B0503020204020204" charset="-122"/>
                <a:sym typeface="+mn-ea"/>
              </a:rPr>
              <a:t>键的转化可进一步引发聚合物的氧化和降解过程。</a:t>
            </a:r>
            <a:endParaRPr lang="zh-CN" altLang="en-US" sz="1400" b="1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240" b="0">
                <a:solidFill>
                  <a:srgbClr val="063584"/>
                </a:solidFill>
                <a:latin typeface="微软雅黑" panose="020B0503020204020204" charset="-122"/>
              </a:defRPr>
            </a:pPr>
            <a:endParaRPr lang="zh-CN" altLang="en-US" sz="1400" b="1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3271" y="6665341"/>
            <a:ext cx="10881360" cy="11620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 panose="020B0604020202020204"/>
              </a:defRPr>
            </a:pPr>
            <a:r>
              <a:rPr i="1"/>
              <a:t>Gardette et al., Macromolecules 1989, 22, 2576–2581. .</a:t>
            </a:r>
            <a:endParaRPr i="1"/>
          </a:p>
        </p:txBody>
      </p:sp>
      <p:sp>
        <p:nvSpPr>
          <p:cNvPr id="7" name="Rounded Rectangle 6"/>
          <p:cNvSpPr/>
          <p:nvPr/>
        </p:nvSpPr>
        <p:spPr>
          <a:xfrm>
            <a:off x="438785" y="1262380"/>
            <a:ext cx="8353425" cy="4658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785" y="1052830"/>
            <a:ext cx="8354060" cy="320675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835" y="1106170"/>
            <a:ext cx="2087880" cy="2076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早期光氧化的机制认识</a:t>
            </a:r>
            <a:endParaRPr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40" y="6007735"/>
            <a:ext cx="10900410" cy="622935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502285" y="6140450"/>
            <a:ext cx="1167765" cy="3505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285" y="6192647"/>
            <a:ext cx="123444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</a:rPr>
              <a:t>核心结论</a:t>
            </a:r>
            <a:endParaRPr sz="1600"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36725" y="6090158"/>
            <a:ext cx="9445752" cy="49212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早期研究为理解并抑制 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</a:rPr>
              <a:t>PVC 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光老化而解析自由基氧化与断链，本课题反向利用这一失效路径，探索光敏诱导的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</a:rPr>
              <a:t>pvc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光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催化氧化降解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1"/>
          <p:cNvSpPr txBox="1"/>
          <p:nvPr/>
        </p:nvSpPr>
        <p:spPr>
          <a:xfrm>
            <a:off x="311150" y="155575"/>
            <a:ext cx="1868170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研究背景</a:t>
            </a:r>
            <a:endParaRPr>
              <a:ea typeface="微软雅黑" panose="020B0503020204020204" charset="-122"/>
            </a:endParaRPr>
          </a:p>
        </p:txBody>
      </p:sp>
      <p:pic>
        <p:nvPicPr>
          <p:cNvPr id="35" name="Picture 6" descr="Gardette_机理图_清晰增强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1471041"/>
            <a:ext cx="3185382" cy="4187952"/>
          </a:xfrm>
          <a:prstGeom prst="rect">
            <a:avLst/>
          </a:prstGeom>
        </p:spPr>
      </p:pic>
      <p:sp>
        <p:nvSpPr>
          <p:cNvPr id="49" name="Oval 14"/>
          <p:cNvSpPr/>
          <p:nvPr/>
        </p:nvSpPr>
        <p:spPr>
          <a:xfrm>
            <a:off x="4182237" y="1973706"/>
            <a:ext cx="237744" cy="23774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15"/>
          <p:cNvSpPr txBox="1"/>
          <p:nvPr/>
        </p:nvSpPr>
        <p:spPr>
          <a:xfrm>
            <a:off x="4186809" y="1982850"/>
            <a:ext cx="228600" cy="22860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51" name="TextBox 16"/>
          <p:cNvSpPr txBox="1"/>
          <p:nvPr/>
        </p:nvSpPr>
        <p:spPr>
          <a:xfrm>
            <a:off x="4575175" y="1964690"/>
            <a:ext cx="3979545" cy="24701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光引发 → 含氯位点活化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18"/>
          <p:cNvCxnSpPr/>
          <p:nvPr/>
        </p:nvCxnSpPr>
        <p:spPr>
          <a:xfrm>
            <a:off x="4301109" y="2284603"/>
            <a:ext cx="0" cy="593725"/>
          </a:xfrm>
          <a:prstGeom prst="line">
            <a:avLst/>
          </a:prstGeom>
          <a:ln w="14604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19"/>
          <p:cNvSpPr/>
          <p:nvPr/>
        </p:nvSpPr>
        <p:spPr>
          <a:xfrm>
            <a:off x="4186047" y="3107308"/>
            <a:ext cx="237744" cy="23774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20"/>
          <p:cNvSpPr txBox="1"/>
          <p:nvPr/>
        </p:nvSpPr>
        <p:spPr>
          <a:xfrm>
            <a:off x="4190619" y="3116452"/>
            <a:ext cx="228600" cy="22860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56" name="TextBox 21"/>
          <p:cNvSpPr txBox="1"/>
          <p:nvPr/>
        </p:nvSpPr>
        <p:spPr>
          <a:xfrm>
            <a:off x="4578985" y="3098165"/>
            <a:ext cx="4213860" cy="32004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 algn="l">
              <a:spcAft>
                <a:spcPts val="600"/>
              </a:spcAft>
              <a:buClrTx/>
              <a:buSzTx/>
              <a:buFontTx/>
              <a:defRPr sz="17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1700">
                <a:ea typeface="微软雅黑" panose="020B0503020204020204" charset="-122"/>
                <a:cs typeface="微软雅黑" panose="020B0503020204020204" charset="-122"/>
                <a:sym typeface="+mn-ea"/>
              </a:rPr>
              <a:t>氧参与链式传播，形成过氧与烷氧中间体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Connector 23"/>
          <p:cNvCxnSpPr/>
          <p:nvPr/>
        </p:nvCxnSpPr>
        <p:spPr>
          <a:xfrm>
            <a:off x="4301109" y="3586480"/>
            <a:ext cx="0" cy="582930"/>
          </a:xfrm>
          <a:prstGeom prst="line">
            <a:avLst/>
          </a:prstGeom>
          <a:ln w="14604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24"/>
          <p:cNvSpPr/>
          <p:nvPr/>
        </p:nvSpPr>
        <p:spPr>
          <a:xfrm>
            <a:off x="4182237" y="4365371"/>
            <a:ext cx="237744" cy="23774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25"/>
          <p:cNvSpPr txBox="1"/>
          <p:nvPr/>
        </p:nvSpPr>
        <p:spPr>
          <a:xfrm>
            <a:off x="4186809" y="4374514"/>
            <a:ext cx="228600" cy="22860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61" name="TextBox 26"/>
          <p:cNvSpPr txBox="1"/>
          <p:nvPr/>
        </p:nvSpPr>
        <p:spPr>
          <a:xfrm>
            <a:off x="4586605" y="4365625"/>
            <a:ext cx="3968115" cy="36576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氧化产物生成 → 发生主链断裂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ounded Rectangle 31"/>
          <p:cNvSpPr/>
          <p:nvPr/>
        </p:nvSpPr>
        <p:spPr>
          <a:xfrm>
            <a:off x="9290431" y="1172210"/>
            <a:ext cx="2002536" cy="39319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32"/>
          <p:cNvSpPr txBox="1"/>
          <p:nvPr/>
        </p:nvSpPr>
        <p:spPr>
          <a:xfrm>
            <a:off x="9345295" y="1254506"/>
            <a:ext cx="1892807" cy="23050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zh-CN" altLang="en-US">
                <a:ea typeface="微软雅黑" panose="020B0503020204020204" charset="-122"/>
              </a:rPr>
              <a:t>光引发</a:t>
            </a:r>
            <a:endParaRPr lang="zh-CN" altLang="en-US">
              <a:ea typeface="微软雅黑" panose="020B0503020204020204" charset="-122"/>
            </a:endParaRPr>
          </a:p>
        </p:txBody>
      </p:sp>
      <p:sp>
        <p:nvSpPr>
          <p:cNvPr id="83" name="TextBox 33"/>
          <p:cNvSpPr txBox="1"/>
          <p:nvPr/>
        </p:nvSpPr>
        <p:spPr>
          <a:xfrm>
            <a:off x="9281287" y="1739138"/>
            <a:ext cx="2020824" cy="21526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08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sz="1400" b="1">
                <a:ea typeface="微软雅黑" panose="020B0503020204020204" charset="-122"/>
              </a:rPr>
              <a:t>引入合适的光敏剂</a:t>
            </a:r>
            <a:endParaRPr lang="zh-CN" sz="1400" b="1">
              <a:ea typeface="微软雅黑" panose="020B0503020204020204" charset="-122"/>
            </a:endParaRPr>
          </a:p>
        </p:txBody>
      </p:sp>
      <p:sp>
        <p:nvSpPr>
          <p:cNvPr id="86" name="Rounded Rectangle 36"/>
          <p:cNvSpPr/>
          <p:nvPr/>
        </p:nvSpPr>
        <p:spPr>
          <a:xfrm>
            <a:off x="9299575" y="2571750"/>
            <a:ext cx="2002536" cy="39319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37"/>
          <p:cNvSpPr txBox="1"/>
          <p:nvPr/>
        </p:nvSpPr>
        <p:spPr>
          <a:xfrm>
            <a:off x="9354439" y="2654046"/>
            <a:ext cx="1892807" cy="23050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验证</a:t>
            </a:r>
            <a:r>
              <a:rPr>
                <a:ea typeface="微软雅黑" panose="020B0503020204020204" charset="-122"/>
              </a:rPr>
              <a:t>自由基</a:t>
            </a:r>
            <a:r>
              <a:rPr lang="zh-CN">
                <a:ea typeface="微软雅黑" panose="020B0503020204020204" charset="-122"/>
              </a:rPr>
              <a:t>路径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88" name="TextBox 38"/>
          <p:cNvSpPr txBox="1"/>
          <p:nvPr/>
        </p:nvSpPr>
        <p:spPr>
          <a:xfrm>
            <a:off x="9290685" y="3138805"/>
            <a:ext cx="2020570" cy="33782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 algn="ctr">
              <a:spcAft>
                <a:spcPts val="600"/>
              </a:spcAft>
              <a:defRPr sz="108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sz="1400" b="1">
                <a:ea typeface="微软雅黑" panose="020B0503020204020204" charset="-122"/>
              </a:rPr>
              <a:t>EPR </a:t>
            </a:r>
            <a:r>
              <a:rPr lang="zh-CN" sz="1400" b="1">
                <a:ea typeface="微软雅黑" panose="020B0503020204020204" charset="-122"/>
              </a:rPr>
              <a:t>验证 </a:t>
            </a:r>
            <a:r>
              <a:rPr lang="zh-CN" sz="1400" b="1">
                <a:ea typeface="微软雅黑" panose="020B0503020204020204" charset="-122"/>
                <a:sym typeface="+mn-ea"/>
              </a:rPr>
              <a:t>Cl· 与氧相关物种</a:t>
            </a:r>
            <a:endParaRPr lang="zh-CN" sz="1400" b="1">
              <a:ea typeface="微软雅黑" panose="020B0503020204020204" charset="-122"/>
              <a:sym typeface="+mn-ea"/>
            </a:endParaRPr>
          </a:p>
          <a:p>
            <a:pPr algn="ctr">
              <a:spcAft>
                <a:spcPts val="600"/>
              </a:spcAft>
              <a:defRPr sz="1080" b="0">
                <a:solidFill>
                  <a:srgbClr val="11111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1" name="Rounded Rectangle 41"/>
          <p:cNvSpPr/>
          <p:nvPr/>
        </p:nvSpPr>
        <p:spPr>
          <a:xfrm>
            <a:off x="9281414" y="4250055"/>
            <a:ext cx="2002536" cy="39319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42"/>
          <p:cNvSpPr txBox="1"/>
          <p:nvPr/>
        </p:nvSpPr>
        <p:spPr>
          <a:xfrm>
            <a:off x="9336278" y="4332351"/>
            <a:ext cx="1892807" cy="23050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产物解析</a:t>
            </a:r>
            <a:endParaRPr lang="zh-CN"/>
          </a:p>
        </p:txBody>
      </p:sp>
      <p:sp>
        <p:nvSpPr>
          <p:cNvPr id="93" name="TextBox 43"/>
          <p:cNvSpPr txBox="1"/>
          <p:nvPr/>
        </p:nvSpPr>
        <p:spPr>
          <a:xfrm>
            <a:off x="9272270" y="4816983"/>
            <a:ext cx="2020824" cy="43053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08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sz="1400" b="1">
                <a:ea typeface="微软雅黑" panose="020B0503020204020204" charset="-122"/>
              </a:rPr>
              <a:t>离子色谱检测氯  GPC 确认产物分子量</a:t>
            </a:r>
            <a:endParaRPr lang="zh-CN" sz="1400" b="1">
              <a:ea typeface="微软雅黑" panose="020B0503020204020204" charset="-122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>
            <a:off x="10246360" y="2149475"/>
            <a:ext cx="0" cy="30353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10237470" y="3752850"/>
            <a:ext cx="0" cy="30353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150" y="155575"/>
            <a:ext cx="1910715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理论可行性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6616" y="6574536"/>
            <a:ext cx="10881360" cy="11620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 panose="020B0604020202020204"/>
              </a:defRPr>
            </a:pPr>
            <a:r>
              <a:rPr i="1"/>
              <a:t>Su et al., Angew. Chem. Int. Ed. 2026, e5578835. </a:t>
            </a:r>
            <a:endParaRPr i="1"/>
          </a:p>
        </p:txBody>
      </p:sp>
      <p:sp>
        <p:nvSpPr>
          <p:cNvPr id="6" name="TextBox 5"/>
          <p:cNvSpPr txBox="1"/>
          <p:nvPr/>
        </p:nvSpPr>
        <p:spPr>
          <a:xfrm>
            <a:off x="11420475" y="6489573"/>
            <a:ext cx="448056" cy="146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en-US"/>
              <a:t>5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85725" y="1013460"/>
            <a:ext cx="7887335" cy="451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150" y="1040765"/>
            <a:ext cx="3971290" cy="35560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530" y="1090930"/>
            <a:ext cx="3429000" cy="23368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 altLang="en-US" kern="100" dirty="0">
                <a:solidFill>
                  <a:schemeClr val="bg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聚苯乙烯在CH</a:t>
            </a:r>
            <a:r>
              <a:rPr lang="zh-CN" altLang="en-US" kern="100" baseline="-25000" dirty="0">
                <a:solidFill>
                  <a:schemeClr val="bg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kern="100" dirty="0">
                <a:solidFill>
                  <a:schemeClr val="bg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Cl</a:t>
            </a:r>
            <a:r>
              <a:rPr lang="zh-CN" altLang="en-US" kern="100" baseline="-25000" dirty="0">
                <a:solidFill>
                  <a:schemeClr val="bg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kern="100" dirty="0">
                <a:solidFill>
                  <a:schemeClr val="bg1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中光裂解为芳香族产物</a:t>
            </a:r>
            <a:endParaRPr lang="zh-CN" altLang="en-US" b="1" i="0" kern="100" dirty="0">
              <a:solidFill>
                <a:schemeClr val="bg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endParaRPr lang="zh-CN" altLang="en-US" b="1" i="0" kern="100" dirty="0">
              <a:solidFill>
                <a:schemeClr val="bg1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20040" y="5896610"/>
            <a:ext cx="11553190" cy="454025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evron 58"/>
          <p:cNvSpPr/>
          <p:nvPr/>
        </p:nvSpPr>
        <p:spPr>
          <a:xfrm>
            <a:off x="430530" y="5946775"/>
            <a:ext cx="1534160" cy="366395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4845" y="6009640"/>
            <a:ext cx="1071245" cy="22733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</a:rPr>
              <a:t>文献启发</a:t>
            </a:r>
            <a:endParaRPr sz="1400"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27250" y="5993765"/>
            <a:ext cx="8510270" cy="30734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rPr lang="en-US"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GPC 证实 PS 降链，PBN–EPR 支持 Cl· 生成</a:t>
            </a: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含氯介质可驱动聚合物光裂解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/>
          <a:srcRect r="3926" b="582"/>
          <a:stretch>
            <a:fillRect/>
          </a:stretch>
        </p:blipFill>
        <p:spPr>
          <a:xfrm>
            <a:off x="430530" y="2837180"/>
            <a:ext cx="6963410" cy="1455420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347345" y="4705985"/>
            <a:ext cx="10712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1" i="0">
                <a:solidFill>
                  <a:srgbClr val="0F11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光引发</a:t>
            </a:r>
            <a:endParaRPr lang="zh-CN" altLang="en-US" sz="2000" b="1" i="0">
              <a:solidFill>
                <a:srgbClr val="0F11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" name="矩形: 圆角 31"/>
          <p:cNvSpPr/>
          <p:nvPr>
            <p:custDataLst>
              <p:tags r:id="rId2"/>
            </p:custDataLst>
          </p:nvPr>
        </p:nvSpPr>
        <p:spPr>
          <a:xfrm>
            <a:off x="236220" y="4612005"/>
            <a:ext cx="1213485" cy="563245"/>
          </a:xfrm>
          <a:prstGeom prst="roundRect">
            <a:avLst/>
          </a:prstGeom>
          <a:ln w="28575" cap="flat" cmpd="sng" algn="ctr">
            <a:solidFill>
              <a:schemeClr val="tx2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7" name="右箭头 66"/>
          <p:cNvSpPr/>
          <p:nvPr/>
        </p:nvSpPr>
        <p:spPr>
          <a:xfrm>
            <a:off x="1532890" y="4774565"/>
            <a:ext cx="532130" cy="262255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2127250" y="4699000"/>
            <a:ext cx="16021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1">
                <a:solidFill>
                  <a:srgbClr val="0F1115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氢原子转移</a:t>
            </a:r>
            <a:endParaRPr lang="zh-CN" altLang="en-US" sz="2000" b="1" i="0">
              <a:solidFill>
                <a:srgbClr val="0F11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" name="矩形: 圆角 31"/>
          <p:cNvSpPr/>
          <p:nvPr>
            <p:custDataLst>
              <p:tags r:id="rId3"/>
            </p:custDataLst>
          </p:nvPr>
        </p:nvSpPr>
        <p:spPr>
          <a:xfrm>
            <a:off x="2157730" y="4612005"/>
            <a:ext cx="1365250" cy="548640"/>
          </a:xfrm>
          <a:prstGeom prst="roundRect">
            <a:avLst/>
          </a:prstGeom>
          <a:ln w="28575" cap="flat" cmpd="sng" algn="ctr">
            <a:solidFill>
              <a:schemeClr val="tx2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0" name="右箭头 69"/>
          <p:cNvSpPr/>
          <p:nvPr/>
        </p:nvSpPr>
        <p:spPr>
          <a:xfrm>
            <a:off x="3731895" y="4774565"/>
            <a:ext cx="532130" cy="262255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4472940" y="4699000"/>
            <a:ext cx="16021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1">
                <a:solidFill>
                  <a:srgbClr val="0F1115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氧化断链</a:t>
            </a:r>
            <a:endParaRPr lang="zh-CN" altLang="en-US" sz="2000" b="1" i="0">
              <a:solidFill>
                <a:srgbClr val="0F11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" name="矩形: 圆角 31"/>
          <p:cNvSpPr/>
          <p:nvPr>
            <p:custDataLst>
              <p:tags r:id="rId4"/>
            </p:custDataLst>
          </p:nvPr>
        </p:nvSpPr>
        <p:spPr>
          <a:xfrm>
            <a:off x="4438015" y="4612005"/>
            <a:ext cx="1276985" cy="535940"/>
          </a:xfrm>
          <a:prstGeom prst="roundRect">
            <a:avLst/>
          </a:prstGeom>
          <a:ln w="28575" cap="flat" cmpd="sng" algn="ctr">
            <a:solidFill>
              <a:schemeClr val="tx2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3" name="右箭头 72"/>
          <p:cNvSpPr/>
          <p:nvPr/>
        </p:nvSpPr>
        <p:spPr>
          <a:xfrm>
            <a:off x="5857240" y="4774565"/>
            <a:ext cx="532130" cy="262255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6577330" y="4699000"/>
            <a:ext cx="16021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1">
                <a:solidFill>
                  <a:srgbClr val="0F1115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产物生成</a:t>
            </a:r>
            <a:endParaRPr lang="zh-CN" altLang="en-US" sz="2000" b="1" i="0">
              <a:solidFill>
                <a:srgbClr val="0F111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" name="矩形: 圆角 31"/>
          <p:cNvSpPr/>
          <p:nvPr>
            <p:custDataLst>
              <p:tags r:id="rId5"/>
            </p:custDataLst>
          </p:nvPr>
        </p:nvSpPr>
        <p:spPr>
          <a:xfrm>
            <a:off x="6531610" y="4612005"/>
            <a:ext cx="1275715" cy="542925"/>
          </a:xfrm>
          <a:prstGeom prst="roundRect">
            <a:avLst/>
          </a:prstGeom>
          <a:ln w="28575" cap="flat" cmpd="sng" algn="ctr">
            <a:solidFill>
              <a:schemeClr val="tx2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7" name="Rounded Rectangle 26"/>
          <p:cNvSpPr/>
          <p:nvPr>
            <p:custDataLst>
              <p:tags r:id="rId6"/>
            </p:custDataLst>
          </p:nvPr>
        </p:nvSpPr>
        <p:spPr>
          <a:xfrm>
            <a:off x="8187182" y="997839"/>
            <a:ext cx="3794760" cy="22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28"/>
          <p:cNvSpPr/>
          <p:nvPr>
            <p:custDataLst>
              <p:tags r:id="rId7"/>
            </p:custDataLst>
          </p:nvPr>
        </p:nvSpPr>
        <p:spPr>
          <a:xfrm>
            <a:off x="8525636" y="1091184"/>
            <a:ext cx="3246120" cy="368300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PBN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捕获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Cl·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0" name="Picture 29" descr="epr_fig5ab_composit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388350" y="1583055"/>
            <a:ext cx="3383280" cy="1307592"/>
          </a:xfrm>
          <a:prstGeom prst="rect">
            <a:avLst/>
          </a:prstGeom>
          <a:effectLst/>
        </p:spPr>
      </p:pic>
      <p:sp>
        <p:nvSpPr>
          <p:cNvPr id="81" name="TextBox 30"/>
          <p:cNvSpPr txBox="1"/>
          <p:nvPr>
            <p:custDataLst>
              <p:tags r:id="rId10"/>
            </p:custDataLst>
          </p:nvPr>
        </p:nvSpPr>
        <p:spPr>
          <a:xfrm>
            <a:off x="8379205" y="3046095"/>
            <a:ext cx="3419856" cy="142875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buClrTx/>
              <a:buSzTx/>
              <a:buFontTx/>
              <a:defRPr sz="93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  <a:cs typeface="微软雅黑" panose="020B0503020204020204" charset="-122"/>
              </a:rPr>
              <a:t>实验谱与 PBN–Cl· 模拟谱相符，归属 Cl·。</a:t>
            </a:r>
            <a:endParaRPr b="1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ounded Rectangle 31"/>
          <p:cNvSpPr/>
          <p:nvPr>
            <p:custDataLst>
              <p:tags r:id="rId11"/>
            </p:custDataLst>
          </p:nvPr>
        </p:nvSpPr>
        <p:spPr>
          <a:xfrm>
            <a:off x="8187182" y="3347847"/>
            <a:ext cx="3794760" cy="218541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33"/>
          <p:cNvSpPr/>
          <p:nvPr>
            <p:custDataLst>
              <p:tags r:id="rId12"/>
            </p:custDataLst>
          </p:nvPr>
        </p:nvSpPr>
        <p:spPr>
          <a:xfrm>
            <a:off x="8525636" y="3449193"/>
            <a:ext cx="3246120" cy="368300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GPC </a:t>
            </a:r>
            <a:endParaRPr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5" name="Picture 34" descr="gpc_fig2d_clean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772398" y="3914775"/>
            <a:ext cx="2606040" cy="1353312"/>
          </a:xfrm>
          <a:prstGeom prst="rect">
            <a:avLst/>
          </a:prstGeom>
          <a:effectLst/>
        </p:spPr>
      </p:pic>
      <p:sp>
        <p:nvSpPr>
          <p:cNvPr id="86" name="TextBox 35"/>
          <p:cNvSpPr txBox="1"/>
          <p:nvPr>
            <p:custDataLst>
              <p:tags r:id="rId15"/>
            </p:custDataLst>
          </p:nvPr>
        </p:nvSpPr>
        <p:spPr>
          <a:xfrm>
            <a:off x="8397494" y="5268087"/>
            <a:ext cx="3383280" cy="142875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93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Mₙ 75.1→1.2 kDa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Mᵥ 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208.4→1.3 kDa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16"/>
          <a:srcRect l="15776" t="72835" r="4989" b="-296"/>
          <a:stretch>
            <a:fillRect/>
          </a:stretch>
        </p:blipFill>
        <p:spPr>
          <a:xfrm>
            <a:off x="722630" y="1854835"/>
            <a:ext cx="6908165" cy="826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210" y="128270"/>
            <a:ext cx="1911985" cy="40005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100"/>
              </a:spcAft>
              <a:defRPr sz="25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2600">
                <a:ea typeface="微软雅黑" panose="020B0503020204020204" charset="-122"/>
              </a:rPr>
              <a:t>理论可行性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713232"/>
            <a:ext cx="11622024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01955" y="1143000"/>
            <a:ext cx="7626985" cy="471805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895" y="1243330"/>
            <a:ext cx="7287895" cy="356870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7055" y="1307465"/>
            <a:ext cx="6296025" cy="20002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100"/>
              </a:spcAft>
              <a:defRPr sz="1180" b="0">
                <a:solidFill>
                  <a:srgbClr val="5D6878"/>
                </a:solidFill>
                <a:latin typeface="微软雅黑" panose="020B0503020204020204" charset="-122"/>
              </a:defRPr>
            </a:pPr>
            <a:r>
              <a:rPr sz="1300" b="1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商业聚甲基丙烯酸酯在含氯溶剂中实现可见光触发、主链起始的解聚</a:t>
            </a:r>
            <a:endParaRPr sz="1300" b="1">
              <a:solidFill>
                <a:schemeClr val="bg1"/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353" y="2578608"/>
            <a:ext cx="7388352" cy="2587752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3d_mechanis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09545"/>
            <a:ext cx="6911975" cy="2298065"/>
          </a:xfrm>
          <a:prstGeom prst="rect">
            <a:avLst/>
          </a:prstGeom>
          <a:effectLst/>
        </p:spPr>
      </p:pic>
      <p:sp>
        <p:nvSpPr>
          <p:cNvPr id="17" name="Rounded Rectangle 16"/>
          <p:cNvSpPr/>
          <p:nvPr/>
        </p:nvSpPr>
        <p:spPr>
          <a:xfrm>
            <a:off x="621792" y="5166487"/>
            <a:ext cx="1554480" cy="6035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C7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5257927"/>
            <a:ext cx="1426464" cy="16129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10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DCB 光激发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" y="5504815"/>
            <a:ext cx="1463040" cy="11938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780" b="0">
                <a:solidFill>
                  <a:srgbClr val="5D6878"/>
                </a:solidFill>
                <a:latin typeface="Arial" panose="020B0604020202020204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</a:rPr>
              <a:t>DCB ─hν→ DCB*</a:t>
            </a: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194560" y="5468239"/>
            <a:ext cx="228600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468880" y="5166487"/>
            <a:ext cx="1554480" cy="6035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C7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32887" y="5257927"/>
            <a:ext cx="1426464" cy="16129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10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C–Cl 均裂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14599" y="5504815"/>
            <a:ext cx="1463040" cy="11938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780" b="0">
                <a:solidFill>
                  <a:srgbClr val="5D6878"/>
                </a:solidFill>
                <a:latin typeface="Arial" panose="020B0604020202020204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</a:rPr>
              <a:t>DCB* → Cl· + Ar·</a:t>
            </a: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4041647" y="5468239"/>
            <a:ext cx="228601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15968" y="5166487"/>
            <a:ext cx="1554480" cy="6035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C7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79976" y="5257927"/>
            <a:ext cx="1426464" cy="16129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10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Cl· 攫取主链氢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61688" y="5504815"/>
            <a:ext cx="1463040" cy="11938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780" b="0">
                <a:solidFill>
                  <a:srgbClr val="5D6878"/>
                </a:solidFill>
                <a:latin typeface="Arial" panose="020B0604020202020204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</a:rPr>
              <a:t>P–H + Cl· → P· + HCl</a:t>
            </a: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888736" y="5468239"/>
            <a:ext cx="228600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63056" y="5166487"/>
            <a:ext cx="1554480" cy="6035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4C7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27064" y="5257927"/>
            <a:ext cx="1426464" cy="16129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10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β-裂解并解聚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08776" y="5504815"/>
            <a:ext cx="1463040" cy="11938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780" b="0">
                <a:solidFill>
                  <a:srgbClr val="5D6878"/>
                </a:solidFill>
                <a:latin typeface="Arial" panose="020B0604020202020204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P· → 新链端 → MMA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211312" y="1143000"/>
            <a:ext cx="3749039" cy="2267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31352" y="1261872"/>
            <a:ext cx="3108960" cy="338328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31936" y="1316736"/>
            <a:ext cx="2907792" cy="21780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142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PBN–EPR｜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Cl·</a:t>
            </a:r>
            <a:endParaRPr lang="zh-CN" altLang="en-US"/>
          </a:p>
        </p:txBody>
      </p:sp>
      <p:pic>
        <p:nvPicPr>
          <p:cNvPr id="44" name="Picture 43" descr="fig3c_e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2" y="1719072"/>
            <a:ext cx="3008376" cy="1371600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8449056" y="3136392"/>
            <a:ext cx="3273552" cy="182880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8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纯DCB：芳基与可能的Cl·加合物；加入PMMA后：烷基自由基。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11312" y="3575304"/>
            <a:ext cx="3749039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31352" y="3694176"/>
            <a:ext cx="3108960" cy="338328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31936" y="3749039"/>
            <a:ext cx="2907792" cy="201168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142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SEC｜真实链长下降</a:t>
            </a:r>
          </a:p>
        </p:txBody>
      </p:sp>
      <p:pic>
        <p:nvPicPr>
          <p:cNvPr id="49" name="Picture 48" descr="fig2b_s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4123944"/>
            <a:ext cx="1993392" cy="1581912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8439912" y="5660136"/>
            <a:ext cx="3291840" cy="12509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100"/>
              </a:spcAft>
              <a:defRPr sz="82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峰随时间向低分子量移动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分子量约下降90%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28600" y="6089904"/>
            <a:ext cx="11722608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347472" y="6163056"/>
            <a:ext cx="1554480" cy="283464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6199632"/>
            <a:ext cx="1207008" cy="21526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ctr">
              <a:spcAft>
                <a:spcPts val="600"/>
              </a:spcAft>
              <a:buClrTx/>
              <a:buSzTx/>
              <a:buFontTx/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</a:rPr>
              <a:t>文献启发</a:t>
            </a:r>
            <a:endParaRPr sz="1400"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75688" y="6190615"/>
            <a:ext cx="9601200" cy="23812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100"/>
              </a:spcAft>
              <a:defRPr sz="25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en-US" sz="155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</a:t>
            </a:r>
            <a:r>
              <a:rPr sz="155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含氯介质可提供主链启动自由基</a:t>
            </a:r>
            <a:endParaRPr sz="155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0896" y="6638544"/>
            <a:ext cx="10789920" cy="109855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>
              <a:spcAft>
                <a:spcPts val="100"/>
              </a:spcAft>
              <a:defRPr sz="720" b="0">
                <a:solidFill>
                  <a:srgbClr val="5D6878"/>
                </a:solidFill>
                <a:latin typeface="Arial" panose="020B0604020202020204"/>
              </a:defRPr>
            </a:pPr>
            <a:r>
              <a:rPr i="1"/>
              <a:t>Wang et al., Science 2025, 387, 874–880. </a:t>
            </a:r>
            <a:endParaRPr i="1"/>
          </a:p>
        </p:txBody>
      </p:sp>
      <p:sp>
        <p:nvSpPr>
          <p:cNvPr id="56" name="TextBox 55"/>
          <p:cNvSpPr txBox="1"/>
          <p:nvPr/>
        </p:nvSpPr>
        <p:spPr>
          <a:xfrm>
            <a:off x="11402568" y="6592824"/>
            <a:ext cx="411480" cy="164592"/>
          </a:xfrm>
          <a:prstGeom prst="rect">
            <a:avLst/>
          </a:prstGeom>
          <a:noFill/>
          <a:effectLst/>
        </p:spPr>
        <p:txBody>
          <a:bodyPr wrap="square" lIns="18288" tIns="0" rIns="18288" bIns="0" anchor="t">
            <a:spAutoFit/>
          </a:bodyPr>
          <a:lstStyle/>
          <a:p>
            <a:pPr algn="r">
              <a:spcAft>
                <a:spcPts val="100"/>
              </a:spcAft>
              <a:defRPr sz="9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1732280"/>
            <a:ext cx="3790950" cy="84455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490" y="1950085"/>
            <a:ext cx="3042285" cy="421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150" y="155575"/>
            <a:ext cx="4099560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光敏组分选择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6616" y="6574536"/>
            <a:ext cx="10881360" cy="11620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 panose="020B0604020202020204"/>
              </a:defRPr>
            </a:pPr>
            <a:r>
              <a:rPr i="1"/>
              <a:t>Chen et al., Environ. Sci. Ecotechnol. 2024, 22, 100449.  </a:t>
            </a:r>
            <a:endParaRPr i="1"/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146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en-US"/>
              <a:t>7</a:t>
            </a:r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evron 72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核心结论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48840" y="6099048"/>
            <a:ext cx="9445752" cy="23812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rPr lang="en-US" altLang="zh-CN">
                <a:sym typeface="+mn-ea"/>
              </a:rPr>
              <a:t>EAQ </a:t>
            </a:r>
            <a:r>
              <a:rPr lang="zh-CN" altLang="en-US">
                <a:sym typeface="+mn-ea"/>
              </a:rPr>
              <a:t>作为引发</a:t>
            </a:r>
            <a:r>
              <a:rPr lang="en-US" altLang="zh-CN">
                <a:sym typeface="+mn-ea"/>
              </a:rPr>
              <a:t> PVC </a:t>
            </a:r>
            <a:r>
              <a:rPr lang="zh-CN" altLang="en-US">
                <a:sym typeface="+mn-ea"/>
              </a:rPr>
              <a:t>生成自由基的光敏启动组分，进一步促进</a:t>
            </a:r>
            <a:r>
              <a:rPr lang="en-US" altLang="zh-CN">
                <a:sym typeface="+mn-ea"/>
              </a:rPr>
              <a:t> PVC </a:t>
            </a:r>
            <a:r>
              <a:rPr lang="zh-CN" altLang="en-US">
                <a:sym typeface="+mn-ea"/>
              </a:rPr>
              <a:t>氧化断链及</a:t>
            </a:r>
            <a:r>
              <a:rPr lang="en-US" altLang="zh-CN">
                <a:sym typeface="+mn-ea"/>
              </a:rPr>
              <a:t> Cl· </a:t>
            </a:r>
            <a:r>
              <a:rPr lang="zh-CN" altLang="en-US">
                <a:sym typeface="+mn-ea"/>
              </a:rPr>
              <a:t>形成仍需实验验证</a:t>
            </a:r>
          </a:p>
        </p:txBody>
      </p:sp>
      <p:sp>
        <p:nvSpPr>
          <p:cNvPr id="220" name="textbox 220"/>
          <p:cNvSpPr/>
          <p:nvPr/>
        </p:nvSpPr>
        <p:spPr>
          <a:xfrm>
            <a:off x="320040" y="981075"/>
            <a:ext cx="5213350" cy="400050"/>
          </a:xfrm>
          <a:prstGeom prst="rect">
            <a:avLst/>
          </a:prstGeom>
          <a:solidFill>
            <a:srgbClr val="003F8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160" algn="l" rtl="0" eaLnBrk="0">
              <a:lnSpc>
                <a:spcPct val="88000"/>
              </a:lnSpc>
              <a:spcBef>
                <a:spcPts val="5"/>
              </a:spcBef>
            </a:pPr>
            <a:r>
              <a:rPr sz="14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2-EAQ光循环</a:t>
            </a:r>
            <a:r>
              <a:rPr lang="zh-CN" sz="14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sz="14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光激发—供氢体—氧气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Rounded Rectangle 48"/>
          <p:cNvSpPr/>
          <p:nvPr/>
        </p:nvSpPr>
        <p:spPr>
          <a:xfrm>
            <a:off x="320040" y="4192397"/>
            <a:ext cx="11548872" cy="163677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49"/>
          <p:cNvSpPr/>
          <p:nvPr/>
        </p:nvSpPr>
        <p:spPr>
          <a:xfrm>
            <a:off x="539496" y="4366133"/>
            <a:ext cx="1627632" cy="31089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50"/>
          <p:cNvSpPr txBox="1"/>
          <p:nvPr/>
        </p:nvSpPr>
        <p:spPr>
          <a:xfrm>
            <a:off x="612647" y="4425569"/>
            <a:ext cx="1481328" cy="1968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128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验证路线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89" name="Rounded Rectangle 51"/>
          <p:cNvSpPr/>
          <p:nvPr/>
        </p:nvSpPr>
        <p:spPr>
          <a:xfrm>
            <a:off x="2404872" y="4366133"/>
            <a:ext cx="1993392" cy="12252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ounded Rectangle 52"/>
          <p:cNvSpPr/>
          <p:nvPr/>
        </p:nvSpPr>
        <p:spPr>
          <a:xfrm>
            <a:off x="2432303" y="4393565"/>
            <a:ext cx="1938528" cy="274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53"/>
          <p:cNvSpPr txBox="1"/>
          <p:nvPr/>
        </p:nvSpPr>
        <p:spPr>
          <a:xfrm>
            <a:off x="2496312" y="4439285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1  EAQ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92" name="TextBox 54"/>
          <p:cNvSpPr txBox="1"/>
          <p:nvPr/>
        </p:nvSpPr>
        <p:spPr>
          <a:xfrm>
            <a:off x="2487168" y="4759325"/>
            <a:ext cx="1828800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980" b="1">
                <a:solidFill>
                  <a:srgbClr val="063584"/>
                </a:solidFill>
                <a:latin typeface="Arial" panose="020B0604020202020204"/>
              </a:defRPr>
            </a:pPr>
            <a:r>
              <a:rPr sz="1200">
                <a:latin typeface="微软雅黑" panose="020B0503020204020204" charset="-122"/>
                <a:ea typeface="微软雅黑" panose="020B0503020204020204" charset="-122"/>
              </a:rPr>
              <a:t>EAQ ─hν→ EAQ*</a:t>
            </a:r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55"/>
          <p:cNvSpPr txBox="1"/>
          <p:nvPr/>
        </p:nvSpPr>
        <p:spPr>
          <a:xfrm>
            <a:off x="2496312" y="5015357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sz="1200">
                <a:ea typeface="微软雅黑" panose="020B0503020204020204" charset="-122"/>
              </a:rPr>
              <a:t>有效启动条件</a:t>
            </a:r>
            <a:endParaRPr lang="zh-CN" sz="1200">
              <a:ea typeface="微软雅黑" panose="020B0503020204020204" charset="-122"/>
            </a:endParaRPr>
          </a:p>
        </p:txBody>
      </p:sp>
      <p:cxnSp>
        <p:nvCxnSpPr>
          <p:cNvPr id="95" name="Connector 57"/>
          <p:cNvCxnSpPr/>
          <p:nvPr/>
        </p:nvCxnSpPr>
        <p:spPr>
          <a:xfrm>
            <a:off x="4416552" y="4969637"/>
            <a:ext cx="301752" cy="0"/>
          </a:xfrm>
          <a:prstGeom prst="line">
            <a:avLst/>
          </a:prstGeom>
          <a:ln w="1778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58"/>
          <p:cNvSpPr/>
          <p:nvPr/>
        </p:nvSpPr>
        <p:spPr>
          <a:xfrm>
            <a:off x="4764024" y="4366133"/>
            <a:ext cx="1993392" cy="12252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ounded Rectangle 59"/>
          <p:cNvSpPr/>
          <p:nvPr/>
        </p:nvSpPr>
        <p:spPr>
          <a:xfrm>
            <a:off x="4791456" y="4393565"/>
            <a:ext cx="1938528" cy="274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60"/>
          <p:cNvSpPr txBox="1"/>
          <p:nvPr/>
        </p:nvSpPr>
        <p:spPr>
          <a:xfrm>
            <a:off x="4855464" y="4439285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2  氯代烷烃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61"/>
          <p:cNvSpPr txBox="1"/>
          <p:nvPr/>
        </p:nvSpPr>
        <p:spPr>
          <a:xfrm>
            <a:off x="4846320" y="4759325"/>
            <a:ext cx="1828800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980" b="1">
                <a:solidFill>
                  <a:srgbClr val="063584"/>
                </a:solidFill>
                <a:latin typeface="Arial" panose="020B0604020202020204"/>
              </a:defRPr>
            </a:pPr>
            <a:r>
              <a:rPr sz="1200"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sz="1200" baseline="-2500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sz="1200">
                <a:latin typeface="微软雅黑" panose="020B0503020204020204" charset="-122"/>
                <a:ea typeface="微软雅黑" panose="020B0503020204020204" charset="-122"/>
              </a:rPr>
              <a:t>–CH(Cl)–R</a:t>
            </a:r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62"/>
          <p:cNvSpPr txBox="1"/>
          <p:nvPr/>
        </p:nvSpPr>
        <p:spPr>
          <a:xfrm>
            <a:off x="4855464" y="5015357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sz="1200">
                <a:ea typeface="微软雅黑" panose="020B0503020204020204" charset="-122"/>
              </a:rPr>
              <a:t>模型分子确认反应发生</a:t>
            </a:r>
            <a:endParaRPr lang="zh-CN" sz="1200">
              <a:ea typeface="微软雅黑" panose="020B0503020204020204" charset="-122"/>
            </a:endParaRPr>
          </a:p>
        </p:txBody>
      </p:sp>
      <p:sp>
        <p:nvSpPr>
          <p:cNvPr id="101" name="TextBox 63"/>
          <p:cNvSpPr txBox="1"/>
          <p:nvPr/>
        </p:nvSpPr>
        <p:spPr>
          <a:xfrm>
            <a:off x="4855464" y="5280533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GC–MS</a:t>
            </a:r>
            <a:r>
              <a:rPr lang="en-US" sz="1200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氯平衡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2" name="Connector 64"/>
          <p:cNvCxnSpPr/>
          <p:nvPr/>
        </p:nvCxnSpPr>
        <p:spPr>
          <a:xfrm>
            <a:off x="6775704" y="4969637"/>
            <a:ext cx="301752" cy="0"/>
          </a:xfrm>
          <a:prstGeom prst="line">
            <a:avLst/>
          </a:prstGeom>
          <a:ln w="1778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65"/>
          <p:cNvSpPr/>
          <p:nvPr/>
        </p:nvSpPr>
        <p:spPr>
          <a:xfrm>
            <a:off x="7123176" y="4366133"/>
            <a:ext cx="1993392" cy="12252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ounded Rectangle 66"/>
          <p:cNvSpPr/>
          <p:nvPr/>
        </p:nvSpPr>
        <p:spPr>
          <a:xfrm>
            <a:off x="7150608" y="4393565"/>
            <a:ext cx="1938528" cy="274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67"/>
          <p:cNvSpPr txBox="1"/>
          <p:nvPr/>
        </p:nvSpPr>
        <p:spPr>
          <a:xfrm>
            <a:off x="7214616" y="4439285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3  氯代石蜡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68"/>
          <p:cNvSpPr txBox="1"/>
          <p:nvPr/>
        </p:nvSpPr>
        <p:spPr>
          <a:xfrm>
            <a:off x="7205345" y="4759325"/>
            <a:ext cx="1993265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980" b="1">
                <a:solidFill>
                  <a:srgbClr val="063584"/>
                </a:solidFill>
                <a:latin typeface="Arial" panose="020B0604020202020204"/>
              </a:defRPr>
            </a:pPr>
            <a:r>
              <a:rPr sz="1200">
                <a:latin typeface="微软雅黑" panose="020B0503020204020204" charset="-122"/>
                <a:ea typeface="微软雅黑" panose="020B0503020204020204" charset="-122"/>
              </a:rPr>
              <a:t>CH</a:t>
            </a:r>
            <a:r>
              <a:rPr lang="en-US" sz="1200" baseline="-2500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sz="1200">
                <a:latin typeface="微软雅黑" panose="020B0503020204020204" charset="-122"/>
                <a:ea typeface="微软雅黑" panose="020B0503020204020204" charset="-122"/>
              </a:rPr>
              <a:t>–[CHCl–CH</a:t>
            </a:r>
            <a:r>
              <a:rPr lang="en-US" sz="1200" baseline="-2500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1200">
                <a:latin typeface="微软雅黑" panose="020B0503020204020204" charset="-122"/>
                <a:ea typeface="微软雅黑" panose="020B0503020204020204" charset="-122"/>
              </a:rPr>
              <a:t>]ₘ–CH</a:t>
            </a:r>
            <a:r>
              <a:rPr lang="en-US" sz="1200" baseline="-2500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200" baseline="-25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69"/>
          <p:cNvSpPr txBox="1"/>
          <p:nvPr/>
        </p:nvSpPr>
        <p:spPr>
          <a:xfrm>
            <a:off x="7214616" y="5015357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连续含氯位点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08" name="TextBox 70"/>
          <p:cNvSpPr txBox="1"/>
          <p:nvPr/>
        </p:nvSpPr>
        <p:spPr>
          <a:xfrm>
            <a:off x="7214616" y="5280533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产物脱氯氧化</a:t>
            </a:r>
            <a:endParaRPr sz="1200">
              <a:ea typeface="微软雅黑" panose="020B0503020204020204" charset="-122"/>
            </a:endParaRPr>
          </a:p>
        </p:txBody>
      </p:sp>
      <p:cxnSp>
        <p:nvCxnSpPr>
          <p:cNvPr id="109" name="Connector 71"/>
          <p:cNvCxnSpPr/>
          <p:nvPr/>
        </p:nvCxnSpPr>
        <p:spPr>
          <a:xfrm>
            <a:off x="9134856" y="4969637"/>
            <a:ext cx="301751" cy="0"/>
          </a:xfrm>
          <a:prstGeom prst="line">
            <a:avLst/>
          </a:prstGeom>
          <a:ln w="1778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72"/>
          <p:cNvSpPr/>
          <p:nvPr/>
        </p:nvSpPr>
        <p:spPr>
          <a:xfrm>
            <a:off x="9482328" y="4366133"/>
            <a:ext cx="1993392" cy="122529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ounded Rectangle 73"/>
          <p:cNvSpPr/>
          <p:nvPr/>
        </p:nvSpPr>
        <p:spPr>
          <a:xfrm>
            <a:off x="9509759" y="4393565"/>
            <a:ext cx="1938528" cy="27432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TextBox 74"/>
          <p:cNvSpPr txBox="1"/>
          <p:nvPr/>
        </p:nvSpPr>
        <p:spPr>
          <a:xfrm>
            <a:off x="9573767" y="4439285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200"/>
              </a:spcAft>
              <a:defRPr sz="112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4  PVC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13" name="TextBox 75"/>
          <p:cNvSpPr txBox="1"/>
          <p:nvPr/>
        </p:nvSpPr>
        <p:spPr>
          <a:xfrm>
            <a:off x="9564624" y="4759325"/>
            <a:ext cx="1828800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980" b="1">
                <a:solidFill>
                  <a:srgbClr val="063584"/>
                </a:solidFill>
                <a:latin typeface="Arial" panose="020B0604020202020204"/>
              </a:defRPr>
            </a:pPr>
            <a:r>
              <a:rPr sz="1200">
                <a:latin typeface="微软雅黑" panose="020B0503020204020204" charset="-122"/>
                <a:ea typeface="微软雅黑" panose="020B0503020204020204" charset="-122"/>
              </a:rPr>
              <a:t>[–CH</a:t>
            </a:r>
            <a:r>
              <a:rPr lang="en-US" sz="1200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sz="1200">
                <a:latin typeface="微软雅黑" panose="020B0503020204020204" charset="-122"/>
                <a:ea typeface="微软雅黑" panose="020B0503020204020204" charset="-122"/>
              </a:rPr>
              <a:t>–CH(Cl)–]ₙ</a:t>
            </a:r>
            <a:endParaRPr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76"/>
          <p:cNvSpPr txBox="1"/>
          <p:nvPr/>
        </p:nvSpPr>
        <p:spPr>
          <a:xfrm>
            <a:off x="9573767" y="5015357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</a:rPr>
              <a:t>真实聚合物降解</a:t>
            </a:r>
            <a:endParaRPr sz="1200">
              <a:ea typeface="微软雅黑" panose="020B0503020204020204" charset="-122"/>
            </a:endParaRPr>
          </a:p>
        </p:txBody>
      </p:sp>
      <p:sp>
        <p:nvSpPr>
          <p:cNvPr id="115" name="TextBox 77"/>
          <p:cNvSpPr txBox="1"/>
          <p:nvPr/>
        </p:nvSpPr>
        <p:spPr>
          <a:xfrm>
            <a:off x="9573767" y="5280533"/>
            <a:ext cx="1810512" cy="184150"/>
          </a:xfrm>
          <a:prstGeom prst="rect">
            <a:avLst/>
          </a:prstGeom>
          <a:noFill/>
          <a:effectLst/>
        </p:spPr>
        <p:txBody>
          <a:bodyPr wrap="square" lIns="18288" tIns="0" rIns="18288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氯平衡</a:t>
            </a:r>
            <a:r>
              <a:rPr lang="en-US" sz="1200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GPC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Rounded Rectangle 4"/>
          <p:cNvSpPr/>
          <p:nvPr/>
        </p:nvSpPr>
        <p:spPr>
          <a:xfrm>
            <a:off x="356870" y="1552575"/>
            <a:ext cx="5177155" cy="247713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picture 2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6135" y="1628140"/>
            <a:ext cx="4350385" cy="2325370"/>
          </a:xfrm>
          <a:prstGeom prst="rect">
            <a:avLst/>
          </a:prstGeom>
        </p:spPr>
      </p:pic>
      <p:sp>
        <p:nvSpPr>
          <p:cNvPr id="119" name="Rounded Rectangle 10"/>
          <p:cNvSpPr/>
          <p:nvPr/>
        </p:nvSpPr>
        <p:spPr>
          <a:xfrm>
            <a:off x="6205855" y="1496695"/>
            <a:ext cx="4899660" cy="253301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210"/>
          <p:cNvSpPr/>
          <p:nvPr/>
        </p:nvSpPr>
        <p:spPr>
          <a:xfrm>
            <a:off x="6376035" y="1628140"/>
            <a:ext cx="3856355" cy="2325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87000"/>
              </a:lnSpc>
            </a:pPr>
            <a:r>
              <a:rPr b="1" kern="0" spc="-50" dirty="0">
                <a:solidFill>
                  <a:srgbClr val="B5121B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</a:t>
            </a:r>
            <a:r>
              <a:rPr b="1" kern="0" spc="50" dirty="0">
                <a:solidFill>
                  <a:srgbClr val="B5121B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   </a:t>
            </a:r>
            <a:r>
              <a:rPr b="1" kern="0" spc="-5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吸光</a:t>
            </a:r>
            <a:r>
              <a:rPr lang="zh-CN" b="1" kern="0" spc="-5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</a:t>
            </a:r>
            <a:r>
              <a:rPr lang="en-US" altLang="zh-CN" b="1" kern="0" spc="-5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b="1" kern="0" spc="-5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紫外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57530" algn="l" rtl="0" eaLnBrk="0">
              <a:lnSpc>
                <a:spcPct val="87000"/>
              </a:lnSpc>
              <a:spcBef>
                <a:spcPts val="1225"/>
              </a:spcBef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有机光敏剂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不依赖贵金属</a:t>
            </a:r>
            <a:endParaRPr sz="1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635"/>
              </a:spcBef>
            </a:pPr>
            <a:r>
              <a:rPr b="1" kern="0" spc="-20" dirty="0">
                <a:solidFill>
                  <a:srgbClr val="B5121B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</a:t>
            </a:r>
            <a:r>
              <a:rPr b="1" kern="0" spc="50" dirty="0">
                <a:solidFill>
                  <a:srgbClr val="B5121B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   </a:t>
            </a:r>
            <a:r>
              <a:rPr lang="zh-CN" b="1" kern="0" spc="-2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启动自由基</a:t>
            </a:r>
            <a:endParaRPr b="1" kern="0" spc="-20" dirty="0">
              <a:solidFill>
                <a:srgbClr val="003F8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635"/>
              </a:spcBef>
            </a:pPr>
            <a:r>
              <a:rPr b="1" kern="0" spc="-2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b="1" kern="0" spc="-2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HAT / 电子转移 → R·</a:t>
            </a:r>
            <a:endParaRPr sz="1400">
              <a:sym typeface="+mn-ea"/>
            </a:endParaRPr>
          </a:p>
          <a:p>
            <a:pPr marL="12700" algn="l" rtl="0" eaLnBrk="0">
              <a:lnSpc>
                <a:spcPct val="87000"/>
              </a:lnSpc>
              <a:spcBef>
                <a:spcPts val="635"/>
              </a:spcBef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635"/>
              </a:spcBef>
            </a:pPr>
            <a:r>
              <a:rPr b="1" kern="0" spc="-20" dirty="0">
                <a:solidFill>
                  <a:srgbClr val="B5121B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</a:t>
            </a:r>
            <a:r>
              <a:rPr b="1" kern="0" spc="40" dirty="0">
                <a:solidFill>
                  <a:srgbClr val="B5121B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</a:t>
            </a:r>
            <a:r>
              <a:rPr lang="en-US" b="1" kern="0" spc="40" dirty="0">
                <a:solidFill>
                  <a:srgbClr val="B5121B">
                    <a:alpha val="100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  </a:t>
            </a:r>
            <a:r>
              <a:rPr b="1" kern="0" spc="-2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 O</a:t>
            </a:r>
            <a:r>
              <a:rPr lang="en-US" b="1" kern="0" spc="-20" baseline="-2500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b="1" kern="0" spc="-2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耦合并再生</a:t>
            </a:r>
            <a:endParaRPr b="1" kern="0" spc="-20" dirty="0">
              <a:solidFill>
                <a:srgbClr val="003F8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700" algn="l" rtl="0" eaLnBrk="0">
              <a:lnSpc>
                <a:spcPct val="88000"/>
              </a:lnSpc>
              <a:spcBef>
                <a:spcPts val="635"/>
              </a:spcBef>
            </a:pPr>
            <a:r>
              <a:rPr b="1" kern="0" spc="-2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b="1" kern="0" spc="-20" dirty="0">
                <a:solidFill>
                  <a:srgbClr val="003F8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循环及后续氧化</a:t>
            </a:r>
            <a:endParaRPr>
              <a:sym typeface="+mn-ea"/>
            </a:endParaRPr>
          </a:p>
          <a:p>
            <a:pPr marL="12700" algn="l" rtl="0" eaLnBrk="0">
              <a:lnSpc>
                <a:spcPct val="88000"/>
              </a:lnSpc>
              <a:spcBef>
                <a:spcPts val="635"/>
              </a:spcBef>
            </a:pPr>
            <a:endParaRPr b="1" kern="0" spc="-20" dirty="0">
              <a:solidFill>
                <a:srgbClr val="003F8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700" algn="l" rtl="0" eaLnBrk="0">
              <a:lnSpc>
                <a:spcPct val="88000"/>
              </a:lnSpc>
              <a:spcBef>
                <a:spcPts val="635"/>
              </a:spcBef>
            </a:pPr>
            <a:endParaRPr b="1" kern="0" spc="-20" dirty="0">
              <a:solidFill>
                <a:srgbClr val="003F8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265555" y="3823970"/>
            <a:ext cx="3359150" cy="205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从供氢体获得氢</a:t>
            </a:r>
            <a:r>
              <a:rPr lang="zh-CN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还原态物种被O</a:t>
            </a:r>
            <a:r>
              <a:rPr lang="en-US" sz="1000" b="1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氧化并恢复EAQ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150" y="155575"/>
            <a:ext cx="2038350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预想机理</a:t>
            </a:r>
            <a:endParaRPr>
              <a:ea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384280" y="6556248"/>
            <a:ext cx="448056" cy="146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en-US"/>
              <a:t>8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3136392" cy="433425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" y="1444752"/>
            <a:ext cx="3081528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495044"/>
            <a:ext cx="2843784" cy="2076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AQ 氧化循环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0023" y="1417320"/>
            <a:ext cx="7872983" cy="433425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94760" y="1444752"/>
            <a:ext cx="7818119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1495044"/>
            <a:ext cx="7580375" cy="2076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PVC 活化—氧化—链裂解</a:t>
            </a:r>
          </a:p>
        </p:txBody>
      </p:sp>
      <p:sp>
        <p:nvSpPr>
          <p:cNvPr id="13" name="Freeform 12"/>
          <p:cNvSpPr/>
          <p:nvPr/>
        </p:nvSpPr>
        <p:spPr>
          <a:xfrm>
            <a:off x="2333080" y="2454544"/>
            <a:ext cx="482577" cy="574752"/>
          </a:xfrm>
          <a:custGeom>
            <a:avLst/>
            <a:gdLst/>
            <a:ahLst/>
            <a:cxnLst/>
            <a:rect l="l" t="t" r="r" b="b"/>
            <a:pathLst>
              <a:path w="482577" h="574752">
                <a:moveTo>
                  <a:pt x="0" y="0"/>
                </a:moveTo>
                <a:lnTo>
                  <a:pt x="16469" y="7477"/>
                </a:lnTo>
                <a:lnTo>
                  <a:pt x="32768" y="15279"/>
                </a:lnTo>
                <a:lnTo>
                  <a:pt x="48891" y="23404"/>
                </a:lnTo>
                <a:lnTo>
                  <a:pt x="64830" y="31849"/>
                </a:lnTo>
                <a:lnTo>
                  <a:pt x="80578" y="40609"/>
                </a:lnTo>
                <a:lnTo>
                  <a:pt x="96128" y="49681"/>
                </a:lnTo>
                <a:lnTo>
                  <a:pt x="111474" y="59061"/>
                </a:lnTo>
                <a:lnTo>
                  <a:pt x="126608" y="68744"/>
                </a:lnTo>
                <a:lnTo>
                  <a:pt x="141523" y="78726"/>
                </a:lnTo>
                <a:lnTo>
                  <a:pt x="156214" y="89004"/>
                </a:lnTo>
                <a:lnTo>
                  <a:pt x="170674" y="99571"/>
                </a:lnTo>
                <a:lnTo>
                  <a:pt x="184896" y="110424"/>
                </a:lnTo>
                <a:lnTo>
                  <a:pt x="198874" y="121558"/>
                </a:lnTo>
                <a:lnTo>
                  <a:pt x="212602" y="132968"/>
                </a:lnTo>
                <a:lnTo>
                  <a:pt x="226073" y="144649"/>
                </a:lnTo>
                <a:lnTo>
                  <a:pt x="239283" y="156595"/>
                </a:lnTo>
                <a:lnTo>
                  <a:pt x="252224" y="168802"/>
                </a:lnTo>
                <a:lnTo>
                  <a:pt x="264892" y="181264"/>
                </a:lnTo>
                <a:lnTo>
                  <a:pt x="277280" y="193976"/>
                </a:lnTo>
                <a:lnTo>
                  <a:pt x="289384" y="206931"/>
                </a:lnTo>
                <a:lnTo>
                  <a:pt x="301197" y="220125"/>
                </a:lnTo>
                <a:lnTo>
                  <a:pt x="312716" y="233551"/>
                </a:lnTo>
                <a:lnTo>
                  <a:pt x="323933" y="247203"/>
                </a:lnTo>
                <a:lnTo>
                  <a:pt x="334845" y="261076"/>
                </a:lnTo>
                <a:lnTo>
                  <a:pt x="345447" y="275163"/>
                </a:lnTo>
                <a:lnTo>
                  <a:pt x="355734" y="289458"/>
                </a:lnTo>
                <a:lnTo>
                  <a:pt x="365702" y="303955"/>
                </a:lnTo>
                <a:lnTo>
                  <a:pt x="375346" y="318647"/>
                </a:lnTo>
                <a:lnTo>
                  <a:pt x="384661" y="333528"/>
                </a:lnTo>
                <a:lnTo>
                  <a:pt x="393644" y="348591"/>
                </a:lnTo>
                <a:lnTo>
                  <a:pt x="402291" y="363829"/>
                </a:lnTo>
                <a:lnTo>
                  <a:pt x="410598" y="379237"/>
                </a:lnTo>
                <a:lnTo>
                  <a:pt x="418562" y="394806"/>
                </a:lnTo>
                <a:lnTo>
                  <a:pt x="426178" y="410531"/>
                </a:lnTo>
                <a:lnTo>
                  <a:pt x="433443" y="426404"/>
                </a:lnTo>
                <a:lnTo>
                  <a:pt x="440355" y="442418"/>
                </a:lnTo>
                <a:lnTo>
                  <a:pt x="446909" y="458566"/>
                </a:lnTo>
                <a:lnTo>
                  <a:pt x="453104" y="474841"/>
                </a:lnTo>
                <a:lnTo>
                  <a:pt x="458937" y="491236"/>
                </a:lnTo>
                <a:lnTo>
                  <a:pt x="464404" y="507744"/>
                </a:lnTo>
                <a:lnTo>
                  <a:pt x="469504" y="524357"/>
                </a:lnTo>
                <a:lnTo>
                  <a:pt x="474234" y="541067"/>
                </a:lnTo>
                <a:lnTo>
                  <a:pt x="478592" y="557868"/>
                </a:lnTo>
                <a:lnTo>
                  <a:pt x="482577" y="574752"/>
                </a:lnTo>
              </a:path>
            </a:pathLst>
          </a:custGeom>
          <a:noFill/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319283" y="3441010"/>
            <a:ext cx="477399" cy="511201"/>
          </a:xfrm>
          <a:custGeom>
            <a:avLst/>
            <a:gdLst/>
            <a:ahLst/>
            <a:cxnLst/>
            <a:rect l="l" t="t" r="r" b="b"/>
            <a:pathLst>
              <a:path w="477399" h="511201">
                <a:moveTo>
                  <a:pt x="477399" y="0"/>
                </a:moveTo>
                <a:lnTo>
                  <a:pt x="472306" y="15250"/>
                </a:lnTo>
                <a:lnTo>
                  <a:pt x="466901" y="30404"/>
                </a:lnTo>
                <a:lnTo>
                  <a:pt x="461186" y="45455"/>
                </a:lnTo>
                <a:lnTo>
                  <a:pt x="455164" y="60398"/>
                </a:lnTo>
                <a:lnTo>
                  <a:pt x="448836" y="75227"/>
                </a:lnTo>
                <a:lnTo>
                  <a:pt x="442205" y="89937"/>
                </a:lnTo>
                <a:lnTo>
                  <a:pt x="435274" y="104523"/>
                </a:lnTo>
                <a:lnTo>
                  <a:pt x="428044" y="118977"/>
                </a:lnTo>
                <a:lnTo>
                  <a:pt x="420520" y="133296"/>
                </a:lnTo>
                <a:lnTo>
                  <a:pt x="412703" y="147474"/>
                </a:lnTo>
                <a:lnTo>
                  <a:pt x="404596" y="161505"/>
                </a:lnTo>
                <a:lnTo>
                  <a:pt x="396204" y="175384"/>
                </a:lnTo>
                <a:lnTo>
                  <a:pt x="387528" y="189107"/>
                </a:lnTo>
                <a:lnTo>
                  <a:pt x="378572" y="202666"/>
                </a:lnTo>
                <a:lnTo>
                  <a:pt x="369340" y="216059"/>
                </a:lnTo>
                <a:lnTo>
                  <a:pt x="359835" y="229278"/>
                </a:lnTo>
                <a:lnTo>
                  <a:pt x="350060" y="242321"/>
                </a:lnTo>
                <a:lnTo>
                  <a:pt x="340020" y="255180"/>
                </a:lnTo>
                <a:lnTo>
                  <a:pt x="329718" y="267853"/>
                </a:lnTo>
                <a:lnTo>
                  <a:pt x="319158" y="280333"/>
                </a:lnTo>
                <a:lnTo>
                  <a:pt x="308344" y="292617"/>
                </a:lnTo>
                <a:lnTo>
                  <a:pt x="297279" y="304699"/>
                </a:lnTo>
                <a:lnTo>
                  <a:pt x="285969" y="316576"/>
                </a:lnTo>
                <a:lnTo>
                  <a:pt x="274418" y="328241"/>
                </a:lnTo>
                <a:lnTo>
                  <a:pt x="262629" y="339692"/>
                </a:lnTo>
                <a:lnTo>
                  <a:pt x="250608" y="350924"/>
                </a:lnTo>
                <a:lnTo>
                  <a:pt x="238358" y="361932"/>
                </a:lnTo>
                <a:lnTo>
                  <a:pt x="225885" y="372712"/>
                </a:lnTo>
                <a:lnTo>
                  <a:pt x="213194" y="383261"/>
                </a:lnTo>
                <a:lnTo>
                  <a:pt x="200288" y="393574"/>
                </a:lnTo>
                <a:lnTo>
                  <a:pt x="187173" y="403648"/>
                </a:lnTo>
                <a:lnTo>
                  <a:pt x="173854" y="413478"/>
                </a:lnTo>
                <a:lnTo>
                  <a:pt x="160335" y="423061"/>
                </a:lnTo>
                <a:lnTo>
                  <a:pt x="146623" y="432394"/>
                </a:lnTo>
                <a:lnTo>
                  <a:pt x="132722" y="441472"/>
                </a:lnTo>
                <a:lnTo>
                  <a:pt x="118637" y="450292"/>
                </a:lnTo>
                <a:lnTo>
                  <a:pt x="104374" y="458852"/>
                </a:lnTo>
                <a:lnTo>
                  <a:pt x="89938" y="467147"/>
                </a:lnTo>
                <a:lnTo>
                  <a:pt x="75334" y="475175"/>
                </a:lnTo>
                <a:lnTo>
                  <a:pt x="60569" y="482932"/>
                </a:lnTo>
                <a:lnTo>
                  <a:pt x="45647" y="490416"/>
                </a:lnTo>
                <a:lnTo>
                  <a:pt x="30575" y="497624"/>
                </a:lnTo>
                <a:lnTo>
                  <a:pt x="15357" y="504553"/>
                </a:lnTo>
                <a:lnTo>
                  <a:pt x="0" y="511201"/>
                </a:lnTo>
              </a:path>
            </a:pathLst>
          </a:custGeom>
          <a:noFill/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97304" y="2442861"/>
            <a:ext cx="529235" cy="1484169"/>
          </a:xfrm>
          <a:custGeom>
            <a:avLst/>
            <a:gdLst/>
            <a:ahLst/>
            <a:cxnLst/>
            <a:rect l="l" t="t" r="r" b="b"/>
            <a:pathLst>
              <a:path w="529235" h="1484169">
                <a:moveTo>
                  <a:pt x="460835" y="1484169"/>
                </a:moveTo>
                <a:lnTo>
                  <a:pt x="422139" y="1463457"/>
                </a:lnTo>
                <a:lnTo>
                  <a:pt x="384611" y="1440897"/>
                </a:lnTo>
                <a:lnTo>
                  <a:pt x="348351" y="1416547"/>
                </a:lnTo>
                <a:lnTo>
                  <a:pt x="313453" y="1390473"/>
                </a:lnTo>
                <a:lnTo>
                  <a:pt x="280008" y="1362742"/>
                </a:lnTo>
                <a:lnTo>
                  <a:pt x="248104" y="1333427"/>
                </a:lnTo>
                <a:lnTo>
                  <a:pt x="217824" y="1302604"/>
                </a:lnTo>
                <a:lnTo>
                  <a:pt x="189249" y="1270354"/>
                </a:lnTo>
                <a:lnTo>
                  <a:pt x="162452" y="1236762"/>
                </a:lnTo>
                <a:lnTo>
                  <a:pt x="137503" y="1201915"/>
                </a:lnTo>
                <a:lnTo>
                  <a:pt x="114469" y="1165905"/>
                </a:lnTo>
                <a:lnTo>
                  <a:pt x="93408" y="1128826"/>
                </a:lnTo>
                <a:lnTo>
                  <a:pt x="74378" y="1090775"/>
                </a:lnTo>
                <a:lnTo>
                  <a:pt x="57426" y="1051851"/>
                </a:lnTo>
                <a:lnTo>
                  <a:pt x="42598" y="1012158"/>
                </a:lnTo>
                <a:lnTo>
                  <a:pt x="29933" y="971797"/>
                </a:lnTo>
                <a:lnTo>
                  <a:pt x="19463" y="930876"/>
                </a:lnTo>
                <a:lnTo>
                  <a:pt x="11216" y="889501"/>
                </a:lnTo>
                <a:lnTo>
                  <a:pt x="5214" y="847781"/>
                </a:lnTo>
                <a:lnTo>
                  <a:pt x="1472" y="805824"/>
                </a:lnTo>
                <a:lnTo>
                  <a:pt x="0" y="763741"/>
                </a:lnTo>
                <a:lnTo>
                  <a:pt x="802" y="721641"/>
                </a:lnTo>
                <a:lnTo>
                  <a:pt x="3876" y="679636"/>
                </a:lnTo>
                <a:lnTo>
                  <a:pt x="9214" y="637835"/>
                </a:lnTo>
                <a:lnTo>
                  <a:pt x="16802" y="596347"/>
                </a:lnTo>
                <a:lnTo>
                  <a:pt x="26619" y="555281"/>
                </a:lnTo>
                <a:lnTo>
                  <a:pt x="38641" y="514744"/>
                </a:lnTo>
                <a:lnTo>
                  <a:pt x="52836" y="474843"/>
                </a:lnTo>
                <a:lnTo>
                  <a:pt x="69166" y="435682"/>
                </a:lnTo>
                <a:lnTo>
                  <a:pt x="87589" y="397363"/>
                </a:lnTo>
                <a:lnTo>
                  <a:pt x="108057" y="359988"/>
                </a:lnTo>
                <a:lnTo>
                  <a:pt x="130516" y="323653"/>
                </a:lnTo>
                <a:lnTo>
                  <a:pt x="154907" y="288454"/>
                </a:lnTo>
                <a:lnTo>
                  <a:pt x="181167" y="254483"/>
                </a:lnTo>
                <a:lnTo>
                  <a:pt x="209226" y="221829"/>
                </a:lnTo>
                <a:lnTo>
                  <a:pt x="239012" y="190577"/>
                </a:lnTo>
                <a:lnTo>
                  <a:pt x="270446" y="160809"/>
                </a:lnTo>
                <a:lnTo>
                  <a:pt x="303446" y="132604"/>
                </a:lnTo>
                <a:lnTo>
                  <a:pt x="337925" y="106034"/>
                </a:lnTo>
                <a:lnTo>
                  <a:pt x="373794" y="81170"/>
                </a:lnTo>
                <a:lnTo>
                  <a:pt x="410958" y="58076"/>
                </a:lnTo>
                <a:lnTo>
                  <a:pt x="449321" y="36814"/>
                </a:lnTo>
                <a:lnTo>
                  <a:pt x="488781" y="17438"/>
                </a:lnTo>
                <a:lnTo>
                  <a:pt x="529235" y="0"/>
                </a:lnTo>
              </a:path>
            </a:pathLst>
          </a:custGeom>
          <a:noFill/>
          <a:ln w="20320">
            <a:solidFill>
              <a:srgbClr val="06358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4752" y="2130552"/>
            <a:ext cx="1060704" cy="384048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176" y="3026664"/>
            <a:ext cx="914400" cy="39319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AQ*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069080"/>
            <a:ext cx="2194560" cy="39319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AQH· / AHQ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6017" y="2496312"/>
            <a:ext cx="548640" cy="283464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hν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497" y="3649726"/>
            <a:ext cx="722376" cy="27686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800" b="1"/>
              <a:t>HAT</a:t>
            </a: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562" y="3029839"/>
            <a:ext cx="502920" cy="27686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800"/>
              <a:t>O</a:t>
            </a:r>
            <a:r>
              <a:rPr lang="en-US" baseline="-25000"/>
              <a:t>2</a:t>
            </a:r>
            <a:endParaRPr lang="en-US" baseline="-25000"/>
          </a:p>
        </p:txBody>
      </p:sp>
      <p:sp>
        <p:nvSpPr>
          <p:cNvPr id="25" name="Freeform 24"/>
          <p:cNvSpPr/>
          <p:nvPr/>
        </p:nvSpPr>
        <p:spPr>
          <a:xfrm>
            <a:off x="4956048" y="1920240"/>
            <a:ext cx="5212080" cy="173736"/>
          </a:xfrm>
          <a:custGeom>
            <a:avLst/>
            <a:gdLst/>
            <a:ahLst/>
            <a:cxnLst/>
            <a:rect l="l" t="t" r="r" b="b"/>
            <a:pathLst>
              <a:path w="5212080" h="173736">
                <a:moveTo>
                  <a:pt x="0" y="0"/>
                </a:moveTo>
                <a:lnTo>
                  <a:pt x="521208" y="173736"/>
                </a:lnTo>
                <a:lnTo>
                  <a:pt x="1042416" y="0"/>
                </a:lnTo>
                <a:lnTo>
                  <a:pt x="1563624" y="173736"/>
                </a:lnTo>
                <a:lnTo>
                  <a:pt x="2084831" y="0"/>
                </a:lnTo>
                <a:lnTo>
                  <a:pt x="2606040" y="173736"/>
                </a:lnTo>
                <a:lnTo>
                  <a:pt x="3127248" y="0"/>
                </a:lnTo>
                <a:lnTo>
                  <a:pt x="3648456" y="173736"/>
                </a:lnTo>
                <a:lnTo>
                  <a:pt x="4169664" y="0"/>
                </a:lnTo>
                <a:lnTo>
                  <a:pt x="4690872" y="173736"/>
                </a:lnTo>
                <a:lnTo>
                  <a:pt x="5212080" y="0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477256" y="2093976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49240" y="2496312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 panose="020B0604020202020204"/>
              </a:defRPr>
            </a:pPr>
            <a:r>
              <a:t>Cl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19672" y="2093976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91656" y="2496312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 panose="020B0604020202020204"/>
              </a:defRPr>
            </a:pPr>
            <a:r>
              <a:t>Cl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62088" y="2093976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34071" y="2496312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 panose="020B0604020202020204"/>
              </a:defRPr>
            </a:pPr>
            <a:r>
              <a:t>Cl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04504" y="2093976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76488" y="2496312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 panose="020B0604020202020204"/>
              </a:defRPr>
            </a:pPr>
            <a:r>
              <a:t>Cl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46920" y="2093976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18904" y="2496312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 panose="020B0604020202020204"/>
              </a:defRPr>
            </a:pPr>
            <a:r>
              <a:t>Cl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189280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189280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…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230368" y="2919984"/>
            <a:ext cx="484632" cy="521208"/>
          </a:xfrm>
          <a:prstGeom prst="line">
            <a:avLst/>
          </a:prstGeom>
          <a:ln w="17780">
            <a:solidFill>
              <a:srgbClr val="06358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55937" y="2834894"/>
            <a:ext cx="484632" cy="521208"/>
          </a:xfrm>
          <a:prstGeom prst="line">
            <a:avLst/>
          </a:prstGeom>
          <a:ln w="17780">
            <a:solidFill>
              <a:srgbClr val="06358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709414" y="3540633"/>
            <a:ext cx="1188720" cy="41148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9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R·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486023"/>
            <a:ext cx="1371600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t>Cl· 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492113" y="3767328"/>
            <a:ext cx="2688336" cy="0"/>
          </a:xfrm>
          <a:prstGeom prst="line">
            <a:avLst/>
          </a:prstGeom>
          <a:ln w="17780">
            <a:solidFill>
              <a:srgbClr val="C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095490" y="3446145"/>
            <a:ext cx="150876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0000"/>
                </a:solidFill>
                <a:latin typeface="微软雅黑" panose="020B0503020204020204" charset="-122"/>
              </a:defRPr>
            </a:pPr>
            <a:r>
              <a:t>HAT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585" y="3831590"/>
            <a:ext cx="1920875" cy="23749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 algn="l">
              <a:spcAft>
                <a:spcPts val="600"/>
              </a:spcAft>
              <a:buClrTx/>
              <a:buSzTx/>
              <a:buFontTx/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200"/>
              <a:t>Cl· + R–H → HCl + R·</a:t>
            </a:r>
            <a:endParaRPr sz="1200"/>
          </a:p>
        </p:txBody>
      </p:sp>
      <p:cxnSp>
        <p:nvCxnSpPr>
          <p:cNvPr id="47" name="Connector 46"/>
          <p:cNvCxnSpPr/>
          <p:nvPr/>
        </p:nvCxnSpPr>
        <p:spPr>
          <a:xfrm>
            <a:off x="5230622" y="4160520"/>
            <a:ext cx="0" cy="548640"/>
          </a:xfrm>
          <a:prstGeom prst="line">
            <a:avLst/>
          </a:prstGeom>
          <a:ln w="1651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10659" y="4769993"/>
            <a:ext cx="1691640" cy="393192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ROO·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62472" y="4966335"/>
            <a:ext cx="429768" cy="0"/>
          </a:xfrm>
          <a:prstGeom prst="line">
            <a:avLst/>
          </a:prstGeom>
          <a:ln w="16510">
            <a:solidFill>
              <a:srgbClr val="06358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775195" y="4809363"/>
            <a:ext cx="1828800" cy="35369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R</a:t>
            </a:r>
            <a:r>
              <a:rPr lang="en-US"/>
              <a:t>-</a:t>
            </a:r>
            <a:r>
              <a:t>OH</a:t>
            </a:r>
            <a:r>
              <a:rPr lang="en-US"/>
              <a:t>/R=O</a:t>
            </a:r>
            <a:endParaRPr lang="en-US"/>
          </a:p>
        </p:txBody>
      </p:sp>
      <p:cxnSp>
        <p:nvCxnSpPr>
          <p:cNvPr id="52" name="Connector 51"/>
          <p:cNvCxnSpPr/>
          <p:nvPr/>
        </p:nvCxnSpPr>
        <p:spPr>
          <a:xfrm>
            <a:off x="8972296" y="4966335"/>
            <a:ext cx="546100" cy="0"/>
          </a:xfrm>
          <a:prstGeom prst="line">
            <a:avLst/>
          </a:prstGeom>
          <a:ln w="16510">
            <a:solidFill>
              <a:srgbClr val="06358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738360" y="4769993"/>
            <a:ext cx="1645920" cy="35369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en-US">
                <a:sym typeface="+mn-ea"/>
              </a:rPr>
              <a:t>C</a:t>
            </a:r>
            <a:r>
              <a:rPr lang="en-US" baseline="-25000">
                <a:sym typeface="+mn-ea"/>
              </a:rPr>
              <a:t>1</a:t>
            </a:r>
            <a:r>
              <a:rPr lang="en-US">
                <a:sym typeface="+mn-ea"/>
              </a:rPr>
              <a:t>-C</a:t>
            </a:r>
            <a:r>
              <a:rPr lang="en-US" baseline="-25000">
                <a:sym typeface="+mn-ea"/>
              </a:rPr>
              <a:t>20</a:t>
            </a:r>
            <a:endParaRPr lang="en-US" baseline="-25000">
              <a:sym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47888" y="4709160"/>
            <a:ext cx="1920240" cy="21526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t> </a:t>
            </a:r>
            <a:r>
              <a:rPr sz="1400"/>
              <a:t>β-裂解 </a:t>
            </a:r>
            <a:endParaRPr sz="1400"/>
          </a:p>
        </p:txBody>
      </p:sp>
      <p:sp>
        <p:nvSpPr>
          <p:cNvPr id="60" name="TextBox 20"/>
          <p:cNvSpPr txBox="1"/>
          <p:nvPr/>
        </p:nvSpPr>
        <p:spPr>
          <a:xfrm>
            <a:off x="4580762" y="4185539"/>
            <a:ext cx="502920" cy="27686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800"/>
              <a:t>O</a:t>
            </a:r>
            <a:r>
              <a:rPr lang="en-US" baseline="-25000"/>
              <a:t>2</a:t>
            </a:r>
            <a:endParaRPr lang="en-US" baseline="-2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150" y="155575"/>
            <a:ext cx="1810385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前期探索</a:t>
            </a:r>
            <a:endParaRPr>
              <a:ea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384280" y="6556248"/>
            <a:ext cx="448056" cy="146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en-US"/>
              <a:t>9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451610" y="833120"/>
            <a:ext cx="3449320" cy="29032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82090" y="833120"/>
            <a:ext cx="3411220" cy="32893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9725" y="860425"/>
            <a:ext cx="2169160" cy="2076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底物、介质与反应装置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225" y="1344930"/>
            <a:ext cx="3712210" cy="65595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</a:rPr>
              <a:t>CH</a:t>
            </a:r>
            <a:r>
              <a:rPr lang="en-US" sz="1400" baseline="-25000">
                <a:ea typeface="微软雅黑" panose="020B0503020204020204" charset="-122"/>
              </a:rPr>
              <a:t>3</a:t>
            </a:r>
            <a:r>
              <a:rPr sz="1400">
                <a:ea typeface="微软雅黑" panose="020B0503020204020204" charset="-122"/>
              </a:rPr>
              <a:t>–CH(Cl)–CH</a:t>
            </a:r>
            <a:r>
              <a:rPr lang="en-US" sz="1400" baseline="-25000">
                <a:ea typeface="微软雅黑" panose="020B0503020204020204" charset="-122"/>
              </a:rPr>
              <a:t>2</a:t>
            </a:r>
            <a:r>
              <a:rPr sz="1400">
                <a:ea typeface="微软雅黑" panose="020B0503020204020204" charset="-122"/>
              </a:rPr>
              <a:t>–CH</a:t>
            </a:r>
            <a:r>
              <a:rPr lang="en-US" sz="1400" baseline="-25000">
                <a:ea typeface="微软雅黑" panose="020B0503020204020204" charset="-122"/>
              </a:rPr>
              <a:t>2</a:t>
            </a:r>
            <a:r>
              <a:rPr sz="1400">
                <a:ea typeface="微软雅黑" panose="020B0503020204020204" charset="-122"/>
              </a:rPr>
              <a:t>–CH</a:t>
            </a:r>
            <a:r>
              <a:rPr lang="en-US" sz="1400" baseline="-25000">
                <a:ea typeface="微软雅黑" panose="020B0503020204020204" charset="-122"/>
              </a:rPr>
              <a:t>3</a:t>
            </a:r>
            <a:endParaRPr lang="en-US" sz="1400">
              <a:ea typeface="微软雅黑" panose="020B0503020204020204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  <a:defRPr sz="15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  <a:sym typeface="+mn-ea"/>
              </a:rPr>
              <a:t>底物：2-氯戊烷</a:t>
            </a:r>
            <a:endParaRPr sz="12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spcAft>
                <a:spcPts val="600"/>
              </a:spcAft>
              <a:defRPr sz="1900" b="1">
                <a:solidFill>
                  <a:srgbClr val="111111"/>
                </a:solidFill>
                <a:latin typeface="微软雅黑" panose="020B0503020204020204" charset="-122"/>
              </a:defRPr>
            </a:pPr>
            <a:endParaRPr lang="en-US" sz="12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734685" y="833120"/>
            <a:ext cx="4698365" cy="282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61990" y="860425"/>
            <a:ext cx="4656455" cy="299085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1370" y="910590"/>
            <a:ext cx="1604645" cy="24892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实验条件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61990" y="1348740"/>
          <a:ext cx="4650105" cy="2183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645"/>
                <a:gridCol w="3299460"/>
              </a:tblGrid>
              <a:tr h="36385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solidFill>
                            <a:schemeClr val="bg1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参数</a:t>
                      </a:r>
                      <a:endParaRPr sz="12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0635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solidFill>
                            <a:schemeClr val="bg1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实验内容</a:t>
                      </a:r>
                      <a:endParaRPr sz="1200" b="1">
                        <a:solidFill>
                          <a:schemeClr val="bg1"/>
                        </a:solidFill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063584"/>
                    </a:solidFill>
                  </a:tcPr>
                </a:tc>
              </a:tr>
              <a:tr h="36385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底物用量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2-氯戊烷，0.5 mmol</a:t>
                      </a:r>
                      <a:endParaRPr sz="12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FFFFFF"/>
                    </a:solidFill>
                  </a:tcPr>
                </a:tc>
              </a:tr>
              <a:tr h="36385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光敏组分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乙基蒽醌，5 mg/mL</a:t>
                      </a:r>
                      <a:endParaRPr sz="12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EDF3FF"/>
                    </a:solidFill>
                  </a:tcPr>
                </a:tc>
              </a:tr>
              <a:tr h="36385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sz="1200" b="1">
                          <a:ea typeface="微软雅黑" panose="020B0503020204020204" charset="-122"/>
                        </a:rPr>
                        <a:t>溶剂</a:t>
                      </a:r>
                      <a:endParaRPr lang="zh-CN" sz="1200" b="1">
                        <a:ea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DCE，4 mL</a:t>
                      </a:r>
                      <a:endParaRPr sz="12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FFFFFF"/>
                    </a:solidFill>
                  </a:tcPr>
                </a:tc>
              </a:tr>
              <a:tr h="36385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光源 / 时间</a:t>
                      </a:r>
                      <a:endParaRPr sz="12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365 nm，6 h</a:t>
                      </a:r>
                      <a:endParaRPr sz="12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EDF3FF"/>
                    </a:solidFill>
                  </a:tcPr>
                </a:tc>
              </a:tr>
              <a:tr h="36385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气氛条件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r>
                        <a:rPr lang="en-US" sz="1200" b="1" baseline="-25000"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/ O</a:t>
                      </a:r>
                      <a:r>
                        <a:rPr lang="en-US" sz="1200" b="1" baseline="-25000"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鼓泡 / N</a:t>
                      </a:r>
                      <a:r>
                        <a:rPr lang="en-US" sz="1200" b="1" baseline="-25000"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</a:rPr>
                        <a:t> / 空气</a:t>
                      </a:r>
                      <a:endParaRPr sz="1200" b="1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64008" marT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780" y="1850390"/>
            <a:ext cx="2022475" cy="1885950"/>
          </a:xfrm>
          <a:prstGeom prst="rect">
            <a:avLst/>
          </a:prstGeom>
        </p:spPr>
      </p:pic>
      <p:graphicFrame>
        <p:nvGraphicFramePr>
          <p:cNvPr id="45" name="表格 4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71600" y="3887470"/>
          <a:ext cx="9202420" cy="2900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54405"/>
                <a:gridCol w="1529080"/>
                <a:gridCol w="1753235"/>
                <a:gridCol w="1386840"/>
                <a:gridCol w="1096645"/>
                <a:gridCol w="1241425"/>
                <a:gridCol w="1240790"/>
              </a:tblGrid>
              <a:tr h="342265">
                <a:tc rowSpan="2">
                  <a:txBody>
                    <a:bodyPr/>
                    <a:lstStyle/>
                    <a:p>
                      <a:pPr algn="ctr">
                        <a:lnSpc>
                          <a:spcPct val="220000"/>
                        </a:lnSpc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Entry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220000"/>
                        </a:lnSpc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Variations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/>
                </a:tc>
                <a:tc rowSpan="2">
                  <a:txBody>
                    <a:bodyPr/>
                    <a:p>
                      <a:pPr algn="ctr">
                        <a:lnSpc>
                          <a:spcPct val="220000"/>
                        </a:lnSpc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Conv.(%)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</a:rPr>
                        <a:t>Products</a:t>
                      </a:r>
                      <a:endParaRPr sz="1200" b="1">
                        <a:ea typeface="微软雅黑" panose="020B0503020204020204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endParaRPr sz="1200" b="1"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8448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2,4-二氯戊烷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四氯丁烷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氯乙酸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未知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85115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1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 </a:t>
                      </a: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O</a:t>
                      </a:r>
                      <a:r>
                        <a:rPr sz="1200" b="1" baseline="-25000"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endParaRPr sz="1200" b="1" baseline="-25000"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87.6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i="0">
                          <a:ea typeface="微软雅黑" panose="020B0503020204020204" charset="-122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2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O</a:t>
                      </a:r>
                      <a:r>
                        <a:rPr sz="1200" b="1" baseline="-25000"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气泡</a:t>
                      </a:r>
                      <a:endParaRPr sz="1200" b="1"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82.8</a:t>
                      </a:r>
                      <a:endParaRPr sz="1200" b="1"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3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 N</a:t>
                      </a:r>
                      <a:r>
                        <a:rPr sz="1200" b="1" baseline="-25000"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endParaRPr sz="1200" b="1" kern="1200" baseline="-25000"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73.8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n.d.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</a:tr>
              <a:tr h="285115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4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Air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76.6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i="0">
                          <a:ea typeface="微软雅黑" panose="020B0503020204020204" charset="-122"/>
                        </a:rPr>
                        <a:t>/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√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n.d.</a:t>
                      </a:r>
                      <a:endParaRPr sz="1200" b="1" i="0"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endParaRPr sz="1200" b="1" i="0"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7937" marR="7937" marT="7937" marB="0" anchor="ctr" anchorCtr="0"/>
                </a:tc>
              </a:tr>
              <a:tr h="470535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5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乙腈＋不同气氛</a:t>
                      </a:r>
                      <a:endParaRPr sz="1200" b="1"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algn="l" defTabSz="457200" rtl="0" eaLnBrk="1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</a:rPr>
                        <a:t>/</a:t>
                      </a:r>
                      <a:endParaRPr sz="1200" b="1" kern="1200"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n.d.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n.d.</a:t>
                      </a:r>
                      <a:endParaRPr sz="1200" b="1" i="0">
                        <a:ea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n.d.</a:t>
                      </a:r>
                      <a:endParaRPr sz="1200" b="1" i="0"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endParaRPr sz="1200" b="1" i="0"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7937" marR="7937" marT="7937" marB="0" anchor="ctr" anchorCtr="0"/>
                </a:tc>
              </a:tr>
              <a:tr h="66421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200" b="1" kern="12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  <a:cs typeface="微软雅黑" panose="020B0503020204020204" charset="-122"/>
                        </a:rPr>
                        <a:t>2.5mmol 2-CP</a:t>
                      </a:r>
                      <a:endParaRPr sz="1200" b="1" kern="12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algn="l" defTabSz="457200" rtl="0" eaLnBrk="1" latinLnBrk="0" hangingPunct="1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  <a:cs typeface="微软雅黑" panose="020B0503020204020204" charset="-122"/>
                        </a:rPr>
                        <a:t>乙腈＋不同气氛</a:t>
                      </a:r>
                      <a:endParaRPr sz="1200" b="1" kern="12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endParaRPr sz="1200" b="1" kern="12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marR="0" lvl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 kern="1200"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endParaRPr sz="1200" b="1" kern="12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n.d.</a:t>
                      </a:r>
                      <a:endParaRPr sz="1200" b="1" i="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n.d.</a:t>
                      </a:r>
                      <a:endParaRPr sz="1200" b="1" i="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n.d.</a:t>
                      </a:r>
                      <a:endParaRPr sz="1200" b="1" i="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  <a:defRPr sz="15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 b="1"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endParaRPr sz="1200" b="1" i="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937" marR="7937" marT="7937" marB="0" anchor="ctr" anchorCtr="0"/>
                </a:tc>
              </a:tr>
            </a:tbl>
          </a:graphicData>
        </a:graphic>
      </p:graphicFrame>
      <p:sp>
        <p:nvSpPr>
          <p:cNvPr id="46" name="TextBox 25"/>
          <p:cNvSpPr txBox="1"/>
          <p:nvPr/>
        </p:nvSpPr>
        <p:spPr>
          <a:xfrm>
            <a:off x="1451610" y="3489325"/>
            <a:ext cx="3438144" cy="1841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66273"/>
                </a:solidFill>
                <a:latin typeface="微软雅黑" panose="020B0503020204020204" charset="-122"/>
              </a:defRPr>
            </a:pPr>
            <a:r>
              <a:rPr b="1">
                <a:solidFill>
                  <a:srgbClr val="063584"/>
                </a:solidFill>
                <a:ea typeface="微软雅黑" panose="020B0503020204020204" charset="-122"/>
                <a:cs typeface="微软雅黑" panose="020B0503020204020204" charset="-122"/>
              </a:rPr>
              <a:t>光照 </a:t>
            </a:r>
            <a:r>
              <a:rPr lang="en-US" b="1">
                <a:solidFill>
                  <a:srgbClr val="063584"/>
                </a:solidFill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b="1">
                <a:solidFill>
                  <a:srgbClr val="063584"/>
                </a:solidFill>
                <a:ea typeface="微软雅黑" panose="020B0503020204020204" charset="-122"/>
                <a:cs typeface="微软雅黑" panose="020B0503020204020204" charset="-122"/>
              </a:rPr>
              <a:t>气氛控制 </a:t>
            </a:r>
            <a:r>
              <a:rPr lang="en-US" b="1">
                <a:solidFill>
                  <a:srgbClr val="063584"/>
                </a:solidFill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063584"/>
                </a:solidFill>
                <a:ea typeface="微软雅黑" panose="020B0503020204020204" charset="-122"/>
                <a:cs typeface="微软雅黑" panose="020B0503020204020204" charset="-122"/>
              </a:rPr>
              <a:t> 定时取样</a:t>
            </a:r>
            <a:endParaRPr b="1">
              <a:solidFill>
                <a:srgbClr val="063584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85448" cy="400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下一步</a:t>
            </a:r>
            <a:r>
              <a:rPr lang="zh-CN">
                <a:ea typeface="微软雅黑" panose="020B0503020204020204" charset="-122"/>
              </a:rPr>
              <a:t>计划</a:t>
            </a:r>
            <a:endParaRPr lang="zh-CN">
              <a:ea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 panose="020B0604020202020204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14605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en-US"/>
              <a:t>10</a:t>
            </a:r>
            <a:endParaRPr lang="en-US"/>
          </a:p>
        </p:txBody>
      </p:sp>
      <p:cxnSp>
        <p:nvCxnSpPr>
          <p:cNvPr id="7" name="Connector 6"/>
          <p:cNvCxnSpPr/>
          <p:nvPr>
            <p:custDataLst>
              <p:tags r:id="rId1"/>
            </p:custDataLst>
          </p:nvPr>
        </p:nvCxnSpPr>
        <p:spPr>
          <a:xfrm>
            <a:off x="896112" y="1901952"/>
            <a:ext cx="10232136" cy="0"/>
          </a:xfrm>
          <a:prstGeom prst="line">
            <a:avLst/>
          </a:prstGeom>
          <a:ln w="25400">
            <a:solidFill>
              <a:srgbClr val="3365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298448" y="1737360"/>
            <a:ext cx="329184" cy="32918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303019" y="1746504"/>
            <a:ext cx="32004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1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484632" y="2414016"/>
            <a:ext cx="2084831" cy="30734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确认</a:t>
            </a:r>
            <a:r>
              <a:rPr lang="zh-CN">
                <a:ea typeface="微软雅黑" panose="020B0503020204020204" charset="-122"/>
              </a:rPr>
              <a:t>产物</a:t>
            </a:r>
            <a:endParaRPr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84632" y="3081528"/>
            <a:ext cx="2084831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b="1">
                <a:ea typeface="微软雅黑" panose="020B0503020204020204" charset="-122"/>
                <a:cs typeface="微软雅黑" panose="020B0503020204020204" charset="-122"/>
              </a:rPr>
              <a:t>气相</a:t>
            </a:r>
            <a:r>
              <a:rPr lang="en-US" altLang="zh-CN" b="1"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1">
                <a:ea typeface="微软雅黑" panose="020B0503020204020204" charset="-122"/>
                <a:cs typeface="微软雅黑" panose="020B0503020204020204" charset="-122"/>
              </a:rPr>
              <a:t>液相</a:t>
            </a:r>
            <a:r>
              <a:rPr b="1">
                <a:ea typeface="微软雅黑" panose="020B0503020204020204" charset="-122"/>
                <a:cs typeface="微软雅黑" panose="020B0503020204020204" charset="-122"/>
              </a:rPr>
              <a:t>色谱</a:t>
            </a:r>
            <a:r>
              <a:rPr lang="zh-CN" b="1"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b="1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>
            <p:custDataLst>
              <p:tags r:id="rId6"/>
            </p:custDataLst>
          </p:nvPr>
        </p:nvCxnSpPr>
        <p:spPr>
          <a:xfrm>
            <a:off x="640080" y="4178808"/>
            <a:ext cx="1737360" cy="0"/>
          </a:xfrm>
          <a:prstGeom prst="line">
            <a:avLst/>
          </a:prstGeom>
          <a:ln w="12700">
            <a:solidFill>
              <a:srgbClr val="C9D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>
            <p:custDataLst>
              <p:tags r:id="rId7"/>
            </p:custDataLst>
          </p:nvPr>
        </p:nvSpPr>
        <p:spPr>
          <a:xfrm>
            <a:off x="3575303" y="1737360"/>
            <a:ext cx="329184" cy="32918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3579876" y="1746504"/>
            <a:ext cx="32004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2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2761488" y="2414016"/>
            <a:ext cx="2084831" cy="30734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优化模型</a:t>
            </a:r>
            <a:endParaRPr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2761488" y="3081528"/>
            <a:ext cx="2084831" cy="56896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b="1">
                <a:ea typeface="微软雅黑" panose="020B0503020204020204" charset="-122"/>
                <a:cs typeface="微软雅黑" panose="020B0503020204020204" charset="-122"/>
              </a:rPr>
              <a:t>筛选</a:t>
            </a:r>
            <a:r>
              <a:rPr b="1">
                <a:ea typeface="微软雅黑" panose="020B0503020204020204" charset="-122"/>
                <a:cs typeface="微软雅黑" panose="020B0503020204020204" charset="-122"/>
              </a:rPr>
              <a:t>2-氯己烷</a:t>
            </a:r>
            <a:endParaRPr b="1"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lang="zh-CN" altLang="en-US" b="1" dirty="0"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最佳反应条件</a:t>
            </a:r>
            <a:endParaRPr b="1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>
            <p:custDataLst>
              <p:tags r:id="rId11"/>
            </p:custDataLst>
          </p:nvPr>
        </p:nvCxnSpPr>
        <p:spPr>
          <a:xfrm>
            <a:off x="2916936" y="4178808"/>
            <a:ext cx="1737360" cy="0"/>
          </a:xfrm>
          <a:prstGeom prst="line">
            <a:avLst/>
          </a:prstGeom>
          <a:ln w="12700">
            <a:solidFill>
              <a:srgbClr val="C9D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>
            <p:custDataLst>
              <p:tags r:id="rId12"/>
            </p:custDataLst>
          </p:nvPr>
        </p:nvSpPr>
        <p:spPr>
          <a:xfrm>
            <a:off x="5852160" y="1737360"/>
            <a:ext cx="329184" cy="32918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5856732" y="1746504"/>
            <a:ext cx="32004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3</a:t>
            </a:r>
            <a:endParaRPr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5038344" y="2414016"/>
            <a:ext cx="2084831" cy="30734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扩展底物</a:t>
            </a:r>
            <a:endParaRPr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5038344" y="3081528"/>
            <a:ext cx="2084831" cy="56896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</a:rPr>
              <a:t>氯代石蜡等</a:t>
            </a:r>
            <a:endParaRPr b="1">
              <a:ea typeface="微软雅黑" panose="020B0503020204020204" charset="-122"/>
            </a:endParaRPr>
          </a:p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</a:rPr>
              <a:t>连续含氯位点</a:t>
            </a:r>
            <a:endParaRPr b="1"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>
            <p:custDataLst>
              <p:tags r:id="rId16"/>
            </p:custDataLst>
          </p:nvPr>
        </p:nvCxnSpPr>
        <p:spPr>
          <a:xfrm>
            <a:off x="5193792" y="4178808"/>
            <a:ext cx="1737360" cy="0"/>
          </a:xfrm>
          <a:prstGeom prst="line">
            <a:avLst/>
          </a:prstGeom>
          <a:ln w="12700">
            <a:solidFill>
              <a:srgbClr val="C9D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>
            <p:custDataLst>
              <p:tags r:id="rId17"/>
            </p:custDataLst>
          </p:nvPr>
        </p:nvSpPr>
        <p:spPr>
          <a:xfrm>
            <a:off x="8129016" y="1737360"/>
            <a:ext cx="329184" cy="32918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8"/>
            </p:custDataLst>
          </p:nvPr>
        </p:nvSpPr>
        <p:spPr>
          <a:xfrm>
            <a:off x="8133588" y="1746504"/>
            <a:ext cx="32004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4</a:t>
            </a:r>
            <a:endParaRPr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19"/>
            </p:custDataLst>
          </p:nvPr>
        </p:nvSpPr>
        <p:spPr>
          <a:xfrm>
            <a:off x="7315200" y="2414016"/>
            <a:ext cx="2084831" cy="30734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 PVC</a:t>
            </a:r>
            <a:endParaRPr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20"/>
            </p:custDataLst>
          </p:nvPr>
        </p:nvSpPr>
        <p:spPr>
          <a:xfrm>
            <a:off x="7315200" y="3081528"/>
            <a:ext cx="2084831" cy="56896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  <a:cs typeface="微软雅黑" panose="020B0503020204020204" charset="-122"/>
              </a:rPr>
              <a:t>氯平衡</a:t>
            </a:r>
            <a:r>
              <a:rPr lang="zh-CN" b="1"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b="1">
                <a:ea typeface="微软雅黑" panose="020B0503020204020204" charset="-122"/>
                <a:cs typeface="微软雅黑" panose="020B0503020204020204" charset="-122"/>
              </a:rPr>
              <a:t>SEC/GPC</a:t>
            </a:r>
            <a:endParaRPr b="1"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  <a:cs typeface="微软雅黑" panose="020B0503020204020204" charset="-122"/>
              </a:rPr>
              <a:t>凝胶与产物分析</a:t>
            </a:r>
            <a:endParaRPr b="1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>
            <p:custDataLst>
              <p:tags r:id="rId21"/>
            </p:custDataLst>
          </p:nvPr>
        </p:nvCxnSpPr>
        <p:spPr>
          <a:xfrm>
            <a:off x="7470648" y="4178808"/>
            <a:ext cx="1737360" cy="0"/>
          </a:xfrm>
          <a:prstGeom prst="line">
            <a:avLst/>
          </a:prstGeom>
          <a:ln w="12700">
            <a:solidFill>
              <a:srgbClr val="C9D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>
            <p:custDataLst>
              <p:tags r:id="rId22"/>
            </p:custDataLst>
          </p:nvPr>
        </p:nvSpPr>
        <p:spPr>
          <a:xfrm>
            <a:off x="10405872" y="1737360"/>
            <a:ext cx="329184" cy="32918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23"/>
            </p:custDataLst>
          </p:nvPr>
        </p:nvSpPr>
        <p:spPr>
          <a:xfrm>
            <a:off x="10410444" y="1746504"/>
            <a:ext cx="320040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5</a:t>
            </a:r>
            <a:endParaRPr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24"/>
            </p:custDataLst>
          </p:nvPr>
        </p:nvSpPr>
        <p:spPr>
          <a:xfrm>
            <a:off x="9592056" y="2414016"/>
            <a:ext cx="2084831" cy="30734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完善机制</a:t>
            </a:r>
            <a:endParaRPr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>
            <p:custDataLst>
              <p:tags r:id="rId25"/>
            </p:custDataLst>
          </p:nvPr>
        </p:nvSpPr>
        <p:spPr>
          <a:xfrm>
            <a:off x="9592056" y="3081528"/>
            <a:ext cx="2084831" cy="245745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rPr b="1">
                <a:ea typeface="微软雅黑" panose="020B0503020204020204" charset="-122"/>
                <a:cs typeface="微软雅黑" panose="020B0503020204020204" charset="-122"/>
              </a:rPr>
              <a:t>EPR</a:t>
            </a:r>
            <a:r>
              <a:rPr lang="zh-CN" b="1"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b="1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>
            <p:custDataLst>
              <p:tags r:id="rId26"/>
            </p:custDataLst>
          </p:nvPr>
        </p:nvCxnSpPr>
        <p:spPr>
          <a:xfrm>
            <a:off x="9747504" y="4178808"/>
            <a:ext cx="1737360" cy="0"/>
          </a:xfrm>
          <a:prstGeom prst="line">
            <a:avLst/>
          </a:prstGeom>
          <a:ln w="12700">
            <a:solidFill>
              <a:srgbClr val="C9D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" name="Connector 2"/>
          <p:cNvCxnSpPr/>
          <p:nvPr/>
        </p:nvCxnSpPr>
        <p:spPr>
          <a:xfrm>
            <a:off x="381" y="992632"/>
            <a:ext cx="12190730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17825" y="4992624"/>
            <a:ext cx="6099048" cy="0"/>
          </a:xfrm>
          <a:prstGeom prst="line">
            <a:avLst/>
          </a:prstGeom>
          <a:ln w="1905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0" y="1064260"/>
            <a:ext cx="12190730" cy="3864610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"/>
          <p:cNvSpPr txBox="1"/>
          <p:nvPr/>
        </p:nvSpPr>
        <p:spPr>
          <a:xfrm>
            <a:off x="3511550" y="2368550"/>
            <a:ext cx="4911090" cy="1560830"/>
          </a:xfrm>
          <a:prstGeom prst="rect">
            <a:avLst/>
          </a:prstGeom>
          <a:noFill/>
          <a:effectLst/>
        </p:spPr>
        <p:txBody>
          <a:bodyPr wrap="square" lIns="22860" tIns="0" rIns="22860" bIns="0">
            <a:noAutofit/>
          </a:bodyPr>
          <a:lstStyle/>
          <a:p>
            <a:pPr algn="ctr">
              <a:spcAft>
                <a:spcPts val="600"/>
              </a:spcAft>
              <a:defRPr sz="3100" b="1">
                <a:solidFill>
                  <a:srgbClr val="063584"/>
                </a:solidFill>
                <a:latin typeface="微软雅黑" panose="020B0503020204020204" charset="-122"/>
              </a:defRPr>
            </a:pPr>
            <a:r>
              <a:rPr lang="zh-CN" sz="5400" kern="0" spc="700" dirty="0">
                <a:solidFill>
                  <a:schemeClr val="bg1">
                    <a:alpha val="10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敬请各位老师</a:t>
            </a:r>
            <a:r>
              <a:rPr lang="en-US" altLang="zh-CN" sz="5400" kern="0" spc="700" dirty="0">
                <a:solidFill>
                  <a:schemeClr val="bg1">
                    <a:alpha val="10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sz="5400" kern="0" spc="700" dirty="0">
                <a:solidFill>
                  <a:schemeClr val="bg1">
                    <a:alpha val="100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批评指正</a:t>
            </a:r>
            <a:endParaRPr lang="zh-CN" sz="5400" kern="0" spc="700" dirty="0">
              <a:solidFill>
                <a:schemeClr val="bg1">
                  <a:alpha val="100000"/>
                </a:scheme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5.0352755905512,&quot;left&quot;:20.05,&quot;top&quot;:98.65,&quot;width&quot;:703.55}"/>
</p:tagLst>
</file>

<file path=ppt/tags/tag2.xml><?xml version="1.0" encoding="utf-8"?>
<p:tagLst xmlns:p="http://schemas.openxmlformats.org/presentationml/2006/main">
  <p:tag name="KSO_WM_DIAGRAM_VIRTUALLY_FRAME" val="{&quot;height&quot;:405.0352755905512,&quot;left&quot;:20.05,&quot;top&quot;:98.65,&quot;width&quot;:703.55}"/>
</p:tagLst>
</file>

<file path=ppt/tags/tag3.xml><?xml version="1.0" encoding="utf-8"?>
<p:tagLst xmlns:p="http://schemas.openxmlformats.org/presentationml/2006/main">
  <p:tag name="KSO_WM_DIAGRAM_VIRTUALLY_FRAME" val="{&quot;height&quot;:405.0352755905512,&quot;left&quot;:20.05,&quot;top&quot;:98.65,&quot;width&quot;:703.55}"/>
</p:tagLst>
</file>

<file path=ppt/tags/tag4.xml><?xml version="1.0" encoding="utf-8"?>
<p:tagLst xmlns:p="http://schemas.openxmlformats.org/presentationml/2006/main">
  <p:tag name="KSO_WM_DIAGRAM_VIRTUALLY_FRAME" val="{&quot;height&quot;:405.0352755905512,&quot;left&quot;:20.05,&quot;top&quot;:98.65,&quot;width&quot;:703.55}"/>
</p:tagLst>
</file>

<file path=ppt/tags/tag5.xml><?xml version="1.0" encoding="utf-8"?>
<p:tagLst xmlns:p="http://schemas.openxmlformats.org/presentationml/2006/main">
  <p:tag name="KSO_WM_DIAGRAM_VIRTUALLY_FRAME" val="{&quot;height&quot;:357.11999999999995,&quot;left&quot;:644.6600000000001,&quot;top&quot;:78.57000000000002,&quot;width&quot;:298.8}"/>
</p:tagLst>
</file>

<file path=ppt/tags/tag6.xml><?xml version="1.0" encoding="utf-8"?>
<p:tagLst xmlns:p="http://schemas.openxmlformats.org/presentationml/2006/main">
  <p:tag name="KSO_WM_DIAGRAM_VIRTUALLY_FRAME" val="{&quot;height&quot;:357.11999999999995,&quot;left&quot;:644.6600000000001,&quot;top&quot;:78.57000000000002,&quot;width&quot;:298.8}"/>
</p:tagLst>
</file>

<file path=ppt/tags/tag7.xml><?xml version="1.0" encoding="utf-8"?>
<p:tagLst xmlns:p="http://schemas.openxmlformats.org/presentationml/2006/main">
  <p:tag name="KSO_WM_DIAGRAM_VIRTUALLY_FRAME" val="{&quot;height&quot;:357.11999999999995,&quot;left&quot;:644.6600000000001,&quot;top&quot;:78.57000000000002,&quot;width&quot;:298.8}"/>
</p:tagLst>
</file>

<file path=ppt/tags/tag8.xml><?xml version="1.0" encoding="utf-8"?>
<p:tagLst xmlns:p="http://schemas.openxmlformats.org/presentationml/2006/main">
  <p:tag name="KSO_WM_DIAGRAM_VIRTUALLY_FRAME" val="{&quot;height&quot;:357.11999999999995,&quot;left&quot;:644.6600000000001,&quot;top&quot;:78.57000000000002,&quot;width&quot;:298.8}"/>
</p:tagLst>
</file>

<file path=ppt/tags/tag9.xml><?xml version="1.0" encoding="utf-8"?>
<p:tagLst xmlns:p="http://schemas.openxmlformats.org/presentationml/2006/main">
  <p:tag name="KSO_WM_DIAGRAM_VIRTUALLY_FRAME" val="{&quot;height&quot;:357.11999999999995,&quot;left&quot;:644.6600000000001,&quot;top&quot;:78.57000000000002,&quot;width&quot;:298.8}"/>
</p:tagLst>
</file>

<file path=ppt/tags/tag10.xml><?xml version="1.0" encoding="utf-8"?>
<p:tagLst xmlns:p="http://schemas.openxmlformats.org/presentationml/2006/main">
  <p:tag name="KSO_WM_DIAGRAM_VIRTUALLY_FRAME" val="{&quot;height&quot;:357.11999999999995,&quot;left&quot;:644.6600000000001,&quot;top&quot;:78.57000000000002,&quot;width&quot;:298.8}"/>
</p:tagLst>
</file>

<file path=ppt/tags/tag11.xml><?xml version="1.0" encoding="utf-8"?>
<p:tagLst xmlns:p="http://schemas.openxmlformats.org/presentationml/2006/main">
  <p:tag name="KSO_WM_DIAGRAM_VIRTUALLY_FRAME" val="{&quot;height&quot;:357.11999999999995,&quot;left&quot;:644.6600000000001,&quot;top&quot;:78.57000000000002,&quot;width&quot;:298.8}"/>
</p:tagLst>
</file>

<file path=ppt/tags/tag12.xml><?xml version="1.0" encoding="utf-8"?>
<p:tagLst xmlns:p="http://schemas.openxmlformats.org/presentationml/2006/main">
  <p:tag name="KSO_WM_DIAGRAM_VIRTUALLY_FRAME" val="{&quot;height&quot;:357.11999999999995,&quot;left&quot;:644.6600000000001,&quot;top&quot;:78.57000000000002,&quot;width&quot;:298.8}"/>
</p:tagLst>
</file>

<file path=ppt/tags/tag13.xml><?xml version="1.0" encoding="utf-8"?>
<p:tagLst xmlns:p="http://schemas.openxmlformats.org/presentationml/2006/main">
  <p:tag name="TABLE_ENDDRAG_ORIGIN_RECT" val="366*171"/>
  <p:tag name="TABLE_ENDDRAG_RECT" val="425*106*366*171"/>
</p:tagLst>
</file>

<file path=ppt/tags/tag14.xml><?xml version="1.0" encoding="utf-8"?>
<p:tagLst xmlns:p="http://schemas.openxmlformats.org/presentationml/2006/main">
  <p:tag name="TABLE_ENDDRAG_ORIGIN_RECT" val="724*228"/>
  <p:tag name="TABLE_ENDDRAG_RECT" val="104*300*724*228"/>
</p:tagLst>
</file>

<file path=ppt/tags/tag15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16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17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18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19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0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1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2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3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4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5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6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7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8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29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0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1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2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3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4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5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6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7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8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39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ags/tag40.xml><?xml version="1.0" encoding="utf-8"?>
<p:tagLst xmlns:p="http://schemas.openxmlformats.org/presentationml/2006/main">
  <p:tag name="KSO_WM_DIAGRAM_VIRTUALLY_FRAME" val="{&quot;height&quot;:274.32,&quot;left&quot;:38.160000000000004,&quot;top&quot;:136.8,&quot;width&quot;:881.279921259842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2579</Words>
  <Application>WPS 演示</Application>
  <PresentationFormat>On-screen Show (4:3)</PresentationFormat>
  <Paragraphs>526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黑体</vt:lpstr>
      <vt:lpstr>Calibri</vt:lpstr>
      <vt:lpstr>Arial Unicode MS</vt:lpstr>
      <vt:lpstr>Segoe UI</vt:lpstr>
      <vt:lpstr>Lucida Sans Unicode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只宠奈布杰某人</cp:lastModifiedBy>
  <cp:revision>329</cp:revision>
  <dcterms:created xsi:type="dcterms:W3CDTF">2013-01-27T09:14:00Z</dcterms:created>
  <dcterms:modified xsi:type="dcterms:W3CDTF">2026-10-16T12:33:47Z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80DCAE9039FE48FDB01D79347B945C8A_13</vt:lpwstr>
  </property>
</Properties>
</file>