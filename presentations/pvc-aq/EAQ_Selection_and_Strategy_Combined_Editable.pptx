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本页合并光敏组分选择与研究策略。上半部分回答为什么选择EAQ：2-乙基蒽醌文献支持光激发、供氢体活化和氧气参与再生；EAQ在本课题中被定位为产生初始自由基的候选光敏启动组分。作用定位流程中，从365 nm光照到初始自由基使用实线，R自由基到PVC氧化/断链使用虚线，表示尚未证明。下半部分说明由简单到复杂的验证路线：首先确认EAQ是否必要；随后用氯代烷烃定位局部C-H/C-Cl转化和产物；再用氯代石蜡研究连续含氯位点与链式反应；最后进入PVC并结合氯平衡、SEC/GPC和产物分析确认真实断链。不能将EAQ一般光化学性质直接写成已实现PVC降解，也不能预设Cl自由基一定参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光敏组分选择与研究策略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EAQ用于产生初始自由基；随后由简单底物到PVC逐级验证活性来源、含氯转化与真实断链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3822191" cy="26883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9496" y="1472184"/>
            <a:ext cx="3383280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531620"/>
            <a:ext cx="3236976" cy="19202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80" b="1">
                <a:solidFill>
                  <a:srgbClr val="063584"/>
                </a:solidFill>
                <a:latin typeface="Microsoft YaHei"/>
              </a:defRPr>
            </a:pPr>
            <a:r>
              <a:t>文献依据｜2-EAQ光循环</a:t>
            </a:r>
          </a:p>
        </p:txBody>
      </p:sp>
      <p:pic>
        <p:nvPicPr>
          <p:cNvPr id="8" name="Picture 7" descr="fig2b_clean_fo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01952"/>
            <a:ext cx="3246120" cy="155448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576072" y="3529584"/>
            <a:ext cx="3319272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80" b="0">
                <a:solidFill>
                  <a:srgbClr val="111111"/>
                </a:solidFill>
                <a:latin typeface="Microsoft YaHei"/>
              </a:defRPr>
            </a:pPr>
            <a:r>
              <a:t>从供氢体获得氢；还原态物种被O₂氧化并恢复EAQ。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85615"/>
            <a:ext cx="3310128" cy="10972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720" b="0">
                <a:solidFill>
                  <a:srgbClr val="566273"/>
                </a:solidFill>
                <a:latin typeface="Microsoft YaHei"/>
              </a:defRPr>
            </a:pPr>
            <a:r>
              <a:t>Chen et al. 2024, Fig. 2b。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280160"/>
            <a:ext cx="7552944" cy="26883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472184"/>
            <a:ext cx="1965960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531620"/>
            <a:ext cx="1819656" cy="19202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80" b="1">
                <a:solidFill>
                  <a:srgbClr val="063584"/>
                </a:solidFill>
                <a:latin typeface="Microsoft YaHei"/>
              </a:defRPr>
            </a:pPr>
            <a:r>
              <a:t>为什么选择EAQ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1874519"/>
            <a:ext cx="2121408" cy="103327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54296" y="1965960"/>
            <a:ext cx="292608" cy="292608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029968"/>
            <a:ext cx="1828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965960"/>
            <a:ext cx="1444752" cy="2103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3584"/>
                </a:solidFill>
                <a:latin typeface="Microsoft YaHei"/>
              </a:defRPr>
            </a:pPr>
            <a:r>
              <a:t>形成激发态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95144"/>
            <a:ext cx="1901952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90" b="1">
                <a:solidFill>
                  <a:srgbClr val="063584"/>
                </a:solidFill>
                <a:latin typeface="Arial"/>
              </a:defRPr>
            </a:pPr>
            <a:r>
              <a:t>EAQ ─hν→ ¹EAQ* ─ISC→ ³EAQ*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87752"/>
            <a:ext cx="190195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提供HAT/电子转移时间窗口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2864" y="1874519"/>
            <a:ext cx="2121408" cy="103327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13448" y="1965960"/>
            <a:ext cx="292608" cy="292608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029968"/>
            <a:ext cx="1828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1965960"/>
            <a:ext cx="1444752" cy="2103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3584"/>
                </a:solidFill>
                <a:latin typeface="Microsoft YaHei"/>
              </a:defRPr>
            </a:pPr>
            <a:r>
              <a:t>启动自由基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2295144"/>
            <a:ext cx="1901952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90" b="1">
                <a:solidFill>
                  <a:srgbClr val="063584"/>
                </a:solidFill>
                <a:latin typeface="Arial"/>
              </a:defRPr>
            </a:pPr>
            <a:r>
              <a:t>HAT / 电子转移 → R·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587752"/>
            <a:ext cx="190195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将光能转成初始碳自由基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72016" y="1874519"/>
            <a:ext cx="2121408" cy="103327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2600" y="1965960"/>
            <a:ext cx="292608" cy="292608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4" y="2029968"/>
            <a:ext cx="1828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1965960"/>
            <a:ext cx="1444752" cy="2103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3584"/>
                </a:solidFill>
                <a:latin typeface="Microsoft YaHei"/>
              </a:defRPr>
            </a:pPr>
            <a:r>
              <a:t>与O₂再生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295144"/>
            <a:ext cx="1901952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90" b="1">
                <a:solidFill>
                  <a:srgbClr val="063584"/>
                </a:solidFill>
                <a:latin typeface="Arial"/>
              </a:defRPr>
            </a:pPr>
            <a:r>
              <a:t>EAQH· / EAQH₂ + O₂ → EAQ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2587752"/>
            <a:ext cx="190195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支持循环及后续氧化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3136392"/>
            <a:ext cx="1417320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3195828"/>
            <a:ext cx="1271016" cy="19202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150" b="1">
                <a:solidFill>
                  <a:srgbClr val="063584"/>
                </a:solidFill>
                <a:latin typeface="Microsoft YaHei"/>
              </a:defRPr>
            </a:pPr>
            <a:r>
              <a:t>作用定位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3127248"/>
            <a:ext cx="841248" cy="3840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227832"/>
            <a:ext cx="786384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365 nm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04304" y="3319272"/>
            <a:ext cx="146304" cy="0"/>
          </a:xfrm>
          <a:prstGeom prst="line">
            <a:avLst/>
          </a:prstGeom>
          <a:ln w="1651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187184" y="3127248"/>
            <a:ext cx="841248" cy="3840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6" y="3227832"/>
            <a:ext cx="786384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EAQ*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46720" y="3319272"/>
            <a:ext cx="109728" cy="0"/>
          </a:xfrm>
          <a:prstGeom prst="line">
            <a:avLst/>
          </a:prstGeom>
          <a:ln w="1651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93024" y="3127248"/>
            <a:ext cx="841248" cy="3840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3227832"/>
            <a:ext cx="786384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HAT / ET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52560" y="3319272"/>
            <a:ext cx="201168" cy="0"/>
          </a:xfrm>
          <a:prstGeom prst="line">
            <a:avLst/>
          </a:prstGeom>
          <a:ln w="1651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90304" y="3127248"/>
            <a:ext cx="841248" cy="3840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17736" y="3227832"/>
            <a:ext cx="786384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R·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149840" y="3319272"/>
            <a:ext cx="18288" cy="0"/>
          </a:xfrm>
          <a:prstGeom prst="line">
            <a:avLst/>
          </a:prstGeom>
          <a:ln w="16510">
            <a:solidFill>
              <a:srgbClr val="4C7FC1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204704" y="3127248"/>
            <a:ext cx="841248" cy="384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4C7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32136" y="3227832"/>
            <a:ext cx="786384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氧化/断链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4392" y="3575304"/>
            <a:ext cx="1600200" cy="12801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750" b="0">
                <a:solidFill>
                  <a:srgbClr val="566273"/>
                </a:solidFill>
                <a:latin typeface="Microsoft YaHei"/>
              </a:defRPr>
            </a:pPr>
            <a:r>
              <a:t>虚线：PVC中待验证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4142232"/>
            <a:ext cx="11548872" cy="163677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" y="4315968"/>
            <a:ext cx="1627632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7" y="4375404"/>
            <a:ext cx="1481328" cy="19202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80" b="1">
                <a:solidFill>
                  <a:srgbClr val="063584"/>
                </a:solidFill>
                <a:latin typeface="Microsoft YaHei"/>
              </a:defRPr>
            </a:pPr>
            <a:r>
              <a:t>由简单到复杂验证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04872" y="4315968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432303" y="4343400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96312" y="4389120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1  EAQ入口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87168" y="4709160"/>
            <a:ext cx="182880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/>
              </a:defRPr>
            </a:pPr>
            <a:r>
              <a:t>EAQ ─hν→ EAQ*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96312" y="4965192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Microsoft YaHei"/>
              </a:defRPr>
            </a:pPr>
            <a:r>
              <a:t>确认是否启动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96312" y="5230368"/>
            <a:ext cx="1810512" cy="15544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光/暗；有/无EAQ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416552" y="4919472"/>
            <a:ext cx="301752" cy="0"/>
          </a:xfrm>
          <a:prstGeom prst="line">
            <a:avLst/>
          </a:prstGeom>
          <a:ln w="1778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764024" y="4315968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791456" y="4343400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55464" y="4389120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2  氯代烷烃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0" y="4709160"/>
            <a:ext cx="182880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/>
              </a:defRPr>
            </a:pPr>
            <a:r>
              <a:t>CH₃–CH(Cl)–R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5464" y="4965192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Microsoft YaHei"/>
              </a:defRPr>
            </a:pPr>
            <a:r>
              <a:t>定位局部反应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55464" y="5230368"/>
            <a:ext cx="1810512" cy="15544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GC–MS；氯平衡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75704" y="4919472"/>
            <a:ext cx="301752" cy="0"/>
          </a:xfrm>
          <a:prstGeom prst="line">
            <a:avLst/>
          </a:prstGeom>
          <a:ln w="1778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123176" y="4315968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50608" y="4343400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14616" y="4389120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3  氯代石蜡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05472" y="4709160"/>
            <a:ext cx="182880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/>
              </a:defRPr>
            </a:pPr>
            <a:r>
              <a:t>CH₃–[CHCl–CH₂]ₘ–CH₃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14616" y="4965192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Microsoft YaHei"/>
              </a:defRPr>
            </a:pPr>
            <a:r>
              <a:t>考察连续含氯位点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14616" y="5230368"/>
            <a:ext cx="1810512" cy="15544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产物；脱氯；氧化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134856" y="4919472"/>
            <a:ext cx="301751" cy="0"/>
          </a:xfrm>
          <a:prstGeom prst="line">
            <a:avLst/>
          </a:prstGeom>
          <a:ln w="1778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9482328" y="4315968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09759" y="4343400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73767" y="4389120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4  PVC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64624" y="4709160"/>
            <a:ext cx="182880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/>
              </a:defRPr>
            </a:pPr>
            <a:r>
              <a:t>[–CH₂–CH(Cl)–]ₙ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73767" y="4965192"/>
            <a:ext cx="1810512" cy="17373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Microsoft YaHei"/>
              </a:defRPr>
            </a:pPr>
            <a:r>
              <a:t>判断真实聚合物降解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73767" y="5230368"/>
            <a:ext cx="1810512" cy="15544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氯平衡；SEC/GPC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evron 79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研究主线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120" y="6099048"/>
            <a:ext cx="9528048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C00000"/>
                </a:solidFill>
                <a:latin typeface="Microsoft YaHei"/>
              </a:defRPr>
            </a:pPr>
            <a:r>
              <a:t>EAQ负责产生初始自由基；模型底物用于定位局部反应，再逐级进入连续含氯结构与PVC，最终以氯平衡和链长变化确认真实断链。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Chen et al., Environ. Sci. Ecotechnol. 2024, 22, 100449. 模型与PVC采用分层证据评价。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