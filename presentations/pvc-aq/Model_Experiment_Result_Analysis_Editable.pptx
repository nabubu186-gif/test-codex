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这一页只分析上一页已经记录的数据，不增加新的实验事实。首先，DCE体系在氧气和氮气条件下都出现氯代候选信号，而更换为乙腈后，同类信号消失，即使把2-氯戊烷用量提高到2.5 mmol也没有恢复。因此，当前最强的判断是反应介质参与了反应，或EAQ激发态优先与DCE作用。其次，氧气条件下已记录转化率较高，并出现氯乙酸和未知氧化信号，但氮气条件仍有氯代候选物，所以氧气更可能改变反应分支和产物分布，不能说氧气是所有信号的唯一来源。最后，这些转化率不能直接代表2-氯戊烷目标转化，因为产物身份、内标校准、回收率及溶剂空白尚未完成。下一步先做DCE加EAQ无底物空白，再用标准品和GC-MS确证候选产物，同时复核内标和物料平衡；完成这些后，再开展气氛、捕获剂和EPR机理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0312" y="109728"/>
            <a:ext cx="11631168" cy="47548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2550" b="1">
                <a:solidFill>
                  <a:srgbClr val="063584"/>
                </a:solidFill>
                <a:latin typeface="Microsoft YaHei"/>
              </a:defRPr>
            </a:pPr>
            <a:r>
              <a:t>前期结果分析：介质参与是当前首要解释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0312" y="694944"/>
            <a:ext cx="11750040" cy="0"/>
          </a:xfrm>
          <a:prstGeom prst="line">
            <a:avLst/>
          </a:prstGeom>
          <a:ln w="21590">
            <a:solidFill>
              <a:srgbClr val="0635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65176" y="832104"/>
            <a:ext cx="11475720" cy="27432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230" b="0">
                <a:solidFill>
                  <a:srgbClr val="5D6878"/>
                </a:solidFill>
                <a:latin typeface="Microsoft YaHei"/>
              </a:defRPr>
            </a:pPr>
            <a:r>
              <a:t>已记录转化率与候选产物提示体系存在反应信号，但尚不能证明 2-氯戊烷按预期路径转化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216152"/>
            <a:ext cx="4800600" cy="4553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" y="1389888"/>
            <a:ext cx="2212848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49324"/>
            <a:ext cx="2084831" cy="19202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第一页数据｜直接观察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819656"/>
            <a:ext cx="2240280" cy="21945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30" b="1">
                <a:solidFill>
                  <a:srgbClr val="063584"/>
                </a:solidFill>
                <a:latin typeface="Microsoft YaHei"/>
              </a:defRPr>
            </a:pPr>
            <a:r>
              <a:t>已记录转化率（归属待复核）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139696"/>
            <a:ext cx="694944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69" b="1">
                <a:solidFill>
                  <a:srgbClr val="15191F"/>
                </a:solidFill>
                <a:latin typeface="Arial"/>
              </a:defRPr>
            </a:pPr>
            <a:r>
              <a:t>O₂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8448" y="2148840"/>
            <a:ext cx="2377440" cy="16459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98448" y="2148840"/>
            <a:ext cx="2082637" cy="1645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5" y="2130552"/>
            <a:ext cx="59436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87.6%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468880"/>
            <a:ext cx="694944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69" b="1">
                <a:solidFill>
                  <a:srgbClr val="15191F"/>
                </a:solidFill>
                <a:latin typeface="Arial"/>
              </a:defRPr>
            </a:pPr>
            <a:r>
              <a:t>O₂鼓泡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2478024"/>
            <a:ext cx="2377440" cy="16459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98448" y="2478024"/>
            <a:ext cx="1968520" cy="164592"/>
          </a:xfrm>
          <a:prstGeom prst="rect">
            <a:avLst/>
          </a:prstGeom>
          <a:solidFill>
            <a:srgbClr val="4C7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5615" y="2459736"/>
            <a:ext cx="59436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82.8%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2798064"/>
            <a:ext cx="694944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69" b="1">
                <a:solidFill>
                  <a:srgbClr val="15191F"/>
                </a:solidFill>
                <a:latin typeface="Arial"/>
              </a:defRPr>
            </a:pPr>
            <a:r>
              <a:t>空气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8448" y="2807208"/>
            <a:ext cx="2377440" cy="16459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98448" y="2807208"/>
            <a:ext cx="1821119" cy="164592"/>
          </a:xfrm>
          <a:prstGeom prst="rect">
            <a:avLst/>
          </a:prstGeom>
          <a:solidFill>
            <a:srgbClr val="4C7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85615" y="2788920"/>
            <a:ext cx="59436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76.6%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3127248"/>
            <a:ext cx="694944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69" b="1">
                <a:solidFill>
                  <a:srgbClr val="15191F"/>
                </a:solidFill>
                <a:latin typeface="Arial"/>
              </a:defRPr>
            </a:pPr>
            <a:r>
              <a:t>N₂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98448" y="3136392"/>
            <a:ext cx="2377440" cy="164592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98448" y="3136392"/>
            <a:ext cx="1754550" cy="164592"/>
          </a:xfrm>
          <a:prstGeom prst="rect">
            <a:avLst/>
          </a:prstGeom>
          <a:solidFill>
            <a:srgbClr val="4C7F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3118104"/>
            <a:ext cx="594360" cy="17373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50" b="1">
                <a:solidFill>
                  <a:srgbClr val="063584"/>
                </a:solidFill>
                <a:latin typeface="Arial"/>
              </a:defRPr>
            </a:pPr>
            <a:r>
              <a:t>73.8%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502152"/>
            <a:ext cx="416052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69" b="0">
                <a:solidFill>
                  <a:srgbClr val="5D6878"/>
                </a:solidFill>
                <a:latin typeface="Microsoft YaHei"/>
              </a:defRPr>
            </a:pPr>
            <a:r>
              <a:t>O₂ 条件数值较高，但 O₂ 鼓泡并未继续提高。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" y="3813048"/>
            <a:ext cx="2468880" cy="21031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30" b="1">
                <a:solidFill>
                  <a:srgbClr val="063584"/>
                </a:solidFill>
                <a:latin typeface="Microsoft YaHei"/>
              </a:defRPr>
            </a:pPr>
            <a:r>
              <a:t>候选信号分布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05656"/>
            <a:ext cx="1060704" cy="24688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51376"/>
            <a:ext cx="1024127" cy="15544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69" b="1">
                <a:solidFill>
                  <a:srgbClr val="FFFFFF"/>
                </a:solidFill>
                <a:latin typeface="Microsoft YaHei"/>
              </a:defRPr>
            </a:pPr>
            <a:r>
              <a:t>条件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81912" y="4105656"/>
            <a:ext cx="1097280" cy="24688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151376"/>
            <a:ext cx="1060704" cy="15544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69" b="1">
                <a:solidFill>
                  <a:srgbClr val="FFFFFF"/>
                </a:solidFill>
                <a:latin typeface="Microsoft YaHei"/>
              </a:defRPr>
            </a:pPr>
            <a:r>
              <a:t>氯代候选物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06624" y="4105656"/>
            <a:ext cx="1097280" cy="24688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4151376"/>
            <a:ext cx="1060704" cy="15544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69" b="1">
                <a:solidFill>
                  <a:srgbClr val="FFFFFF"/>
                </a:solidFill>
                <a:latin typeface="Microsoft YaHei"/>
              </a:defRPr>
            </a:pPr>
            <a:r>
              <a:t>氧化候选物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22191" y="4105656"/>
            <a:ext cx="786384" cy="246888"/>
          </a:xfrm>
          <a:prstGeom prst="rect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4151376"/>
            <a:ext cx="749808" cy="15544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69" b="1">
                <a:solidFill>
                  <a:srgbClr val="FFFFFF"/>
                </a:solidFill>
                <a:latin typeface="Microsoft YaHei"/>
              </a:defRPr>
            </a:pPr>
            <a:r>
              <a:t>未知峰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70832"/>
            <a:ext cx="10607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4421124"/>
            <a:ext cx="1024127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Microsoft YaHei"/>
              </a:defRPr>
            </a:pPr>
            <a:r>
              <a:t>DCE / O₂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81912" y="4370832"/>
            <a:ext cx="10972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442112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1">
                <a:solidFill>
                  <a:srgbClr val="C00000"/>
                </a:solidFill>
                <a:latin typeface="Microsoft YaHei"/>
              </a:defRPr>
            </a:pPr>
            <a:r>
              <a:t>检出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4370832"/>
            <a:ext cx="10972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24912" y="442112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1">
                <a:solidFill>
                  <a:srgbClr val="C00000"/>
                </a:solidFill>
                <a:latin typeface="Microsoft YaHei"/>
              </a:defRPr>
            </a:pPr>
            <a:r>
              <a:t>检出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22191" y="4370832"/>
            <a:ext cx="78638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79" y="4421124"/>
            <a:ext cx="749808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1">
                <a:solidFill>
                  <a:srgbClr val="C00000"/>
                </a:solidFill>
                <a:latin typeface="Microsoft YaHei"/>
              </a:defRPr>
            </a:pPr>
            <a:r>
              <a:t>检出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45152"/>
            <a:ext cx="1060704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" y="4695444"/>
            <a:ext cx="1024127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Microsoft YaHei"/>
              </a:defRPr>
            </a:pPr>
            <a:r>
              <a:t>DCE / N₂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81912" y="4645152"/>
            <a:ext cx="1097280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00200" y="469544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1">
                <a:solidFill>
                  <a:srgbClr val="C00000"/>
                </a:solidFill>
                <a:latin typeface="Microsoft YaHei"/>
              </a:defRPr>
            </a:pPr>
            <a:r>
              <a:t>检出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06624" y="4645152"/>
            <a:ext cx="1097280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24912" y="469544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n.d.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22191" y="4645152"/>
            <a:ext cx="786384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4695444"/>
            <a:ext cx="749808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19472"/>
            <a:ext cx="10607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4969764"/>
            <a:ext cx="1024127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Microsoft YaHei"/>
              </a:defRPr>
            </a:pPr>
            <a:r>
              <a:t>乙腈 / 各气氛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81912" y="4919472"/>
            <a:ext cx="10972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00200" y="496976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n.d.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06624" y="4919472"/>
            <a:ext cx="10972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24912" y="4969764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n.d.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22191" y="4919472"/>
            <a:ext cx="78638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79" y="4969764"/>
            <a:ext cx="749808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5193792"/>
            <a:ext cx="1060704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1208" y="5244083"/>
            <a:ext cx="1024127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Microsoft YaHei"/>
              </a:defRPr>
            </a:pPr>
            <a:r>
              <a:t>乙腈 / 2.5 mmol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581912" y="5193792"/>
            <a:ext cx="1097280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00200" y="5244083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n.d.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06624" y="5193792"/>
            <a:ext cx="1097280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24912" y="5244083"/>
            <a:ext cx="1060704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n.d.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22191" y="5193792"/>
            <a:ext cx="786384" cy="256032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79" y="5244083"/>
            <a:ext cx="749808" cy="14630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30" b="0">
                <a:solidFill>
                  <a:srgbClr val="5D6878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" y="5559552"/>
            <a:ext cx="4160520" cy="15544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760" b="0">
                <a:solidFill>
                  <a:srgbClr val="5D6878"/>
                </a:solidFill>
                <a:latin typeface="Microsoft YaHei"/>
              </a:defRPr>
            </a:pPr>
            <a:r>
              <a:t>“氯代候选物”包括暂定的 2,4-二氯戊烷与四氯丁烷类信号。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02936" y="1216152"/>
            <a:ext cx="6766560" cy="30815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404104" y="1389888"/>
            <a:ext cx="2148840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68112" y="1449324"/>
            <a:ext cx="2020824" cy="19202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从观察到判断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22392" y="1792224"/>
            <a:ext cx="6318504" cy="667512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513831" y="1865376"/>
            <a:ext cx="274320" cy="2743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9552" y="1920240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8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97880" y="1874519"/>
            <a:ext cx="23957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30" b="1">
                <a:solidFill>
                  <a:srgbClr val="063584"/>
                </a:solidFill>
                <a:latin typeface="Microsoft YaHei"/>
              </a:defRPr>
            </a:pPr>
            <a:r>
              <a:t>DCE 可能参与反应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7" y="1856231"/>
            <a:ext cx="3200400" cy="25603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80" b="0">
                <a:solidFill>
                  <a:srgbClr val="15191F"/>
                </a:solidFill>
                <a:latin typeface="Microsoft YaHei"/>
              </a:defRPr>
            </a:pPr>
            <a:r>
              <a:t>含氯候选信号在 O₂ 与 N₂ 条件下均出现；换成乙腈后消失。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80" y="2148840"/>
            <a:ext cx="55961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69" b="0">
                <a:solidFill>
                  <a:srgbClr val="5D6878"/>
                </a:solidFill>
                <a:latin typeface="Microsoft YaHei"/>
              </a:defRPr>
            </a:pPr>
            <a:r>
              <a:t>应优先检验介质参与或介质竞争，不能把全部信号归因于 2-氯戊烷。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22392" y="2560320"/>
            <a:ext cx="6318504" cy="667512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513831" y="2633472"/>
            <a:ext cx="274320" cy="274320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9552" y="2688336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8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97880" y="2642615"/>
            <a:ext cx="23957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30" b="1">
                <a:solidFill>
                  <a:srgbClr val="063584"/>
                </a:solidFill>
                <a:latin typeface="Microsoft YaHei"/>
              </a:defRPr>
            </a:pPr>
            <a:r>
              <a:t>O₂ 改变反应分支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39327" y="2624327"/>
            <a:ext cx="3200400" cy="25603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80" b="0">
                <a:solidFill>
                  <a:srgbClr val="15191F"/>
                </a:solidFill>
                <a:latin typeface="Microsoft YaHei"/>
              </a:defRPr>
            </a:pPr>
            <a:r>
              <a:t>O₂ 条件下记录值较高，并出现氯乙酸/未知氧化信号；N₂ 下仍有氯代候选物。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80" y="2916936"/>
            <a:ext cx="55961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69" b="0">
                <a:solidFill>
                  <a:srgbClr val="5D6878"/>
                </a:solidFill>
                <a:latin typeface="Microsoft YaHei"/>
              </a:defRPr>
            </a:pPr>
            <a:r>
              <a:t>O₂ 影响氧化与产物分布，但不是所有信号出现的唯一条件。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22392" y="3328415"/>
            <a:ext cx="6318504" cy="667512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513831" y="3401568"/>
            <a:ext cx="274320" cy="274320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59552" y="3456432"/>
            <a:ext cx="1828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8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97880" y="3410711"/>
            <a:ext cx="23957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30" b="1">
                <a:solidFill>
                  <a:srgbClr val="063584"/>
                </a:solidFill>
                <a:latin typeface="Microsoft YaHei"/>
              </a:defRPr>
            </a:pPr>
            <a:r>
              <a:t>提高底物量没有“救回”反应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39327" y="3392423"/>
            <a:ext cx="3200400" cy="25603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80" b="0">
                <a:solidFill>
                  <a:srgbClr val="15191F"/>
                </a:solidFill>
                <a:latin typeface="Microsoft YaHei"/>
              </a:defRPr>
            </a:pPr>
            <a:r>
              <a:t>乙腈中将 2-氯戊烷由 0.5 mmol 提高到 2.5 mmol，仍未检出同类候选物。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97880" y="3685031"/>
            <a:ext cx="5596128" cy="20116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869" b="0">
                <a:solidFill>
                  <a:srgbClr val="5D6878"/>
                </a:solidFill>
                <a:latin typeface="Microsoft YaHei"/>
              </a:defRPr>
            </a:pPr>
            <a:r>
              <a:t>当前限制更可能来自介质、EAQ 激发态竞争或检测归属，而非单纯底物不足。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02936" y="4453128"/>
            <a:ext cx="6766560" cy="13167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D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404104" y="4608576"/>
            <a:ext cx="2011680" cy="310896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68112" y="4668012"/>
            <a:ext cx="1883664" cy="192024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1250" b="1">
                <a:solidFill>
                  <a:srgbClr val="063584"/>
                </a:solidFill>
                <a:latin typeface="Microsoft YaHei"/>
              </a:defRPr>
            </a:pPr>
            <a:r>
              <a:t>先缩小解释范围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40680" y="4965192"/>
            <a:ext cx="1335024" cy="6126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495544" y="5029200"/>
            <a:ext cx="219456" cy="219456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41264" y="5065776"/>
            <a:ext cx="12801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79008" y="5029200"/>
            <a:ext cx="91440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信号来源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13832" y="5266944"/>
            <a:ext cx="118872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DCE + EAQ</a:t>
            </a:r>
          </a:p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无底物空白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784848" y="5276088"/>
            <a:ext cx="155448" cy="0"/>
          </a:xfrm>
          <a:prstGeom prst="line">
            <a:avLst/>
          </a:prstGeom>
          <a:ln w="1524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6976872" y="4965192"/>
            <a:ext cx="1335024" cy="6126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031736" y="5029200"/>
            <a:ext cx="219456" cy="219456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77456" y="5065776"/>
            <a:ext cx="12801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15200" y="5029200"/>
            <a:ext cx="91440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产物身份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50024" y="5266944"/>
            <a:ext cx="118872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标准品 + GC–MS</a:t>
            </a:r>
          </a:p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保留时间/质谱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321040" y="5276088"/>
            <a:ext cx="155448" cy="0"/>
          </a:xfrm>
          <a:prstGeom prst="line">
            <a:avLst/>
          </a:prstGeom>
          <a:ln w="1524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8513064" y="4965192"/>
            <a:ext cx="1335024" cy="6126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567928" y="5029200"/>
            <a:ext cx="219456" cy="219456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13648" y="5065776"/>
            <a:ext cx="12801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51392" y="5029200"/>
            <a:ext cx="91440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转化计算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86216" y="5266944"/>
            <a:ext cx="118872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内标校准 + 回收</a:t>
            </a:r>
          </a:p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氯/碳质量平衡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857232" y="5276088"/>
            <a:ext cx="155448" cy="0"/>
          </a:xfrm>
          <a:prstGeom prst="line">
            <a:avLst/>
          </a:prstGeom>
          <a:ln w="15240">
            <a:solidFill>
              <a:srgbClr val="4C7FC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10049256" y="4965192"/>
            <a:ext cx="1335024" cy="612648"/>
          </a:xfrm>
          <a:prstGeom prst="roundRect">
            <a:avLst>
              <a:gd name="adj" fmla="val 25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104120" y="5029200"/>
            <a:ext cx="219456" cy="219456"/>
          </a:xfrm>
          <a:prstGeom prst="ellipse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0149840" y="5065776"/>
            <a:ext cx="128016" cy="13716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387584" y="5029200"/>
            <a:ext cx="91440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930" b="1">
                <a:solidFill>
                  <a:srgbClr val="063584"/>
                </a:solidFill>
                <a:latin typeface="Microsoft YaHei"/>
              </a:defRPr>
            </a:pPr>
            <a:r>
              <a:t>再谈机理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22408" y="5266944"/>
            <a:ext cx="1188720" cy="246888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O₂/N₂ 配对</a:t>
            </a:r>
          </a:p>
          <a:p>
            <a:pPr algn="ctr">
              <a:spcAft>
                <a:spcPts val="100"/>
              </a:spcAft>
              <a:defRPr sz="770" b="0">
                <a:solidFill>
                  <a:srgbClr val="5D6878"/>
                </a:solidFill>
                <a:latin typeface="Microsoft YaHei"/>
              </a:defRPr>
            </a:pPr>
            <a:r>
              <a:t>捕获/EPR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01168" y="6117336"/>
            <a:ext cx="11786616" cy="420624"/>
          </a:xfrm>
          <a:prstGeom prst="rect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hevron 115"/>
          <p:cNvSpPr/>
          <p:nvPr/>
        </p:nvSpPr>
        <p:spPr>
          <a:xfrm>
            <a:off x="310896" y="6190488"/>
            <a:ext cx="1527048" cy="274320"/>
          </a:xfrm>
          <a:prstGeom prst="chevron">
            <a:avLst/>
          </a:prstGeom>
          <a:solidFill>
            <a:srgbClr val="0635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93192" y="6217920"/>
            <a:ext cx="1207008" cy="18288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ctr">
              <a:spcAft>
                <a:spcPts val="10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结果判断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011680" y="6199632"/>
            <a:ext cx="9710928" cy="228600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1170" b="1">
                <a:solidFill>
                  <a:srgbClr val="C00000"/>
                </a:solidFill>
                <a:latin typeface="Microsoft YaHei"/>
              </a:defRPr>
            </a:pPr>
            <a:r>
              <a:t>当前数据更支持“DCE 可能参与、O₂ 改变产物分布”；先用溶剂空白和产物确证厘清信号来源，再优化模型反应。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3464" y="6629400"/>
            <a:ext cx="10881360" cy="128016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>
              <a:spcAft>
                <a:spcPts val="100"/>
              </a:spcAft>
              <a:defRPr sz="720" b="0">
                <a:solidFill>
                  <a:srgbClr val="5D6878"/>
                </a:solidFill>
                <a:latin typeface="Microsoft YaHei"/>
              </a:defRPr>
            </a:pPr>
            <a:r>
              <a:t>数据依据：第一页实验记录。n.d. = 未检出；候选产物名称仍需标准品、保留时间及质谱证据确认。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411712" y="6592824"/>
            <a:ext cx="411480" cy="164592"/>
          </a:xfrm>
          <a:prstGeom prst="rect">
            <a:avLst/>
          </a:prstGeom>
          <a:noFill/>
          <a:effectLst/>
        </p:spPr>
        <p:txBody>
          <a:bodyPr wrap="square" lIns="18288" rIns="18288" tIns="0" bIns="0" anchor="t">
            <a:spAutoFit/>
          </a:bodyPr>
          <a:lstStyle/>
          <a:p>
            <a:pPr algn="r">
              <a:spcAft>
                <a:spcPts val="100"/>
              </a:spcAft>
              <a:defRPr sz="900" b="1">
                <a:solidFill>
                  <a:srgbClr val="063584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