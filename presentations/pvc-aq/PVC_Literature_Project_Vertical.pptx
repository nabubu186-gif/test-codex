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侧保留Gardette等1989年Macromolecules论文印刷页2580的原始机制图，避免重绘造成结构或箭头误差。原图中的波数属于该文献的产物归属，并非此前删除的用户PVC红外数据。Gardette论文的直接工作是解析PVC光氧化老化机理；这一研究方向总体服务于材料耐久性与稳定化认识，因此讲解时可表述为“早期研究希望理解并抑制老化”，不宜把该论文直接说成稳定剂设计研究。右侧将文献启发转化为本课题自上而下的三步验证路径：第一步用光暗、有无EAQ及DCE空白核实光敏增益并排除溶剂自身反应；第二步结合EPR、自由基捕获和气氛对照识别Cl自由基及氧相关物种的贡献；第三步通过氯平衡、产物分析与SEC/GPC链长变化，区分脱氯、氧化和真正的主链断裂。该路径不预设Cl自由基已经被证明，也不把官能团变化直接等同于聚合物降解。建议下一页先介绍二氯甲烷中氯自由基促进PS光裂解的最新文献，证明“含氯介质—氯自由基—聚合物断裂”具有文献先例；之后再引出EAQ作为本课题调节反应入口的候选光敏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0896" y="155448"/>
            <a:ext cx="11585448" cy="49377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063584"/>
                </a:solidFill>
                <a:latin typeface="Microsoft YaHei"/>
              </a:defRPr>
            </a:pPr>
            <a:r>
              <a:t>文献启发：PVC 光氧化机制为本课题提供验证路径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0896" y="758952"/>
            <a:ext cx="11558016" cy="0"/>
          </a:xfrm>
          <a:prstGeom prst="line">
            <a:avLst/>
          </a:prstGeom>
          <a:ln w="21590">
            <a:solidFill>
              <a:srgbClr val="0635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56616" y="896112"/>
            <a:ext cx="11457432" cy="35661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566273"/>
                </a:solidFill>
                <a:latin typeface="Microsoft YaHei"/>
              </a:defRPr>
            </a:pPr>
            <a:r>
              <a:t>保留文献原始机理图；将自由基路径转化为可逐步检验的本课题实验任务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6574536"/>
            <a:ext cx="10881360" cy="18288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760" b="0">
                <a:solidFill>
                  <a:srgbClr val="566273"/>
                </a:solidFill>
                <a:latin typeface="Arial"/>
              </a:defRPr>
            </a:pPr>
            <a:r>
              <a:t>Gardette et al., Macromolecules 1989, 22, 2576–2581.  DOI: 10.1021/ma00196a005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556248"/>
            <a:ext cx="448056" cy="201168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r">
              <a:spcAft>
                <a:spcPts val="600"/>
              </a:spcAft>
              <a:defRPr sz="950" b="1">
                <a:solidFill>
                  <a:srgbClr val="06358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1154887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6510">
            <a:solidFill>
              <a:srgbClr val="D7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36192"/>
            <a:ext cx="3401568" cy="347472"/>
          </a:xfrm>
          <a:prstGeom prst="roundRect">
            <a:avLst>
              <a:gd name="adj" fmla="val 2500"/>
            </a:avLst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591056"/>
            <a:ext cx="3145536" cy="21945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063584"/>
                </a:solidFill>
                <a:latin typeface="Microsoft YaHei"/>
              </a:defRPr>
            </a:pPr>
            <a:r>
              <a:t>文献机理｜PVC 自由基光氧化</a:t>
            </a:r>
          </a:p>
        </p:txBody>
      </p:sp>
      <p:pic>
        <p:nvPicPr>
          <p:cNvPr id="10" name="Picture 9" descr="gardette_origina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938528"/>
            <a:ext cx="2550833" cy="3657600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576072" y="5641848"/>
            <a:ext cx="3794760" cy="146304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850" b="0">
                <a:solidFill>
                  <a:srgbClr val="566273"/>
                </a:solidFill>
                <a:latin typeface="Microsoft YaHei"/>
              </a:defRPr>
            </a:pPr>
            <a:r>
              <a:t>Gardette 1989，原文 p.2580；保留原图。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53712" y="1627632"/>
            <a:ext cx="0" cy="3995928"/>
          </a:xfrm>
          <a:prstGeom prst="line">
            <a:avLst/>
          </a:prstGeom>
          <a:ln w="15240">
            <a:solidFill>
              <a:srgbClr val="D7E1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92040" y="1527048"/>
            <a:ext cx="6611112" cy="438912"/>
          </a:xfrm>
          <a:prstGeom prst="roundRect">
            <a:avLst>
              <a:gd name="adj" fmla="val 2500"/>
            </a:avLst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65776" y="1581912"/>
            <a:ext cx="329184" cy="329184"/>
          </a:xfrm>
          <a:prstGeom prst="ellipse">
            <a:avLst/>
          </a:prstGeom>
          <a:solidFill>
            <a:srgbClr val="063584"/>
          </a:solidFill>
          <a:ln w="13970">
            <a:solidFill>
              <a:srgbClr val="0635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664208"/>
            <a:ext cx="228600" cy="18288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618488"/>
            <a:ext cx="5715000" cy="256032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63584"/>
                </a:solidFill>
                <a:latin typeface="Microsoft YaHei"/>
              </a:defRPr>
            </a:pPr>
            <a:r>
              <a:t>本课题｜由机理启发建立三步验证路径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2240280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2185416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6510">
            <a:solidFill>
              <a:srgbClr val="CF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10328" y="2386584"/>
            <a:ext cx="457200" cy="457200"/>
          </a:xfrm>
          <a:prstGeom prst="ellipse">
            <a:avLst/>
          </a:prstGeom>
          <a:solidFill>
            <a:srgbClr val="063584"/>
          </a:solidFill>
          <a:ln w="13970">
            <a:solidFill>
              <a:srgbClr val="0635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2496312"/>
            <a:ext cx="274320" cy="22860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04688" y="2304288"/>
            <a:ext cx="2249424" cy="27432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63584"/>
                </a:solidFill>
                <a:latin typeface="Microsoft YaHei"/>
              </a:defRPr>
            </a:pPr>
            <a:r>
              <a:t>调节光敏入口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54112" y="2304288"/>
            <a:ext cx="3108960" cy="265176"/>
          </a:xfrm>
          <a:prstGeom prst="roundRect">
            <a:avLst>
              <a:gd name="adj" fmla="val 2500"/>
            </a:avLst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36408" y="2350008"/>
            <a:ext cx="2944368" cy="164592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060" b="1">
                <a:solidFill>
                  <a:srgbClr val="063584"/>
                </a:solidFill>
                <a:latin typeface="Microsoft YaHei"/>
              </a:defRPr>
            </a:pPr>
            <a:r>
              <a:t>光 / EAQ / DCE 空白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688336"/>
            <a:ext cx="5340096" cy="21945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566273"/>
                </a:solidFill>
                <a:latin typeface="Microsoft YaHei"/>
              </a:defRPr>
            </a:pPr>
            <a:r>
              <a:t>核实光敏增益，并排除溶剂自身反应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38160" y="3081528"/>
            <a:ext cx="0" cy="246888"/>
          </a:xfrm>
          <a:prstGeom prst="line">
            <a:avLst/>
          </a:prstGeom>
          <a:ln w="19685">
            <a:solidFill>
              <a:srgbClr val="0635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212080" y="3456432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38928" y="3401568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6510">
            <a:solidFill>
              <a:srgbClr val="CF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10328" y="3602736"/>
            <a:ext cx="457200" cy="457200"/>
          </a:xfrm>
          <a:prstGeom prst="ellipse">
            <a:avLst/>
          </a:prstGeom>
          <a:solidFill>
            <a:srgbClr val="063584"/>
          </a:solidFill>
          <a:ln w="13970">
            <a:solidFill>
              <a:srgbClr val="0635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1768" y="3712464"/>
            <a:ext cx="274320" cy="22860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04688" y="3520440"/>
            <a:ext cx="2249424" cy="27432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63584"/>
                </a:solidFill>
                <a:latin typeface="Microsoft YaHei"/>
              </a:defRPr>
            </a:pPr>
            <a:r>
              <a:t>检验自由基支路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54112" y="3520440"/>
            <a:ext cx="3108960" cy="265176"/>
          </a:xfrm>
          <a:prstGeom prst="roundRect">
            <a:avLst>
              <a:gd name="adj" fmla="val 2500"/>
            </a:avLst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36408" y="3566160"/>
            <a:ext cx="2944368" cy="164592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060" b="1">
                <a:solidFill>
                  <a:srgbClr val="063584"/>
                </a:solidFill>
                <a:latin typeface="Microsoft YaHei"/>
              </a:defRPr>
            </a:pPr>
            <a:r>
              <a:t>EPR + 自由基捕获 + 气氛对照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904488"/>
            <a:ext cx="5340096" cy="21945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566273"/>
                </a:solidFill>
                <a:latin typeface="Microsoft YaHei"/>
              </a:defRPr>
            </a:pPr>
            <a:r>
              <a:t>识别 Cl· 与氧相关活性物种的贡献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8160" y="4297680"/>
            <a:ext cx="0" cy="246888"/>
          </a:xfrm>
          <a:prstGeom prst="line">
            <a:avLst/>
          </a:prstGeom>
          <a:ln w="19685">
            <a:solidFill>
              <a:srgbClr val="0635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212080" y="4672583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38928" y="4617720"/>
            <a:ext cx="6007608" cy="859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6510">
            <a:solidFill>
              <a:srgbClr val="CF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10328" y="4818888"/>
            <a:ext cx="457200" cy="457200"/>
          </a:xfrm>
          <a:prstGeom prst="ellipse">
            <a:avLst/>
          </a:prstGeom>
          <a:solidFill>
            <a:srgbClr val="063584"/>
          </a:solidFill>
          <a:ln w="13970">
            <a:solidFill>
              <a:srgbClr val="0635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01768" y="4928616"/>
            <a:ext cx="274320" cy="22860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4688" y="4736592"/>
            <a:ext cx="2249424" cy="274320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63584"/>
                </a:solidFill>
                <a:latin typeface="Microsoft YaHei"/>
              </a:defRPr>
            </a:pPr>
            <a:r>
              <a:t>确认聚合物变化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54112" y="4736592"/>
            <a:ext cx="3108960" cy="265176"/>
          </a:xfrm>
          <a:prstGeom prst="roundRect">
            <a:avLst>
              <a:gd name="adj" fmla="val 2500"/>
            </a:avLst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36408" y="4782312"/>
            <a:ext cx="2944368" cy="164592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060" b="1">
                <a:solidFill>
                  <a:srgbClr val="063584"/>
                </a:solidFill>
                <a:latin typeface="Microsoft YaHei"/>
              </a:defRPr>
            </a:pPr>
            <a:r>
              <a:t>氯平衡 + SEC/GPC + 产物分析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5120640"/>
            <a:ext cx="5340096" cy="219456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566273"/>
                </a:solidFill>
                <a:latin typeface="Microsoft YaHei"/>
              </a:defRPr>
            </a:pPr>
            <a:r>
              <a:t>区分脱氯、氧化与真正的主链断裂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6007608"/>
            <a:ext cx="11548872" cy="438912"/>
          </a:xfrm>
          <a:prstGeom prst="rect">
            <a:avLst/>
          </a:prstGeom>
          <a:solidFill>
            <a:srgbClr val="ED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438912" y="6080760"/>
            <a:ext cx="1527048" cy="274320"/>
          </a:xfrm>
          <a:prstGeom prst="chevron">
            <a:avLst/>
          </a:prstGeom>
          <a:solidFill>
            <a:srgbClr val="063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108192"/>
            <a:ext cx="1234440" cy="201168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核心结论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6099048"/>
            <a:ext cx="9445752" cy="256032"/>
          </a:xfrm>
          <a:prstGeom prst="rect">
            <a:avLst/>
          </a:prstGeom>
          <a:noFill/>
          <a:effectLst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C00000"/>
                </a:solidFill>
                <a:latin typeface="Microsoft YaHei"/>
              </a:defRPr>
            </a:pPr>
            <a:r>
              <a:t>早期研究为理解并抑制 PVC 光老化而解析自由基氧化与断链；本课题反向利用这一失效路径，探索光敏诱导的可控降解。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