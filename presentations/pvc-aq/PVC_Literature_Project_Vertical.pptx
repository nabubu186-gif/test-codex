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保留Gardette等1989年Macromolecules论文印刷页2580的原始机制图，避免重绘造成结构或箭头误差。原图中的波数属于该文献的产物归属，并非此前删除的用户PVC红外数据。右侧将文献启发转化为本课题自上而下的三步验证路径：第一步用光暗、有无EAQ及DCE空白核实光敏增益并排除溶剂自身反应；第二步结合EPR、自由基捕获和气氛对照识别Cl自由基及氧相关物种的贡献；第三步通过氯平衡、产物分析与SEC/GPC链长变化，区分脱氯、氧化和真正的主链断裂。该路径不预设Cl自由基已经被证明，也不把官能团变化直接等同于聚合物降解。页底结论用于衔接下一页：随后进一步说明为何选用EAQ作为候选光敏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85448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文献启发：PVC 光氧化机制为本课题提供验证路径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保留文献原始机理图；将自由基路径转化为可逐步检验的本课题实验任务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Gardette et al., Macromolecules 1989, 22, 2576–2581.  DOI: 10.1021/ma00196a005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11548872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7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3401568" cy="34747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591056"/>
            <a:ext cx="31455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63584"/>
                </a:solidFill>
                <a:latin typeface="Microsoft YaHei"/>
              </a:defRPr>
            </a:pPr>
            <a:r>
              <a:t>文献机理｜PVC 自由基光氧化</a:t>
            </a:r>
          </a:p>
        </p:txBody>
      </p:sp>
      <p:pic>
        <p:nvPicPr>
          <p:cNvPr id="10" name="Picture 9" descr="gardette_original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38528"/>
            <a:ext cx="2550833" cy="3657600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76072" y="5641848"/>
            <a:ext cx="3794760" cy="14630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Gardette 1989，原文 p.2580；保留原图。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53712" y="1627632"/>
            <a:ext cx="0" cy="3995928"/>
          </a:xfrm>
          <a:prstGeom prst="line">
            <a:avLst/>
          </a:prstGeom>
          <a:ln w="15240">
            <a:solidFill>
              <a:srgbClr val="D7E1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1527048"/>
            <a:ext cx="6611112" cy="43891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65776" y="1581912"/>
            <a:ext cx="329184" cy="32918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64208"/>
            <a:ext cx="22860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18488"/>
            <a:ext cx="571500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Microsoft YaHei"/>
              </a:defRPr>
            </a:pPr>
            <a:r>
              <a:t>本课题｜由机理启发建立三步验证路径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240280"/>
            <a:ext cx="6007608" cy="859536"/>
          </a:xfrm>
          <a:prstGeom prst="roundRect">
            <a:avLst>
              <a:gd name="adj" fmla="val 2500"/>
            </a:avLst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2185416"/>
            <a:ext cx="6007608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CF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0328" y="2386584"/>
            <a:ext cx="457200" cy="457200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2496312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2304288"/>
            <a:ext cx="2249424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Microsoft YaHei"/>
              </a:defRPr>
            </a:pPr>
            <a:r>
              <a:t>调节光敏入口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2304288"/>
            <a:ext cx="3108960" cy="26517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350008"/>
            <a:ext cx="2944368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60" b="1">
                <a:solidFill>
                  <a:srgbClr val="063584"/>
                </a:solidFill>
                <a:latin typeface="Microsoft YaHei"/>
              </a:defRPr>
            </a:pPr>
            <a:r>
              <a:t>光 / EAQ / DCE 空白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688336"/>
            <a:ext cx="534009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核实光敏增益，并排除溶剂自身反应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3081528"/>
            <a:ext cx="0" cy="246888"/>
          </a:xfrm>
          <a:prstGeom prst="line">
            <a:avLst/>
          </a:prstGeom>
          <a:ln w="19685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12080" y="3456432"/>
            <a:ext cx="6007608" cy="859536"/>
          </a:xfrm>
          <a:prstGeom prst="roundRect">
            <a:avLst>
              <a:gd name="adj" fmla="val 2500"/>
            </a:avLst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38928" y="3401568"/>
            <a:ext cx="6007608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CF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10328" y="3602736"/>
            <a:ext cx="457200" cy="457200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3712464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3520440"/>
            <a:ext cx="2249424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Microsoft YaHei"/>
              </a:defRPr>
            </a:pPr>
            <a:r>
              <a:t>检验自由基支路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54112" y="3520440"/>
            <a:ext cx="3108960" cy="26517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3566160"/>
            <a:ext cx="2944368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60" b="1">
                <a:solidFill>
                  <a:srgbClr val="063584"/>
                </a:solidFill>
                <a:latin typeface="Microsoft YaHei"/>
              </a:defRPr>
            </a:pPr>
            <a:r>
              <a:t>EPR + 自由基捕获 + 气氛对照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904488"/>
            <a:ext cx="534009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识别 Cl· 与氧相关活性物种的贡献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38160" y="4297680"/>
            <a:ext cx="0" cy="246888"/>
          </a:xfrm>
          <a:prstGeom prst="line">
            <a:avLst/>
          </a:prstGeom>
          <a:ln w="19685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212080" y="4672583"/>
            <a:ext cx="6007608" cy="859536"/>
          </a:xfrm>
          <a:prstGeom prst="roundRect">
            <a:avLst>
              <a:gd name="adj" fmla="val 2500"/>
            </a:avLst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38928" y="4617720"/>
            <a:ext cx="6007608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CF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10328" y="4818888"/>
            <a:ext cx="457200" cy="457200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1768" y="4928616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4736592"/>
            <a:ext cx="2249424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Microsoft YaHei"/>
              </a:defRPr>
            </a:pPr>
            <a:r>
              <a:t>确认聚合物变化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54112" y="4736592"/>
            <a:ext cx="3108960" cy="26517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36408" y="4782312"/>
            <a:ext cx="2944368" cy="1645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60" b="1">
                <a:solidFill>
                  <a:srgbClr val="063584"/>
                </a:solidFill>
                <a:latin typeface="Microsoft YaHei"/>
              </a:defRPr>
            </a:pPr>
            <a:r>
              <a:t>氯平衡 + SEC/GPC + 产物分析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5120640"/>
            <a:ext cx="534009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区分脱氯、氧化与真正的主链断裂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6099048"/>
            <a:ext cx="9445752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Microsoft YaHei"/>
              </a:defRPr>
            </a:pPr>
            <a:r>
              <a:t>以对照实验锁定光敏入口与活性物种，再用氯平衡、产物和链长变化确认 PVC 是否发生真实断链。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