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转化率</c:v>
                </c:pt>
              </c:strCache>
            </c:strRef>
          </c:tx>
          <c:spPr>
            <a:solidFill>
              <a:srgbClr val="203864"/>
            </a:solidFill>
            <a:ln>
              <a:noFill/>
            </a:ln>
          </c:spPr>
          <c:cat>
            <c:strRef>
              <c:f>Sheet1!$A$2:$A$5</c:f>
              <c:strCache>
                <c:ptCount val="4"/>
                <c:pt idx="0">
                  <c:v>O₂</c:v>
                </c:pt>
                <c:pt idx="1">
                  <c:v>O₂ 鼓泡</c:v>
                </c:pt>
                <c:pt idx="2">
                  <c:v>N₂</c:v>
                </c:pt>
                <c:pt idx="3">
                  <c:v>空气</c:v>
                </c:pt>
              </c:strCache>
            </c:strRef>
          </c:cat>
          <c:val>
            <c:numRef>
              <c:f>Sheet1!$B$2:$B$5</c:f>
              <c:numCache>
                <c:formatCode>General</c:formatCode>
                <c:ptCount val="4"/>
                <c:pt idx="0">
                  <c:v>87.6</c:v>
                </c:pt>
                <c:pt idx="1">
                  <c:v>82.8</c:v>
                </c:pt>
                <c:pt idx="2">
                  <c:v>73.8</c:v>
                </c:pt>
                <c:pt idx="3">
                  <c:v>76.6</c:v>
                </c:pt>
              </c:numCache>
            </c:numRef>
          </c:val>
        </c:ser>
        <c:dLbls>
          <c:txPr>
            <a:bodyPr/>
            <a:lstStyle/>
            <a:p>
              <a:pPr>
                <a:defRPr sz="1200"/>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300"/>
            </a:pPr>
          </a:p>
        </c:txPr>
        <c:crossAx val="-2113994440"/>
        <c:crosses val="autoZero"/>
        <c:auto val="1"/>
        <c:lblAlgn val="ctr"/>
        <c:lblOffset val="100"/>
        <c:noMultiLvlLbl val="0"/>
      </c:catAx>
      <c:valAx>
        <c:axId val="-2113994440"/>
        <c:scaling>
          <c:max val="100.0"/>
          <c:min val="0.0"/>
        </c:scaling>
        <c:delete val="0"/>
        <c:axPos val="l"/>
        <c:majorGridlines/>
        <c:majorTickMark val="out"/>
        <c:minorTickMark val="none"/>
        <c:tickLblPos val="nextTo"/>
        <c:txPr>
          <a:bodyPr/>
          <a:lstStyle/>
          <a:p>
            <a:pPr>
              <a:defRPr sz="1100"/>
            </a:pPr>
          </a:p>
        </c:txPr>
        <c:crossAx val="-2068027336"/>
        <c:crosses val="autoZero"/>
        <c:majorUnit val="20.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各位老师好。本次汇报聚焦蒽醌参与的PVC光化学转化与降解机制探索。现阶段已有模型分子实验及一组PVC初步表征，尚未建立完整反应体系。封面绘制文献中的2-乙基蒽醌结构作为光敏组分示例，不能据此确认实际试剂的取代位号。虚线是研究关联，不代表已确认PVC反应。下一页先交代汇报的科研主线。</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汇报不是文献逐篇罗列，也不是只有计划。前半部分为选择光敏体系提供依据，中间完整呈现模型实验及异常，后半部分把假说对应到具体实验。每一部分都区分已知、观察与待验证内容。下一页从PVC的结构特点说明研究价值。</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VC广泛应用带来资源化需求，其含氯结构又使反应评价具有特殊性。Xu等的Primer讨论预脱氯、裂解、功能化和溶剂加工等多种策略。光化学的研究价值在于通过吸光与反应条件调控初始活化，而非预设它一定比其他方式有效。下一页把总体目标拆成独立化学过程。</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脱氯化氢生成不饱和结构，但并不直接切断碳主链。氧化可以引入含氧基团，交联会降低可溶性，链裂解才直接改变链长分布。不能把Cl释放或表面氧化单独当作有效降解。下一页以PVC光老化文献说明自由基反应的依据及边界。</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rdette目标论文从上传PDF第一页下半部开始，研究识别空气光氧化形成的少数关键含氧产物，并提出一般反应网络。脱HCl与多烯形成涉及发色结构变化，但不能据此直接认定本体系PVC释放游离Cl自由基。该文没有使用本课题EAQ/DCE条件。图为机制讨论的原创概括，不伪造EPR或原始曲线。下一页讨论选择AQ类光敏组分的依据。</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n综述§2介绍AQ激发、系间窜越及电子或能量转移相关过程，§3.1.1收录2-乙基蒽醌光还原和氧再氧化的过氧化氢先例。Ren、Mao、Duan与Song发表于J.Photochem.Photobiol.A2011年217卷164至168页的原始研究题名和作者来自该综述引文98；当前原文及DOI未取得，不能把它标为直接阅读或已在线验证。其结论只按二次引文提供选择依据。2-EAQ结构在外环beta位连接乙基，本实验具体位号仍须核实。ROS种类不能凭AQ吸光自动确定，且能量转移产生单线态氧与电子转移产生超氧相关物种属于不同路径。下一页考察含氯介质这一竞争反应组分。</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等的原文Fig.5展示PBN捕获及模拟结果，作者据此归属Cl自由基，并结合GPC、产物和光吸收变化讨论反应。标准条件与扩大规模的最高产率条件区分，因此本页不混用优化数值。结构图为正确的PS苯基侧链示意。CH2Cl2中较强的捕获信号支持该体系机制，不能反推DCE或PVC具有相同初始光化学。下一页把外源介质与PVC自身含氯位点分开。</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左侧是不同文献事实。Qin为水相CDs/Zr-MOF体系，报道氯释放、ESR和链长及产物分析；其GPC原曲线在未取得的补充信息S14中，不能声称已检查该曲线。中间是本体系推测，右侧对应独立验证。底部对比均裂与亲核取代，说明Cl离子释放不等于Cl自由基生成。水相AQ激发态与氯离子的化学也不能直接当作有机C–Cl活化证据。下一页据此制定由简单到复杂的底物路线。</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路线按上排从左到右，下排从右到左阅读。氯代烷烃保留二级含氯碳和邻近C–H，有利于跟踪局部反应及识别产物，但不能完整模拟PVC的缺陷、不饱和结构、连续脱氯及界面氧扩散。进入聚合物阶段前优先澄清介质背景。下一页展示已实际开展的模型实验条件。</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装置为可编辑示意，不是原实验照片。条件按用户原始记录保留：2-氯戊烷0.5毫摩尔、EAQ5毫克每毫升、DCE4毫升、365纳米照射6小时，比较四种气氛。光通量、温度与重复实验信息尚需补充。下一页完整报告气氛转化率与候选产物记录。</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四组转化率分别为87.6、82.8、73.8和76.6，来自用户原记录，不添加误差线。表格保留六行及原有符号。2,4-二氯戊烷、四氯丁烷类、氯乙酸均为候选记录，不表示已用标准品确证。内标、校准和物料平衡未提供，不据此推导PVC降解率。通常转化率可写为X=(n0−nt)/n0×100%，但原记录未提供采用的计算式、内标及校准，不能将该定义冒充原实验已执行的方法。下一页对转化与产物不匹配提出竞争解释。</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CE可能是反应物而非惰性背景，但目前只有候选信号，不能直接认定。溶剂与EAQ激发态的竞争是合理解释之一，仍需测量。底物也可能发生反应而产物未被检测，或者氧改变选择性。六种解释可以并存，最优先的是无底物空白、原始峰归属、内标及回收率。乙腈中缺少相同信号不能独立证明零反应，也不能鉴定Cl自由基。下一页转向已有PVC表征，明确其证据层级。</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用户在这次完整要求中明确恢复FTIR页，因此重新纳入原始12小时与24小时谱图信息。为满足所有图形可编辑，彩色曲线按原图像素位置转录为原生矢量线条；源PNG同时另附，便于核对。没有原始光谱文件，不将这些像素点冒充采集数据，不计算峰面积、不平滑、不插值。遮挡区保留断点。原图未提供纵轴数值，不补造刻度。3451和2913附近只能提出O–H和C–H区域差异的线索，水分、制样、基线与归一化均可能影响解释。没有起始PVC与配套分子量数据，不能确认有效断链。下一页将模型与PVC的可比性明确分层。</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氯戊烷和PVC都含二级含氯碳及邻近C–H，但PVC存在连续位点、缺陷、不同链环境和添加剂。聚合物阶段还叠加溶胀及传质。365纳米的单光子能量约为328千焦每摩尔，该换算也不证明某个C–Cl必然断裂：首先要发生吸收，再考虑激发态路径与量子效率。不能用单独的键能比较替代光物理和实验测量。溶剂既影响AQ激发态，也影响自由基命运。下一页整合为待检验的网络，明确哪些箭头仍缺证据。</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页保留用户单独机制图的小AQ循环与大PVC路径，并依照这次要求加回证据缺口问号。左侧概括AQ类的一般激发、还原及氧再氧化过程，AQH自由基和AHQ表示不同还原层级，不声称同时检出。ET与HAT为不同候选路径，不画成同一具体化学基元步骤。左下将ROS与DCE或模型反应列为待鉴定支路；不混同单线态氧、超氧和羟基自由基，也不把ROS当作一种确定物种。右侧PVC攫氢、C–Cl活化和Cl自由基HAT均未在本体系证实，因此使用虚线及问号。R自由基与氧形成ROO为一般基元反应，但不代表本样品已检测。后续ROOH、RO自由基与β裂解需要独立证据，底部连接式仅示意烷氧自由基裂解。HAT与脱氯可以竞争或并行，Cl离子释放不能独自证明Cl自由基。下一页把缺口映射到明确的实验判据。</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矩阵按必要条件、介质和氧、激发过程、物种、物料、聚合物六层推进。AQ与EAQ对比视试剂和吸收匹配条件设置，不把取代基影响单独归因于某一因素。波长比较应控制有效光通量。自由基捕获与EPR需要溶剂、无底物和探针自身空白；捕获剂可能影响吸光或反应，不具有绝对选择性。氯平衡需考虑不同相，SEC/GPC需结合凝胶和回收率，避免只测可溶部分。结构分析可以采用FTIR、NMR与XPS，但无法替代链长证据。对AQ再生还应以时间分辨的组分和稳定性支持。下一页按优先级组织这些实验。</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始前期模型为2-氯戊烷；2-氯己烷是后续优化计划，不能混写已完成实验。五阶段为优先级与推进关系，部分分析可以并行，但应先获得真实可重复的产物信息，再进入更复杂底物。最终路径允许被否定或修正，而不是为完成既定机理图堆叠阳性结果。下一页以三个证据层级总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研究依据充分不等于本体系机制已经成立。模型反应的最重要发现是转化记录与目标产物之间存在尚未解决的对应问题；PVC初步表征提供结构线索但没有分子量证据。下一阶段先完善分析与溶剂空白，再用独立聚合物测量判断是否发生真实断链。参考文献页给出各篇支持论点及获取边界，最后感谢各位老师。</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各DOI按上传论文首页或来源标识逐一核对文本，当前网络对Crossref、PubMed及出版社返回403，因此未声称完成所有落地页在线解析。Gardette DOI与文件标识ma00196a005一致，但PDF未显式印出DOI。Huang正式卷期为2024，文件名中的2023为在线发表时间相关信息，统一按卷期引用。Ren原始研究题名、作者、期刊年卷页由Chen参考文献98核对，原文和DOI未取得，不虚构其DOI或实验细节。其链接指向可核对的Chen综述，不冒充原始论文链接。所有论文的作用、证据与局限另附文献核查说明。</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感谢各位老师聆听，敬请对分析方法、优先对照及机制证据提出建议。本页不新增科学结论。</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38/s43586-023-00227-w" TargetMode="External"/><Relationship Id="rId3" Type="http://schemas.openxmlformats.org/officeDocument/2006/relationships/hyperlink" Target="https://doi.org/10.1021/ma00196a005" TargetMode="External"/><Relationship Id="rId4" Type="http://schemas.openxmlformats.org/officeDocument/2006/relationships/hyperlink" Target="https://doi.org/10.1002/pol.20230322" TargetMode="External"/><Relationship Id="rId5" Type="http://schemas.openxmlformats.org/officeDocument/2006/relationships/hyperlink" Target="https://doi.org/10.1016/j.ese.2024.100449" TargetMode="External"/><Relationship Id="rId6" Type="http://schemas.openxmlformats.org/officeDocument/2006/relationships/hyperlink" Target="https://doi.org/10.1016/j.apcatb.2023.123355" TargetMode="External"/><Relationship Id="rId7" Type="http://schemas.openxmlformats.org/officeDocument/2006/relationships/hyperlink" Target="https://doi.org/10.1002/anie.5578835" TargetMode="Externa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384048" y="329184"/>
            <a:ext cx="50292" cy="320040"/>
          </a:xfrm>
          <a:prstGeom prst="rect">
            <a:avLst/>
          </a:prstGeom>
          <a:solidFill>
            <a:srgbClr val="20386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869680" y="246888"/>
            <a:ext cx="2880360" cy="356616"/>
          </a:xfrm>
          <a:prstGeom prst="rect">
            <a:avLst/>
          </a:prstGeom>
          <a:noFill/>
          <a:effectLst/>
        </p:spPr>
        <p:txBody>
          <a:bodyPr wrap="square" lIns="22860" rIns="22860" tIns="0" bIns="0">
            <a:spAutoFit/>
          </a:bodyPr>
          <a:lstStyle/>
          <a:p>
            <a:pPr algn="r">
              <a:spcAft>
                <a:spcPts val="600"/>
              </a:spcAft>
              <a:defRPr sz="2100" b="1">
                <a:solidFill>
                  <a:srgbClr val="159BB6"/>
                </a:solidFill>
                <a:latin typeface="Microsoft YaHei"/>
              </a:defRPr>
            </a:pPr>
            <a:r>
              <a:t>北京工业大学</a:t>
            </a:r>
          </a:p>
        </p:txBody>
      </p:sp>
      <p:sp>
        <p:nvSpPr>
          <p:cNvPr id="4" name="TextBox 3"/>
          <p:cNvSpPr txBox="1"/>
          <p:nvPr/>
        </p:nvSpPr>
        <p:spPr>
          <a:xfrm>
            <a:off x="8686800" y="621792"/>
            <a:ext cx="3063240" cy="182880"/>
          </a:xfrm>
          <a:prstGeom prst="rect">
            <a:avLst/>
          </a:prstGeom>
          <a:noFill/>
          <a:effectLst/>
        </p:spPr>
        <p:txBody>
          <a:bodyPr wrap="square" lIns="22860" rIns="22860" tIns="0" bIns="0">
            <a:spAutoFit/>
          </a:bodyPr>
          <a:lstStyle/>
          <a:p>
            <a:pPr algn="r">
              <a:spcAft>
                <a:spcPts val="600"/>
              </a:spcAft>
              <a:defRPr sz="770" b="1">
                <a:solidFill>
                  <a:srgbClr val="159BB6"/>
                </a:solidFill>
                <a:latin typeface="Microsoft YaHei"/>
              </a:defRPr>
            </a:pPr>
            <a:r>
              <a:t>BEIJING UNIVERSITY OF TECHNOLOGY</a:t>
            </a:r>
          </a:p>
        </p:txBody>
      </p:sp>
      <p:sp>
        <p:nvSpPr>
          <p:cNvPr id="5" name="TextBox 4"/>
          <p:cNvSpPr txBox="1"/>
          <p:nvPr/>
        </p:nvSpPr>
        <p:spPr>
          <a:xfrm>
            <a:off x="594360" y="914400"/>
            <a:ext cx="11109960" cy="594360"/>
          </a:xfrm>
          <a:prstGeom prst="rect">
            <a:avLst/>
          </a:prstGeom>
          <a:noFill/>
          <a:effectLst/>
        </p:spPr>
        <p:txBody>
          <a:bodyPr wrap="square" lIns="22860" rIns="22860" tIns="0" bIns="0">
            <a:spAutoFit/>
          </a:bodyPr>
          <a:lstStyle/>
          <a:p>
            <a:pPr>
              <a:spcAft>
                <a:spcPts val="600"/>
              </a:spcAft>
              <a:defRPr sz="2600" b="1">
                <a:solidFill>
                  <a:srgbClr val="203864"/>
                </a:solidFill>
                <a:latin typeface="Microsoft YaHei"/>
              </a:defRPr>
            </a:pPr>
            <a:r>
              <a:t>蒽醌参与的 PVC 光化学转化与降解机制探索</a:t>
            </a:r>
          </a:p>
        </p:txBody>
      </p:sp>
      <p:cxnSp>
        <p:nvCxnSpPr>
          <p:cNvPr id="6" name="Connector 5"/>
          <p:cNvCxnSpPr/>
          <p:nvPr/>
        </p:nvCxnSpPr>
        <p:spPr>
          <a:xfrm>
            <a:off x="594360" y="1636776"/>
            <a:ext cx="11018520" cy="0"/>
          </a:xfrm>
          <a:prstGeom prst="line">
            <a:avLst/>
          </a:prstGeom>
          <a:ln w="25400">
            <a:solidFill>
              <a:srgbClr val="203864"/>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40080" y="1773936"/>
            <a:ext cx="10972800" cy="393192"/>
          </a:xfrm>
          <a:prstGeom prst="rect">
            <a:avLst/>
          </a:prstGeom>
          <a:noFill/>
          <a:effectLst/>
        </p:spPr>
        <p:txBody>
          <a:bodyPr wrap="square" lIns="22860" rIns="22860" tIns="0" bIns="0">
            <a:spAutoFit/>
          </a:bodyPr>
          <a:lstStyle/>
          <a:p>
            <a:pPr>
              <a:spcAft>
                <a:spcPts val="600"/>
              </a:spcAft>
              <a:defRPr sz="1300" b="0">
                <a:solidFill>
                  <a:srgbClr val="566273"/>
                </a:solidFill>
                <a:latin typeface="Microsoft YaHei"/>
              </a:defRPr>
            </a:pPr>
            <a:r>
              <a:t>基于自由基反应的模型分子研究与初步实验探索</a:t>
            </a:r>
          </a:p>
        </p:txBody>
      </p:sp>
      <p:cxnSp>
        <p:nvCxnSpPr>
          <p:cNvPr id="8" name="Connector 7"/>
          <p:cNvCxnSpPr/>
          <p:nvPr/>
        </p:nvCxnSpPr>
        <p:spPr>
          <a:xfrm>
            <a:off x="594360" y="6446520"/>
            <a:ext cx="11018520" cy="0"/>
          </a:xfrm>
          <a:prstGeom prst="line">
            <a:avLst/>
          </a:prstGeom>
          <a:ln w="10160">
            <a:solidFill>
              <a:srgbClr val="CED7E3"/>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94360" y="6547104"/>
            <a:ext cx="10469880" cy="182880"/>
          </a:xfrm>
          <a:prstGeom prst="rect">
            <a:avLst/>
          </a:prstGeom>
          <a:noFill/>
          <a:effectLst/>
        </p:spPr>
        <p:txBody>
          <a:bodyPr wrap="square" lIns="22860" rIns="22860" tIns="0" bIns="0">
            <a:spAutoFit/>
          </a:bodyPr>
          <a:lstStyle/>
          <a:p>
            <a:pPr>
              <a:spcAft>
                <a:spcPts val="600"/>
              </a:spcAft>
              <a:defRPr sz="800" b="0">
                <a:solidFill>
                  <a:srgbClr val="566273"/>
                </a:solidFill>
                <a:latin typeface="Arial"/>
              </a:defRPr>
            </a:pPr>
          </a:p>
        </p:txBody>
      </p:sp>
      <p:sp>
        <p:nvSpPr>
          <p:cNvPr id="10" name="TextBox 9"/>
          <p:cNvSpPr txBox="1"/>
          <p:nvPr/>
        </p:nvSpPr>
        <p:spPr>
          <a:xfrm>
            <a:off x="11137392" y="6510528"/>
            <a:ext cx="438912" cy="237744"/>
          </a:xfrm>
          <a:prstGeom prst="rect">
            <a:avLst/>
          </a:prstGeom>
          <a:noFill/>
          <a:effectLst/>
        </p:spPr>
        <p:txBody>
          <a:bodyPr wrap="square" lIns="22860" rIns="22860" tIns="0" bIns="0">
            <a:spAutoFit/>
          </a:bodyPr>
          <a:lstStyle/>
          <a:p>
            <a:pPr algn="r">
              <a:spcAft>
                <a:spcPts val="600"/>
              </a:spcAft>
              <a:defRPr sz="1100" b="1">
                <a:solidFill>
                  <a:srgbClr val="203864"/>
                </a:solidFill>
                <a:latin typeface="Microsoft YaHei"/>
              </a:defRPr>
            </a:pPr>
            <a:r>
              <a:t>1</a:t>
            </a:r>
          </a:p>
        </p:txBody>
      </p:sp>
      <p:sp>
        <p:nvSpPr>
          <p:cNvPr id="11" name="Freeform 10"/>
          <p:cNvSpPr/>
          <p:nvPr/>
        </p:nvSpPr>
        <p:spPr>
          <a:xfrm>
            <a:off x="987552" y="2788920"/>
            <a:ext cx="4315968" cy="219456"/>
          </a:xfrm>
          <a:custGeom>
            <a:avLst/>
            <a:gdLst/>
            <a:ahLst/>
            <a:cxnLst/>
            <a:rect l="l" t="t" r="r" b="b"/>
            <a:pathLst>
              <a:path w="4315968" h="219456">
                <a:moveTo>
                  <a:pt x="0" y="0"/>
                </a:moveTo>
                <a:lnTo>
                  <a:pt x="539496" y="219456"/>
                </a:lnTo>
                <a:lnTo>
                  <a:pt x="1078991" y="0"/>
                </a:lnTo>
                <a:lnTo>
                  <a:pt x="1618488" y="219456"/>
                </a:lnTo>
                <a:lnTo>
                  <a:pt x="2157984" y="0"/>
                </a:lnTo>
                <a:lnTo>
                  <a:pt x="2697479" y="219456"/>
                </a:lnTo>
                <a:lnTo>
                  <a:pt x="3236976" y="0"/>
                </a:lnTo>
                <a:lnTo>
                  <a:pt x="3776472" y="219456"/>
                </a:lnTo>
                <a:lnTo>
                  <a:pt x="4315968" y="0"/>
                </a:lnTo>
              </a:path>
            </a:pathLst>
          </a:custGeom>
          <a:noFill/>
          <a:ln w="2286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1527048" y="300837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1399031" y="341071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14" name="Connector 13"/>
          <p:cNvCxnSpPr/>
          <p:nvPr/>
        </p:nvCxnSpPr>
        <p:spPr>
          <a:xfrm>
            <a:off x="2606040" y="300837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2478024" y="341071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16" name="Connector 15"/>
          <p:cNvCxnSpPr/>
          <p:nvPr/>
        </p:nvCxnSpPr>
        <p:spPr>
          <a:xfrm>
            <a:off x="3685031" y="300837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7" name="TextBox 16"/>
          <p:cNvSpPr txBox="1"/>
          <p:nvPr/>
        </p:nvSpPr>
        <p:spPr>
          <a:xfrm>
            <a:off x="3557015" y="341071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18" name="Connector 17"/>
          <p:cNvCxnSpPr/>
          <p:nvPr/>
        </p:nvCxnSpPr>
        <p:spPr>
          <a:xfrm>
            <a:off x="4764024" y="300837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9" name="TextBox 18"/>
          <p:cNvSpPr txBox="1"/>
          <p:nvPr/>
        </p:nvSpPr>
        <p:spPr>
          <a:xfrm>
            <a:off x="4636008" y="341071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sp>
        <p:nvSpPr>
          <p:cNvPr id="20" name="TextBox 19"/>
          <p:cNvSpPr txBox="1"/>
          <p:nvPr/>
        </p:nvSpPr>
        <p:spPr>
          <a:xfrm>
            <a:off x="740664" y="2761488"/>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21" name="TextBox 20"/>
          <p:cNvSpPr txBox="1"/>
          <p:nvPr/>
        </p:nvSpPr>
        <p:spPr>
          <a:xfrm>
            <a:off x="5349240" y="2761488"/>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22" name="Freeform 21"/>
          <p:cNvSpPr/>
          <p:nvPr/>
        </p:nvSpPr>
        <p:spPr>
          <a:xfrm>
            <a:off x="8166295" y="2834640"/>
            <a:ext cx="633515" cy="731520"/>
          </a:xfrm>
          <a:custGeom>
            <a:avLst/>
            <a:gdLst/>
            <a:ahLst/>
            <a:cxnLst/>
            <a:rect l="l" t="t" r="r" b="b"/>
            <a:pathLst>
              <a:path w="633515" h="731520">
                <a:moveTo>
                  <a:pt x="316758" y="0"/>
                </a:moveTo>
                <a:lnTo>
                  <a:pt x="633515" y="182880"/>
                </a:lnTo>
                <a:lnTo>
                  <a:pt x="633515" y="548640"/>
                </a:lnTo>
                <a:lnTo>
                  <a:pt x="316758" y="731520"/>
                </a:lnTo>
                <a:lnTo>
                  <a:pt x="0" y="548640"/>
                </a:lnTo>
                <a:lnTo>
                  <a:pt x="0" y="182880"/>
                </a:lnTo>
                <a:lnTo>
                  <a:pt x="316758"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3" name="Connector 22"/>
          <p:cNvCxnSpPr/>
          <p:nvPr/>
        </p:nvCxnSpPr>
        <p:spPr>
          <a:xfrm>
            <a:off x="8483053" y="2937052"/>
            <a:ext cx="228065" cy="131674"/>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flipH="1">
            <a:off x="8483053" y="3332073"/>
            <a:ext cx="228065" cy="131674"/>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5" name="Connector 24"/>
          <p:cNvCxnSpPr/>
          <p:nvPr/>
        </p:nvCxnSpPr>
        <p:spPr>
          <a:xfrm flipV="1">
            <a:off x="8254987" y="3068726"/>
            <a:ext cx="0" cy="263347"/>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6" name="Freeform 25"/>
          <p:cNvSpPr/>
          <p:nvPr/>
        </p:nvSpPr>
        <p:spPr>
          <a:xfrm>
            <a:off x="8799810" y="2834640"/>
            <a:ext cx="633515" cy="731520"/>
          </a:xfrm>
          <a:custGeom>
            <a:avLst/>
            <a:gdLst/>
            <a:ahLst/>
            <a:cxnLst/>
            <a:rect l="l" t="t" r="r" b="b"/>
            <a:pathLst>
              <a:path w="633515" h="731520">
                <a:moveTo>
                  <a:pt x="316758" y="0"/>
                </a:moveTo>
                <a:lnTo>
                  <a:pt x="633515" y="182880"/>
                </a:lnTo>
                <a:lnTo>
                  <a:pt x="633515" y="548640"/>
                </a:lnTo>
                <a:lnTo>
                  <a:pt x="316758" y="731520"/>
                </a:lnTo>
                <a:lnTo>
                  <a:pt x="0" y="548640"/>
                </a:lnTo>
                <a:lnTo>
                  <a:pt x="0" y="182880"/>
                </a:lnTo>
                <a:lnTo>
                  <a:pt x="316758"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Freeform 26"/>
          <p:cNvSpPr/>
          <p:nvPr/>
        </p:nvSpPr>
        <p:spPr>
          <a:xfrm>
            <a:off x="9433325" y="2834640"/>
            <a:ext cx="633515" cy="731520"/>
          </a:xfrm>
          <a:custGeom>
            <a:avLst/>
            <a:gdLst/>
            <a:ahLst/>
            <a:cxnLst/>
            <a:rect l="l" t="t" r="r" b="b"/>
            <a:pathLst>
              <a:path w="633515" h="731520">
                <a:moveTo>
                  <a:pt x="316757" y="0"/>
                </a:moveTo>
                <a:lnTo>
                  <a:pt x="633515" y="182880"/>
                </a:lnTo>
                <a:lnTo>
                  <a:pt x="633515" y="548640"/>
                </a:lnTo>
                <a:lnTo>
                  <a:pt x="316757" y="731520"/>
                </a:lnTo>
                <a:lnTo>
                  <a:pt x="0" y="548640"/>
                </a:lnTo>
                <a:lnTo>
                  <a:pt x="0" y="182880"/>
                </a:lnTo>
                <a:lnTo>
                  <a:pt x="316757"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8" name="Connector 27"/>
          <p:cNvCxnSpPr/>
          <p:nvPr/>
        </p:nvCxnSpPr>
        <p:spPr>
          <a:xfrm>
            <a:off x="9750082" y="2937052"/>
            <a:ext cx="228066" cy="131674"/>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9" name="Connector 28"/>
          <p:cNvCxnSpPr/>
          <p:nvPr/>
        </p:nvCxnSpPr>
        <p:spPr>
          <a:xfrm flipH="1">
            <a:off x="9750082" y="3332073"/>
            <a:ext cx="228066" cy="131674"/>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30" name="Connector 29"/>
          <p:cNvCxnSpPr/>
          <p:nvPr/>
        </p:nvCxnSpPr>
        <p:spPr>
          <a:xfrm flipV="1">
            <a:off x="9522017" y="3068726"/>
            <a:ext cx="0" cy="263347"/>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31" name="Connector 30"/>
          <p:cNvCxnSpPr/>
          <p:nvPr/>
        </p:nvCxnSpPr>
        <p:spPr>
          <a:xfrm flipV="1">
            <a:off x="9087993" y="2571750"/>
            <a:ext cx="0" cy="262890"/>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32" name="Connector 31"/>
          <p:cNvCxnSpPr/>
          <p:nvPr/>
        </p:nvCxnSpPr>
        <p:spPr>
          <a:xfrm flipV="1">
            <a:off x="9145143" y="2571750"/>
            <a:ext cx="0" cy="262890"/>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3" name="TextBox 32"/>
          <p:cNvSpPr txBox="1"/>
          <p:nvPr/>
        </p:nvSpPr>
        <p:spPr>
          <a:xfrm>
            <a:off x="8990838" y="2297430"/>
            <a:ext cx="342900" cy="285750"/>
          </a:xfrm>
          <a:prstGeom prst="rect">
            <a:avLst/>
          </a:prstGeom>
          <a:noFill/>
          <a:effectLst/>
        </p:spPr>
        <p:txBody>
          <a:bodyPr wrap="square" lIns="22860" rIns="22860" tIns="0" bIns="0">
            <a:spAutoFit/>
          </a:bodyPr>
          <a:lstStyle/>
          <a:p>
            <a:pPr>
              <a:spcAft>
                <a:spcPts val="600"/>
              </a:spcAft>
              <a:defRPr sz="1625" b="0">
                <a:solidFill>
                  <a:srgbClr val="111111"/>
                </a:solidFill>
                <a:latin typeface="Arial"/>
              </a:defRPr>
            </a:pPr>
            <a:r>
              <a:t>O</a:t>
            </a:r>
          </a:p>
        </p:txBody>
      </p:sp>
      <p:cxnSp>
        <p:nvCxnSpPr>
          <p:cNvPr id="34" name="Connector 33"/>
          <p:cNvCxnSpPr/>
          <p:nvPr/>
        </p:nvCxnSpPr>
        <p:spPr>
          <a:xfrm>
            <a:off x="9087993" y="3566160"/>
            <a:ext cx="0" cy="262890"/>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35" name="Connector 34"/>
          <p:cNvCxnSpPr/>
          <p:nvPr/>
        </p:nvCxnSpPr>
        <p:spPr>
          <a:xfrm>
            <a:off x="9145143" y="3566160"/>
            <a:ext cx="0" cy="262890"/>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6" name="TextBox 35"/>
          <p:cNvSpPr txBox="1"/>
          <p:nvPr/>
        </p:nvSpPr>
        <p:spPr>
          <a:xfrm>
            <a:off x="8990838" y="3840480"/>
            <a:ext cx="342900" cy="285750"/>
          </a:xfrm>
          <a:prstGeom prst="rect">
            <a:avLst/>
          </a:prstGeom>
          <a:noFill/>
          <a:effectLst/>
        </p:spPr>
        <p:txBody>
          <a:bodyPr wrap="square" lIns="22860" rIns="22860" tIns="0" bIns="0">
            <a:spAutoFit/>
          </a:bodyPr>
          <a:lstStyle/>
          <a:p>
            <a:pPr>
              <a:spcAft>
                <a:spcPts val="600"/>
              </a:spcAft>
              <a:defRPr sz="1625" b="0">
                <a:solidFill>
                  <a:srgbClr val="111111"/>
                </a:solidFill>
                <a:latin typeface="Arial"/>
              </a:defRPr>
            </a:pPr>
            <a:r>
              <a:t>O</a:t>
            </a:r>
          </a:p>
        </p:txBody>
      </p:sp>
      <p:cxnSp>
        <p:nvCxnSpPr>
          <p:cNvPr id="37" name="Connector 36"/>
          <p:cNvCxnSpPr/>
          <p:nvPr/>
        </p:nvCxnSpPr>
        <p:spPr>
          <a:xfrm flipH="1" flipV="1">
            <a:off x="7846255" y="2823210"/>
            <a:ext cx="320040" cy="194310"/>
          </a:xfrm>
          <a:prstGeom prst="line">
            <a:avLst/>
          </a:prstGeom>
          <a:ln w="1778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38" name="Connector 37"/>
          <p:cNvCxnSpPr/>
          <p:nvPr/>
        </p:nvCxnSpPr>
        <p:spPr>
          <a:xfrm flipH="1">
            <a:off x="7526215" y="2823210"/>
            <a:ext cx="320040" cy="194310"/>
          </a:xfrm>
          <a:prstGeom prst="line">
            <a:avLst/>
          </a:prstGeom>
          <a:ln w="1778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9" name="TextBox 38"/>
          <p:cNvSpPr txBox="1"/>
          <p:nvPr/>
        </p:nvSpPr>
        <p:spPr>
          <a:xfrm>
            <a:off x="6446520" y="2843784"/>
            <a:ext cx="1737360" cy="329184"/>
          </a:xfrm>
          <a:prstGeom prst="rect">
            <a:avLst/>
          </a:prstGeom>
          <a:noFill/>
          <a:effectLst/>
        </p:spPr>
        <p:txBody>
          <a:bodyPr wrap="square" lIns="22860" rIns="22860" tIns="0" bIns="0">
            <a:spAutoFit/>
          </a:bodyPr>
          <a:lstStyle/>
          <a:p>
            <a:pPr algn="ctr">
              <a:spcAft>
                <a:spcPts val="600"/>
              </a:spcAft>
              <a:defRPr sz="2300" b="1">
                <a:solidFill>
                  <a:srgbClr val="203864"/>
                </a:solidFill>
                <a:latin typeface="Microsoft YaHei"/>
              </a:defRPr>
            </a:pPr>
            <a:r>
              <a:t>hν / O₂</a:t>
            </a:r>
          </a:p>
        </p:txBody>
      </p:sp>
      <p:sp>
        <p:nvSpPr>
          <p:cNvPr id="40" name="TextBox 39"/>
          <p:cNvSpPr txBox="1"/>
          <p:nvPr/>
        </p:nvSpPr>
        <p:spPr>
          <a:xfrm>
            <a:off x="6492240" y="3337560"/>
            <a:ext cx="822960" cy="502920"/>
          </a:xfrm>
          <a:prstGeom prst="rect">
            <a:avLst/>
          </a:prstGeom>
          <a:noFill/>
          <a:effectLst/>
        </p:spPr>
        <p:txBody>
          <a:bodyPr wrap="square" lIns="22860" rIns="22860" tIns="0" bIns="0">
            <a:spAutoFit/>
          </a:bodyPr>
          <a:lstStyle/>
          <a:p>
            <a:pPr algn="ctr">
              <a:spcAft>
                <a:spcPts val="600"/>
              </a:spcAft>
              <a:defRPr sz="3000" b="1">
                <a:solidFill>
                  <a:srgbClr val="203864"/>
                </a:solidFill>
                <a:latin typeface="Microsoft YaHei"/>
              </a:defRPr>
            </a:pPr>
            <a:r>
              <a:t>+</a:t>
            </a:r>
          </a:p>
        </p:txBody>
      </p:sp>
      <p:cxnSp>
        <p:nvCxnSpPr>
          <p:cNvPr id="41" name="Connector 40"/>
          <p:cNvCxnSpPr/>
          <p:nvPr/>
        </p:nvCxnSpPr>
        <p:spPr>
          <a:xfrm>
            <a:off x="2926080" y="3721608"/>
            <a:ext cx="0" cy="329183"/>
          </a:xfrm>
          <a:prstGeom prst="line">
            <a:avLst/>
          </a:prstGeom>
          <a:ln w="16510">
            <a:solidFill>
              <a:srgbClr val="203864"/>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sp>
        <p:nvSpPr>
          <p:cNvPr id="42" name="TextBox 41"/>
          <p:cNvSpPr txBox="1"/>
          <p:nvPr/>
        </p:nvSpPr>
        <p:spPr>
          <a:xfrm>
            <a:off x="960120" y="4251960"/>
            <a:ext cx="5212080" cy="365760"/>
          </a:xfrm>
          <a:prstGeom prst="rect">
            <a:avLst/>
          </a:prstGeom>
          <a:noFill/>
          <a:effectLst/>
        </p:spPr>
        <p:txBody>
          <a:bodyPr wrap="square" lIns="22860" rIns="22860" tIns="0" bIns="0">
            <a:spAutoFit/>
          </a:bodyPr>
          <a:lstStyle/>
          <a:p>
            <a:pPr>
              <a:spcAft>
                <a:spcPts val="600"/>
              </a:spcAft>
              <a:defRPr sz="1800" b="1">
                <a:solidFill>
                  <a:srgbClr val="203864"/>
                </a:solidFill>
                <a:latin typeface="Microsoft YaHei"/>
              </a:defRPr>
            </a:pPr>
            <a:r>
              <a:t>PVC：含氯主链与潜在氧化 / 断链位点</a:t>
            </a:r>
          </a:p>
        </p:txBody>
      </p:sp>
      <p:sp>
        <p:nvSpPr>
          <p:cNvPr id="43" name="TextBox 42"/>
          <p:cNvSpPr txBox="1"/>
          <p:nvPr/>
        </p:nvSpPr>
        <p:spPr>
          <a:xfrm>
            <a:off x="7726679" y="4251960"/>
            <a:ext cx="3767328" cy="548640"/>
          </a:xfrm>
          <a:prstGeom prst="rect">
            <a:avLst/>
          </a:prstGeom>
          <a:noFill/>
          <a:effectLst/>
        </p:spPr>
        <p:txBody>
          <a:bodyPr wrap="square" lIns="22860" rIns="22860" tIns="0" bIns="0">
            <a:spAutoFit/>
          </a:bodyPr>
          <a:lstStyle/>
          <a:p>
            <a:pPr algn="ctr">
              <a:spcAft>
                <a:spcPts val="600"/>
              </a:spcAft>
              <a:defRPr sz="1300" b="0">
                <a:solidFill>
                  <a:srgbClr val="566273"/>
                </a:solidFill>
                <a:latin typeface="Microsoft YaHei"/>
              </a:defRPr>
            </a:pPr>
            <a:r>
              <a:t>文献示例：2-EAQ</a:t>
            </a:r>
          </a:p>
          <a:p>
            <a:pPr algn="ctr">
              <a:spcAft>
                <a:spcPts val="600"/>
              </a:spcAft>
              <a:defRPr sz="1300" b="0">
                <a:solidFill>
                  <a:srgbClr val="566273"/>
                </a:solidFill>
                <a:latin typeface="Microsoft YaHei"/>
              </a:defRPr>
            </a:pPr>
            <a:r>
              <a:t>本实验 EAQ 的取代位号待核实</a:t>
            </a:r>
          </a:p>
        </p:txBody>
      </p:sp>
      <p:sp>
        <p:nvSpPr>
          <p:cNvPr id="44" name="TextBox 43"/>
          <p:cNvSpPr txBox="1"/>
          <p:nvPr/>
        </p:nvSpPr>
        <p:spPr>
          <a:xfrm>
            <a:off x="960120" y="4992624"/>
            <a:ext cx="10469880" cy="365760"/>
          </a:xfrm>
          <a:prstGeom prst="rect">
            <a:avLst/>
          </a:prstGeom>
          <a:noFill/>
          <a:effectLst/>
        </p:spPr>
        <p:txBody>
          <a:bodyPr wrap="square" lIns="22860" rIns="22860" tIns="0" bIns="0">
            <a:spAutoFit/>
          </a:bodyPr>
          <a:lstStyle/>
          <a:p>
            <a:pPr>
              <a:spcAft>
                <a:spcPts val="600"/>
              </a:spcAft>
              <a:defRPr sz="1900" b="0">
                <a:solidFill>
                  <a:srgbClr val="111111"/>
                </a:solidFill>
                <a:latin typeface="Microsoft YaHei"/>
              </a:defRPr>
            </a:pPr>
            <a:r>
              <a:t>报告人：佟可心    指导教师：孙再成 教授 / 李鹏飞 博士</a:t>
            </a:r>
          </a:p>
        </p:txBody>
      </p:sp>
      <p:sp>
        <p:nvSpPr>
          <p:cNvPr id="45" name="TextBox 44"/>
          <p:cNvSpPr txBox="1"/>
          <p:nvPr/>
        </p:nvSpPr>
        <p:spPr>
          <a:xfrm>
            <a:off x="960120" y="5486400"/>
            <a:ext cx="9921240" cy="246888"/>
          </a:xfrm>
          <a:prstGeom prst="rect">
            <a:avLst/>
          </a:prstGeom>
          <a:noFill/>
          <a:effectLst/>
        </p:spPr>
        <p:txBody>
          <a:bodyPr wrap="square" lIns="22860" rIns="22860" tIns="0" bIns="0">
            <a:spAutoFit/>
          </a:bodyPr>
          <a:lstStyle/>
          <a:p>
            <a:pPr>
              <a:spcAft>
                <a:spcPts val="600"/>
              </a:spcAft>
              <a:defRPr sz="1500" b="0">
                <a:solidFill>
                  <a:srgbClr val="566273"/>
                </a:solidFill>
                <a:latin typeface="Microsoft YaHei"/>
              </a:defRPr>
            </a:pPr>
            <a:r>
              <a:t>2026 年 10 月 17 日    北京工业大学</a:t>
            </a:r>
          </a:p>
        </p:txBody>
      </p:sp>
      <p:sp>
        <p:nvSpPr>
          <p:cNvPr id="46" name="Rectangle 45"/>
          <p:cNvSpPr/>
          <p:nvPr/>
        </p:nvSpPr>
        <p:spPr>
          <a:xfrm>
            <a:off x="594360" y="5907024"/>
            <a:ext cx="11018520" cy="411480"/>
          </a:xfrm>
          <a:prstGeom prst="rect">
            <a:avLst/>
          </a:prstGeom>
          <a:solidFill>
            <a:srgbClr val="EEF3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777240" y="5980176"/>
            <a:ext cx="10652760" cy="265176"/>
          </a:xfrm>
          <a:prstGeom prst="rect">
            <a:avLst/>
          </a:prstGeom>
          <a:noFill/>
          <a:effectLst/>
        </p:spPr>
        <p:txBody>
          <a:bodyPr wrap="square" lIns="22860" rIns="22860" tIns="0" bIns="0">
            <a:spAutoFit/>
          </a:bodyPr>
          <a:lstStyle/>
          <a:p>
            <a:pPr>
              <a:spcAft>
                <a:spcPts val="600"/>
              </a:spcAft>
              <a:defRPr sz="1600" b="1">
                <a:solidFill>
                  <a:srgbClr val="203864"/>
                </a:solidFill>
                <a:latin typeface="Microsoft YaHei"/>
              </a:defRPr>
            </a:pPr>
            <a:r>
              <a:t>以真实模型结果为起点，连接文献依据、竞争反应与可检验的 PVC 降解假说。</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384048" y="329184"/>
            <a:ext cx="50292" cy="320040"/>
          </a:xfrm>
          <a:prstGeom prst="rect">
            <a:avLst/>
          </a:prstGeom>
          <a:solidFill>
            <a:srgbClr val="20386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869680" y="246888"/>
            <a:ext cx="2880360" cy="356616"/>
          </a:xfrm>
          <a:prstGeom prst="rect">
            <a:avLst/>
          </a:prstGeom>
          <a:noFill/>
          <a:effectLst/>
        </p:spPr>
        <p:txBody>
          <a:bodyPr wrap="square" lIns="22860" rIns="22860" tIns="0" bIns="0">
            <a:spAutoFit/>
          </a:bodyPr>
          <a:lstStyle/>
          <a:p>
            <a:pPr algn="r">
              <a:spcAft>
                <a:spcPts val="600"/>
              </a:spcAft>
              <a:defRPr sz="2100" b="1">
                <a:solidFill>
                  <a:srgbClr val="159BB6"/>
                </a:solidFill>
                <a:latin typeface="Microsoft YaHei"/>
              </a:defRPr>
            </a:pPr>
            <a:r>
              <a:t>北京工业大学</a:t>
            </a:r>
          </a:p>
        </p:txBody>
      </p:sp>
      <p:sp>
        <p:nvSpPr>
          <p:cNvPr id="4" name="TextBox 3"/>
          <p:cNvSpPr txBox="1"/>
          <p:nvPr/>
        </p:nvSpPr>
        <p:spPr>
          <a:xfrm>
            <a:off x="8686800" y="621792"/>
            <a:ext cx="3063240" cy="182880"/>
          </a:xfrm>
          <a:prstGeom prst="rect">
            <a:avLst/>
          </a:prstGeom>
          <a:noFill/>
          <a:effectLst/>
        </p:spPr>
        <p:txBody>
          <a:bodyPr wrap="square" lIns="22860" rIns="22860" tIns="0" bIns="0">
            <a:spAutoFit/>
          </a:bodyPr>
          <a:lstStyle/>
          <a:p>
            <a:pPr algn="r">
              <a:spcAft>
                <a:spcPts val="600"/>
              </a:spcAft>
              <a:defRPr sz="770" b="1">
                <a:solidFill>
                  <a:srgbClr val="159BB6"/>
                </a:solidFill>
                <a:latin typeface="Microsoft YaHei"/>
              </a:defRPr>
            </a:pPr>
            <a:r>
              <a:t>BEIJING UNIVERSITY OF TECHNOLOGY</a:t>
            </a:r>
          </a:p>
        </p:txBody>
      </p:sp>
      <p:sp>
        <p:nvSpPr>
          <p:cNvPr id="5" name="TextBox 4"/>
          <p:cNvSpPr txBox="1"/>
          <p:nvPr/>
        </p:nvSpPr>
        <p:spPr>
          <a:xfrm>
            <a:off x="594360" y="914400"/>
            <a:ext cx="11109960" cy="594360"/>
          </a:xfrm>
          <a:prstGeom prst="rect">
            <a:avLst/>
          </a:prstGeom>
          <a:noFill/>
          <a:effectLst/>
        </p:spPr>
        <p:txBody>
          <a:bodyPr wrap="square" lIns="22860" rIns="22860" tIns="0" bIns="0">
            <a:spAutoFit/>
          </a:bodyPr>
          <a:lstStyle/>
          <a:p>
            <a:pPr>
              <a:spcAft>
                <a:spcPts val="600"/>
              </a:spcAft>
              <a:defRPr sz="2600" b="1">
                <a:solidFill>
                  <a:srgbClr val="203864"/>
                </a:solidFill>
                <a:latin typeface="Microsoft YaHei"/>
              </a:defRPr>
            </a:pPr>
            <a:r>
              <a:t>汇报围绕反应启动、实验异常与机制检验展开</a:t>
            </a:r>
          </a:p>
        </p:txBody>
      </p:sp>
      <p:cxnSp>
        <p:nvCxnSpPr>
          <p:cNvPr id="6" name="Connector 5"/>
          <p:cNvCxnSpPr/>
          <p:nvPr/>
        </p:nvCxnSpPr>
        <p:spPr>
          <a:xfrm>
            <a:off x="594360" y="1636776"/>
            <a:ext cx="11018520" cy="0"/>
          </a:xfrm>
          <a:prstGeom prst="line">
            <a:avLst/>
          </a:prstGeom>
          <a:ln w="25400">
            <a:solidFill>
              <a:srgbClr val="203864"/>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40080" y="1773936"/>
            <a:ext cx="10972800" cy="393192"/>
          </a:xfrm>
          <a:prstGeom prst="rect">
            <a:avLst/>
          </a:prstGeom>
          <a:noFill/>
          <a:effectLst/>
        </p:spPr>
        <p:txBody>
          <a:bodyPr wrap="square" lIns="22860" rIns="22860" tIns="0" bIns="0">
            <a:spAutoFit/>
          </a:bodyPr>
          <a:lstStyle/>
          <a:p>
            <a:pPr>
              <a:spcAft>
                <a:spcPts val="600"/>
              </a:spcAft>
              <a:defRPr sz="1300" b="0">
                <a:solidFill>
                  <a:srgbClr val="566273"/>
                </a:solidFill>
                <a:latin typeface="Microsoft YaHei"/>
              </a:defRPr>
            </a:pPr>
            <a:r>
              <a:t>研究背景 → 文献启发 → 科学问题 → 研究策略 → 前期探索 → 问题分析 → 机理假说 → 下一步实验</a:t>
            </a:r>
          </a:p>
        </p:txBody>
      </p:sp>
      <p:cxnSp>
        <p:nvCxnSpPr>
          <p:cNvPr id="8" name="Connector 7"/>
          <p:cNvCxnSpPr/>
          <p:nvPr/>
        </p:nvCxnSpPr>
        <p:spPr>
          <a:xfrm>
            <a:off x="594360" y="6446520"/>
            <a:ext cx="11018520" cy="0"/>
          </a:xfrm>
          <a:prstGeom prst="line">
            <a:avLst/>
          </a:prstGeom>
          <a:ln w="10160">
            <a:solidFill>
              <a:srgbClr val="CED7E3"/>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94360" y="6547104"/>
            <a:ext cx="10469880" cy="182880"/>
          </a:xfrm>
          <a:prstGeom prst="rect">
            <a:avLst/>
          </a:prstGeom>
          <a:noFill/>
          <a:effectLst/>
        </p:spPr>
        <p:txBody>
          <a:bodyPr wrap="square" lIns="22860" rIns="22860" tIns="0" bIns="0">
            <a:spAutoFit/>
          </a:bodyPr>
          <a:lstStyle/>
          <a:p>
            <a:pPr>
              <a:spcAft>
                <a:spcPts val="600"/>
              </a:spcAft>
              <a:defRPr sz="800" b="0">
                <a:solidFill>
                  <a:srgbClr val="566273"/>
                </a:solidFill>
                <a:latin typeface="Arial"/>
              </a:defRPr>
            </a:pPr>
          </a:p>
        </p:txBody>
      </p:sp>
      <p:sp>
        <p:nvSpPr>
          <p:cNvPr id="10" name="TextBox 9"/>
          <p:cNvSpPr txBox="1"/>
          <p:nvPr/>
        </p:nvSpPr>
        <p:spPr>
          <a:xfrm>
            <a:off x="11137392" y="6510528"/>
            <a:ext cx="438912" cy="237744"/>
          </a:xfrm>
          <a:prstGeom prst="rect">
            <a:avLst/>
          </a:prstGeom>
          <a:noFill/>
          <a:effectLst/>
        </p:spPr>
        <p:txBody>
          <a:bodyPr wrap="square" lIns="22860" rIns="22860" tIns="0" bIns="0">
            <a:spAutoFit/>
          </a:bodyPr>
          <a:lstStyle/>
          <a:p>
            <a:pPr algn="r">
              <a:spcAft>
                <a:spcPts val="600"/>
              </a:spcAft>
              <a:defRPr sz="1100" b="1">
                <a:solidFill>
                  <a:srgbClr val="203864"/>
                </a:solidFill>
                <a:latin typeface="Microsoft YaHei"/>
              </a:defRPr>
            </a:pPr>
            <a:r>
              <a:t>2</a:t>
            </a:r>
          </a:p>
        </p:txBody>
      </p:sp>
      <p:sp>
        <p:nvSpPr>
          <p:cNvPr id="11" name="TextBox 10"/>
          <p:cNvSpPr txBox="1"/>
          <p:nvPr/>
        </p:nvSpPr>
        <p:spPr>
          <a:xfrm>
            <a:off x="822960" y="2542032"/>
            <a:ext cx="3291840" cy="393192"/>
          </a:xfrm>
          <a:prstGeom prst="rect">
            <a:avLst/>
          </a:prstGeom>
          <a:noFill/>
          <a:effectLst/>
        </p:spPr>
        <p:txBody>
          <a:bodyPr wrap="square" lIns="22860" rIns="22860" tIns="0" bIns="0">
            <a:spAutoFit/>
          </a:bodyPr>
          <a:lstStyle/>
          <a:p>
            <a:pPr>
              <a:spcAft>
                <a:spcPts val="600"/>
              </a:spcAft>
              <a:defRPr sz="2400" b="1">
                <a:solidFill>
                  <a:srgbClr val="203864"/>
                </a:solidFill>
                <a:latin typeface="Microsoft YaHei"/>
              </a:defRPr>
            </a:pPr>
            <a:r>
              <a:t>研究依据</a:t>
            </a:r>
          </a:p>
        </p:txBody>
      </p:sp>
      <p:cxnSp>
        <p:nvCxnSpPr>
          <p:cNvPr id="12" name="Connector 11"/>
          <p:cNvCxnSpPr/>
          <p:nvPr/>
        </p:nvCxnSpPr>
        <p:spPr>
          <a:xfrm>
            <a:off x="822960" y="3108960"/>
            <a:ext cx="3200400" cy="0"/>
          </a:xfrm>
          <a:prstGeom prst="line">
            <a:avLst/>
          </a:prstGeom>
          <a:ln w="25400">
            <a:solidFill>
              <a:srgbClr val="203864"/>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822960" y="3493008"/>
            <a:ext cx="3227832" cy="1051560"/>
          </a:xfrm>
          <a:prstGeom prst="rect">
            <a:avLst/>
          </a:prstGeom>
          <a:noFill/>
          <a:effectLst/>
        </p:spPr>
        <p:txBody>
          <a:bodyPr wrap="square" lIns="22860" rIns="22860" tIns="0" bIns="0">
            <a:spAutoFit/>
          </a:bodyPr>
          <a:lstStyle/>
          <a:p>
            <a:pPr>
              <a:spcAft>
                <a:spcPts val="600"/>
              </a:spcAft>
              <a:defRPr sz="1900" b="0">
                <a:solidFill>
                  <a:srgbClr val="111111"/>
                </a:solidFill>
                <a:latin typeface="Microsoft YaHei"/>
              </a:defRPr>
            </a:pPr>
            <a:r>
              <a:t>PVC 含氯结构的挑战</a:t>
            </a:r>
          </a:p>
          <a:p>
            <a:pPr>
              <a:spcAft>
                <a:spcPts val="600"/>
              </a:spcAft>
              <a:defRPr sz="1900" b="0">
                <a:solidFill>
                  <a:srgbClr val="111111"/>
                </a:solidFill>
                <a:latin typeface="Microsoft YaHei"/>
              </a:defRPr>
            </a:pPr>
            <a:r>
              <a:t>光老化、AQ 与含氯介质文献</a:t>
            </a:r>
          </a:p>
        </p:txBody>
      </p:sp>
      <p:cxnSp>
        <p:nvCxnSpPr>
          <p:cNvPr id="14" name="Connector 13"/>
          <p:cNvCxnSpPr/>
          <p:nvPr/>
        </p:nvCxnSpPr>
        <p:spPr>
          <a:xfrm>
            <a:off x="4169664" y="3767328"/>
            <a:ext cx="265176" cy="0"/>
          </a:xfrm>
          <a:prstGeom prst="line">
            <a:avLst/>
          </a:prstGeom>
          <a:ln w="19050">
            <a:solidFill>
              <a:srgbClr val="20386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4572000" y="2542032"/>
            <a:ext cx="3291840" cy="393192"/>
          </a:xfrm>
          <a:prstGeom prst="rect">
            <a:avLst/>
          </a:prstGeom>
          <a:noFill/>
          <a:effectLst/>
        </p:spPr>
        <p:txBody>
          <a:bodyPr wrap="square" lIns="22860" rIns="22860" tIns="0" bIns="0">
            <a:spAutoFit/>
          </a:bodyPr>
          <a:lstStyle/>
          <a:p>
            <a:pPr>
              <a:spcAft>
                <a:spcPts val="600"/>
              </a:spcAft>
              <a:defRPr sz="2400" b="1">
                <a:solidFill>
                  <a:srgbClr val="203864"/>
                </a:solidFill>
                <a:latin typeface="Microsoft YaHei"/>
              </a:defRPr>
            </a:pPr>
            <a:r>
              <a:t>前期结果</a:t>
            </a:r>
          </a:p>
        </p:txBody>
      </p:sp>
      <p:cxnSp>
        <p:nvCxnSpPr>
          <p:cNvPr id="16" name="Connector 15"/>
          <p:cNvCxnSpPr/>
          <p:nvPr/>
        </p:nvCxnSpPr>
        <p:spPr>
          <a:xfrm>
            <a:off x="4572000" y="3108960"/>
            <a:ext cx="3200400" cy="0"/>
          </a:xfrm>
          <a:prstGeom prst="line">
            <a:avLst/>
          </a:prstGeom>
          <a:ln w="25400">
            <a:solidFill>
              <a:srgbClr val="203864"/>
            </a:solidFill>
          </a:ln>
          <a:effectLst/>
        </p:spPr>
        <p:style>
          <a:lnRef idx="2">
            <a:schemeClr val="accent1"/>
          </a:lnRef>
          <a:fillRef idx="0">
            <a:schemeClr val="accent1"/>
          </a:fillRef>
          <a:effectRef idx="0">
            <a:schemeClr val="accent1"/>
          </a:effectRef>
          <a:fontRef idx="minor">
            <a:schemeClr val="tx1"/>
          </a:fontRef>
        </p:style>
      </p:cxnSp>
      <p:sp>
        <p:nvSpPr>
          <p:cNvPr id="17" name="TextBox 16"/>
          <p:cNvSpPr txBox="1"/>
          <p:nvPr/>
        </p:nvSpPr>
        <p:spPr>
          <a:xfrm>
            <a:off x="4572000" y="3493008"/>
            <a:ext cx="3227832" cy="1051560"/>
          </a:xfrm>
          <a:prstGeom prst="rect">
            <a:avLst/>
          </a:prstGeom>
          <a:noFill/>
          <a:effectLst/>
        </p:spPr>
        <p:txBody>
          <a:bodyPr wrap="square" lIns="22860" rIns="22860" tIns="0" bIns="0">
            <a:spAutoFit/>
          </a:bodyPr>
          <a:lstStyle/>
          <a:p>
            <a:pPr>
              <a:spcAft>
                <a:spcPts val="600"/>
              </a:spcAft>
              <a:defRPr sz="1900" b="0">
                <a:solidFill>
                  <a:srgbClr val="111111"/>
                </a:solidFill>
                <a:latin typeface="Microsoft YaHei"/>
              </a:defRPr>
            </a:pPr>
            <a:r>
              <a:t>模型转化与候选产物</a:t>
            </a:r>
          </a:p>
          <a:p>
            <a:pPr>
              <a:spcAft>
                <a:spcPts val="600"/>
              </a:spcAft>
              <a:defRPr sz="1900" b="0">
                <a:solidFill>
                  <a:srgbClr val="111111"/>
                </a:solidFill>
                <a:latin typeface="Microsoft YaHei"/>
              </a:defRPr>
            </a:pPr>
            <a:r>
              <a:t>溶剂相关信号与 PVC 表征</a:t>
            </a:r>
          </a:p>
        </p:txBody>
      </p:sp>
      <p:cxnSp>
        <p:nvCxnSpPr>
          <p:cNvPr id="18" name="Connector 17"/>
          <p:cNvCxnSpPr/>
          <p:nvPr/>
        </p:nvCxnSpPr>
        <p:spPr>
          <a:xfrm>
            <a:off x="7918704" y="3767328"/>
            <a:ext cx="265175" cy="0"/>
          </a:xfrm>
          <a:prstGeom prst="line">
            <a:avLst/>
          </a:prstGeom>
          <a:ln w="19050">
            <a:solidFill>
              <a:srgbClr val="20386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9" name="TextBox 18"/>
          <p:cNvSpPr txBox="1"/>
          <p:nvPr/>
        </p:nvSpPr>
        <p:spPr>
          <a:xfrm>
            <a:off x="8321040" y="2542032"/>
            <a:ext cx="3291840" cy="393192"/>
          </a:xfrm>
          <a:prstGeom prst="rect">
            <a:avLst/>
          </a:prstGeom>
          <a:noFill/>
          <a:effectLst/>
        </p:spPr>
        <p:txBody>
          <a:bodyPr wrap="square" lIns="22860" rIns="22860" tIns="0" bIns="0">
            <a:spAutoFit/>
          </a:bodyPr>
          <a:lstStyle/>
          <a:p>
            <a:pPr>
              <a:spcAft>
                <a:spcPts val="600"/>
              </a:spcAft>
              <a:defRPr sz="2400" b="1">
                <a:solidFill>
                  <a:srgbClr val="203864"/>
                </a:solidFill>
                <a:latin typeface="Microsoft YaHei"/>
              </a:defRPr>
            </a:pPr>
            <a:r>
              <a:t>机制检验</a:t>
            </a:r>
          </a:p>
        </p:txBody>
      </p:sp>
      <p:cxnSp>
        <p:nvCxnSpPr>
          <p:cNvPr id="20" name="Connector 19"/>
          <p:cNvCxnSpPr/>
          <p:nvPr/>
        </p:nvCxnSpPr>
        <p:spPr>
          <a:xfrm>
            <a:off x="8321040" y="3108960"/>
            <a:ext cx="3200400" cy="0"/>
          </a:xfrm>
          <a:prstGeom prst="line">
            <a:avLst/>
          </a:prstGeom>
          <a:ln w="25400">
            <a:solidFill>
              <a:srgbClr val="203864"/>
            </a:solidFill>
          </a:ln>
          <a:effectLst/>
        </p:spPr>
        <p:style>
          <a:lnRef idx="2">
            <a:schemeClr val="accent1"/>
          </a:lnRef>
          <a:fillRef idx="0">
            <a:schemeClr val="accent1"/>
          </a:fillRef>
          <a:effectRef idx="0">
            <a:schemeClr val="accent1"/>
          </a:effectRef>
          <a:fontRef idx="minor">
            <a:schemeClr val="tx1"/>
          </a:fontRef>
        </p:style>
      </p:cxnSp>
      <p:sp>
        <p:nvSpPr>
          <p:cNvPr id="21" name="TextBox 20"/>
          <p:cNvSpPr txBox="1"/>
          <p:nvPr/>
        </p:nvSpPr>
        <p:spPr>
          <a:xfrm>
            <a:off x="8321040" y="3493008"/>
            <a:ext cx="3227832" cy="1051560"/>
          </a:xfrm>
          <a:prstGeom prst="rect">
            <a:avLst/>
          </a:prstGeom>
          <a:noFill/>
          <a:effectLst/>
        </p:spPr>
        <p:txBody>
          <a:bodyPr wrap="square" lIns="22860" rIns="22860" tIns="0" bIns="0">
            <a:spAutoFit/>
          </a:bodyPr>
          <a:lstStyle/>
          <a:p>
            <a:pPr>
              <a:spcAft>
                <a:spcPts val="600"/>
              </a:spcAft>
              <a:defRPr sz="1900" b="0">
                <a:solidFill>
                  <a:srgbClr val="111111"/>
                </a:solidFill>
                <a:latin typeface="Microsoft YaHei"/>
              </a:defRPr>
            </a:pPr>
            <a:r>
              <a:t>区分底物与介质反应</a:t>
            </a:r>
          </a:p>
          <a:p>
            <a:pPr>
              <a:spcAft>
                <a:spcPts val="600"/>
              </a:spcAft>
              <a:defRPr sz="1900" b="0">
                <a:solidFill>
                  <a:srgbClr val="111111"/>
                </a:solidFill>
                <a:latin typeface="Microsoft YaHei"/>
              </a:defRPr>
            </a:pPr>
            <a:r>
              <a:t>验证物种、氯去向和链长变化</a:t>
            </a:r>
          </a:p>
        </p:txBody>
      </p:sp>
      <p:cxnSp>
        <p:nvCxnSpPr>
          <p:cNvPr id="22" name="Connector 21"/>
          <p:cNvCxnSpPr/>
          <p:nvPr/>
        </p:nvCxnSpPr>
        <p:spPr>
          <a:xfrm>
            <a:off x="987552" y="5074920"/>
            <a:ext cx="9985248" cy="0"/>
          </a:xfrm>
          <a:prstGeom prst="line">
            <a:avLst/>
          </a:prstGeom>
          <a:ln w="12700">
            <a:solidFill>
              <a:srgbClr val="CAD4E2"/>
            </a:solidFill>
          </a:ln>
          <a:effectLst/>
        </p:spPr>
        <p:style>
          <a:lnRef idx="2">
            <a:schemeClr val="accent1"/>
          </a:lnRef>
          <a:fillRef idx="0">
            <a:schemeClr val="accent1"/>
          </a:fillRef>
          <a:effectRef idx="0">
            <a:schemeClr val="accent1"/>
          </a:effectRef>
          <a:fontRef idx="minor">
            <a:schemeClr val="tx1"/>
          </a:fontRef>
        </p:style>
      </p:cxnSp>
      <p:sp>
        <p:nvSpPr>
          <p:cNvPr id="23" name="TextBox 22"/>
          <p:cNvSpPr txBox="1"/>
          <p:nvPr/>
        </p:nvSpPr>
        <p:spPr>
          <a:xfrm>
            <a:off x="1005840" y="5349240"/>
            <a:ext cx="9966960" cy="338328"/>
          </a:xfrm>
          <a:prstGeom prst="rect">
            <a:avLst/>
          </a:prstGeom>
          <a:noFill/>
          <a:effectLst/>
        </p:spPr>
        <p:txBody>
          <a:bodyPr wrap="square" lIns="22860" rIns="22860" tIns="0" bIns="0">
            <a:spAutoFit/>
          </a:bodyPr>
          <a:lstStyle/>
          <a:p>
            <a:pPr algn="ctr">
              <a:spcAft>
                <a:spcPts val="600"/>
              </a:spcAft>
              <a:defRPr sz="1900" b="1">
                <a:solidFill>
                  <a:srgbClr val="111111"/>
                </a:solidFill>
                <a:latin typeface="Microsoft YaHei"/>
              </a:defRPr>
            </a:pPr>
            <a:r>
              <a:t>贯穿全篇的判据：底物转化、氯释放、氧化和主链断裂分别评价。</a:t>
            </a:r>
          </a:p>
        </p:txBody>
      </p:sp>
      <p:sp>
        <p:nvSpPr>
          <p:cNvPr id="24" name="Rectangle 23"/>
          <p:cNvSpPr/>
          <p:nvPr/>
        </p:nvSpPr>
        <p:spPr>
          <a:xfrm>
            <a:off x="594360" y="5907024"/>
            <a:ext cx="11018520" cy="411480"/>
          </a:xfrm>
          <a:prstGeom prst="rect">
            <a:avLst/>
          </a:prstGeom>
          <a:solidFill>
            <a:srgbClr val="EEF3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777240" y="5980176"/>
            <a:ext cx="10652760" cy="265176"/>
          </a:xfrm>
          <a:prstGeom prst="rect">
            <a:avLst/>
          </a:prstGeom>
          <a:noFill/>
          <a:effectLst/>
        </p:spPr>
        <p:txBody>
          <a:bodyPr wrap="square" lIns="22860" rIns="22860" tIns="0" bIns="0">
            <a:spAutoFit/>
          </a:bodyPr>
          <a:lstStyle/>
          <a:p>
            <a:pPr>
              <a:spcAft>
                <a:spcPts val="600"/>
              </a:spcAft>
              <a:defRPr sz="1600" b="1">
                <a:solidFill>
                  <a:srgbClr val="203864"/>
                </a:solidFill>
                <a:latin typeface="Microsoft YaHei"/>
              </a:defRPr>
            </a:pPr>
            <a:r>
              <a:t>科研故事：文献提出可能路径，现有结果暴露竞争解释，针对性实验约束机制。</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384048" y="329184"/>
            <a:ext cx="50292" cy="320040"/>
          </a:xfrm>
          <a:prstGeom prst="rect">
            <a:avLst/>
          </a:prstGeom>
          <a:solidFill>
            <a:srgbClr val="20386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869680" y="246888"/>
            <a:ext cx="2880360" cy="356616"/>
          </a:xfrm>
          <a:prstGeom prst="rect">
            <a:avLst/>
          </a:prstGeom>
          <a:noFill/>
          <a:effectLst/>
        </p:spPr>
        <p:txBody>
          <a:bodyPr wrap="square" lIns="22860" rIns="22860" tIns="0" bIns="0">
            <a:spAutoFit/>
          </a:bodyPr>
          <a:lstStyle/>
          <a:p>
            <a:pPr algn="r">
              <a:spcAft>
                <a:spcPts val="600"/>
              </a:spcAft>
              <a:defRPr sz="2100" b="1">
                <a:solidFill>
                  <a:srgbClr val="159BB6"/>
                </a:solidFill>
                <a:latin typeface="Microsoft YaHei"/>
              </a:defRPr>
            </a:pPr>
            <a:r>
              <a:t>北京工业大学</a:t>
            </a:r>
          </a:p>
        </p:txBody>
      </p:sp>
      <p:sp>
        <p:nvSpPr>
          <p:cNvPr id="4" name="TextBox 3"/>
          <p:cNvSpPr txBox="1"/>
          <p:nvPr/>
        </p:nvSpPr>
        <p:spPr>
          <a:xfrm>
            <a:off x="8686800" y="621792"/>
            <a:ext cx="3063240" cy="182880"/>
          </a:xfrm>
          <a:prstGeom prst="rect">
            <a:avLst/>
          </a:prstGeom>
          <a:noFill/>
          <a:effectLst/>
        </p:spPr>
        <p:txBody>
          <a:bodyPr wrap="square" lIns="22860" rIns="22860" tIns="0" bIns="0">
            <a:spAutoFit/>
          </a:bodyPr>
          <a:lstStyle/>
          <a:p>
            <a:pPr algn="r">
              <a:spcAft>
                <a:spcPts val="600"/>
              </a:spcAft>
              <a:defRPr sz="770" b="1">
                <a:solidFill>
                  <a:srgbClr val="159BB6"/>
                </a:solidFill>
                <a:latin typeface="Microsoft YaHei"/>
              </a:defRPr>
            </a:pPr>
            <a:r>
              <a:t>BEIJING UNIVERSITY OF TECHNOLOGY</a:t>
            </a:r>
          </a:p>
        </p:txBody>
      </p:sp>
      <p:sp>
        <p:nvSpPr>
          <p:cNvPr id="5" name="TextBox 4"/>
          <p:cNvSpPr txBox="1"/>
          <p:nvPr/>
        </p:nvSpPr>
        <p:spPr>
          <a:xfrm>
            <a:off x="594360" y="914400"/>
            <a:ext cx="11109960" cy="594360"/>
          </a:xfrm>
          <a:prstGeom prst="rect">
            <a:avLst/>
          </a:prstGeom>
          <a:noFill/>
          <a:effectLst/>
        </p:spPr>
        <p:txBody>
          <a:bodyPr wrap="square" lIns="22860" rIns="22860" tIns="0" bIns="0">
            <a:spAutoFit/>
          </a:bodyPr>
          <a:lstStyle/>
          <a:p>
            <a:pPr>
              <a:spcAft>
                <a:spcPts val="600"/>
              </a:spcAft>
              <a:defRPr sz="2600" b="1">
                <a:solidFill>
                  <a:srgbClr val="203864"/>
                </a:solidFill>
                <a:latin typeface="Microsoft YaHei"/>
              </a:defRPr>
            </a:pPr>
            <a:r>
              <a:t>PVC 的氯管理与碳骨架利用构成双重转化目标</a:t>
            </a:r>
          </a:p>
        </p:txBody>
      </p:sp>
      <p:cxnSp>
        <p:nvCxnSpPr>
          <p:cNvPr id="6" name="Connector 5"/>
          <p:cNvCxnSpPr/>
          <p:nvPr/>
        </p:nvCxnSpPr>
        <p:spPr>
          <a:xfrm>
            <a:off x="594360" y="1636776"/>
            <a:ext cx="11018520" cy="0"/>
          </a:xfrm>
          <a:prstGeom prst="line">
            <a:avLst/>
          </a:prstGeom>
          <a:ln w="25400">
            <a:solidFill>
              <a:srgbClr val="203864"/>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40080" y="1773936"/>
            <a:ext cx="10972800" cy="393192"/>
          </a:xfrm>
          <a:prstGeom prst="rect">
            <a:avLst/>
          </a:prstGeom>
          <a:noFill/>
          <a:effectLst/>
        </p:spPr>
        <p:txBody>
          <a:bodyPr wrap="square" lIns="22860" rIns="22860" tIns="0" bIns="0">
            <a:spAutoFit/>
          </a:bodyPr>
          <a:lstStyle/>
          <a:p>
            <a:pPr>
              <a:spcAft>
                <a:spcPts val="600"/>
              </a:spcAft>
              <a:defRPr sz="1300" b="0">
                <a:solidFill>
                  <a:srgbClr val="566273"/>
                </a:solidFill>
                <a:latin typeface="Microsoft YaHei"/>
              </a:defRPr>
            </a:pPr>
            <a:r>
              <a:t>PVC 是应用广泛的含氯通用塑料；温和光化学转化需要同时评价脱氯与碳链变化</a:t>
            </a:r>
          </a:p>
        </p:txBody>
      </p:sp>
      <p:cxnSp>
        <p:nvCxnSpPr>
          <p:cNvPr id="8" name="Connector 7"/>
          <p:cNvCxnSpPr/>
          <p:nvPr/>
        </p:nvCxnSpPr>
        <p:spPr>
          <a:xfrm>
            <a:off x="594360" y="6446520"/>
            <a:ext cx="11018520" cy="0"/>
          </a:xfrm>
          <a:prstGeom prst="line">
            <a:avLst/>
          </a:prstGeom>
          <a:ln w="10160">
            <a:solidFill>
              <a:srgbClr val="CED7E3"/>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94360" y="6547104"/>
            <a:ext cx="10469880" cy="182880"/>
          </a:xfrm>
          <a:prstGeom prst="rect">
            <a:avLst/>
          </a:prstGeom>
          <a:noFill/>
          <a:effectLst/>
        </p:spPr>
        <p:txBody>
          <a:bodyPr wrap="square" lIns="22860" rIns="22860" tIns="0" bIns="0">
            <a:spAutoFit/>
          </a:bodyPr>
          <a:lstStyle/>
          <a:p>
            <a:pPr>
              <a:spcAft>
                <a:spcPts val="600"/>
              </a:spcAft>
              <a:defRPr sz="800" b="0">
                <a:solidFill>
                  <a:srgbClr val="566273"/>
                </a:solidFill>
                <a:latin typeface="Arial"/>
              </a:defRPr>
            </a:pPr>
            <a:r>
              <a:t>Xu et al., Nat. Rev. Methods Primers 2023, 3, 44.</a:t>
            </a:r>
          </a:p>
        </p:txBody>
      </p:sp>
      <p:sp>
        <p:nvSpPr>
          <p:cNvPr id="10" name="TextBox 9"/>
          <p:cNvSpPr txBox="1"/>
          <p:nvPr/>
        </p:nvSpPr>
        <p:spPr>
          <a:xfrm>
            <a:off x="11137392" y="6510528"/>
            <a:ext cx="438912" cy="237744"/>
          </a:xfrm>
          <a:prstGeom prst="rect">
            <a:avLst/>
          </a:prstGeom>
          <a:noFill/>
          <a:effectLst/>
        </p:spPr>
        <p:txBody>
          <a:bodyPr wrap="square" lIns="22860" rIns="22860" tIns="0" bIns="0">
            <a:spAutoFit/>
          </a:bodyPr>
          <a:lstStyle/>
          <a:p>
            <a:pPr algn="r">
              <a:spcAft>
                <a:spcPts val="600"/>
              </a:spcAft>
              <a:defRPr sz="1100" b="1">
                <a:solidFill>
                  <a:srgbClr val="203864"/>
                </a:solidFill>
                <a:latin typeface="Microsoft YaHei"/>
              </a:defRPr>
            </a:pPr>
            <a:r>
              <a:t>3</a:t>
            </a:r>
          </a:p>
        </p:txBody>
      </p:sp>
      <p:sp>
        <p:nvSpPr>
          <p:cNvPr id="11" name="Freeform 10"/>
          <p:cNvSpPr/>
          <p:nvPr/>
        </p:nvSpPr>
        <p:spPr>
          <a:xfrm>
            <a:off x="960120" y="2679192"/>
            <a:ext cx="3840480" cy="201168"/>
          </a:xfrm>
          <a:custGeom>
            <a:avLst/>
            <a:gdLst/>
            <a:ahLst/>
            <a:cxnLst/>
            <a:rect l="l" t="t" r="r" b="b"/>
            <a:pathLst>
              <a:path w="3840480" h="201168">
                <a:moveTo>
                  <a:pt x="0" y="0"/>
                </a:moveTo>
                <a:lnTo>
                  <a:pt x="548640" y="201168"/>
                </a:lnTo>
                <a:lnTo>
                  <a:pt x="1097280" y="0"/>
                </a:lnTo>
                <a:lnTo>
                  <a:pt x="1645919" y="201168"/>
                </a:lnTo>
                <a:lnTo>
                  <a:pt x="2194560" y="0"/>
                </a:lnTo>
                <a:lnTo>
                  <a:pt x="2743200" y="201168"/>
                </a:lnTo>
                <a:lnTo>
                  <a:pt x="3291839" y="0"/>
                </a:lnTo>
                <a:lnTo>
                  <a:pt x="3840480" y="201168"/>
                </a:lnTo>
              </a:path>
            </a:pathLst>
          </a:custGeom>
          <a:noFill/>
          <a:ln w="2286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1508760" y="2880360"/>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1380743" y="3282696"/>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14" name="Connector 13"/>
          <p:cNvCxnSpPr/>
          <p:nvPr/>
        </p:nvCxnSpPr>
        <p:spPr>
          <a:xfrm>
            <a:off x="2606039" y="2880360"/>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2478023" y="3282696"/>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16" name="Connector 15"/>
          <p:cNvCxnSpPr/>
          <p:nvPr/>
        </p:nvCxnSpPr>
        <p:spPr>
          <a:xfrm>
            <a:off x="3703320" y="2880360"/>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7" name="TextBox 16"/>
          <p:cNvSpPr txBox="1"/>
          <p:nvPr/>
        </p:nvSpPr>
        <p:spPr>
          <a:xfrm>
            <a:off x="3575303" y="3282696"/>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sp>
        <p:nvSpPr>
          <p:cNvPr id="18" name="TextBox 17"/>
          <p:cNvSpPr txBox="1"/>
          <p:nvPr/>
        </p:nvSpPr>
        <p:spPr>
          <a:xfrm>
            <a:off x="713232" y="2651760"/>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19" name="TextBox 18"/>
          <p:cNvSpPr txBox="1"/>
          <p:nvPr/>
        </p:nvSpPr>
        <p:spPr>
          <a:xfrm>
            <a:off x="4846320" y="2852928"/>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20" name="TextBox 19"/>
          <p:cNvSpPr txBox="1"/>
          <p:nvPr/>
        </p:nvSpPr>
        <p:spPr>
          <a:xfrm>
            <a:off x="914400" y="3886200"/>
            <a:ext cx="4663440" cy="384048"/>
          </a:xfrm>
          <a:prstGeom prst="rect">
            <a:avLst/>
          </a:prstGeom>
          <a:noFill/>
          <a:effectLst/>
        </p:spPr>
        <p:txBody>
          <a:bodyPr wrap="square" lIns="22860" rIns="22860" tIns="0" bIns="0">
            <a:spAutoFit/>
          </a:bodyPr>
          <a:lstStyle/>
          <a:p>
            <a:pPr>
              <a:spcAft>
                <a:spcPts val="600"/>
              </a:spcAft>
              <a:defRPr sz="2400" b="1">
                <a:solidFill>
                  <a:srgbClr val="111111"/>
                </a:solidFill>
                <a:latin typeface="Microsoft YaHei"/>
              </a:defRPr>
            </a:pPr>
            <a:r>
              <a:t>[–CH₂–CH(Cl)–]ₙ</a:t>
            </a:r>
          </a:p>
        </p:txBody>
      </p:sp>
      <p:cxnSp>
        <p:nvCxnSpPr>
          <p:cNvPr id="21" name="Connector 20"/>
          <p:cNvCxnSpPr/>
          <p:nvPr/>
        </p:nvCxnSpPr>
        <p:spPr>
          <a:xfrm>
            <a:off x="6492240" y="2532888"/>
            <a:ext cx="0" cy="539496"/>
          </a:xfrm>
          <a:prstGeom prst="line">
            <a:avLst/>
          </a:prstGeom>
          <a:ln w="33020">
            <a:solidFill>
              <a:srgbClr val="203864"/>
            </a:solidFill>
          </a:ln>
          <a:effectLst/>
        </p:spPr>
        <p:style>
          <a:lnRef idx="2">
            <a:schemeClr val="accent1"/>
          </a:lnRef>
          <a:fillRef idx="0">
            <a:schemeClr val="accent1"/>
          </a:fillRef>
          <a:effectRef idx="0">
            <a:schemeClr val="accent1"/>
          </a:effectRef>
          <a:fontRef idx="minor">
            <a:schemeClr val="tx1"/>
          </a:fontRef>
        </p:style>
      </p:cxnSp>
      <p:sp>
        <p:nvSpPr>
          <p:cNvPr id="22" name="TextBox 21"/>
          <p:cNvSpPr txBox="1"/>
          <p:nvPr/>
        </p:nvSpPr>
        <p:spPr>
          <a:xfrm>
            <a:off x="6656831" y="2514600"/>
            <a:ext cx="4636008" cy="320040"/>
          </a:xfrm>
          <a:prstGeom prst="rect">
            <a:avLst/>
          </a:prstGeom>
          <a:noFill/>
          <a:effectLst/>
        </p:spPr>
        <p:txBody>
          <a:bodyPr wrap="square" lIns="22860" rIns="22860" tIns="0" bIns="0">
            <a:spAutoFit/>
          </a:bodyPr>
          <a:lstStyle/>
          <a:p>
            <a:pPr>
              <a:spcAft>
                <a:spcPts val="600"/>
              </a:spcAft>
              <a:defRPr sz="1800" b="1">
                <a:solidFill>
                  <a:srgbClr val="203864"/>
                </a:solidFill>
                <a:latin typeface="Microsoft YaHei"/>
              </a:defRPr>
            </a:pPr>
            <a:r>
              <a:t>传统处理面临氯相关挑战</a:t>
            </a:r>
          </a:p>
        </p:txBody>
      </p:sp>
      <p:sp>
        <p:nvSpPr>
          <p:cNvPr id="23" name="TextBox 22"/>
          <p:cNvSpPr txBox="1"/>
          <p:nvPr/>
        </p:nvSpPr>
        <p:spPr>
          <a:xfrm>
            <a:off x="6656831" y="2916936"/>
            <a:ext cx="4636008" cy="594360"/>
          </a:xfrm>
          <a:prstGeom prst="rect">
            <a:avLst/>
          </a:prstGeom>
          <a:noFill/>
          <a:effectLst/>
        </p:spPr>
        <p:txBody>
          <a:bodyPr wrap="square" lIns="22860" rIns="22860" tIns="0" bIns="0">
            <a:spAutoFit/>
          </a:bodyPr>
          <a:lstStyle/>
          <a:p>
            <a:pPr>
              <a:spcAft>
                <a:spcPts val="600"/>
              </a:spcAft>
              <a:defRPr sz="1600" b="0">
                <a:solidFill>
                  <a:srgbClr val="111111"/>
                </a:solidFill>
                <a:latin typeface="Microsoft YaHei"/>
              </a:defRPr>
            </a:pPr>
            <a:r>
              <a:t>热处理涉及 HCl 释放、脱氯与复杂副反应；</a:t>
            </a:r>
          </a:p>
          <a:p>
            <a:pPr>
              <a:spcAft>
                <a:spcPts val="600"/>
              </a:spcAft>
              <a:defRPr sz="1600" b="0">
                <a:solidFill>
                  <a:srgbClr val="111111"/>
                </a:solidFill>
                <a:latin typeface="Microsoft YaHei"/>
              </a:defRPr>
            </a:pPr>
            <a:r>
              <a:t>碳骨架价值与氯去向需要协同管理。</a:t>
            </a:r>
          </a:p>
        </p:txBody>
      </p:sp>
      <p:cxnSp>
        <p:nvCxnSpPr>
          <p:cNvPr id="24" name="Connector 23"/>
          <p:cNvCxnSpPr/>
          <p:nvPr/>
        </p:nvCxnSpPr>
        <p:spPr>
          <a:xfrm>
            <a:off x="6492240" y="3995927"/>
            <a:ext cx="0" cy="539497"/>
          </a:xfrm>
          <a:prstGeom prst="line">
            <a:avLst/>
          </a:prstGeom>
          <a:ln w="33020">
            <a:solidFill>
              <a:srgbClr val="203864"/>
            </a:solidFill>
          </a:ln>
          <a:effectLst/>
        </p:spPr>
        <p:style>
          <a:lnRef idx="2">
            <a:schemeClr val="accent1"/>
          </a:lnRef>
          <a:fillRef idx="0">
            <a:schemeClr val="accent1"/>
          </a:fillRef>
          <a:effectRef idx="0">
            <a:schemeClr val="accent1"/>
          </a:effectRef>
          <a:fontRef idx="minor">
            <a:schemeClr val="tx1"/>
          </a:fontRef>
        </p:style>
      </p:cxnSp>
      <p:sp>
        <p:nvSpPr>
          <p:cNvPr id="25" name="TextBox 24"/>
          <p:cNvSpPr txBox="1"/>
          <p:nvPr/>
        </p:nvSpPr>
        <p:spPr>
          <a:xfrm>
            <a:off x="6656831" y="3977639"/>
            <a:ext cx="4636008" cy="320040"/>
          </a:xfrm>
          <a:prstGeom prst="rect">
            <a:avLst/>
          </a:prstGeom>
          <a:noFill/>
          <a:effectLst/>
        </p:spPr>
        <p:txBody>
          <a:bodyPr wrap="square" lIns="22860" rIns="22860" tIns="0" bIns="0">
            <a:spAutoFit/>
          </a:bodyPr>
          <a:lstStyle/>
          <a:p>
            <a:pPr>
              <a:spcAft>
                <a:spcPts val="600"/>
              </a:spcAft>
              <a:defRPr sz="1800" b="1">
                <a:solidFill>
                  <a:srgbClr val="203864"/>
                </a:solidFill>
                <a:latin typeface="Microsoft YaHei"/>
              </a:defRPr>
            </a:pPr>
            <a:r>
              <a:t>光化学提供可调控的反应入口</a:t>
            </a:r>
          </a:p>
        </p:txBody>
      </p:sp>
      <p:sp>
        <p:nvSpPr>
          <p:cNvPr id="26" name="TextBox 25"/>
          <p:cNvSpPr txBox="1"/>
          <p:nvPr/>
        </p:nvSpPr>
        <p:spPr>
          <a:xfrm>
            <a:off x="6656831" y="4379976"/>
            <a:ext cx="4636008" cy="594360"/>
          </a:xfrm>
          <a:prstGeom prst="rect">
            <a:avLst/>
          </a:prstGeom>
          <a:noFill/>
          <a:effectLst/>
        </p:spPr>
        <p:txBody>
          <a:bodyPr wrap="square" lIns="22860" rIns="22860" tIns="0" bIns="0">
            <a:spAutoFit/>
          </a:bodyPr>
          <a:lstStyle/>
          <a:p>
            <a:pPr>
              <a:spcAft>
                <a:spcPts val="600"/>
              </a:spcAft>
              <a:defRPr sz="1600" b="0">
                <a:solidFill>
                  <a:srgbClr val="111111"/>
                </a:solidFill>
                <a:latin typeface="Microsoft YaHei"/>
              </a:defRPr>
            </a:pPr>
            <a:r>
              <a:t>通过吸光组分、波长和气氛调节活性过程，</a:t>
            </a:r>
          </a:p>
          <a:p>
            <a:pPr>
              <a:spcAft>
                <a:spcPts val="600"/>
              </a:spcAft>
              <a:defRPr sz="1600" b="0">
                <a:solidFill>
                  <a:srgbClr val="111111"/>
                </a:solidFill>
                <a:latin typeface="Microsoft YaHei"/>
              </a:defRPr>
            </a:pPr>
            <a:r>
              <a:t>探索较温和条件下的转化路径。</a:t>
            </a:r>
          </a:p>
        </p:txBody>
      </p:sp>
      <p:sp>
        <p:nvSpPr>
          <p:cNvPr id="27" name="TextBox 26"/>
          <p:cNvSpPr txBox="1"/>
          <p:nvPr/>
        </p:nvSpPr>
        <p:spPr>
          <a:xfrm>
            <a:off x="914400" y="4818888"/>
            <a:ext cx="4800600" cy="585216"/>
          </a:xfrm>
          <a:prstGeom prst="rect">
            <a:avLst/>
          </a:prstGeom>
          <a:noFill/>
          <a:effectLst/>
        </p:spPr>
        <p:txBody>
          <a:bodyPr wrap="square" lIns="22860" rIns="22860" tIns="0" bIns="0">
            <a:spAutoFit/>
          </a:bodyPr>
          <a:lstStyle/>
          <a:p>
            <a:pPr>
              <a:spcAft>
                <a:spcPts val="600"/>
              </a:spcAft>
              <a:defRPr sz="2100" b="1">
                <a:solidFill>
                  <a:srgbClr val="203864"/>
                </a:solidFill>
                <a:latin typeface="Microsoft YaHei"/>
              </a:defRPr>
            </a:pPr>
            <a:r>
              <a:t>脱氯 ≠ C–C 断链 ≠ 资源化利用</a:t>
            </a:r>
          </a:p>
        </p:txBody>
      </p:sp>
      <p:sp>
        <p:nvSpPr>
          <p:cNvPr id="28" name="Rectangle 27"/>
          <p:cNvSpPr/>
          <p:nvPr/>
        </p:nvSpPr>
        <p:spPr>
          <a:xfrm>
            <a:off x="594360" y="5907024"/>
            <a:ext cx="11018520" cy="411480"/>
          </a:xfrm>
          <a:prstGeom prst="rect">
            <a:avLst/>
          </a:prstGeom>
          <a:solidFill>
            <a:srgbClr val="EEF3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77240" y="5980176"/>
            <a:ext cx="10652760" cy="265176"/>
          </a:xfrm>
          <a:prstGeom prst="rect">
            <a:avLst/>
          </a:prstGeom>
          <a:noFill/>
          <a:effectLst/>
        </p:spPr>
        <p:txBody>
          <a:bodyPr wrap="square" lIns="22860" rIns="22860" tIns="0" bIns="0">
            <a:spAutoFit/>
          </a:bodyPr>
          <a:lstStyle/>
          <a:p>
            <a:pPr>
              <a:spcAft>
                <a:spcPts val="600"/>
              </a:spcAft>
              <a:defRPr sz="1600" b="1">
                <a:solidFill>
                  <a:srgbClr val="203864"/>
                </a:solidFill>
                <a:latin typeface="Microsoft YaHei"/>
              </a:defRPr>
            </a:pPr>
            <a:r>
              <a:t>本课题关注的不是单纯材料消失，而是可解释、可追踪的氯与碳转化。</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384048" y="329184"/>
            <a:ext cx="50292" cy="320040"/>
          </a:xfrm>
          <a:prstGeom prst="rect">
            <a:avLst/>
          </a:prstGeom>
          <a:solidFill>
            <a:srgbClr val="20386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869680" y="246888"/>
            <a:ext cx="2880360" cy="356616"/>
          </a:xfrm>
          <a:prstGeom prst="rect">
            <a:avLst/>
          </a:prstGeom>
          <a:noFill/>
          <a:effectLst/>
        </p:spPr>
        <p:txBody>
          <a:bodyPr wrap="square" lIns="22860" rIns="22860" tIns="0" bIns="0">
            <a:spAutoFit/>
          </a:bodyPr>
          <a:lstStyle/>
          <a:p>
            <a:pPr algn="r">
              <a:spcAft>
                <a:spcPts val="600"/>
              </a:spcAft>
              <a:defRPr sz="2100" b="1">
                <a:solidFill>
                  <a:srgbClr val="159BB6"/>
                </a:solidFill>
                <a:latin typeface="Microsoft YaHei"/>
              </a:defRPr>
            </a:pPr>
            <a:r>
              <a:t>北京工业大学</a:t>
            </a:r>
          </a:p>
        </p:txBody>
      </p:sp>
      <p:sp>
        <p:nvSpPr>
          <p:cNvPr id="4" name="TextBox 3"/>
          <p:cNvSpPr txBox="1"/>
          <p:nvPr/>
        </p:nvSpPr>
        <p:spPr>
          <a:xfrm>
            <a:off x="8686800" y="621792"/>
            <a:ext cx="3063240" cy="182880"/>
          </a:xfrm>
          <a:prstGeom prst="rect">
            <a:avLst/>
          </a:prstGeom>
          <a:noFill/>
          <a:effectLst/>
        </p:spPr>
        <p:txBody>
          <a:bodyPr wrap="square" lIns="22860" rIns="22860" tIns="0" bIns="0">
            <a:spAutoFit/>
          </a:bodyPr>
          <a:lstStyle/>
          <a:p>
            <a:pPr algn="r">
              <a:spcAft>
                <a:spcPts val="600"/>
              </a:spcAft>
              <a:defRPr sz="770" b="1">
                <a:solidFill>
                  <a:srgbClr val="159BB6"/>
                </a:solidFill>
                <a:latin typeface="Microsoft YaHei"/>
              </a:defRPr>
            </a:pPr>
            <a:r>
              <a:t>BEIJING UNIVERSITY OF TECHNOLOGY</a:t>
            </a:r>
          </a:p>
        </p:txBody>
      </p:sp>
      <p:sp>
        <p:nvSpPr>
          <p:cNvPr id="5" name="TextBox 4"/>
          <p:cNvSpPr txBox="1"/>
          <p:nvPr/>
        </p:nvSpPr>
        <p:spPr>
          <a:xfrm>
            <a:off x="594360" y="914400"/>
            <a:ext cx="11109960" cy="594360"/>
          </a:xfrm>
          <a:prstGeom prst="rect">
            <a:avLst/>
          </a:prstGeom>
          <a:noFill/>
          <a:effectLst/>
        </p:spPr>
        <p:txBody>
          <a:bodyPr wrap="square" lIns="22860" rIns="22860" tIns="0" bIns="0">
            <a:spAutoFit/>
          </a:bodyPr>
          <a:lstStyle/>
          <a:p>
            <a:pPr>
              <a:spcAft>
                <a:spcPts val="600"/>
              </a:spcAft>
              <a:defRPr sz="2600" b="1">
                <a:solidFill>
                  <a:srgbClr val="203864"/>
                </a:solidFill>
                <a:latin typeface="Microsoft YaHei"/>
              </a:defRPr>
            </a:pPr>
            <a:r>
              <a:t>C–Cl 转化与主链断裂属于不同层次的化学变化</a:t>
            </a:r>
          </a:p>
        </p:txBody>
      </p:sp>
      <p:cxnSp>
        <p:nvCxnSpPr>
          <p:cNvPr id="6" name="Connector 5"/>
          <p:cNvCxnSpPr/>
          <p:nvPr/>
        </p:nvCxnSpPr>
        <p:spPr>
          <a:xfrm>
            <a:off x="594360" y="1636776"/>
            <a:ext cx="11018520" cy="0"/>
          </a:xfrm>
          <a:prstGeom prst="line">
            <a:avLst/>
          </a:prstGeom>
          <a:ln w="25400">
            <a:solidFill>
              <a:srgbClr val="203864"/>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40080" y="1773936"/>
            <a:ext cx="10972800" cy="393192"/>
          </a:xfrm>
          <a:prstGeom prst="rect">
            <a:avLst/>
          </a:prstGeom>
          <a:noFill/>
          <a:effectLst/>
        </p:spPr>
        <p:txBody>
          <a:bodyPr wrap="square" lIns="22860" rIns="22860" tIns="0" bIns="0">
            <a:spAutoFit/>
          </a:bodyPr>
          <a:lstStyle/>
          <a:p>
            <a:pPr>
              <a:spcAft>
                <a:spcPts val="600"/>
              </a:spcAft>
              <a:defRPr sz="1300" b="0">
                <a:solidFill>
                  <a:srgbClr val="566273"/>
                </a:solidFill>
                <a:latin typeface="Microsoft YaHei"/>
              </a:defRPr>
            </a:pPr>
            <a:r>
              <a:t>启动反应只是第一步；氧化、脱氯、交联与链裂解可能竞争发生</a:t>
            </a:r>
          </a:p>
        </p:txBody>
      </p:sp>
      <p:cxnSp>
        <p:nvCxnSpPr>
          <p:cNvPr id="8" name="Connector 7"/>
          <p:cNvCxnSpPr/>
          <p:nvPr/>
        </p:nvCxnSpPr>
        <p:spPr>
          <a:xfrm>
            <a:off x="594360" y="6446520"/>
            <a:ext cx="11018520" cy="0"/>
          </a:xfrm>
          <a:prstGeom prst="line">
            <a:avLst/>
          </a:prstGeom>
          <a:ln w="10160">
            <a:solidFill>
              <a:srgbClr val="CED7E3"/>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94360" y="6547104"/>
            <a:ext cx="10469880" cy="182880"/>
          </a:xfrm>
          <a:prstGeom prst="rect">
            <a:avLst/>
          </a:prstGeom>
          <a:noFill/>
          <a:effectLst/>
        </p:spPr>
        <p:txBody>
          <a:bodyPr wrap="square" lIns="22860" rIns="22860" tIns="0" bIns="0">
            <a:spAutoFit/>
          </a:bodyPr>
          <a:lstStyle/>
          <a:p>
            <a:pPr>
              <a:spcAft>
                <a:spcPts val="600"/>
              </a:spcAft>
              <a:defRPr sz="800" b="0">
                <a:solidFill>
                  <a:srgbClr val="566273"/>
                </a:solidFill>
                <a:latin typeface="Arial"/>
              </a:defRPr>
            </a:pPr>
            <a:r>
              <a:t>Xu et al., Nat. Rev. Methods Primers 2023, 3, 44. Huang &amp; Wang, J. Polym. Sci. 2024, 62, 969–997.</a:t>
            </a:r>
          </a:p>
        </p:txBody>
      </p:sp>
      <p:sp>
        <p:nvSpPr>
          <p:cNvPr id="10" name="TextBox 9"/>
          <p:cNvSpPr txBox="1"/>
          <p:nvPr/>
        </p:nvSpPr>
        <p:spPr>
          <a:xfrm>
            <a:off x="11137392" y="6510528"/>
            <a:ext cx="438912" cy="237744"/>
          </a:xfrm>
          <a:prstGeom prst="rect">
            <a:avLst/>
          </a:prstGeom>
          <a:noFill/>
          <a:effectLst/>
        </p:spPr>
        <p:txBody>
          <a:bodyPr wrap="square" lIns="22860" rIns="22860" tIns="0" bIns="0">
            <a:spAutoFit/>
          </a:bodyPr>
          <a:lstStyle/>
          <a:p>
            <a:pPr algn="r">
              <a:spcAft>
                <a:spcPts val="600"/>
              </a:spcAft>
              <a:defRPr sz="1100" b="1">
                <a:solidFill>
                  <a:srgbClr val="203864"/>
                </a:solidFill>
                <a:latin typeface="Microsoft YaHei"/>
              </a:defRPr>
            </a:pPr>
            <a:r>
              <a:t>4</a:t>
            </a:r>
          </a:p>
        </p:txBody>
      </p:sp>
      <p:sp>
        <p:nvSpPr>
          <p:cNvPr id="11" name="TextBox 10"/>
          <p:cNvSpPr txBox="1"/>
          <p:nvPr/>
        </p:nvSpPr>
        <p:spPr>
          <a:xfrm>
            <a:off x="868680" y="2496312"/>
            <a:ext cx="4892040" cy="411480"/>
          </a:xfrm>
          <a:prstGeom prst="rect">
            <a:avLst/>
          </a:prstGeom>
          <a:noFill/>
          <a:effectLst/>
        </p:spPr>
        <p:txBody>
          <a:bodyPr wrap="square" lIns="22860" rIns="22860" tIns="0" bIns="0">
            <a:spAutoFit/>
          </a:bodyPr>
          <a:lstStyle/>
          <a:p>
            <a:pPr>
              <a:spcAft>
                <a:spcPts val="600"/>
              </a:spcAft>
              <a:defRPr sz="2400" b="1">
                <a:solidFill>
                  <a:srgbClr val="111111"/>
                </a:solidFill>
                <a:latin typeface="Microsoft YaHei"/>
              </a:defRPr>
            </a:pPr>
            <a:r>
              <a:t>…–CH₂–CH(Cl)–CH₂–CH(Cl)–…</a:t>
            </a:r>
          </a:p>
        </p:txBody>
      </p:sp>
      <p:sp>
        <p:nvSpPr>
          <p:cNvPr id="12" name="TextBox 11"/>
          <p:cNvSpPr txBox="1"/>
          <p:nvPr/>
        </p:nvSpPr>
        <p:spPr>
          <a:xfrm>
            <a:off x="868680" y="3154680"/>
            <a:ext cx="4663440" cy="594360"/>
          </a:xfrm>
          <a:prstGeom prst="rect">
            <a:avLst/>
          </a:prstGeom>
          <a:noFill/>
          <a:effectLst/>
        </p:spPr>
        <p:txBody>
          <a:bodyPr wrap="square" lIns="22860" rIns="22860" tIns="0" bIns="0">
            <a:spAutoFit/>
          </a:bodyPr>
          <a:lstStyle/>
          <a:p>
            <a:pPr>
              <a:spcAft>
                <a:spcPts val="600"/>
              </a:spcAft>
              <a:defRPr sz="2000" b="1">
                <a:solidFill>
                  <a:srgbClr val="203864"/>
                </a:solidFill>
                <a:latin typeface="Microsoft YaHei"/>
              </a:defRPr>
            </a:pPr>
            <a:r>
              <a:t>温和活化与后续自由基命运</a:t>
            </a:r>
          </a:p>
          <a:p>
            <a:pPr>
              <a:spcAft>
                <a:spcPts val="600"/>
              </a:spcAft>
              <a:defRPr sz="2000" b="1">
                <a:solidFill>
                  <a:srgbClr val="203864"/>
                </a:solidFill>
                <a:latin typeface="Microsoft YaHei"/>
              </a:defRPr>
            </a:pPr>
            <a:r>
              <a:t>共同决定最终链结构</a:t>
            </a:r>
          </a:p>
        </p:txBody>
      </p:sp>
      <p:cxnSp>
        <p:nvCxnSpPr>
          <p:cNvPr id="13" name="Connector 12"/>
          <p:cNvCxnSpPr/>
          <p:nvPr/>
        </p:nvCxnSpPr>
        <p:spPr>
          <a:xfrm>
            <a:off x="5532120" y="3246120"/>
            <a:ext cx="685800" cy="0"/>
          </a:xfrm>
          <a:prstGeom prst="line">
            <a:avLst/>
          </a:prstGeom>
          <a:ln w="17780">
            <a:solidFill>
              <a:srgbClr val="203864"/>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6428232" y="2423160"/>
            <a:ext cx="1371600" cy="347472"/>
          </a:xfrm>
          <a:prstGeom prst="rect">
            <a:avLst/>
          </a:prstGeom>
          <a:noFill/>
          <a:effectLst/>
        </p:spPr>
        <p:txBody>
          <a:bodyPr wrap="square" lIns="22860" rIns="22860" tIns="0" bIns="0">
            <a:spAutoFit/>
          </a:bodyPr>
          <a:lstStyle/>
          <a:p>
            <a:pPr>
              <a:spcAft>
                <a:spcPts val="600"/>
              </a:spcAft>
              <a:defRPr sz="1800" b="1">
                <a:solidFill>
                  <a:srgbClr val="203864"/>
                </a:solidFill>
                <a:latin typeface="Microsoft YaHei"/>
              </a:defRPr>
            </a:pPr>
            <a:r>
              <a:t>脱氯化氢</a:t>
            </a:r>
          </a:p>
        </p:txBody>
      </p:sp>
      <p:sp>
        <p:nvSpPr>
          <p:cNvPr id="15" name="TextBox 14"/>
          <p:cNvSpPr txBox="1"/>
          <p:nvPr/>
        </p:nvSpPr>
        <p:spPr>
          <a:xfrm>
            <a:off x="7909560" y="2423160"/>
            <a:ext cx="3337560" cy="374904"/>
          </a:xfrm>
          <a:prstGeom prst="rect">
            <a:avLst/>
          </a:prstGeom>
          <a:noFill/>
          <a:effectLst/>
        </p:spPr>
        <p:txBody>
          <a:bodyPr wrap="square" lIns="22860" rIns="22860" tIns="0" bIns="0">
            <a:spAutoFit/>
          </a:bodyPr>
          <a:lstStyle/>
          <a:p>
            <a:pPr>
              <a:spcAft>
                <a:spcPts val="600"/>
              </a:spcAft>
              <a:defRPr sz="1700" b="1">
                <a:solidFill>
                  <a:srgbClr val="111111"/>
                </a:solidFill>
                <a:latin typeface="Microsoft YaHei"/>
              </a:defRPr>
            </a:pPr>
            <a:r>
              <a:t>…–CH=CH–… + HCl</a:t>
            </a:r>
          </a:p>
        </p:txBody>
      </p:sp>
      <p:sp>
        <p:nvSpPr>
          <p:cNvPr id="16" name="TextBox 15"/>
          <p:cNvSpPr txBox="1"/>
          <p:nvPr/>
        </p:nvSpPr>
        <p:spPr>
          <a:xfrm>
            <a:off x="7909560" y="2807208"/>
            <a:ext cx="3337560" cy="292608"/>
          </a:xfrm>
          <a:prstGeom prst="rect">
            <a:avLst/>
          </a:prstGeom>
          <a:noFill/>
          <a:effectLst/>
        </p:spPr>
        <p:txBody>
          <a:bodyPr wrap="square" lIns="22860" rIns="22860" tIns="0" bIns="0">
            <a:spAutoFit/>
          </a:bodyPr>
          <a:lstStyle/>
          <a:p>
            <a:pPr>
              <a:spcAft>
                <a:spcPts val="600"/>
              </a:spcAft>
              <a:defRPr sz="1200" b="0">
                <a:solidFill>
                  <a:srgbClr val="566273"/>
                </a:solidFill>
                <a:latin typeface="Microsoft YaHei"/>
              </a:defRPr>
            </a:pPr>
            <a:r>
              <a:t>含氯 / 不饱和结构变化</a:t>
            </a:r>
          </a:p>
        </p:txBody>
      </p:sp>
      <p:sp>
        <p:nvSpPr>
          <p:cNvPr id="17" name="TextBox 16"/>
          <p:cNvSpPr txBox="1"/>
          <p:nvPr/>
        </p:nvSpPr>
        <p:spPr>
          <a:xfrm>
            <a:off x="6428232" y="3200400"/>
            <a:ext cx="1371600" cy="347472"/>
          </a:xfrm>
          <a:prstGeom prst="rect">
            <a:avLst/>
          </a:prstGeom>
          <a:noFill/>
          <a:effectLst/>
        </p:spPr>
        <p:txBody>
          <a:bodyPr wrap="square" lIns="22860" rIns="22860" tIns="0" bIns="0">
            <a:spAutoFit/>
          </a:bodyPr>
          <a:lstStyle/>
          <a:p>
            <a:pPr>
              <a:spcAft>
                <a:spcPts val="600"/>
              </a:spcAft>
              <a:defRPr sz="1800" b="1">
                <a:solidFill>
                  <a:srgbClr val="203864"/>
                </a:solidFill>
                <a:latin typeface="Microsoft YaHei"/>
              </a:defRPr>
            </a:pPr>
            <a:r>
              <a:t>氧化</a:t>
            </a:r>
          </a:p>
        </p:txBody>
      </p:sp>
      <p:sp>
        <p:nvSpPr>
          <p:cNvPr id="18" name="TextBox 17"/>
          <p:cNvSpPr txBox="1"/>
          <p:nvPr/>
        </p:nvSpPr>
        <p:spPr>
          <a:xfrm>
            <a:off x="7909560" y="3200400"/>
            <a:ext cx="3337560" cy="374904"/>
          </a:xfrm>
          <a:prstGeom prst="rect">
            <a:avLst/>
          </a:prstGeom>
          <a:noFill/>
          <a:effectLst/>
        </p:spPr>
        <p:txBody>
          <a:bodyPr wrap="square" lIns="22860" rIns="22860" tIns="0" bIns="0">
            <a:spAutoFit/>
          </a:bodyPr>
          <a:lstStyle/>
          <a:p>
            <a:pPr>
              <a:spcAft>
                <a:spcPts val="600"/>
              </a:spcAft>
              <a:defRPr sz="1700" b="1">
                <a:solidFill>
                  <a:srgbClr val="111111"/>
                </a:solidFill>
                <a:latin typeface="Microsoft YaHei"/>
              </a:defRPr>
            </a:pPr>
            <a:r>
              <a:t>R· → ROO· → 含氧产物</a:t>
            </a:r>
          </a:p>
        </p:txBody>
      </p:sp>
      <p:sp>
        <p:nvSpPr>
          <p:cNvPr id="19" name="TextBox 18"/>
          <p:cNvSpPr txBox="1"/>
          <p:nvPr/>
        </p:nvSpPr>
        <p:spPr>
          <a:xfrm>
            <a:off x="7909560" y="3584448"/>
            <a:ext cx="3337560" cy="292608"/>
          </a:xfrm>
          <a:prstGeom prst="rect">
            <a:avLst/>
          </a:prstGeom>
          <a:noFill/>
          <a:effectLst/>
        </p:spPr>
        <p:txBody>
          <a:bodyPr wrap="square" lIns="22860" rIns="22860" tIns="0" bIns="0">
            <a:spAutoFit/>
          </a:bodyPr>
          <a:lstStyle/>
          <a:p>
            <a:pPr>
              <a:spcAft>
                <a:spcPts val="600"/>
              </a:spcAft>
              <a:defRPr sz="1200" b="0">
                <a:solidFill>
                  <a:srgbClr val="566273"/>
                </a:solidFill>
                <a:latin typeface="Microsoft YaHei"/>
              </a:defRPr>
            </a:pPr>
            <a:r>
              <a:t>氧化官能团不等于分子量降低</a:t>
            </a:r>
          </a:p>
        </p:txBody>
      </p:sp>
      <p:sp>
        <p:nvSpPr>
          <p:cNvPr id="20" name="TextBox 19"/>
          <p:cNvSpPr txBox="1"/>
          <p:nvPr/>
        </p:nvSpPr>
        <p:spPr>
          <a:xfrm>
            <a:off x="6428232" y="3977639"/>
            <a:ext cx="1371600" cy="347472"/>
          </a:xfrm>
          <a:prstGeom prst="rect">
            <a:avLst/>
          </a:prstGeom>
          <a:noFill/>
          <a:effectLst/>
        </p:spPr>
        <p:txBody>
          <a:bodyPr wrap="square" lIns="22860" rIns="22860" tIns="0" bIns="0">
            <a:spAutoFit/>
          </a:bodyPr>
          <a:lstStyle/>
          <a:p>
            <a:pPr>
              <a:spcAft>
                <a:spcPts val="600"/>
              </a:spcAft>
              <a:defRPr sz="1800" b="1">
                <a:solidFill>
                  <a:srgbClr val="203864"/>
                </a:solidFill>
                <a:latin typeface="Microsoft YaHei"/>
              </a:defRPr>
            </a:pPr>
            <a:r>
              <a:t>交联</a:t>
            </a:r>
          </a:p>
        </p:txBody>
      </p:sp>
      <p:sp>
        <p:nvSpPr>
          <p:cNvPr id="21" name="TextBox 20"/>
          <p:cNvSpPr txBox="1"/>
          <p:nvPr/>
        </p:nvSpPr>
        <p:spPr>
          <a:xfrm>
            <a:off x="7909560" y="3977639"/>
            <a:ext cx="3337560" cy="374904"/>
          </a:xfrm>
          <a:prstGeom prst="rect">
            <a:avLst/>
          </a:prstGeom>
          <a:noFill/>
          <a:effectLst/>
        </p:spPr>
        <p:txBody>
          <a:bodyPr wrap="square" lIns="22860" rIns="22860" tIns="0" bIns="0">
            <a:spAutoFit/>
          </a:bodyPr>
          <a:lstStyle/>
          <a:p>
            <a:pPr>
              <a:spcAft>
                <a:spcPts val="600"/>
              </a:spcAft>
              <a:defRPr sz="1700" b="1">
                <a:solidFill>
                  <a:srgbClr val="111111"/>
                </a:solidFill>
                <a:latin typeface="Microsoft YaHei"/>
              </a:defRPr>
            </a:pPr>
            <a:r>
              <a:t>R· + ·R → R–R</a:t>
            </a:r>
          </a:p>
        </p:txBody>
      </p:sp>
      <p:sp>
        <p:nvSpPr>
          <p:cNvPr id="22" name="TextBox 21"/>
          <p:cNvSpPr txBox="1"/>
          <p:nvPr/>
        </p:nvSpPr>
        <p:spPr>
          <a:xfrm>
            <a:off x="7909560" y="4361688"/>
            <a:ext cx="3337560" cy="292608"/>
          </a:xfrm>
          <a:prstGeom prst="rect">
            <a:avLst/>
          </a:prstGeom>
          <a:noFill/>
          <a:effectLst/>
        </p:spPr>
        <p:txBody>
          <a:bodyPr wrap="square" lIns="22860" rIns="22860" tIns="0" bIns="0">
            <a:spAutoFit/>
          </a:bodyPr>
          <a:lstStyle/>
          <a:p>
            <a:pPr>
              <a:spcAft>
                <a:spcPts val="600"/>
              </a:spcAft>
              <a:defRPr sz="1200" b="0">
                <a:solidFill>
                  <a:srgbClr val="566273"/>
                </a:solidFill>
                <a:latin typeface="Microsoft YaHei"/>
              </a:defRPr>
            </a:pPr>
            <a:r>
              <a:t>可能形成凝胶或不溶组分</a:t>
            </a:r>
          </a:p>
        </p:txBody>
      </p:sp>
      <p:sp>
        <p:nvSpPr>
          <p:cNvPr id="23" name="TextBox 22"/>
          <p:cNvSpPr txBox="1"/>
          <p:nvPr/>
        </p:nvSpPr>
        <p:spPr>
          <a:xfrm>
            <a:off x="6428232" y="4754879"/>
            <a:ext cx="1371600" cy="347472"/>
          </a:xfrm>
          <a:prstGeom prst="rect">
            <a:avLst/>
          </a:prstGeom>
          <a:noFill/>
          <a:effectLst/>
        </p:spPr>
        <p:txBody>
          <a:bodyPr wrap="square" lIns="22860" rIns="22860" tIns="0" bIns="0">
            <a:spAutoFit/>
          </a:bodyPr>
          <a:lstStyle/>
          <a:p>
            <a:pPr>
              <a:spcAft>
                <a:spcPts val="600"/>
              </a:spcAft>
              <a:defRPr sz="1800" b="1">
                <a:solidFill>
                  <a:srgbClr val="203864"/>
                </a:solidFill>
                <a:latin typeface="Microsoft YaHei"/>
              </a:defRPr>
            </a:pPr>
            <a:r>
              <a:t>链裂解</a:t>
            </a:r>
          </a:p>
        </p:txBody>
      </p:sp>
      <p:sp>
        <p:nvSpPr>
          <p:cNvPr id="24" name="TextBox 23"/>
          <p:cNvSpPr txBox="1"/>
          <p:nvPr/>
        </p:nvSpPr>
        <p:spPr>
          <a:xfrm>
            <a:off x="7909560" y="4754879"/>
            <a:ext cx="3337560" cy="374904"/>
          </a:xfrm>
          <a:prstGeom prst="rect">
            <a:avLst/>
          </a:prstGeom>
          <a:noFill/>
          <a:effectLst/>
        </p:spPr>
        <p:txBody>
          <a:bodyPr wrap="square" lIns="22860" rIns="22860" tIns="0" bIns="0">
            <a:spAutoFit/>
          </a:bodyPr>
          <a:lstStyle/>
          <a:p>
            <a:pPr>
              <a:spcAft>
                <a:spcPts val="600"/>
              </a:spcAft>
              <a:defRPr sz="1700" b="1">
                <a:solidFill>
                  <a:srgbClr val="111111"/>
                </a:solidFill>
                <a:latin typeface="Microsoft YaHei"/>
              </a:defRPr>
            </a:pPr>
            <a:r>
              <a:t>长链 → 低聚物 / 小分子</a:t>
            </a:r>
          </a:p>
        </p:txBody>
      </p:sp>
      <p:sp>
        <p:nvSpPr>
          <p:cNvPr id="25" name="TextBox 24"/>
          <p:cNvSpPr txBox="1"/>
          <p:nvPr/>
        </p:nvSpPr>
        <p:spPr>
          <a:xfrm>
            <a:off x="7909560" y="5138927"/>
            <a:ext cx="3337560" cy="292608"/>
          </a:xfrm>
          <a:prstGeom prst="rect">
            <a:avLst/>
          </a:prstGeom>
          <a:noFill/>
          <a:effectLst/>
        </p:spPr>
        <p:txBody>
          <a:bodyPr wrap="square" lIns="22860" rIns="22860" tIns="0" bIns="0">
            <a:spAutoFit/>
          </a:bodyPr>
          <a:lstStyle/>
          <a:p>
            <a:pPr>
              <a:spcAft>
                <a:spcPts val="600"/>
              </a:spcAft>
              <a:defRPr sz="1200" b="0">
                <a:solidFill>
                  <a:srgbClr val="566273"/>
                </a:solidFill>
                <a:latin typeface="Microsoft YaHei"/>
              </a:defRPr>
            </a:pPr>
            <a:r>
              <a:t>需 SEC/GPC 与产物证据</a:t>
            </a:r>
          </a:p>
        </p:txBody>
      </p:sp>
      <p:sp>
        <p:nvSpPr>
          <p:cNvPr id="26" name="TextBox 25"/>
          <p:cNvSpPr txBox="1"/>
          <p:nvPr/>
        </p:nvSpPr>
        <p:spPr>
          <a:xfrm>
            <a:off x="868680" y="4782312"/>
            <a:ext cx="4800600" cy="676656"/>
          </a:xfrm>
          <a:prstGeom prst="rect">
            <a:avLst/>
          </a:prstGeom>
          <a:noFill/>
          <a:effectLst/>
        </p:spPr>
        <p:txBody>
          <a:bodyPr wrap="square" lIns="22860" rIns="22860" tIns="0" bIns="0">
            <a:spAutoFit/>
          </a:bodyPr>
          <a:lstStyle/>
          <a:p>
            <a:pPr>
              <a:spcAft>
                <a:spcPts val="600"/>
              </a:spcAft>
              <a:defRPr sz="1900" b="1">
                <a:solidFill>
                  <a:srgbClr val="111111"/>
                </a:solidFill>
                <a:latin typeface="Microsoft YaHei"/>
              </a:defRPr>
            </a:pPr>
            <a:r>
              <a:t>评价组合：</a:t>
            </a:r>
          </a:p>
          <a:p>
            <a:pPr>
              <a:spcAft>
                <a:spcPts val="600"/>
              </a:spcAft>
              <a:defRPr sz="1900" b="1">
                <a:solidFill>
                  <a:srgbClr val="111111"/>
                </a:solidFill>
                <a:latin typeface="Microsoft YaHei"/>
              </a:defRPr>
            </a:pPr>
            <a:r>
              <a:t>氯平衡 + 链长 + 凝胶分数 + 产物</a:t>
            </a:r>
          </a:p>
        </p:txBody>
      </p:sp>
      <p:sp>
        <p:nvSpPr>
          <p:cNvPr id="27" name="Rectangle 26"/>
          <p:cNvSpPr/>
          <p:nvPr/>
        </p:nvSpPr>
        <p:spPr>
          <a:xfrm>
            <a:off x="594360" y="5907024"/>
            <a:ext cx="11018520" cy="411480"/>
          </a:xfrm>
          <a:prstGeom prst="rect">
            <a:avLst/>
          </a:prstGeom>
          <a:solidFill>
            <a:srgbClr val="EEF3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777240" y="5980176"/>
            <a:ext cx="10652760" cy="265176"/>
          </a:xfrm>
          <a:prstGeom prst="rect">
            <a:avLst/>
          </a:prstGeom>
          <a:noFill/>
          <a:effectLst/>
        </p:spPr>
        <p:txBody>
          <a:bodyPr wrap="square" lIns="22860" rIns="22860" tIns="0" bIns="0">
            <a:spAutoFit/>
          </a:bodyPr>
          <a:lstStyle/>
          <a:p>
            <a:pPr>
              <a:spcAft>
                <a:spcPts val="600"/>
              </a:spcAft>
              <a:defRPr sz="1600" b="1">
                <a:solidFill>
                  <a:srgbClr val="203864"/>
                </a:solidFill>
                <a:latin typeface="Microsoft YaHei"/>
              </a:defRPr>
            </a:pPr>
            <a:r>
              <a:t>需要同时调控自由基生成与后续反应，并以聚合物测量确认真实链断裂。</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384048" y="329184"/>
            <a:ext cx="50292" cy="320040"/>
          </a:xfrm>
          <a:prstGeom prst="rect">
            <a:avLst/>
          </a:prstGeom>
          <a:solidFill>
            <a:srgbClr val="20386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869680" y="246888"/>
            <a:ext cx="2880360" cy="356616"/>
          </a:xfrm>
          <a:prstGeom prst="rect">
            <a:avLst/>
          </a:prstGeom>
          <a:noFill/>
          <a:effectLst/>
        </p:spPr>
        <p:txBody>
          <a:bodyPr wrap="square" lIns="22860" rIns="22860" tIns="0" bIns="0">
            <a:spAutoFit/>
          </a:bodyPr>
          <a:lstStyle/>
          <a:p>
            <a:pPr algn="r">
              <a:spcAft>
                <a:spcPts val="600"/>
              </a:spcAft>
              <a:defRPr sz="2100" b="1">
                <a:solidFill>
                  <a:srgbClr val="159BB6"/>
                </a:solidFill>
                <a:latin typeface="Microsoft YaHei"/>
              </a:defRPr>
            </a:pPr>
            <a:r>
              <a:t>北京工业大学</a:t>
            </a:r>
          </a:p>
        </p:txBody>
      </p:sp>
      <p:sp>
        <p:nvSpPr>
          <p:cNvPr id="4" name="TextBox 3"/>
          <p:cNvSpPr txBox="1"/>
          <p:nvPr/>
        </p:nvSpPr>
        <p:spPr>
          <a:xfrm>
            <a:off x="8686800" y="621792"/>
            <a:ext cx="3063240" cy="182880"/>
          </a:xfrm>
          <a:prstGeom prst="rect">
            <a:avLst/>
          </a:prstGeom>
          <a:noFill/>
          <a:effectLst/>
        </p:spPr>
        <p:txBody>
          <a:bodyPr wrap="square" lIns="22860" rIns="22860" tIns="0" bIns="0">
            <a:spAutoFit/>
          </a:bodyPr>
          <a:lstStyle/>
          <a:p>
            <a:pPr algn="r">
              <a:spcAft>
                <a:spcPts val="600"/>
              </a:spcAft>
              <a:defRPr sz="770" b="1">
                <a:solidFill>
                  <a:srgbClr val="159BB6"/>
                </a:solidFill>
                <a:latin typeface="Microsoft YaHei"/>
              </a:defRPr>
            </a:pPr>
            <a:r>
              <a:t>BEIJING UNIVERSITY OF TECHNOLOGY</a:t>
            </a:r>
          </a:p>
        </p:txBody>
      </p:sp>
      <p:sp>
        <p:nvSpPr>
          <p:cNvPr id="5" name="TextBox 4"/>
          <p:cNvSpPr txBox="1"/>
          <p:nvPr/>
        </p:nvSpPr>
        <p:spPr>
          <a:xfrm>
            <a:off x="594360" y="914400"/>
            <a:ext cx="11109960" cy="594360"/>
          </a:xfrm>
          <a:prstGeom prst="rect">
            <a:avLst/>
          </a:prstGeom>
          <a:noFill/>
          <a:effectLst/>
        </p:spPr>
        <p:txBody>
          <a:bodyPr wrap="square" lIns="22860" rIns="22860" tIns="0" bIns="0">
            <a:spAutoFit/>
          </a:bodyPr>
          <a:lstStyle/>
          <a:p>
            <a:pPr>
              <a:spcAft>
                <a:spcPts val="600"/>
              </a:spcAft>
              <a:defRPr sz="2600" b="1">
                <a:solidFill>
                  <a:srgbClr val="203864"/>
                </a:solidFill>
                <a:latin typeface="Microsoft YaHei"/>
              </a:defRPr>
            </a:pPr>
            <a:r>
              <a:t>PVC 光老化的产物证据支持自由基氧化反应网络</a:t>
            </a:r>
          </a:p>
        </p:txBody>
      </p:sp>
      <p:cxnSp>
        <p:nvCxnSpPr>
          <p:cNvPr id="6" name="Connector 5"/>
          <p:cNvCxnSpPr/>
          <p:nvPr/>
        </p:nvCxnSpPr>
        <p:spPr>
          <a:xfrm>
            <a:off x="594360" y="1636776"/>
            <a:ext cx="11018520" cy="0"/>
          </a:xfrm>
          <a:prstGeom prst="line">
            <a:avLst/>
          </a:prstGeom>
          <a:ln w="25400">
            <a:solidFill>
              <a:srgbClr val="203864"/>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40080" y="1773936"/>
            <a:ext cx="10972800" cy="393192"/>
          </a:xfrm>
          <a:prstGeom prst="rect">
            <a:avLst/>
          </a:prstGeom>
          <a:noFill/>
          <a:effectLst/>
        </p:spPr>
        <p:txBody>
          <a:bodyPr wrap="square" lIns="22860" rIns="22860" tIns="0" bIns="0">
            <a:spAutoFit/>
          </a:bodyPr>
          <a:lstStyle/>
          <a:p>
            <a:pPr>
              <a:spcAft>
                <a:spcPts val="600"/>
              </a:spcAft>
              <a:defRPr sz="1300" b="0">
                <a:solidFill>
                  <a:srgbClr val="566273"/>
                </a:solidFill>
                <a:latin typeface="Microsoft YaHei"/>
              </a:defRPr>
            </a:pPr>
            <a:r>
              <a:t>Gardette：空气中、&gt;300 nm、60 ℃；结构鉴别与化学处理约束所提出的机制</a:t>
            </a:r>
          </a:p>
        </p:txBody>
      </p:sp>
      <p:cxnSp>
        <p:nvCxnSpPr>
          <p:cNvPr id="8" name="Connector 7"/>
          <p:cNvCxnSpPr/>
          <p:nvPr/>
        </p:nvCxnSpPr>
        <p:spPr>
          <a:xfrm>
            <a:off x="594360" y="6446520"/>
            <a:ext cx="11018520" cy="0"/>
          </a:xfrm>
          <a:prstGeom prst="line">
            <a:avLst/>
          </a:prstGeom>
          <a:ln w="10160">
            <a:solidFill>
              <a:srgbClr val="CED7E3"/>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94360" y="6547104"/>
            <a:ext cx="10469880" cy="182880"/>
          </a:xfrm>
          <a:prstGeom prst="rect">
            <a:avLst/>
          </a:prstGeom>
          <a:noFill/>
          <a:effectLst/>
        </p:spPr>
        <p:txBody>
          <a:bodyPr wrap="square" lIns="22860" rIns="22860" tIns="0" bIns="0">
            <a:spAutoFit/>
          </a:bodyPr>
          <a:lstStyle/>
          <a:p>
            <a:pPr>
              <a:spcAft>
                <a:spcPts val="600"/>
              </a:spcAft>
              <a:defRPr sz="800" b="0">
                <a:solidFill>
                  <a:srgbClr val="566273"/>
                </a:solidFill>
                <a:latin typeface="Arial"/>
              </a:defRPr>
            </a:pPr>
            <a:r>
              <a:t>Gardette et al., Macromolecules 1989, 22, 2576–2581.</a:t>
            </a:r>
          </a:p>
        </p:txBody>
      </p:sp>
      <p:sp>
        <p:nvSpPr>
          <p:cNvPr id="10" name="TextBox 9"/>
          <p:cNvSpPr txBox="1"/>
          <p:nvPr/>
        </p:nvSpPr>
        <p:spPr>
          <a:xfrm>
            <a:off x="11137392" y="6510528"/>
            <a:ext cx="438912" cy="237744"/>
          </a:xfrm>
          <a:prstGeom prst="rect">
            <a:avLst/>
          </a:prstGeom>
          <a:noFill/>
          <a:effectLst/>
        </p:spPr>
        <p:txBody>
          <a:bodyPr wrap="square" lIns="22860" rIns="22860" tIns="0" bIns="0">
            <a:spAutoFit/>
          </a:bodyPr>
          <a:lstStyle/>
          <a:p>
            <a:pPr algn="r">
              <a:spcAft>
                <a:spcPts val="600"/>
              </a:spcAft>
              <a:defRPr sz="1100" b="1">
                <a:solidFill>
                  <a:srgbClr val="203864"/>
                </a:solidFill>
                <a:latin typeface="Microsoft YaHei"/>
              </a:defRPr>
            </a:pPr>
            <a:r>
              <a:t>5</a:t>
            </a:r>
          </a:p>
        </p:txBody>
      </p:sp>
      <p:sp>
        <p:nvSpPr>
          <p:cNvPr id="11" name="TextBox 10"/>
          <p:cNvSpPr txBox="1"/>
          <p:nvPr/>
        </p:nvSpPr>
        <p:spPr>
          <a:xfrm>
            <a:off x="822960" y="2459736"/>
            <a:ext cx="4937760" cy="411480"/>
          </a:xfrm>
          <a:prstGeom prst="rect">
            <a:avLst/>
          </a:prstGeom>
          <a:noFill/>
          <a:effectLst/>
        </p:spPr>
        <p:txBody>
          <a:bodyPr wrap="square" lIns="22860" rIns="22860" tIns="0" bIns="0">
            <a:spAutoFit/>
          </a:bodyPr>
          <a:lstStyle/>
          <a:p>
            <a:pPr>
              <a:spcAft>
                <a:spcPts val="600"/>
              </a:spcAft>
              <a:defRPr sz="2000" b="1">
                <a:solidFill>
                  <a:srgbClr val="203864"/>
                </a:solidFill>
                <a:latin typeface="Microsoft YaHei"/>
              </a:defRPr>
            </a:pPr>
            <a:r>
              <a:t>文献实际鉴别的氧化产物</a:t>
            </a:r>
          </a:p>
        </p:txBody>
      </p:sp>
      <p:sp>
        <p:nvSpPr>
          <p:cNvPr id="12" name="TextBox 11"/>
          <p:cNvSpPr txBox="1"/>
          <p:nvPr/>
        </p:nvSpPr>
        <p:spPr>
          <a:xfrm>
            <a:off x="822960" y="3008376"/>
            <a:ext cx="4937760" cy="1024128"/>
          </a:xfrm>
          <a:prstGeom prst="rect">
            <a:avLst/>
          </a:prstGeom>
          <a:noFill/>
          <a:effectLst/>
        </p:spPr>
        <p:txBody>
          <a:bodyPr wrap="square" lIns="22860" rIns="22860" tIns="0" bIns="0">
            <a:spAutoFit/>
          </a:bodyPr>
          <a:lstStyle/>
          <a:p>
            <a:pPr>
              <a:spcAft>
                <a:spcPts val="600"/>
              </a:spcAft>
              <a:defRPr sz="1700" b="0">
                <a:solidFill>
                  <a:srgbClr val="111111"/>
                </a:solidFill>
                <a:latin typeface="Microsoft YaHei"/>
              </a:defRPr>
            </a:pPr>
            <a:r>
              <a:t>氢过氧化物、氯代酮、酰氯和羧酸；</a:t>
            </a:r>
          </a:p>
          <a:p>
            <a:pPr>
              <a:spcAft>
                <a:spcPts val="600"/>
              </a:spcAft>
              <a:defRPr sz="1700" b="0">
                <a:solidFill>
                  <a:srgbClr val="111111"/>
                </a:solidFill>
                <a:latin typeface="Microsoft YaHei"/>
              </a:defRPr>
            </a:pPr>
            <a:r>
              <a:t>结合光谱、去卷积及选择性化学处理。</a:t>
            </a:r>
          </a:p>
        </p:txBody>
      </p:sp>
      <p:cxnSp>
        <p:nvCxnSpPr>
          <p:cNvPr id="13" name="Connector 12"/>
          <p:cNvCxnSpPr/>
          <p:nvPr/>
        </p:nvCxnSpPr>
        <p:spPr>
          <a:xfrm>
            <a:off x="822960" y="4032503"/>
            <a:ext cx="0" cy="539497"/>
          </a:xfrm>
          <a:prstGeom prst="line">
            <a:avLst/>
          </a:prstGeom>
          <a:ln w="33020">
            <a:solidFill>
              <a:srgbClr val="203864"/>
            </a:solidFill>
          </a:ln>
          <a:effectLst/>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987552" y="4014215"/>
            <a:ext cx="4773168" cy="320040"/>
          </a:xfrm>
          <a:prstGeom prst="rect">
            <a:avLst/>
          </a:prstGeom>
          <a:noFill/>
          <a:effectLst/>
        </p:spPr>
        <p:txBody>
          <a:bodyPr wrap="square" lIns="22860" rIns="22860" tIns="0" bIns="0">
            <a:spAutoFit/>
          </a:bodyPr>
          <a:lstStyle/>
          <a:p>
            <a:pPr>
              <a:spcAft>
                <a:spcPts val="600"/>
              </a:spcAft>
              <a:defRPr sz="1800" b="1">
                <a:solidFill>
                  <a:srgbClr val="203864"/>
                </a:solidFill>
                <a:latin typeface="Microsoft YaHei"/>
              </a:defRPr>
            </a:pPr>
            <a:r>
              <a:t>证据的边界</a:t>
            </a:r>
          </a:p>
        </p:txBody>
      </p:sp>
      <p:sp>
        <p:nvSpPr>
          <p:cNvPr id="15" name="TextBox 14"/>
          <p:cNvSpPr txBox="1"/>
          <p:nvPr/>
        </p:nvSpPr>
        <p:spPr>
          <a:xfrm>
            <a:off x="987552" y="4416552"/>
            <a:ext cx="4773168" cy="594360"/>
          </a:xfrm>
          <a:prstGeom prst="rect">
            <a:avLst/>
          </a:prstGeom>
          <a:noFill/>
          <a:effectLst/>
        </p:spPr>
        <p:txBody>
          <a:bodyPr wrap="square" lIns="22860" rIns="22860" tIns="0" bIns="0">
            <a:spAutoFit/>
          </a:bodyPr>
          <a:lstStyle/>
          <a:p>
            <a:pPr>
              <a:spcAft>
                <a:spcPts val="600"/>
              </a:spcAft>
              <a:defRPr sz="1600" b="0">
                <a:solidFill>
                  <a:srgbClr val="111111"/>
                </a:solidFill>
                <a:latin typeface="Microsoft YaHei"/>
              </a:defRPr>
            </a:pPr>
            <a:r>
              <a:t>产物鉴别支持自由基氧化解释，</a:t>
            </a:r>
          </a:p>
          <a:p>
            <a:pPr>
              <a:spcAft>
                <a:spcPts val="600"/>
              </a:spcAft>
              <a:defRPr sz="1600" b="0">
                <a:solidFill>
                  <a:srgbClr val="111111"/>
                </a:solidFill>
                <a:latin typeface="Microsoft YaHei"/>
              </a:defRPr>
            </a:pPr>
            <a:r>
              <a:t>并不等于逐一直接检测了所有自由基。</a:t>
            </a:r>
          </a:p>
        </p:txBody>
      </p:sp>
      <p:sp>
        <p:nvSpPr>
          <p:cNvPr id="16" name="TextBox 15"/>
          <p:cNvSpPr txBox="1"/>
          <p:nvPr/>
        </p:nvSpPr>
        <p:spPr>
          <a:xfrm>
            <a:off x="6446520" y="2651760"/>
            <a:ext cx="4773168" cy="475488"/>
          </a:xfrm>
          <a:prstGeom prst="rect">
            <a:avLst/>
          </a:prstGeom>
          <a:noFill/>
          <a:effectLst/>
        </p:spPr>
        <p:txBody>
          <a:bodyPr wrap="square" lIns="22860" rIns="22860" tIns="0" bIns="0">
            <a:spAutoFit/>
          </a:bodyPr>
          <a:lstStyle/>
          <a:p>
            <a:pPr algn="ctr">
              <a:spcAft>
                <a:spcPts val="600"/>
              </a:spcAft>
              <a:defRPr sz="2100" b="1">
                <a:solidFill>
                  <a:srgbClr val="203864"/>
                </a:solidFill>
                <a:latin typeface="Microsoft YaHei"/>
              </a:defRPr>
            </a:pPr>
            <a:r>
              <a:t>吸光结构 / 缺陷引发</a:t>
            </a:r>
          </a:p>
        </p:txBody>
      </p:sp>
      <p:cxnSp>
        <p:nvCxnSpPr>
          <p:cNvPr id="17" name="Connector 16"/>
          <p:cNvCxnSpPr/>
          <p:nvPr/>
        </p:nvCxnSpPr>
        <p:spPr>
          <a:xfrm>
            <a:off x="8833104" y="3209544"/>
            <a:ext cx="0" cy="246888"/>
          </a:xfrm>
          <a:prstGeom prst="line">
            <a:avLst/>
          </a:prstGeom>
          <a:ln w="17780">
            <a:solidFill>
              <a:srgbClr val="20386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6446520" y="3584448"/>
            <a:ext cx="4773168" cy="475488"/>
          </a:xfrm>
          <a:prstGeom prst="rect">
            <a:avLst/>
          </a:prstGeom>
          <a:noFill/>
          <a:effectLst/>
        </p:spPr>
        <p:txBody>
          <a:bodyPr wrap="square" lIns="22860" rIns="22860" tIns="0" bIns="0">
            <a:spAutoFit/>
          </a:bodyPr>
          <a:lstStyle/>
          <a:p>
            <a:pPr algn="ctr">
              <a:spcAft>
                <a:spcPts val="600"/>
              </a:spcAft>
              <a:defRPr sz="2100" b="1">
                <a:solidFill>
                  <a:srgbClr val="111111"/>
                </a:solidFill>
                <a:latin typeface="Microsoft YaHei"/>
              </a:defRPr>
            </a:pPr>
            <a:r>
              <a:t>R· + O₂ → ROO·</a:t>
            </a:r>
          </a:p>
        </p:txBody>
      </p:sp>
      <p:cxnSp>
        <p:nvCxnSpPr>
          <p:cNvPr id="19" name="Connector 18"/>
          <p:cNvCxnSpPr/>
          <p:nvPr/>
        </p:nvCxnSpPr>
        <p:spPr>
          <a:xfrm>
            <a:off x="8833104" y="4142232"/>
            <a:ext cx="0" cy="246888"/>
          </a:xfrm>
          <a:prstGeom prst="line">
            <a:avLst/>
          </a:prstGeom>
          <a:ln w="17780">
            <a:solidFill>
              <a:srgbClr val="20386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0" name="TextBox 19"/>
          <p:cNvSpPr txBox="1"/>
          <p:nvPr/>
        </p:nvSpPr>
        <p:spPr>
          <a:xfrm>
            <a:off x="6446520" y="4517136"/>
            <a:ext cx="4773168" cy="475488"/>
          </a:xfrm>
          <a:prstGeom prst="rect">
            <a:avLst/>
          </a:prstGeom>
          <a:noFill/>
          <a:effectLst/>
        </p:spPr>
        <p:txBody>
          <a:bodyPr wrap="square" lIns="22860" rIns="22860" tIns="0" bIns="0">
            <a:spAutoFit/>
          </a:bodyPr>
          <a:lstStyle/>
          <a:p>
            <a:pPr algn="ctr">
              <a:spcAft>
                <a:spcPts val="600"/>
              </a:spcAft>
              <a:defRPr sz="2100" b="1">
                <a:solidFill>
                  <a:srgbClr val="111111"/>
                </a:solidFill>
                <a:latin typeface="Microsoft YaHei"/>
              </a:defRPr>
            </a:pPr>
            <a:r>
              <a:t>ROOH → RO· → 氧化 / 裂解</a:t>
            </a:r>
          </a:p>
        </p:txBody>
      </p:sp>
      <p:sp>
        <p:nvSpPr>
          <p:cNvPr id="21" name="TextBox 20"/>
          <p:cNvSpPr txBox="1"/>
          <p:nvPr/>
        </p:nvSpPr>
        <p:spPr>
          <a:xfrm>
            <a:off x="6510528" y="5394960"/>
            <a:ext cx="4590288" cy="256032"/>
          </a:xfrm>
          <a:prstGeom prst="rect">
            <a:avLst/>
          </a:prstGeom>
          <a:noFill/>
          <a:effectLst/>
        </p:spPr>
        <p:txBody>
          <a:bodyPr wrap="square" lIns="22860" rIns="22860" tIns="0" bIns="0">
            <a:spAutoFit/>
          </a:bodyPr>
          <a:lstStyle/>
          <a:p>
            <a:pPr algn="ctr">
              <a:spcAft>
                <a:spcPts val="600"/>
              </a:spcAft>
              <a:defRPr sz="1200" b="0">
                <a:solidFill>
                  <a:srgbClr val="566273"/>
                </a:solidFill>
                <a:latin typeface="Microsoft YaHei"/>
              </a:defRPr>
            </a:pPr>
            <a:r>
              <a:t>原创示意，依据 Gardette 1989 机制讨论。</a:t>
            </a:r>
          </a:p>
        </p:txBody>
      </p:sp>
      <p:sp>
        <p:nvSpPr>
          <p:cNvPr id="22" name="Rectangle 21"/>
          <p:cNvSpPr/>
          <p:nvPr/>
        </p:nvSpPr>
        <p:spPr>
          <a:xfrm>
            <a:off x="594360" y="5907024"/>
            <a:ext cx="11018520" cy="411480"/>
          </a:xfrm>
          <a:prstGeom prst="rect">
            <a:avLst/>
          </a:prstGeom>
          <a:solidFill>
            <a:srgbClr val="EEF3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777240" y="5980176"/>
            <a:ext cx="10652760" cy="265176"/>
          </a:xfrm>
          <a:prstGeom prst="rect">
            <a:avLst/>
          </a:prstGeom>
          <a:noFill/>
          <a:effectLst/>
        </p:spPr>
        <p:txBody>
          <a:bodyPr wrap="square" lIns="22860" rIns="22860" tIns="0" bIns="0">
            <a:spAutoFit/>
          </a:bodyPr>
          <a:lstStyle/>
          <a:p>
            <a:pPr>
              <a:spcAft>
                <a:spcPts val="600"/>
              </a:spcAft>
              <a:defRPr sz="1600" b="1">
                <a:solidFill>
                  <a:srgbClr val="203864"/>
                </a:solidFill>
                <a:latin typeface="Microsoft YaHei"/>
              </a:defRPr>
            </a:pPr>
            <a:r>
              <a:t>由被动光老化转向主动调控：利用外加光敏组分改变反应启动与自由基命运。</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384048" y="329184"/>
            <a:ext cx="50292" cy="320040"/>
          </a:xfrm>
          <a:prstGeom prst="rect">
            <a:avLst/>
          </a:prstGeom>
          <a:solidFill>
            <a:srgbClr val="20386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869680" y="246888"/>
            <a:ext cx="2880360" cy="356616"/>
          </a:xfrm>
          <a:prstGeom prst="rect">
            <a:avLst/>
          </a:prstGeom>
          <a:noFill/>
          <a:effectLst/>
        </p:spPr>
        <p:txBody>
          <a:bodyPr wrap="square" lIns="22860" rIns="22860" tIns="0" bIns="0">
            <a:spAutoFit/>
          </a:bodyPr>
          <a:lstStyle/>
          <a:p>
            <a:pPr algn="r">
              <a:spcAft>
                <a:spcPts val="600"/>
              </a:spcAft>
              <a:defRPr sz="2100" b="1">
                <a:solidFill>
                  <a:srgbClr val="159BB6"/>
                </a:solidFill>
                <a:latin typeface="Microsoft YaHei"/>
              </a:defRPr>
            </a:pPr>
            <a:r>
              <a:t>北京工业大学</a:t>
            </a:r>
          </a:p>
        </p:txBody>
      </p:sp>
      <p:sp>
        <p:nvSpPr>
          <p:cNvPr id="4" name="TextBox 3"/>
          <p:cNvSpPr txBox="1"/>
          <p:nvPr/>
        </p:nvSpPr>
        <p:spPr>
          <a:xfrm>
            <a:off x="8686800" y="621792"/>
            <a:ext cx="3063240" cy="182880"/>
          </a:xfrm>
          <a:prstGeom prst="rect">
            <a:avLst/>
          </a:prstGeom>
          <a:noFill/>
          <a:effectLst/>
        </p:spPr>
        <p:txBody>
          <a:bodyPr wrap="square" lIns="22860" rIns="22860" tIns="0" bIns="0">
            <a:spAutoFit/>
          </a:bodyPr>
          <a:lstStyle/>
          <a:p>
            <a:pPr algn="r">
              <a:spcAft>
                <a:spcPts val="600"/>
              </a:spcAft>
              <a:defRPr sz="770" b="1">
                <a:solidFill>
                  <a:srgbClr val="159BB6"/>
                </a:solidFill>
                <a:latin typeface="Microsoft YaHei"/>
              </a:defRPr>
            </a:pPr>
            <a:r>
              <a:t>BEIJING UNIVERSITY OF TECHNOLOGY</a:t>
            </a:r>
          </a:p>
        </p:txBody>
      </p:sp>
      <p:sp>
        <p:nvSpPr>
          <p:cNvPr id="5" name="TextBox 4"/>
          <p:cNvSpPr txBox="1"/>
          <p:nvPr/>
        </p:nvSpPr>
        <p:spPr>
          <a:xfrm>
            <a:off x="594360" y="914400"/>
            <a:ext cx="11109960" cy="594360"/>
          </a:xfrm>
          <a:prstGeom prst="rect">
            <a:avLst/>
          </a:prstGeom>
          <a:noFill/>
          <a:effectLst/>
        </p:spPr>
        <p:txBody>
          <a:bodyPr wrap="square" lIns="22860" rIns="22860" tIns="0" bIns="0">
            <a:spAutoFit/>
          </a:bodyPr>
          <a:lstStyle/>
          <a:p>
            <a:pPr>
              <a:spcAft>
                <a:spcPts val="600"/>
              </a:spcAft>
              <a:defRPr sz="2600" b="1">
                <a:solidFill>
                  <a:srgbClr val="203864"/>
                </a:solidFill>
                <a:latin typeface="Microsoft YaHei"/>
              </a:defRPr>
            </a:pPr>
            <a:r>
              <a:t>AQ 的激发态反应性为光敏调控提供文献依据</a:t>
            </a:r>
          </a:p>
        </p:txBody>
      </p:sp>
      <p:cxnSp>
        <p:nvCxnSpPr>
          <p:cNvPr id="6" name="Connector 5"/>
          <p:cNvCxnSpPr/>
          <p:nvPr/>
        </p:nvCxnSpPr>
        <p:spPr>
          <a:xfrm>
            <a:off x="594360" y="1636776"/>
            <a:ext cx="11018520" cy="0"/>
          </a:xfrm>
          <a:prstGeom prst="line">
            <a:avLst/>
          </a:prstGeom>
          <a:ln w="25400">
            <a:solidFill>
              <a:srgbClr val="203864"/>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40080" y="1773936"/>
            <a:ext cx="10972800" cy="393192"/>
          </a:xfrm>
          <a:prstGeom prst="rect">
            <a:avLst/>
          </a:prstGeom>
          <a:noFill/>
          <a:effectLst/>
        </p:spPr>
        <p:txBody>
          <a:bodyPr wrap="square" lIns="22860" rIns="22860" tIns="0" bIns="0">
            <a:spAutoFit/>
          </a:bodyPr>
          <a:lstStyle/>
          <a:p>
            <a:pPr>
              <a:spcAft>
                <a:spcPts val="600"/>
              </a:spcAft>
              <a:defRPr sz="1300" b="0">
                <a:solidFill>
                  <a:srgbClr val="566273"/>
                </a:solidFill>
                <a:latin typeface="Microsoft YaHei"/>
              </a:defRPr>
            </a:pPr>
            <a:r>
              <a:t>实际试剂为乙基蒽醌；文献 2-EAQ 结构仅作示例，取代位号与纯度需由试剂记录确认</a:t>
            </a:r>
          </a:p>
        </p:txBody>
      </p:sp>
      <p:cxnSp>
        <p:nvCxnSpPr>
          <p:cNvPr id="8" name="Connector 7"/>
          <p:cNvCxnSpPr/>
          <p:nvPr/>
        </p:nvCxnSpPr>
        <p:spPr>
          <a:xfrm>
            <a:off x="594360" y="6446520"/>
            <a:ext cx="11018520" cy="0"/>
          </a:xfrm>
          <a:prstGeom prst="line">
            <a:avLst/>
          </a:prstGeom>
          <a:ln w="10160">
            <a:solidFill>
              <a:srgbClr val="CED7E3"/>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94360" y="6547104"/>
            <a:ext cx="10469880" cy="182880"/>
          </a:xfrm>
          <a:prstGeom prst="rect">
            <a:avLst/>
          </a:prstGeom>
          <a:noFill/>
          <a:effectLst/>
        </p:spPr>
        <p:txBody>
          <a:bodyPr wrap="square" lIns="22860" rIns="22860" tIns="0" bIns="0">
            <a:spAutoFit/>
          </a:bodyPr>
          <a:lstStyle/>
          <a:p>
            <a:pPr>
              <a:spcAft>
                <a:spcPts val="600"/>
              </a:spcAft>
              <a:defRPr sz="800" b="0">
                <a:solidFill>
                  <a:srgbClr val="566273"/>
                </a:solidFill>
                <a:latin typeface="Arial"/>
              </a:defRPr>
            </a:pPr>
            <a:r>
              <a:t>Chen et al., Environ. Sci. Ecotechnol. 2024, 22, 100449.  原始研究线索：Ren et al. 2011（综述引文98；未取得全文）</a:t>
            </a:r>
          </a:p>
        </p:txBody>
      </p:sp>
      <p:sp>
        <p:nvSpPr>
          <p:cNvPr id="10" name="TextBox 9"/>
          <p:cNvSpPr txBox="1"/>
          <p:nvPr/>
        </p:nvSpPr>
        <p:spPr>
          <a:xfrm>
            <a:off x="11137392" y="6510528"/>
            <a:ext cx="438912" cy="237744"/>
          </a:xfrm>
          <a:prstGeom prst="rect">
            <a:avLst/>
          </a:prstGeom>
          <a:noFill/>
          <a:effectLst/>
        </p:spPr>
        <p:txBody>
          <a:bodyPr wrap="square" lIns="22860" rIns="22860" tIns="0" bIns="0">
            <a:spAutoFit/>
          </a:bodyPr>
          <a:lstStyle/>
          <a:p>
            <a:pPr algn="r">
              <a:spcAft>
                <a:spcPts val="600"/>
              </a:spcAft>
              <a:defRPr sz="1100" b="1">
                <a:solidFill>
                  <a:srgbClr val="203864"/>
                </a:solidFill>
                <a:latin typeface="Microsoft YaHei"/>
              </a:defRPr>
            </a:pPr>
            <a:r>
              <a:t>6</a:t>
            </a:r>
          </a:p>
        </p:txBody>
      </p:sp>
      <p:sp>
        <p:nvSpPr>
          <p:cNvPr id="11" name="Freeform 10"/>
          <p:cNvSpPr/>
          <p:nvPr/>
        </p:nvSpPr>
        <p:spPr>
          <a:xfrm>
            <a:off x="808245" y="2525572"/>
            <a:ext cx="582834" cy="672999"/>
          </a:xfrm>
          <a:custGeom>
            <a:avLst/>
            <a:gdLst/>
            <a:ahLst/>
            <a:cxnLst/>
            <a:rect l="l" t="t" r="r" b="b"/>
            <a:pathLst>
              <a:path w="582834" h="672999">
                <a:moveTo>
                  <a:pt x="291417" y="0"/>
                </a:moveTo>
                <a:lnTo>
                  <a:pt x="582834" y="168250"/>
                </a:lnTo>
                <a:lnTo>
                  <a:pt x="582834" y="504749"/>
                </a:lnTo>
                <a:lnTo>
                  <a:pt x="291417" y="672999"/>
                </a:lnTo>
                <a:lnTo>
                  <a:pt x="0" y="504749"/>
                </a:lnTo>
                <a:lnTo>
                  <a:pt x="0" y="168250"/>
                </a:lnTo>
                <a:lnTo>
                  <a:pt x="291417"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1099662" y="2619792"/>
            <a:ext cx="209820" cy="12114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3" name="Connector 12"/>
          <p:cNvCxnSpPr/>
          <p:nvPr/>
        </p:nvCxnSpPr>
        <p:spPr>
          <a:xfrm flipH="1">
            <a:off x="1099662" y="2983211"/>
            <a:ext cx="209820" cy="12114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4" name="Connector 13"/>
          <p:cNvCxnSpPr/>
          <p:nvPr/>
        </p:nvCxnSpPr>
        <p:spPr>
          <a:xfrm flipV="1">
            <a:off x="889842" y="2740932"/>
            <a:ext cx="0" cy="242279"/>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5" name="Freeform 14"/>
          <p:cNvSpPr/>
          <p:nvPr/>
        </p:nvSpPr>
        <p:spPr>
          <a:xfrm>
            <a:off x="1391079" y="2525572"/>
            <a:ext cx="582833" cy="672999"/>
          </a:xfrm>
          <a:custGeom>
            <a:avLst/>
            <a:gdLst/>
            <a:ahLst/>
            <a:cxnLst/>
            <a:rect l="l" t="t" r="r" b="b"/>
            <a:pathLst>
              <a:path w="582833" h="672999">
                <a:moveTo>
                  <a:pt x="291417" y="0"/>
                </a:moveTo>
                <a:lnTo>
                  <a:pt x="582833" y="168250"/>
                </a:lnTo>
                <a:lnTo>
                  <a:pt x="582833" y="504749"/>
                </a:lnTo>
                <a:lnTo>
                  <a:pt x="291417" y="672999"/>
                </a:lnTo>
                <a:lnTo>
                  <a:pt x="0" y="504749"/>
                </a:lnTo>
                <a:lnTo>
                  <a:pt x="0" y="168250"/>
                </a:lnTo>
                <a:lnTo>
                  <a:pt x="291417"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Freeform 15"/>
          <p:cNvSpPr/>
          <p:nvPr/>
        </p:nvSpPr>
        <p:spPr>
          <a:xfrm>
            <a:off x="1973912" y="2525572"/>
            <a:ext cx="582834" cy="672999"/>
          </a:xfrm>
          <a:custGeom>
            <a:avLst/>
            <a:gdLst/>
            <a:ahLst/>
            <a:cxnLst/>
            <a:rect l="l" t="t" r="r" b="b"/>
            <a:pathLst>
              <a:path w="582834" h="672999">
                <a:moveTo>
                  <a:pt x="291417" y="0"/>
                </a:moveTo>
                <a:lnTo>
                  <a:pt x="582834" y="168250"/>
                </a:lnTo>
                <a:lnTo>
                  <a:pt x="582834" y="504749"/>
                </a:lnTo>
                <a:lnTo>
                  <a:pt x="291417" y="672999"/>
                </a:lnTo>
                <a:lnTo>
                  <a:pt x="0" y="504749"/>
                </a:lnTo>
                <a:lnTo>
                  <a:pt x="0" y="168250"/>
                </a:lnTo>
                <a:lnTo>
                  <a:pt x="291417"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 name="Connector 16"/>
          <p:cNvCxnSpPr/>
          <p:nvPr/>
        </p:nvCxnSpPr>
        <p:spPr>
          <a:xfrm>
            <a:off x="2265329" y="2619792"/>
            <a:ext cx="209820" cy="12114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8" name="Connector 17"/>
          <p:cNvCxnSpPr/>
          <p:nvPr/>
        </p:nvCxnSpPr>
        <p:spPr>
          <a:xfrm flipH="1">
            <a:off x="2265329" y="2983211"/>
            <a:ext cx="209820" cy="12114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9" name="Connector 18"/>
          <p:cNvCxnSpPr/>
          <p:nvPr/>
        </p:nvCxnSpPr>
        <p:spPr>
          <a:xfrm flipV="1">
            <a:off x="2055509" y="2740932"/>
            <a:ext cx="0" cy="242279"/>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0" name="Connector 19"/>
          <p:cNvCxnSpPr/>
          <p:nvPr/>
        </p:nvCxnSpPr>
        <p:spPr>
          <a:xfrm flipV="1">
            <a:off x="1656207" y="2283714"/>
            <a:ext cx="0" cy="241858"/>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1" name="Connector 20"/>
          <p:cNvCxnSpPr/>
          <p:nvPr/>
        </p:nvCxnSpPr>
        <p:spPr>
          <a:xfrm flipV="1">
            <a:off x="1708785" y="2283714"/>
            <a:ext cx="0" cy="241858"/>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2" name="TextBox 21"/>
          <p:cNvSpPr txBox="1"/>
          <p:nvPr/>
        </p:nvSpPr>
        <p:spPr>
          <a:xfrm>
            <a:off x="1566824" y="2031339"/>
            <a:ext cx="315468" cy="262890"/>
          </a:xfrm>
          <a:prstGeom prst="rect">
            <a:avLst/>
          </a:prstGeom>
          <a:noFill/>
          <a:effectLst/>
        </p:spPr>
        <p:txBody>
          <a:bodyPr wrap="square" lIns="22860" rIns="22860" tIns="0" bIns="0">
            <a:spAutoFit/>
          </a:bodyPr>
          <a:lstStyle/>
          <a:p>
            <a:pPr>
              <a:spcAft>
                <a:spcPts val="600"/>
              </a:spcAft>
              <a:defRPr sz="1495" b="0">
                <a:solidFill>
                  <a:srgbClr val="111111"/>
                </a:solidFill>
                <a:latin typeface="Arial"/>
              </a:defRPr>
            </a:pPr>
            <a:r>
              <a:t>O</a:t>
            </a:r>
          </a:p>
        </p:txBody>
      </p:sp>
      <p:cxnSp>
        <p:nvCxnSpPr>
          <p:cNvPr id="23" name="Connector 22"/>
          <p:cNvCxnSpPr/>
          <p:nvPr/>
        </p:nvCxnSpPr>
        <p:spPr>
          <a:xfrm>
            <a:off x="1656207" y="3198571"/>
            <a:ext cx="0" cy="241858"/>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a:off x="1708785" y="3198571"/>
            <a:ext cx="0" cy="241858"/>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5" name="TextBox 24"/>
          <p:cNvSpPr txBox="1"/>
          <p:nvPr/>
        </p:nvSpPr>
        <p:spPr>
          <a:xfrm>
            <a:off x="1566824" y="3450945"/>
            <a:ext cx="315468" cy="262890"/>
          </a:xfrm>
          <a:prstGeom prst="rect">
            <a:avLst/>
          </a:prstGeom>
          <a:noFill/>
          <a:effectLst/>
        </p:spPr>
        <p:txBody>
          <a:bodyPr wrap="square" lIns="22860" rIns="22860" tIns="0" bIns="0">
            <a:spAutoFit/>
          </a:bodyPr>
          <a:lstStyle/>
          <a:p>
            <a:pPr>
              <a:spcAft>
                <a:spcPts val="600"/>
              </a:spcAft>
              <a:defRPr sz="1495" b="0">
                <a:solidFill>
                  <a:srgbClr val="111111"/>
                </a:solidFill>
                <a:latin typeface="Arial"/>
              </a:defRPr>
            </a:pPr>
            <a:r>
              <a:t>O</a:t>
            </a:r>
          </a:p>
        </p:txBody>
      </p:sp>
      <p:sp>
        <p:nvSpPr>
          <p:cNvPr id="26" name="TextBox 25"/>
          <p:cNvSpPr txBox="1"/>
          <p:nvPr/>
        </p:nvSpPr>
        <p:spPr>
          <a:xfrm>
            <a:off x="731520" y="3739896"/>
            <a:ext cx="1920240" cy="283464"/>
          </a:xfrm>
          <a:prstGeom prst="rect">
            <a:avLst/>
          </a:prstGeom>
          <a:noFill/>
          <a:effectLst/>
        </p:spPr>
        <p:txBody>
          <a:bodyPr wrap="square" lIns="22860" rIns="22860" tIns="0" bIns="0">
            <a:spAutoFit/>
          </a:bodyPr>
          <a:lstStyle/>
          <a:p>
            <a:pPr algn="ctr">
              <a:spcAft>
                <a:spcPts val="600"/>
              </a:spcAft>
              <a:defRPr sz="1600" b="1">
                <a:solidFill>
                  <a:srgbClr val="203864"/>
                </a:solidFill>
                <a:latin typeface="Microsoft YaHei"/>
              </a:defRPr>
            </a:pPr>
            <a:r>
              <a:t>AQ 母体</a:t>
            </a:r>
          </a:p>
        </p:txBody>
      </p:sp>
      <p:sp>
        <p:nvSpPr>
          <p:cNvPr id="27" name="Freeform 26"/>
          <p:cNvSpPr/>
          <p:nvPr/>
        </p:nvSpPr>
        <p:spPr>
          <a:xfrm>
            <a:off x="3469149" y="2525572"/>
            <a:ext cx="582834" cy="672999"/>
          </a:xfrm>
          <a:custGeom>
            <a:avLst/>
            <a:gdLst/>
            <a:ahLst/>
            <a:cxnLst/>
            <a:rect l="l" t="t" r="r" b="b"/>
            <a:pathLst>
              <a:path w="582834" h="672999">
                <a:moveTo>
                  <a:pt x="291417" y="0"/>
                </a:moveTo>
                <a:lnTo>
                  <a:pt x="582834" y="168250"/>
                </a:lnTo>
                <a:lnTo>
                  <a:pt x="582834" y="504749"/>
                </a:lnTo>
                <a:lnTo>
                  <a:pt x="291417" y="672999"/>
                </a:lnTo>
                <a:lnTo>
                  <a:pt x="0" y="504749"/>
                </a:lnTo>
                <a:lnTo>
                  <a:pt x="0" y="168250"/>
                </a:lnTo>
                <a:lnTo>
                  <a:pt x="291417"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8" name="Connector 27"/>
          <p:cNvCxnSpPr/>
          <p:nvPr/>
        </p:nvCxnSpPr>
        <p:spPr>
          <a:xfrm>
            <a:off x="3760566" y="2619792"/>
            <a:ext cx="209820" cy="12114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9" name="Connector 28"/>
          <p:cNvCxnSpPr/>
          <p:nvPr/>
        </p:nvCxnSpPr>
        <p:spPr>
          <a:xfrm flipH="1">
            <a:off x="3760566" y="2983211"/>
            <a:ext cx="209820" cy="12114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30" name="Connector 29"/>
          <p:cNvCxnSpPr/>
          <p:nvPr/>
        </p:nvCxnSpPr>
        <p:spPr>
          <a:xfrm flipV="1">
            <a:off x="3550746" y="2740932"/>
            <a:ext cx="0" cy="242279"/>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1" name="Freeform 30"/>
          <p:cNvSpPr/>
          <p:nvPr/>
        </p:nvSpPr>
        <p:spPr>
          <a:xfrm>
            <a:off x="4051983" y="2525572"/>
            <a:ext cx="582833" cy="672999"/>
          </a:xfrm>
          <a:custGeom>
            <a:avLst/>
            <a:gdLst/>
            <a:ahLst/>
            <a:cxnLst/>
            <a:rect l="l" t="t" r="r" b="b"/>
            <a:pathLst>
              <a:path w="582833" h="672999">
                <a:moveTo>
                  <a:pt x="291417" y="0"/>
                </a:moveTo>
                <a:lnTo>
                  <a:pt x="582833" y="168250"/>
                </a:lnTo>
                <a:lnTo>
                  <a:pt x="582833" y="504749"/>
                </a:lnTo>
                <a:lnTo>
                  <a:pt x="291417" y="672999"/>
                </a:lnTo>
                <a:lnTo>
                  <a:pt x="0" y="504749"/>
                </a:lnTo>
                <a:lnTo>
                  <a:pt x="0" y="168250"/>
                </a:lnTo>
                <a:lnTo>
                  <a:pt x="291417"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Freeform 31"/>
          <p:cNvSpPr/>
          <p:nvPr/>
        </p:nvSpPr>
        <p:spPr>
          <a:xfrm>
            <a:off x="4634816" y="2525572"/>
            <a:ext cx="582834" cy="672999"/>
          </a:xfrm>
          <a:custGeom>
            <a:avLst/>
            <a:gdLst/>
            <a:ahLst/>
            <a:cxnLst/>
            <a:rect l="l" t="t" r="r" b="b"/>
            <a:pathLst>
              <a:path w="582834" h="672999">
                <a:moveTo>
                  <a:pt x="291417" y="0"/>
                </a:moveTo>
                <a:lnTo>
                  <a:pt x="582834" y="168250"/>
                </a:lnTo>
                <a:lnTo>
                  <a:pt x="582834" y="504749"/>
                </a:lnTo>
                <a:lnTo>
                  <a:pt x="291417" y="672999"/>
                </a:lnTo>
                <a:lnTo>
                  <a:pt x="0" y="504749"/>
                </a:lnTo>
                <a:lnTo>
                  <a:pt x="0" y="168250"/>
                </a:lnTo>
                <a:lnTo>
                  <a:pt x="291417"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3" name="Connector 32"/>
          <p:cNvCxnSpPr/>
          <p:nvPr/>
        </p:nvCxnSpPr>
        <p:spPr>
          <a:xfrm>
            <a:off x="4926233" y="2619792"/>
            <a:ext cx="209820" cy="12114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34" name="Connector 33"/>
          <p:cNvCxnSpPr/>
          <p:nvPr/>
        </p:nvCxnSpPr>
        <p:spPr>
          <a:xfrm flipH="1">
            <a:off x="4926233" y="2983211"/>
            <a:ext cx="209820" cy="12114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35" name="Connector 34"/>
          <p:cNvCxnSpPr/>
          <p:nvPr/>
        </p:nvCxnSpPr>
        <p:spPr>
          <a:xfrm flipV="1">
            <a:off x="4716413" y="2740932"/>
            <a:ext cx="0" cy="242279"/>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36" name="Connector 35"/>
          <p:cNvCxnSpPr/>
          <p:nvPr/>
        </p:nvCxnSpPr>
        <p:spPr>
          <a:xfrm flipV="1">
            <a:off x="4317111" y="2283714"/>
            <a:ext cx="0" cy="241858"/>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37" name="Connector 36"/>
          <p:cNvCxnSpPr/>
          <p:nvPr/>
        </p:nvCxnSpPr>
        <p:spPr>
          <a:xfrm flipV="1">
            <a:off x="4369689" y="2283714"/>
            <a:ext cx="0" cy="241858"/>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8" name="TextBox 37"/>
          <p:cNvSpPr txBox="1"/>
          <p:nvPr/>
        </p:nvSpPr>
        <p:spPr>
          <a:xfrm>
            <a:off x="4227728" y="2031339"/>
            <a:ext cx="315468" cy="262890"/>
          </a:xfrm>
          <a:prstGeom prst="rect">
            <a:avLst/>
          </a:prstGeom>
          <a:noFill/>
          <a:effectLst/>
        </p:spPr>
        <p:txBody>
          <a:bodyPr wrap="square" lIns="22860" rIns="22860" tIns="0" bIns="0">
            <a:spAutoFit/>
          </a:bodyPr>
          <a:lstStyle/>
          <a:p>
            <a:pPr>
              <a:spcAft>
                <a:spcPts val="600"/>
              </a:spcAft>
              <a:defRPr sz="1495" b="0">
                <a:solidFill>
                  <a:srgbClr val="111111"/>
                </a:solidFill>
                <a:latin typeface="Arial"/>
              </a:defRPr>
            </a:pPr>
            <a:r>
              <a:t>O</a:t>
            </a:r>
          </a:p>
        </p:txBody>
      </p:sp>
      <p:cxnSp>
        <p:nvCxnSpPr>
          <p:cNvPr id="39" name="Connector 38"/>
          <p:cNvCxnSpPr/>
          <p:nvPr/>
        </p:nvCxnSpPr>
        <p:spPr>
          <a:xfrm>
            <a:off x="4317111" y="3198571"/>
            <a:ext cx="0" cy="241858"/>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40" name="Connector 39"/>
          <p:cNvCxnSpPr/>
          <p:nvPr/>
        </p:nvCxnSpPr>
        <p:spPr>
          <a:xfrm>
            <a:off x="4369689" y="3198571"/>
            <a:ext cx="0" cy="241858"/>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41" name="TextBox 40"/>
          <p:cNvSpPr txBox="1"/>
          <p:nvPr/>
        </p:nvSpPr>
        <p:spPr>
          <a:xfrm>
            <a:off x="4227728" y="3450945"/>
            <a:ext cx="315468" cy="262890"/>
          </a:xfrm>
          <a:prstGeom prst="rect">
            <a:avLst/>
          </a:prstGeom>
          <a:noFill/>
          <a:effectLst/>
        </p:spPr>
        <p:txBody>
          <a:bodyPr wrap="square" lIns="22860" rIns="22860" tIns="0" bIns="0">
            <a:spAutoFit/>
          </a:bodyPr>
          <a:lstStyle/>
          <a:p>
            <a:pPr>
              <a:spcAft>
                <a:spcPts val="600"/>
              </a:spcAft>
              <a:defRPr sz="1495" b="0">
                <a:solidFill>
                  <a:srgbClr val="111111"/>
                </a:solidFill>
                <a:latin typeface="Arial"/>
              </a:defRPr>
            </a:pPr>
            <a:r>
              <a:t>O</a:t>
            </a:r>
          </a:p>
        </p:txBody>
      </p:sp>
      <p:cxnSp>
        <p:nvCxnSpPr>
          <p:cNvPr id="42" name="Connector 41"/>
          <p:cNvCxnSpPr/>
          <p:nvPr/>
        </p:nvCxnSpPr>
        <p:spPr>
          <a:xfrm flipH="1" flipV="1">
            <a:off x="3174712" y="2515057"/>
            <a:ext cx="294437" cy="178765"/>
          </a:xfrm>
          <a:prstGeom prst="line">
            <a:avLst/>
          </a:prstGeom>
          <a:ln w="1778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43" name="Connector 42"/>
          <p:cNvCxnSpPr/>
          <p:nvPr/>
        </p:nvCxnSpPr>
        <p:spPr>
          <a:xfrm flipH="1">
            <a:off x="2880275" y="2515057"/>
            <a:ext cx="294437" cy="178765"/>
          </a:xfrm>
          <a:prstGeom prst="line">
            <a:avLst/>
          </a:prstGeom>
          <a:ln w="1778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44" name="TextBox 43"/>
          <p:cNvSpPr txBox="1"/>
          <p:nvPr/>
        </p:nvSpPr>
        <p:spPr>
          <a:xfrm>
            <a:off x="3291840" y="3739896"/>
            <a:ext cx="2331720" cy="283464"/>
          </a:xfrm>
          <a:prstGeom prst="rect">
            <a:avLst/>
          </a:prstGeom>
          <a:noFill/>
          <a:effectLst/>
        </p:spPr>
        <p:txBody>
          <a:bodyPr wrap="square" lIns="22860" rIns="22860" tIns="0" bIns="0">
            <a:spAutoFit/>
          </a:bodyPr>
          <a:lstStyle/>
          <a:p>
            <a:pPr algn="ctr">
              <a:spcAft>
                <a:spcPts val="600"/>
              </a:spcAft>
              <a:defRPr sz="1600" b="1">
                <a:solidFill>
                  <a:srgbClr val="203864"/>
                </a:solidFill>
                <a:latin typeface="Microsoft YaHei"/>
              </a:defRPr>
            </a:pPr>
            <a:r>
              <a:t>2-EAQ 文献示例</a:t>
            </a:r>
          </a:p>
        </p:txBody>
      </p:sp>
      <p:cxnSp>
        <p:nvCxnSpPr>
          <p:cNvPr id="45" name="Connector 44"/>
          <p:cNvCxnSpPr/>
          <p:nvPr/>
        </p:nvCxnSpPr>
        <p:spPr>
          <a:xfrm>
            <a:off x="868680" y="4370832"/>
            <a:ext cx="4608576" cy="0"/>
          </a:xfrm>
          <a:prstGeom prst="line">
            <a:avLst/>
          </a:prstGeom>
          <a:ln w="12700">
            <a:solidFill>
              <a:srgbClr val="CCD6E5"/>
            </a:solidFill>
          </a:ln>
          <a:effectLst/>
        </p:spPr>
        <p:style>
          <a:lnRef idx="2">
            <a:schemeClr val="accent1"/>
          </a:lnRef>
          <a:fillRef idx="0">
            <a:schemeClr val="accent1"/>
          </a:fillRef>
          <a:effectRef idx="0">
            <a:schemeClr val="accent1"/>
          </a:effectRef>
          <a:fontRef idx="minor">
            <a:schemeClr val="tx1"/>
          </a:fontRef>
        </p:style>
      </p:cxnSp>
      <p:sp>
        <p:nvSpPr>
          <p:cNvPr id="46" name="TextBox 45"/>
          <p:cNvSpPr txBox="1"/>
          <p:nvPr/>
        </p:nvSpPr>
        <p:spPr>
          <a:xfrm>
            <a:off x="868680" y="4590288"/>
            <a:ext cx="4681728" cy="932688"/>
          </a:xfrm>
          <a:prstGeom prst="rect">
            <a:avLst/>
          </a:prstGeom>
          <a:noFill/>
          <a:effectLst/>
        </p:spPr>
        <p:txBody>
          <a:bodyPr wrap="square" lIns="22860" rIns="22860" tIns="0" bIns="0">
            <a:spAutoFit/>
          </a:bodyPr>
          <a:lstStyle/>
          <a:p>
            <a:pPr>
              <a:spcAft>
                <a:spcPts val="600"/>
              </a:spcAft>
              <a:defRPr sz="1800" b="1">
                <a:solidFill>
                  <a:srgbClr val="111111"/>
                </a:solidFill>
                <a:latin typeface="Microsoft YaHei"/>
              </a:defRPr>
            </a:pPr>
            <a:r>
              <a:t>AQ → ¹AQ* → ³AQ*（hν / ISC）</a:t>
            </a:r>
          </a:p>
          <a:p>
            <a:pPr>
              <a:spcAft>
                <a:spcPts val="600"/>
              </a:spcAft>
              <a:defRPr sz="1800" b="1">
                <a:solidFill>
                  <a:srgbClr val="111111"/>
                </a:solidFill>
                <a:latin typeface="Microsoft YaHei"/>
              </a:defRPr>
            </a:pPr>
            <a:r>
              <a:t>HAT / ET → 还原态 AQ → O₂ / 再生</a:t>
            </a:r>
          </a:p>
        </p:txBody>
      </p:sp>
      <p:cxnSp>
        <p:nvCxnSpPr>
          <p:cNvPr id="47" name="Connector 46"/>
          <p:cNvCxnSpPr/>
          <p:nvPr/>
        </p:nvCxnSpPr>
        <p:spPr>
          <a:xfrm>
            <a:off x="6245352" y="2441448"/>
            <a:ext cx="0" cy="539496"/>
          </a:xfrm>
          <a:prstGeom prst="line">
            <a:avLst/>
          </a:prstGeom>
          <a:ln w="33020">
            <a:solidFill>
              <a:srgbClr val="203864"/>
            </a:solidFill>
          </a:ln>
          <a:effectLst/>
        </p:spPr>
        <p:style>
          <a:lnRef idx="2">
            <a:schemeClr val="accent1"/>
          </a:lnRef>
          <a:fillRef idx="0">
            <a:schemeClr val="accent1"/>
          </a:fillRef>
          <a:effectRef idx="0">
            <a:schemeClr val="accent1"/>
          </a:effectRef>
          <a:fontRef idx="minor">
            <a:schemeClr val="tx1"/>
          </a:fontRef>
        </p:style>
      </p:cxnSp>
      <p:sp>
        <p:nvSpPr>
          <p:cNvPr id="48" name="TextBox 47"/>
          <p:cNvSpPr txBox="1"/>
          <p:nvPr/>
        </p:nvSpPr>
        <p:spPr>
          <a:xfrm>
            <a:off x="6409944" y="2423160"/>
            <a:ext cx="5001768" cy="320040"/>
          </a:xfrm>
          <a:prstGeom prst="rect">
            <a:avLst/>
          </a:prstGeom>
          <a:noFill/>
          <a:effectLst/>
        </p:spPr>
        <p:txBody>
          <a:bodyPr wrap="square" lIns="22860" rIns="22860" tIns="0" bIns="0">
            <a:spAutoFit/>
          </a:bodyPr>
          <a:lstStyle/>
          <a:p>
            <a:pPr>
              <a:spcAft>
                <a:spcPts val="600"/>
              </a:spcAft>
              <a:defRPr sz="1800" b="1">
                <a:solidFill>
                  <a:srgbClr val="203864"/>
                </a:solidFill>
                <a:latin typeface="Microsoft YaHei"/>
              </a:defRPr>
            </a:pPr>
            <a:r>
              <a:t>一般过程：激发态、HAT / ET 与氧反应</a:t>
            </a:r>
          </a:p>
        </p:txBody>
      </p:sp>
      <p:sp>
        <p:nvSpPr>
          <p:cNvPr id="49" name="TextBox 48"/>
          <p:cNvSpPr txBox="1"/>
          <p:nvPr/>
        </p:nvSpPr>
        <p:spPr>
          <a:xfrm>
            <a:off x="6409944" y="2825496"/>
            <a:ext cx="5001768" cy="594360"/>
          </a:xfrm>
          <a:prstGeom prst="rect">
            <a:avLst/>
          </a:prstGeom>
          <a:noFill/>
          <a:effectLst/>
        </p:spPr>
        <p:txBody>
          <a:bodyPr wrap="square" lIns="22860" rIns="22860" tIns="0" bIns="0">
            <a:spAutoFit/>
          </a:bodyPr>
          <a:lstStyle/>
          <a:p>
            <a:pPr>
              <a:spcAft>
                <a:spcPts val="600"/>
              </a:spcAft>
              <a:defRPr sz="1600" b="0">
                <a:solidFill>
                  <a:srgbClr val="111111"/>
                </a:solidFill>
                <a:latin typeface="Microsoft YaHei"/>
              </a:defRPr>
            </a:pPr>
            <a:r>
              <a:t>AQ 的取代基、溶剂和能级影响具体反应；</a:t>
            </a:r>
          </a:p>
          <a:p>
            <a:pPr>
              <a:spcAft>
                <a:spcPts val="600"/>
              </a:spcAft>
              <a:defRPr sz="1600" b="0">
                <a:solidFill>
                  <a:srgbClr val="111111"/>
                </a:solidFill>
                <a:latin typeface="Microsoft YaHei"/>
              </a:defRPr>
            </a:pPr>
            <a:r>
              <a:t>可涉及还原态 AQ 与不同氧相关路径。</a:t>
            </a:r>
          </a:p>
        </p:txBody>
      </p:sp>
      <p:cxnSp>
        <p:nvCxnSpPr>
          <p:cNvPr id="50" name="Connector 49"/>
          <p:cNvCxnSpPr/>
          <p:nvPr/>
        </p:nvCxnSpPr>
        <p:spPr>
          <a:xfrm>
            <a:off x="6245352" y="3849624"/>
            <a:ext cx="0" cy="539496"/>
          </a:xfrm>
          <a:prstGeom prst="line">
            <a:avLst/>
          </a:prstGeom>
          <a:ln w="33020">
            <a:solidFill>
              <a:srgbClr val="203864"/>
            </a:solidFill>
          </a:ln>
          <a:effectLst/>
        </p:spPr>
        <p:style>
          <a:lnRef idx="2">
            <a:schemeClr val="accent1"/>
          </a:lnRef>
          <a:fillRef idx="0">
            <a:schemeClr val="accent1"/>
          </a:fillRef>
          <a:effectRef idx="0">
            <a:schemeClr val="accent1"/>
          </a:effectRef>
          <a:fontRef idx="minor">
            <a:schemeClr val="tx1"/>
          </a:fontRef>
        </p:style>
      </p:cxnSp>
      <p:sp>
        <p:nvSpPr>
          <p:cNvPr id="51" name="TextBox 50"/>
          <p:cNvSpPr txBox="1"/>
          <p:nvPr/>
        </p:nvSpPr>
        <p:spPr>
          <a:xfrm>
            <a:off x="6409944" y="3831336"/>
            <a:ext cx="5001768" cy="320040"/>
          </a:xfrm>
          <a:prstGeom prst="rect">
            <a:avLst/>
          </a:prstGeom>
          <a:noFill/>
          <a:effectLst/>
        </p:spPr>
        <p:txBody>
          <a:bodyPr wrap="square" lIns="22860" rIns="22860" tIns="0" bIns="0">
            <a:spAutoFit/>
          </a:bodyPr>
          <a:lstStyle/>
          <a:p>
            <a:pPr>
              <a:spcAft>
                <a:spcPts val="600"/>
              </a:spcAft>
              <a:defRPr sz="1800" b="1">
                <a:solidFill>
                  <a:srgbClr val="203864"/>
                </a:solidFill>
                <a:latin typeface="Microsoft YaHei"/>
              </a:defRPr>
            </a:pPr>
            <a:r>
              <a:t>更接近实际试剂的原始研究线索</a:t>
            </a:r>
          </a:p>
        </p:txBody>
      </p:sp>
      <p:sp>
        <p:nvSpPr>
          <p:cNvPr id="52" name="TextBox 51"/>
          <p:cNvSpPr txBox="1"/>
          <p:nvPr/>
        </p:nvSpPr>
        <p:spPr>
          <a:xfrm>
            <a:off x="6409944" y="4233672"/>
            <a:ext cx="5001768" cy="594360"/>
          </a:xfrm>
          <a:prstGeom prst="rect">
            <a:avLst/>
          </a:prstGeom>
          <a:noFill/>
          <a:effectLst/>
        </p:spPr>
        <p:txBody>
          <a:bodyPr wrap="square" lIns="22860" rIns="22860" tIns="0" bIns="0">
            <a:spAutoFit/>
          </a:bodyPr>
          <a:lstStyle/>
          <a:p>
            <a:pPr>
              <a:spcAft>
                <a:spcPts val="600"/>
              </a:spcAft>
              <a:defRPr sz="1600" b="0">
                <a:solidFill>
                  <a:srgbClr val="111111"/>
                </a:solidFill>
                <a:latin typeface="Microsoft YaHei"/>
              </a:defRPr>
            </a:pPr>
            <a:r>
              <a:t>Ren 等研究 2-EAQ 在充气溶液中的光还原</a:t>
            </a:r>
          </a:p>
          <a:p>
            <a:pPr>
              <a:spcAft>
                <a:spcPts val="600"/>
              </a:spcAft>
              <a:defRPr sz="1600" b="0">
                <a:solidFill>
                  <a:srgbClr val="111111"/>
                </a:solidFill>
                <a:latin typeface="Microsoft YaHei"/>
              </a:defRPr>
            </a:pPr>
            <a:r>
              <a:t>与 H₂O₂ 生成；该先例不等同于 PVC 降解。</a:t>
            </a:r>
          </a:p>
        </p:txBody>
      </p:sp>
      <p:sp>
        <p:nvSpPr>
          <p:cNvPr id="53" name="TextBox 52"/>
          <p:cNvSpPr txBox="1"/>
          <p:nvPr/>
        </p:nvSpPr>
        <p:spPr>
          <a:xfrm>
            <a:off x="6391656" y="5358384"/>
            <a:ext cx="4928616" cy="274320"/>
          </a:xfrm>
          <a:prstGeom prst="rect">
            <a:avLst/>
          </a:prstGeom>
          <a:noFill/>
          <a:effectLst/>
        </p:spPr>
        <p:txBody>
          <a:bodyPr wrap="square" lIns="22860" rIns="22860" tIns="0" bIns="0">
            <a:spAutoFit/>
          </a:bodyPr>
          <a:lstStyle/>
          <a:p>
            <a:pPr>
              <a:spcAft>
                <a:spcPts val="600"/>
              </a:spcAft>
              <a:defRPr sz="1300" b="0">
                <a:solidFill>
                  <a:srgbClr val="566273"/>
                </a:solidFill>
                <a:latin typeface="Microsoft YaHei"/>
              </a:defRPr>
            </a:pPr>
            <a:r>
              <a:t>ROS 候选：¹O₂ / O₂·⁻ / H₂O₂，需分别检测。</a:t>
            </a:r>
          </a:p>
        </p:txBody>
      </p:sp>
      <p:sp>
        <p:nvSpPr>
          <p:cNvPr id="54" name="Rectangle 53"/>
          <p:cNvSpPr/>
          <p:nvPr/>
        </p:nvSpPr>
        <p:spPr>
          <a:xfrm>
            <a:off x="594360" y="5907024"/>
            <a:ext cx="11018520" cy="411480"/>
          </a:xfrm>
          <a:prstGeom prst="rect">
            <a:avLst/>
          </a:prstGeom>
          <a:solidFill>
            <a:srgbClr val="EEF3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777240" y="5980176"/>
            <a:ext cx="10652760" cy="265176"/>
          </a:xfrm>
          <a:prstGeom prst="rect">
            <a:avLst/>
          </a:prstGeom>
          <a:noFill/>
          <a:effectLst/>
        </p:spPr>
        <p:txBody>
          <a:bodyPr wrap="square" lIns="22860" rIns="22860" tIns="0" bIns="0">
            <a:spAutoFit/>
          </a:bodyPr>
          <a:lstStyle/>
          <a:p>
            <a:pPr>
              <a:spcAft>
                <a:spcPts val="600"/>
              </a:spcAft>
              <a:defRPr sz="1600" b="1">
                <a:solidFill>
                  <a:srgbClr val="203864"/>
                </a:solidFill>
                <a:latin typeface="Microsoft YaHei"/>
              </a:defRPr>
            </a:pPr>
            <a:r>
              <a:t>选择 AQ 的依据是可研究的激发态化学，EAQ / DCE / PVC 的实际作用仍由对照确定。</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384048" y="329184"/>
            <a:ext cx="50292" cy="320040"/>
          </a:xfrm>
          <a:prstGeom prst="rect">
            <a:avLst/>
          </a:prstGeom>
          <a:solidFill>
            <a:srgbClr val="20386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869680" y="246888"/>
            <a:ext cx="2880360" cy="356616"/>
          </a:xfrm>
          <a:prstGeom prst="rect">
            <a:avLst/>
          </a:prstGeom>
          <a:noFill/>
          <a:effectLst/>
        </p:spPr>
        <p:txBody>
          <a:bodyPr wrap="square" lIns="22860" rIns="22860" tIns="0" bIns="0">
            <a:spAutoFit/>
          </a:bodyPr>
          <a:lstStyle/>
          <a:p>
            <a:pPr algn="r">
              <a:spcAft>
                <a:spcPts val="600"/>
              </a:spcAft>
              <a:defRPr sz="2100" b="1">
                <a:solidFill>
                  <a:srgbClr val="159BB6"/>
                </a:solidFill>
                <a:latin typeface="Microsoft YaHei"/>
              </a:defRPr>
            </a:pPr>
            <a:r>
              <a:t>北京工业大学</a:t>
            </a:r>
          </a:p>
        </p:txBody>
      </p:sp>
      <p:sp>
        <p:nvSpPr>
          <p:cNvPr id="4" name="TextBox 3"/>
          <p:cNvSpPr txBox="1"/>
          <p:nvPr/>
        </p:nvSpPr>
        <p:spPr>
          <a:xfrm>
            <a:off x="8686800" y="621792"/>
            <a:ext cx="3063240" cy="182880"/>
          </a:xfrm>
          <a:prstGeom prst="rect">
            <a:avLst/>
          </a:prstGeom>
          <a:noFill/>
          <a:effectLst/>
        </p:spPr>
        <p:txBody>
          <a:bodyPr wrap="square" lIns="22860" rIns="22860" tIns="0" bIns="0">
            <a:spAutoFit/>
          </a:bodyPr>
          <a:lstStyle/>
          <a:p>
            <a:pPr algn="r">
              <a:spcAft>
                <a:spcPts val="600"/>
              </a:spcAft>
              <a:defRPr sz="770" b="1">
                <a:solidFill>
                  <a:srgbClr val="159BB6"/>
                </a:solidFill>
                <a:latin typeface="Microsoft YaHei"/>
              </a:defRPr>
            </a:pPr>
            <a:r>
              <a:t>BEIJING UNIVERSITY OF TECHNOLOGY</a:t>
            </a:r>
          </a:p>
        </p:txBody>
      </p:sp>
      <p:sp>
        <p:nvSpPr>
          <p:cNvPr id="5" name="TextBox 4"/>
          <p:cNvSpPr txBox="1"/>
          <p:nvPr/>
        </p:nvSpPr>
        <p:spPr>
          <a:xfrm>
            <a:off x="594360" y="914400"/>
            <a:ext cx="11109960" cy="594360"/>
          </a:xfrm>
          <a:prstGeom prst="rect">
            <a:avLst/>
          </a:prstGeom>
          <a:noFill/>
          <a:effectLst/>
        </p:spPr>
        <p:txBody>
          <a:bodyPr wrap="square" lIns="22860" rIns="22860" tIns="0" bIns="0">
            <a:spAutoFit/>
          </a:bodyPr>
          <a:lstStyle/>
          <a:p>
            <a:pPr>
              <a:spcAft>
                <a:spcPts val="600"/>
              </a:spcAft>
              <a:defRPr sz="2600" b="1">
                <a:solidFill>
                  <a:srgbClr val="203864"/>
                </a:solidFill>
                <a:latin typeface="Microsoft YaHei"/>
              </a:defRPr>
            </a:pPr>
            <a:r>
              <a:t>PS / CH₂Cl₂ 研究提示含氯介质可以成为反应参与者</a:t>
            </a:r>
          </a:p>
        </p:txBody>
      </p:sp>
      <p:cxnSp>
        <p:nvCxnSpPr>
          <p:cNvPr id="6" name="Connector 5"/>
          <p:cNvCxnSpPr/>
          <p:nvPr/>
        </p:nvCxnSpPr>
        <p:spPr>
          <a:xfrm>
            <a:off x="594360" y="1636776"/>
            <a:ext cx="11018520" cy="0"/>
          </a:xfrm>
          <a:prstGeom prst="line">
            <a:avLst/>
          </a:prstGeom>
          <a:ln w="25400">
            <a:solidFill>
              <a:srgbClr val="203864"/>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40080" y="1773936"/>
            <a:ext cx="10972800" cy="393192"/>
          </a:xfrm>
          <a:prstGeom prst="rect">
            <a:avLst/>
          </a:prstGeom>
          <a:noFill/>
          <a:effectLst/>
        </p:spPr>
        <p:txBody>
          <a:bodyPr wrap="square" lIns="22860" rIns="22860" tIns="0" bIns="0">
            <a:spAutoFit/>
          </a:bodyPr>
          <a:lstStyle/>
          <a:p>
            <a:pPr>
              <a:spcAft>
                <a:spcPts val="600"/>
              </a:spcAft>
              <a:defRPr sz="1300" b="0">
                <a:solidFill>
                  <a:srgbClr val="566273"/>
                </a:solidFill>
                <a:latin typeface="Microsoft YaHei"/>
              </a:defRPr>
            </a:pPr>
            <a:r>
              <a:t>标准条件：10 mg PS，4 mL CH₂Cl₂，365 nm，1 bar O₂，30 ± 5 ℃；无外加光催化剂</a:t>
            </a:r>
          </a:p>
        </p:txBody>
      </p:sp>
      <p:cxnSp>
        <p:nvCxnSpPr>
          <p:cNvPr id="8" name="Connector 7"/>
          <p:cNvCxnSpPr/>
          <p:nvPr/>
        </p:nvCxnSpPr>
        <p:spPr>
          <a:xfrm>
            <a:off x="594360" y="6446520"/>
            <a:ext cx="11018520" cy="0"/>
          </a:xfrm>
          <a:prstGeom prst="line">
            <a:avLst/>
          </a:prstGeom>
          <a:ln w="10160">
            <a:solidFill>
              <a:srgbClr val="CED7E3"/>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94360" y="6547104"/>
            <a:ext cx="10469880" cy="182880"/>
          </a:xfrm>
          <a:prstGeom prst="rect">
            <a:avLst/>
          </a:prstGeom>
          <a:noFill/>
          <a:effectLst/>
        </p:spPr>
        <p:txBody>
          <a:bodyPr wrap="square" lIns="22860" rIns="22860" tIns="0" bIns="0">
            <a:spAutoFit/>
          </a:bodyPr>
          <a:lstStyle/>
          <a:p>
            <a:pPr>
              <a:spcAft>
                <a:spcPts val="600"/>
              </a:spcAft>
              <a:defRPr sz="800" b="0">
                <a:solidFill>
                  <a:srgbClr val="566273"/>
                </a:solidFill>
                <a:latin typeface="Arial"/>
              </a:defRPr>
            </a:pPr>
            <a:r>
              <a:t>Su et al., Angew. Chem. Int. Ed. 2026, e5578835.</a:t>
            </a:r>
          </a:p>
        </p:txBody>
      </p:sp>
      <p:sp>
        <p:nvSpPr>
          <p:cNvPr id="10" name="TextBox 9"/>
          <p:cNvSpPr txBox="1"/>
          <p:nvPr/>
        </p:nvSpPr>
        <p:spPr>
          <a:xfrm>
            <a:off x="11137392" y="6510528"/>
            <a:ext cx="438912" cy="237744"/>
          </a:xfrm>
          <a:prstGeom prst="rect">
            <a:avLst/>
          </a:prstGeom>
          <a:noFill/>
          <a:effectLst/>
        </p:spPr>
        <p:txBody>
          <a:bodyPr wrap="square" lIns="22860" rIns="22860" tIns="0" bIns="0">
            <a:spAutoFit/>
          </a:bodyPr>
          <a:lstStyle/>
          <a:p>
            <a:pPr algn="r">
              <a:spcAft>
                <a:spcPts val="600"/>
              </a:spcAft>
              <a:defRPr sz="1100" b="1">
                <a:solidFill>
                  <a:srgbClr val="203864"/>
                </a:solidFill>
                <a:latin typeface="Microsoft YaHei"/>
              </a:defRPr>
            </a:pPr>
            <a:r>
              <a:t>7</a:t>
            </a:r>
          </a:p>
        </p:txBody>
      </p:sp>
      <p:sp>
        <p:nvSpPr>
          <p:cNvPr id="11" name="Freeform 10"/>
          <p:cNvSpPr/>
          <p:nvPr/>
        </p:nvSpPr>
        <p:spPr>
          <a:xfrm>
            <a:off x="950976" y="2706624"/>
            <a:ext cx="3291840" cy="173736"/>
          </a:xfrm>
          <a:custGeom>
            <a:avLst/>
            <a:gdLst/>
            <a:ahLst/>
            <a:cxnLst/>
            <a:rect l="l" t="t" r="r" b="b"/>
            <a:pathLst>
              <a:path w="3291840" h="173736">
                <a:moveTo>
                  <a:pt x="0" y="0"/>
                </a:moveTo>
                <a:lnTo>
                  <a:pt x="548640" y="173736"/>
                </a:lnTo>
                <a:lnTo>
                  <a:pt x="1097280" y="0"/>
                </a:lnTo>
                <a:lnTo>
                  <a:pt x="1645920" y="173736"/>
                </a:lnTo>
                <a:lnTo>
                  <a:pt x="2194560" y="0"/>
                </a:lnTo>
                <a:lnTo>
                  <a:pt x="2743200" y="173736"/>
                </a:lnTo>
                <a:lnTo>
                  <a:pt x="3291840" y="0"/>
                </a:lnTo>
              </a:path>
            </a:pathLst>
          </a:custGeom>
          <a:noFill/>
          <a:ln w="2286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04088" y="2679192"/>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13" name="TextBox 12"/>
          <p:cNvSpPr txBox="1"/>
          <p:nvPr/>
        </p:nvSpPr>
        <p:spPr>
          <a:xfrm>
            <a:off x="4288536" y="2679192"/>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cxnSp>
        <p:nvCxnSpPr>
          <p:cNvPr id="14" name="Connector 13"/>
          <p:cNvCxnSpPr/>
          <p:nvPr/>
        </p:nvCxnSpPr>
        <p:spPr>
          <a:xfrm>
            <a:off x="1499616" y="2880360"/>
            <a:ext cx="0" cy="329184"/>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5" name="Freeform 14"/>
          <p:cNvSpPr/>
          <p:nvPr/>
        </p:nvSpPr>
        <p:spPr>
          <a:xfrm>
            <a:off x="1285804" y="3227832"/>
            <a:ext cx="427623" cy="493776"/>
          </a:xfrm>
          <a:custGeom>
            <a:avLst/>
            <a:gdLst/>
            <a:ahLst/>
            <a:cxnLst/>
            <a:rect l="l" t="t" r="r" b="b"/>
            <a:pathLst>
              <a:path w="427623" h="493776">
                <a:moveTo>
                  <a:pt x="213812" y="0"/>
                </a:moveTo>
                <a:lnTo>
                  <a:pt x="427623" y="123444"/>
                </a:lnTo>
                <a:lnTo>
                  <a:pt x="427623" y="370331"/>
                </a:lnTo>
                <a:lnTo>
                  <a:pt x="213812" y="493776"/>
                </a:lnTo>
                <a:lnTo>
                  <a:pt x="0" y="370331"/>
                </a:lnTo>
                <a:lnTo>
                  <a:pt x="0" y="123443"/>
                </a:lnTo>
                <a:lnTo>
                  <a:pt x="213812"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6" name="Connector 15"/>
          <p:cNvCxnSpPr/>
          <p:nvPr/>
        </p:nvCxnSpPr>
        <p:spPr>
          <a:xfrm>
            <a:off x="1499616" y="3296960"/>
            <a:ext cx="153944" cy="8888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flipH="1">
            <a:off x="1499616" y="3563599"/>
            <a:ext cx="153944" cy="8888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8" name="Connector 17"/>
          <p:cNvCxnSpPr/>
          <p:nvPr/>
        </p:nvCxnSpPr>
        <p:spPr>
          <a:xfrm flipV="1">
            <a:off x="1345671" y="3385840"/>
            <a:ext cx="0" cy="177759"/>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9" name="Connector 18"/>
          <p:cNvCxnSpPr/>
          <p:nvPr/>
        </p:nvCxnSpPr>
        <p:spPr>
          <a:xfrm>
            <a:off x="2596896" y="2880360"/>
            <a:ext cx="0" cy="329184"/>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0" name="Freeform 19"/>
          <p:cNvSpPr/>
          <p:nvPr/>
        </p:nvSpPr>
        <p:spPr>
          <a:xfrm>
            <a:off x="2383084" y="3227832"/>
            <a:ext cx="427623" cy="493776"/>
          </a:xfrm>
          <a:custGeom>
            <a:avLst/>
            <a:gdLst/>
            <a:ahLst/>
            <a:cxnLst/>
            <a:rect l="l" t="t" r="r" b="b"/>
            <a:pathLst>
              <a:path w="427623" h="493776">
                <a:moveTo>
                  <a:pt x="213812" y="0"/>
                </a:moveTo>
                <a:lnTo>
                  <a:pt x="427623" y="123444"/>
                </a:lnTo>
                <a:lnTo>
                  <a:pt x="427623" y="370331"/>
                </a:lnTo>
                <a:lnTo>
                  <a:pt x="213812" y="493776"/>
                </a:lnTo>
                <a:lnTo>
                  <a:pt x="0" y="370331"/>
                </a:lnTo>
                <a:lnTo>
                  <a:pt x="0" y="123443"/>
                </a:lnTo>
                <a:lnTo>
                  <a:pt x="213812"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1" name="Connector 20"/>
          <p:cNvCxnSpPr/>
          <p:nvPr/>
        </p:nvCxnSpPr>
        <p:spPr>
          <a:xfrm>
            <a:off x="2596896" y="3296960"/>
            <a:ext cx="153944" cy="8888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flipH="1">
            <a:off x="2596896" y="3563599"/>
            <a:ext cx="153944" cy="8888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flipV="1">
            <a:off x="2442951" y="3385840"/>
            <a:ext cx="0" cy="177759"/>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a:off x="3694176" y="2880360"/>
            <a:ext cx="0" cy="329184"/>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5" name="Freeform 24"/>
          <p:cNvSpPr/>
          <p:nvPr/>
        </p:nvSpPr>
        <p:spPr>
          <a:xfrm>
            <a:off x="3480364" y="3227832"/>
            <a:ext cx="427623" cy="493776"/>
          </a:xfrm>
          <a:custGeom>
            <a:avLst/>
            <a:gdLst/>
            <a:ahLst/>
            <a:cxnLst/>
            <a:rect l="l" t="t" r="r" b="b"/>
            <a:pathLst>
              <a:path w="427623" h="493776">
                <a:moveTo>
                  <a:pt x="213812" y="0"/>
                </a:moveTo>
                <a:lnTo>
                  <a:pt x="427623" y="123444"/>
                </a:lnTo>
                <a:lnTo>
                  <a:pt x="427623" y="370331"/>
                </a:lnTo>
                <a:lnTo>
                  <a:pt x="213812" y="493776"/>
                </a:lnTo>
                <a:lnTo>
                  <a:pt x="0" y="370331"/>
                </a:lnTo>
                <a:lnTo>
                  <a:pt x="0" y="123443"/>
                </a:lnTo>
                <a:lnTo>
                  <a:pt x="213812"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6" name="Connector 25"/>
          <p:cNvCxnSpPr/>
          <p:nvPr/>
        </p:nvCxnSpPr>
        <p:spPr>
          <a:xfrm>
            <a:off x="3694176" y="3296960"/>
            <a:ext cx="153944" cy="8888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7" name="Connector 26"/>
          <p:cNvCxnSpPr/>
          <p:nvPr/>
        </p:nvCxnSpPr>
        <p:spPr>
          <a:xfrm flipH="1">
            <a:off x="3694176" y="3563599"/>
            <a:ext cx="153944" cy="8888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8" name="Connector 27"/>
          <p:cNvCxnSpPr/>
          <p:nvPr/>
        </p:nvCxnSpPr>
        <p:spPr>
          <a:xfrm flipV="1">
            <a:off x="3540231" y="3385840"/>
            <a:ext cx="0" cy="177759"/>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896112" y="3822191"/>
            <a:ext cx="3977639" cy="320040"/>
          </a:xfrm>
          <a:prstGeom prst="rect">
            <a:avLst/>
          </a:prstGeom>
          <a:noFill/>
          <a:effectLst/>
        </p:spPr>
        <p:txBody>
          <a:bodyPr wrap="square" lIns="22860" rIns="22860" tIns="0" bIns="0">
            <a:spAutoFit/>
          </a:bodyPr>
          <a:lstStyle/>
          <a:p>
            <a:pPr>
              <a:spcAft>
                <a:spcPts val="600"/>
              </a:spcAft>
              <a:defRPr sz="2100" b="1">
                <a:solidFill>
                  <a:srgbClr val="203864"/>
                </a:solidFill>
                <a:latin typeface="Microsoft YaHei"/>
              </a:defRPr>
            </a:pPr>
            <a:r>
              <a:t>PS / CH₂Cl₂</a:t>
            </a:r>
          </a:p>
        </p:txBody>
      </p:sp>
      <p:cxnSp>
        <p:nvCxnSpPr>
          <p:cNvPr id="30" name="Connector 29"/>
          <p:cNvCxnSpPr/>
          <p:nvPr/>
        </p:nvCxnSpPr>
        <p:spPr>
          <a:xfrm>
            <a:off x="2633472" y="4352544"/>
            <a:ext cx="0" cy="310896"/>
          </a:xfrm>
          <a:prstGeom prst="line">
            <a:avLst/>
          </a:prstGeom>
          <a:ln w="17780">
            <a:solidFill>
              <a:srgbClr val="20386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31" name="TextBox 30"/>
          <p:cNvSpPr txBox="1"/>
          <p:nvPr/>
        </p:nvSpPr>
        <p:spPr>
          <a:xfrm>
            <a:off x="896112" y="4846320"/>
            <a:ext cx="4069080" cy="530352"/>
          </a:xfrm>
          <a:prstGeom prst="rect">
            <a:avLst/>
          </a:prstGeom>
          <a:noFill/>
          <a:effectLst/>
        </p:spPr>
        <p:txBody>
          <a:bodyPr wrap="square" lIns="22860" rIns="22860" tIns="0" bIns="0">
            <a:spAutoFit/>
          </a:bodyPr>
          <a:lstStyle/>
          <a:p>
            <a:pPr>
              <a:spcAft>
                <a:spcPts val="600"/>
              </a:spcAft>
              <a:defRPr sz="2100" b="1">
                <a:solidFill>
                  <a:srgbClr val="111111"/>
                </a:solidFill>
                <a:latin typeface="Microsoft YaHei"/>
              </a:defRPr>
            </a:pPr>
            <a:r>
              <a:t>含氧中间体 → 芳香族产物</a:t>
            </a:r>
          </a:p>
        </p:txBody>
      </p:sp>
      <p:graphicFrame>
        <p:nvGraphicFramePr>
          <p:cNvPr id="32" name="Table 31"/>
          <p:cNvGraphicFramePr>
            <a:graphicFrameLocks noGrp="1"/>
          </p:cNvGraphicFramePr>
          <p:nvPr/>
        </p:nvGraphicFramePr>
        <p:xfrm>
          <a:off x="5605272" y="2532888"/>
          <a:ext cx="5788152" cy="2926080"/>
        </p:xfrm>
        <a:graphic>
          <a:graphicData uri="http://schemas.openxmlformats.org/drawingml/2006/table">
            <a:tbl>
              <a:tblPr firstRow="1" bandRow="1">
                <a:tableStyleId>{5C22544A-7EE6-4342-B048-85BDC9FD1C3A}</a:tableStyleId>
              </a:tblPr>
              <a:tblGrid>
                <a:gridCol w="1417320"/>
                <a:gridCol w="4370832"/>
              </a:tblGrid>
              <a:tr h="585216">
                <a:tc>
                  <a:txBody>
                    <a:bodyPr/>
                    <a:lstStyle/>
                    <a:p>
                      <a:pPr>
                        <a:defRPr sz="1600" b="1">
                          <a:solidFill>
                            <a:srgbClr val="FFFFFF"/>
                          </a:solidFill>
                          <a:latin typeface="Microsoft YaHei"/>
                        </a:defRPr>
                      </a:pPr>
                      <a:r>
                        <a:t>关键证据</a:t>
                      </a:r>
                    </a:p>
                  </a:txBody>
                  <a:tcPr marL="91440" marR="64008" marT="64008" marB="45720">
                    <a:solidFill>
                      <a:srgbClr val="203864"/>
                    </a:solidFill>
                  </a:tcPr>
                </a:tc>
                <a:tc>
                  <a:txBody>
                    <a:bodyPr/>
                    <a:lstStyle/>
                    <a:p>
                      <a:pPr>
                        <a:defRPr sz="1600" b="1">
                          <a:solidFill>
                            <a:srgbClr val="FFFFFF"/>
                          </a:solidFill>
                          <a:latin typeface="Microsoft YaHei"/>
                        </a:defRPr>
                      </a:pPr>
                      <a:r>
                        <a:t>作者报告与本课题启发</a:t>
                      </a:r>
                    </a:p>
                  </a:txBody>
                  <a:tcPr marL="91440" marR="64008" marT="64008" marB="45720">
                    <a:solidFill>
                      <a:srgbClr val="203864"/>
                    </a:solidFill>
                  </a:tcPr>
                </a:tc>
              </a:tr>
              <a:tr h="585216">
                <a:tc>
                  <a:txBody>
                    <a:bodyPr/>
                    <a:lstStyle/>
                    <a:p>
                      <a:pPr>
                        <a:defRPr sz="1600" b="0">
                          <a:solidFill>
                            <a:srgbClr val="111111"/>
                          </a:solidFill>
                          <a:latin typeface="Microsoft YaHei"/>
                        </a:defRPr>
                      </a:pPr>
                      <a:r>
                        <a:t>Cl· 归属</a:t>
                      </a:r>
                    </a:p>
                  </a:txBody>
                  <a:tcPr marL="91440" marR="64008" marT="64008" marB="45720">
                    <a:solidFill>
                      <a:srgbClr val="FFFFFF"/>
                    </a:solidFill>
                  </a:tcPr>
                </a:tc>
                <a:tc>
                  <a:txBody>
                    <a:bodyPr/>
                    <a:lstStyle/>
                    <a:p>
                      <a:pPr>
                        <a:defRPr sz="1600" b="0">
                          <a:solidFill>
                            <a:srgbClr val="111111"/>
                          </a:solidFill>
                          <a:latin typeface="Microsoft YaHei"/>
                        </a:defRPr>
                      </a:pPr>
                      <a:r>
                        <a:t>PBN 自旋捕获及 EPR 模拟归属</a:t>
                      </a:r>
                    </a:p>
                  </a:txBody>
                  <a:tcPr marL="91440" marR="64008" marT="64008" marB="45720">
                    <a:solidFill>
                      <a:srgbClr val="FFFFFF"/>
                    </a:solidFill>
                  </a:tcPr>
                </a:tc>
              </a:tr>
              <a:tr h="585216">
                <a:tc>
                  <a:txBody>
                    <a:bodyPr/>
                    <a:lstStyle/>
                    <a:p>
                      <a:pPr>
                        <a:defRPr sz="1600" b="0">
                          <a:solidFill>
                            <a:srgbClr val="111111"/>
                          </a:solidFill>
                          <a:latin typeface="Microsoft YaHei"/>
                        </a:defRPr>
                      </a:pPr>
                      <a:r>
                        <a:t>链长变化</a:t>
                      </a:r>
                    </a:p>
                  </a:txBody>
                  <a:tcPr marL="91440" marR="64008" marT="64008" marB="45720">
                    <a:solidFill>
                      <a:srgbClr val="EEF3FA"/>
                    </a:solidFill>
                  </a:tcPr>
                </a:tc>
                <a:tc>
                  <a:txBody>
                    <a:bodyPr/>
                    <a:lstStyle/>
                    <a:p>
                      <a:pPr>
                        <a:defRPr sz="1600" b="0">
                          <a:solidFill>
                            <a:srgbClr val="111111"/>
                          </a:solidFill>
                          <a:latin typeface="Microsoft YaHei"/>
                        </a:defRPr>
                      </a:pPr>
                      <a:r>
                        <a:t>GPC 的 Mn、Mw 下降支持 PS 链裂解</a:t>
                      </a:r>
                    </a:p>
                  </a:txBody>
                  <a:tcPr marL="91440" marR="64008" marT="64008" marB="45720">
                    <a:solidFill>
                      <a:srgbClr val="EEF3FA"/>
                    </a:solidFill>
                  </a:tcPr>
                </a:tc>
              </a:tr>
              <a:tr h="585216">
                <a:tc>
                  <a:txBody>
                    <a:bodyPr/>
                    <a:lstStyle/>
                    <a:p>
                      <a:pPr>
                        <a:defRPr sz="1600" b="0">
                          <a:solidFill>
                            <a:srgbClr val="111111"/>
                          </a:solidFill>
                          <a:latin typeface="Microsoft YaHei"/>
                        </a:defRPr>
                      </a:pPr>
                      <a:r>
                        <a:t>反应依赖</a:t>
                      </a:r>
                    </a:p>
                  </a:txBody>
                  <a:tcPr marL="91440" marR="64008" marT="64008" marB="45720">
                    <a:solidFill>
                      <a:srgbClr val="FFFFFF"/>
                    </a:solidFill>
                  </a:tcPr>
                </a:tc>
                <a:tc>
                  <a:txBody>
                    <a:bodyPr/>
                    <a:lstStyle/>
                    <a:p>
                      <a:pPr>
                        <a:defRPr sz="1600" b="0">
                          <a:solidFill>
                            <a:srgbClr val="111111"/>
                          </a:solidFill>
                          <a:latin typeface="Microsoft YaHei"/>
                        </a:defRPr>
                      </a:pPr>
                      <a:r>
                        <a:t>光暗、Ar/O₂ 与介质对照</a:t>
                      </a:r>
                    </a:p>
                  </a:txBody>
                  <a:tcPr marL="91440" marR="64008" marT="64008" marB="45720">
                    <a:solidFill>
                      <a:srgbClr val="FFFFFF"/>
                    </a:solidFill>
                  </a:tcPr>
                </a:tc>
              </a:tr>
              <a:tr h="585216">
                <a:tc>
                  <a:txBody>
                    <a:bodyPr/>
                    <a:lstStyle/>
                    <a:p>
                      <a:pPr>
                        <a:defRPr sz="1600" b="0">
                          <a:solidFill>
                            <a:srgbClr val="111111"/>
                          </a:solidFill>
                          <a:latin typeface="Microsoft YaHei"/>
                        </a:defRPr>
                      </a:pPr>
                      <a:r>
                        <a:t>反应加速</a:t>
                      </a:r>
                    </a:p>
                  </a:txBody>
                  <a:tcPr marL="91440" marR="64008" marT="64008" marB="45720">
                    <a:solidFill>
                      <a:srgbClr val="EEF3FA"/>
                    </a:solidFill>
                  </a:tcPr>
                </a:tc>
                <a:tc>
                  <a:txBody>
                    <a:bodyPr/>
                    <a:lstStyle/>
                    <a:p>
                      <a:pPr>
                        <a:defRPr sz="1600" b="0">
                          <a:solidFill>
                            <a:srgbClr val="111111"/>
                          </a:solidFill>
                          <a:latin typeface="Microsoft YaHei"/>
                        </a:defRPr>
                      </a:pPr>
                      <a:r>
                        <a:t>作者提出含氧中间体增强吸光</a:t>
                      </a:r>
                    </a:p>
                  </a:txBody>
                  <a:tcPr marL="91440" marR="64008" marT="64008" marB="45720">
                    <a:solidFill>
                      <a:srgbClr val="EEF3FA"/>
                    </a:solidFill>
                  </a:tcPr>
                </a:tc>
              </a:tr>
            </a:tbl>
          </a:graphicData>
        </a:graphic>
      </p:graphicFrame>
      <p:sp>
        <p:nvSpPr>
          <p:cNvPr id="33" name="Rectangle 32"/>
          <p:cNvSpPr/>
          <p:nvPr/>
        </p:nvSpPr>
        <p:spPr>
          <a:xfrm>
            <a:off x="594360" y="5907024"/>
            <a:ext cx="11018520" cy="411480"/>
          </a:xfrm>
          <a:prstGeom prst="rect">
            <a:avLst/>
          </a:prstGeom>
          <a:solidFill>
            <a:srgbClr val="EEF3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777240" y="5980176"/>
            <a:ext cx="10652760" cy="265176"/>
          </a:xfrm>
          <a:prstGeom prst="rect">
            <a:avLst/>
          </a:prstGeom>
          <a:noFill/>
          <a:effectLst/>
        </p:spPr>
        <p:txBody>
          <a:bodyPr wrap="square" lIns="22860" rIns="22860" tIns="0" bIns="0">
            <a:spAutoFit/>
          </a:bodyPr>
          <a:lstStyle/>
          <a:p>
            <a:pPr>
              <a:spcAft>
                <a:spcPts val="600"/>
              </a:spcAft>
              <a:defRPr sz="1600" b="1">
                <a:solidFill>
                  <a:srgbClr val="203864"/>
                </a:solidFill>
                <a:latin typeface="Microsoft YaHei"/>
              </a:defRPr>
            </a:pPr>
            <a:r>
              <a:t>可借鉴的是介质参与与证据组合；PS / CH₂Cl₂ 的物种和路径不能直接移植到 PVC / DCE。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384048" y="329184"/>
            <a:ext cx="50292" cy="320040"/>
          </a:xfrm>
          <a:prstGeom prst="rect">
            <a:avLst/>
          </a:prstGeom>
          <a:solidFill>
            <a:srgbClr val="20386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869680" y="246888"/>
            <a:ext cx="2880360" cy="356616"/>
          </a:xfrm>
          <a:prstGeom prst="rect">
            <a:avLst/>
          </a:prstGeom>
          <a:noFill/>
          <a:effectLst/>
        </p:spPr>
        <p:txBody>
          <a:bodyPr wrap="square" lIns="22860" rIns="22860" tIns="0" bIns="0">
            <a:spAutoFit/>
          </a:bodyPr>
          <a:lstStyle/>
          <a:p>
            <a:pPr algn="r">
              <a:spcAft>
                <a:spcPts val="600"/>
              </a:spcAft>
              <a:defRPr sz="2100" b="1">
                <a:solidFill>
                  <a:srgbClr val="159BB6"/>
                </a:solidFill>
                <a:latin typeface="Microsoft YaHei"/>
              </a:defRPr>
            </a:pPr>
            <a:r>
              <a:t>北京工业大学</a:t>
            </a:r>
          </a:p>
        </p:txBody>
      </p:sp>
      <p:sp>
        <p:nvSpPr>
          <p:cNvPr id="4" name="TextBox 3"/>
          <p:cNvSpPr txBox="1"/>
          <p:nvPr/>
        </p:nvSpPr>
        <p:spPr>
          <a:xfrm>
            <a:off x="8686800" y="621792"/>
            <a:ext cx="3063240" cy="182880"/>
          </a:xfrm>
          <a:prstGeom prst="rect">
            <a:avLst/>
          </a:prstGeom>
          <a:noFill/>
          <a:effectLst/>
        </p:spPr>
        <p:txBody>
          <a:bodyPr wrap="square" lIns="22860" rIns="22860" tIns="0" bIns="0">
            <a:spAutoFit/>
          </a:bodyPr>
          <a:lstStyle/>
          <a:p>
            <a:pPr algn="r">
              <a:spcAft>
                <a:spcPts val="600"/>
              </a:spcAft>
              <a:defRPr sz="770" b="1">
                <a:solidFill>
                  <a:srgbClr val="159BB6"/>
                </a:solidFill>
                <a:latin typeface="Microsoft YaHei"/>
              </a:defRPr>
            </a:pPr>
            <a:r>
              <a:t>BEIJING UNIVERSITY OF TECHNOLOGY</a:t>
            </a:r>
          </a:p>
        </p:txBody>
      </p:sp>
      <p:sp>
        <p:nvSpPr>
          <p:cNvPr id="5" name="TextBox 4"/>
          <p:cNvSpPr txBox="1"/>
          <p:nvPr/>
        </p:nvSpPr>
        <p:spPr>
          <a:xfrm>
            <a:off x="594360" y="914400"/>
            <a:ext cx="11109960" cy="594360"/>
          </a:xfrm>
          <a:prstGeom prst="rect">
            <a:avLst/>
          </a:prstGeom>
          <a:noFill/>
          <a:effectLst/>
        </p:spPr>
        <p:txBody>
          <a:bodyPr wrap="square" lIns="22860" rIns="22860" tIns="0" bIns="0">
            <a:spAutoFit/>
          </a:bodyPr>
          <a:lstStyle/>
          <a:p>
            <a:pPr>
              <a:spcAft>
                <a:spcPts val="600"/>
              </a:spcAft>
              <a:defRPr sz="2600" b="1">
                <a:solidFill>
                  <a:srgbClr val="203864"/>
                </a:solidFill>
                <a:latin typeface="Microsoft YaHei"/>
              </a:defRPr>
            </a:pPr>
            <a:r>
              <a:t>外源介质与 PVC 含氯位点构成不同的活化来源</a:t>
            </a:r>
          </a:p>
        </p:txBody>
      </p:sp>
      <p:cxnSp>
        <p:nvCxnSpPr>
          <p:cNvPr id="6" name="Connector 5"/>
          <p:cNvCxnSpPr/>
          <p:nvPr/>
        </p:nvCxnSpPr>
        <p:spPr>
          <a:xfrm>
            <a:off x="594360" y="1636776"/>
            <a:ext cx="11018520" cy="0"/>
          </a:xfrm>
          <a:prstGeom prst="line">
            <a:avLst/>
          </a:prstGeom>
          <a:ln w="25400">
            <a:solidFill>
              <a:srgbClr val="203864"/>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40080" y="1773936"/>
            <a:ext cx="10972800" cy="393192"/>
          </a:xfrm>
          <a:prstGeom prst="rect">
            <a:avLst/>
          </a:prstGeom>
          <a:noFill/>
          <a:effectLst/>
        </p:spPr>
        <p:txBody>
          <a:bodyPr wrap="square" lIns="22860" rIns="22860" tIns="0" bIns="0">
            <a:spAutoFit/>
          </a:bodyPr>
          <a:lstStyle/>
          <a:p>
            <a:pPr>
              <a:spcAft>
                <a:spcPts val="600"/>
              </a:spcAft>
              <a:defRPr sz="1300" b="0">
                <a:solidFill>
                  <a:srgbClr val="566273"/>
                </a:solidFill>
                <a:latin typeface="Microsoft YaHei"/>
              </a:defRPr>
            </a:pPr>
            <a:r>
              <a:t>PVC 脱氯、游离 Cl· 形成与 C–C 断裂必须分别建立证据</a:t>
            </a:r>
          </a:p>
        </p:txBody>
      </p:sp>
      <p:cxnSp>
        <p:nvCxnSpPr>
          <p:cNvPr id="8" name="Connector 7"/>
          <p:cNvCxnSpPr/>
          <p:nvPr/>
        </p:nvCxnSpPr>
        <p:spPr>
          <a:xfrm>
            <a:off x="594360" y="6446520"/>
            <a:ext cx="11018520" cy="0"/>
          </a:xfrm>
          <a:prstGeom prst="line">
            <a:avLst/>
          </a:prstGeom>
          <a:ln w="10160">
            <a:solidFill>
              <a:srgbClr val="CED7E3"/>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94360" y="6547104"/>
            <a:ext cx="10469880" cy="182880"/>
          </a:xfrm>
          <a:prstGeom prst="rect">
            <a:avLst/>
          </a:prstGeom>
          <a:noFill/>
          <a:effectLst/>
        </p:spPr>
        <p:txBody>
          <a:bodyPr wrap="square" lIns="22860" rIns="22860" tIns="0" bIns="0">
            <a:spAutoFit/>
          </a:bodyPr>
          <a:lstStyle/>
          <a:p>
            <a:pPr>
              <a:spcAft>
                <a:spcPts val="600"/>
              </a:spcAft>
              <a:defRPr sz="800" b="0">
                <a:solidFill>
                  <a:srgbClr val="566273"/>
                </a:solidFill>
                <a:latin typeface="Arial"/>
              </a:defRPr>
            </a:pPr>
            <a:r>
              <a:t>Xu et al., Nat. Rev. Methods Primers 2023, 3, 44. Qin et al., Appl. Catal. B: Environ. 2024, 341, 123355. Su et al., Angew. Chem. Int. Ed. 2026, e5578835.</a:t>
            </a:r>
          </a:p>
        </p:txBody>
      </p:sp>
      <p:sp>
        <p:nvSpPr>
          <p:cNvPr id="10" name="TextBox 9"/>
          <p:cNvSpPr txBox="1"/>
          <p:nvPr/>
        </p:nvSpPr>
        <p:spPr>
          <a:xfrm>
            <a:off x="11137392" y="6510528"/>
            <a:ext cx="438912" cy="237744"/>
          </a:xfrm>
          <a:prstGeom prst="rect">
            <a:avLst/>
          </a:prstGeom>
          <a:noFill/>
          <a:effectLst/>
        </p:spPr>
        <p:txBody>
          <a:bodyPr wrap="square" lIns="22860" rIns="22860" tIns="0" bIns="0">
            <a:spAutoFit/>
          </a:bodyPr>
          <a:lstStyle/>
          <a:p>
            <a:pPr algn="r">
              <a:spcAft>
                <a:spcPts val="600"/>
              </a:spcAft>
              <a:defRPr sz="1100" b="1">
                <a:solidFill>
                  <a:srgbClr val="203864"/>
                </a:solidFill>
                <a:latin typeface="Microsoft YaHei"/>
              </a:defRPr>
            </a:pPr>
            <a:r>
              <a:t>8</a:t>
            </a:r>
          </a:p>
        </p:txBody>
      </p:sp>
      <p:sp>
        <p:nvSpPr>
          <p:cNvPr id="11" name="TextBox 10"/>
          <p:cNvSpPr txBox="1"/>
          <p:nvPr/>
        </p:nvSpPr>
        <p:spPr>
          <a:xfrm>
            <a:off x="868680" y="2441448"/>
            <a:ext cx="3246120" cy="365760"/>
          </a:xfrm>
          <a:prstGeom prst="rect">
            <a:avLst/>
          </a:prstGeom>
          <a:noFill/>
          <a:effectLst/>
        </p:spPr>
        <p:txBody>
          <a:bodyPr wrap="square" lIns="22860" rIns="22860" tIns="0" bIns="0">
            <a:spAutoFit/>
          </a:bodyPr>
          <a:lstStyle/>
          <a:p>
            <a:pPr>
              <a:spcAft>
                <a:spcPts val="600"/>
              </a:spcAft>
              <a:defRPr sz="2200" b="1">
                <a:solidFill>
                  <a:srgbClr val="203864"/>
                </a:solidFill>
                <a:latin typeface="Microsoft YaHei"/>
              </a:defRPr>
            </a:pPr>
            <a:r>
              <a:t>文献事实</a:t>
            </a:r>
          </a:p>
        </p:txBody>
      </p:sp>
      <p:sp>
        <p:nvSpPr>
          <p:cNvPr id="12" name="TextBox 11"/>
          <p:cNvSpPr txBox="1"/>
          <p:nvPr/>
        </p:nvSpPr>
        <p:spPr>
          <a:xfrm>
            <a:off x="4626864" y="2441448"/>
            <a:ext cx="3246120" cy="365760"/>
          </a:xfrm>
          <a:prstGeom prst="rect">
            <a:avLst/>
          </a:prstGeom>
          <a:noFill/>
          <a:effectLst/>
        </p:spPr>
        <p:txBody>
          <a:bodyPr wrap="square" lIns="22860" rIns="22860" tIns="0" bIns="0">
            <a:spAutoFit/>
          </a:bodyPr>
          <a:lstStyle/>
          <a:p>
            <a:pPr>
              <a:spcAft>
                <a:spcPts val="600"/>
              </a:spcAft>
              <a:defRPr sz="2200" b="1">
                <a:solidFill>
                  <a:srgbClr val="203864"/>
                </a:solidFill>
                <a:latin typeface="Microsoft YaHei"/>
              </a:defRPr>
            </a:pPr>
            <a:r>
              <a:t>本课题推测</a:t>
            </a:r>
          </a:p>
        </p:txBody>
      </p:sp>
      <p:sp>
        <p:nvSpPr>
          <p:cNvPr id="13" name="TextBox 12"/>
          <p:cNvSpPr txBox="1"/>
          <p:nvPr/>
        </p:nvSpPr>
        <p:spPr>
          <a:xfrm>
            <a:off x="8339327" y="2441448"/>
            <a:ext cx="3017520" cy="365760"/>
          </a:xfrm>
          <a:prstGeom prst="rect">
            <a:avLst/>
          </a:prstGeom>
          <a:noFill/>
          <a:effectLst/>
        </p:spPr>
        <p:txBody>
          <a:bodyPr wrap="square" lIns="22860" rIns="22860" tIns="0" bIns="0">
            <a:spAutoFit/>
          </a:bodyPr>
          <a:lstStyle/>
          <a:p>
            <a:pPr>
              <a:spcAft>
                <a:spcPts val="600"/>
              </a:spcAft>
              <a:defRPr sz="2200" b="1">
                <a:solidFill>
                  <a:srgbClr val="203864"/>
                </a:solidFill>
                <a:latin typeface="Microsoft YaHei"/>
              </a:defRPr>
            </a:pPr>
            <a:r>
              <a:t>验证对象</a:t>
            </a:r>
          </a:p>
        </p:txBody>
      </p:sp>
      <p:cxnSp>
        <p:nvCxnSpPr>
          <p:cNvPr id="14" name="Connector 13"/>
          <p:cNvCxnSpPr/>
          <p:nvPr/>
        </p:nvCxnSpPr>
        <p:spPr>
          <a:xfrm>
            <a:off x="868680" y="2971800"/>
            <a:ext cx="2788920" cy="0"/>
          </a:xfrm>
          <a:prstGeom prst="line">
            <a:avLst/>
          </a:prstGeom>
          <a:ln w="20320">
            <a:solidFill>
              <a:srgbClr val="203864"/>
            </a:solidFill>
          </a:ln>
          <a:effectLst/>
        </p:spPr>
        <p:style>
          <a:lnRef idx="2">
            <a:schemeClr val="accent1"/>
          </a:lnRef>
          <a:fillRef idx="0">
            <a:schemeClr val="accent1"/>
          </a:fillRef>
          <a:effectRef idx="0">
            <a:schemeClr val="accent1"/>
          </a:effectRef>
          <a:fontRef idx="minor">
            <a:schemeClr val="tx1"/>
          </a:fontRef>
        </p:style>
      </p:cxnSp>
      <p:cxnSp>
        <p:nvCxnSpPr>
          <p:cNvPr id="15" name="Connector 14"/>
          <p:cNvCxnSpPr/>
          <p:nvPr/>
        </p:nvCxnSpPr>
        <p:spPr>
          <a:xfrm>
            <a:off x="4626864" y="2971800"/>
            <a:ext cx="2788919" cy="0"/>
          </a:xfrm>
          <a:prstGeom prst="line">
            <a:avLst/>
          </a:prstGeom>
          <a:ln w="20320">
            <a:solidFill>
              <a:srgbClr val="203864"/>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a:off x="8339327" y="2971800"/>
            <a:ext cx="2788920" cy="0"/>
          </a:xfrm>
          <a:prstGeom prst="line">
            <a:avLst/>
          </a:prstGeom>
          <a:ln w="20320">
            <a:solidFill>
              <a:srgbClr val="203864"/>
            </a:solidFill>
          </a:ln>
          <a:effectLst/>
        </p:spPr>
        <p:style>
          <a:lnRef idx="2">
            <a:schemeClr val="accent1"/>
          </a:lnRef>
          <a:fillRef idx="0">
            <a:schemeClr val="accent1"/>
          </a:fillRef>
          <a:effectRef idx="0">
            <a:schemeClr val="accent1"/>
          </a:effectRef>
          <a:fontRef idx="minor">
            <a:schemeClr val="tx1"/>
          </a:fontRef>
        </p:style>
      </p:cxnSp>
      <p:sp>
        <p:nvSpPr>
          <p:cNvPr id="17" name="TextBox 16"/>
          <p:cNvSpPr txBox="1"/>
          <p:nvPr/>
        </p:nvSpPr>
        <p:spPr>
          <a:xfrm>
            <a:off x="868680" y="3273552"/>
            <a:ext cx="3017520" cy="1426464"/>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PS / CH₂Cl₂：介质参与</a:t>
            </a:r>
          </a:p>
          <a:p>
            <a:pPr>
              <a:spcAft>
                <a:spcPts val="600"/>
              </a:spcAft>
              <a:defRPr sz="1800" b="0">
                <a:solidFill>
                  <a:srgbClr val="111111"/>
                </a:solidFill>
                <a:latin typeface="Microsoft YaHei"/>
              </a:defRPr>
            </a:pPr>
            <a:r>
              <a:t>PVC 催化先例：</a:t>
            </a:r>
          </a:p>
          <a:p>
            <a:pPr>
              <a:spcAft>
                <a:spcPts val="600"/>
              </a:spcAft>
              <a:defRPr sz="1800" b="0">
                <a:solidFill>
                  <a:srgbClr val="111111"/>
                </a:solidFill>
                <a:latin typeface="Microsoft YaHei"/>
              </a:defRPr>
            </a:pPr>
            <a:r>
              <a:t>Cl⁻、ESR 与链长联合评价</a:t>
            </a:r>
          </a:p>
        </p:txBody>
      </p:sp>
      <p:sp>
        <p:nvSpPr>
          <p:cNvPr id="18" name="TextBox 17"/>
          <p:cNvSpPr txBox="1"/>
          <p:nvPr/>
        </p:nvSpPr>
        <p:spPr>
          <a:xfrm>
            <a:off x="4626864" y="3273552"/>
            <a:ext cx="3017520" cy="1426464"/>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DCE 或 PVC 的 C–Cl</a:t>
            </a:r>
          </a:p>
          <a:p>
            <a:pPr>
              <a:spcAft>
                <a:spcPts val="600"/>
              </a:spcAft>
              <a:defRPr sz="1800" b="0">
                <a:solidFill>
                  <a:srgbClr val="111111"/>
                </a:solidFill>
                <a:latin typeface="Microsoft YaHei"/>
              </a:defRPr>
            </a:pPr>
            <a:r>
              <a:t>可能参与活化；</a:t>
            </a:r>
          </a:p>
          <a:p>
            <a:pPr>
              <a:spcAft>
                <a:spcPts val="600"/>
              </a:spcAft>
              <a:defRPr sz="1800" b="0">
                <a:solidFill>
                  <a:srgbClr val="111111"/>
                </a:solidFill>
                <a:latin typeface="Microsoft YaHei"/>
              </a:defRPr>
            </a:pPr>
            <a:r>
              <a:t>不同脱氯路径需区分</a:t>
            </a:r>
          </a:p>
        </p:txBody>
      </p:sp>
      <p:sp>
        <p:nvSpPr>
          <p:cNvPr id="19" name="TextBox 18"/>
          <p:cNvSpPr txBox="1"/>
          <p:nvPr/>
        </p:nvSpPr>
        <p:spPr>
          <a:xfrm>
            <a:off x="8339327" y="3273552"/>
            <a:ext cx="2971800" cy="1426464"/>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溶剂衍生信号</a:t>
            </a:r>
          </a:p>
          <a:p>
            <a:pPr>
              <a:spcAft>
                <a:spcPts val="600"/>
              </a:spcAft>
              <a:defRPr sz="1800" b="0">
                <a:solidFill>
                  <a:srgbClr val="111111"/>
                </a:solidFill>
                <a:latin typeface="Microsoft YaHei"/>
              </a:defRPr>
            </a:pPr>
            <a:r>
              <a:t>Cl· 或其他含氯物种</a:t>
            </a:r>
          </a:p>
          <a:p>
            <a:pPr>
              <a:spcAft>
                <a:spcPts val="600"/>
              </a:spcAft>
              <a:defRPr sz="1800" b="0">
                <a:solidFill>
                  <a:srgbClr val="111111"/>
                </a:solidFill>
                <a:latin typeface="Microsoft YaHei"/>
              </a:defRPr>
            </a:pPr>
            <a:r>
              <a:t>氯平衡与主链变化</a:t>
            </a:r>
          </a:p>
        </p:txBody>
      </p:sp>
      <p:cxnSp>
        <p:nvCxnSpPr>
          <p:cNvPr id="20" name="Connector 19"/>
          <p:cNvCxnSpPr/>
          <p:nvPr/>
        </p:nvCxnSpPr>
        <p:spPr>
          <a:xfrm>
            <a:off x="3950208" y="3822191"/>
            <a:ext cx="466344" cy="0"/>
          </a:xfrm>
          <a:prstGeom prst="line">
            <a:avLst/>
          </a:prstGeom>
          <a:ln w="17780">
            <a:solidFill>
              <a:srgbClr val="203864"/>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21" name="Connector 20"/>
          <p:cNvCxnSpPr/>
          <p:nvPr/>
        </p:nvCxnSpPr>
        <p:spPr>
          <a:xfrm>
            <a:off x="7699248" y="3822191"/>
            <a:ext cx="448056" cy="0"/>
          </a:xfrm>
          <a:prstGeom prst="line">
            <a:avLst/>
          </a:prstGeom>
          <a:ln w="17780">
            <a:solidFill>
              <a:srgbClr val="203864"/>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sp>
        <p:nvSpPr>
          <p:cNvPr id="22" name="TextBox 21"/>
          <p:cNvSpPr txBox="1"/>
          <p:nvPr/>
        </p:nvSpPr>
        <p:spPr>
          <a:xfrm>
            <a:off x="868680" y="5038344"/>
            <a:ext cx="10515600" cy="429768"/>
          </a:xfrm>
          <a:prstGeom prst="rect">
            <a:avLst/>
          </a:prstGeom>
          <a:noFill/>
          <a:effectLst/>
        </p:spPr>
        <p:txBody>
          <a:bodyPr wrap="square" lIns="22860" rIns="22860" tIns="0" bIns="0">
            <a:spAutoFit/>
          </a:bodyPr>
          <a:lstStyle/>
          <a:p>
            <a:pPr algn="ctr">
              <a:spcAft>
                <a:spcPts val="600"/>
              </a:spcAft>
              <a:defRPr sz="2300" b="1">
                <a:solidFill>
                  <a:srgbClr val="111111"/>
                </a:solidFill>
                <a:latin typeface="Microsoft YaHei"/>
              </a:defRPr>
            </a:pPr>
            <a:r>
              <a:t>R–Cl → R· + Cl·     与     R–Cl + Nu⁻ → R–Nu + Cl⁻</a:t>
            </a:r>
          </a:p>
        </p:txBody>
      </p:sp>
      <p:sp>
        <p:nvSpPr>
          <p:cNvPr id="23" name="Rectangle 22"/>
          <p:cNvSpPr/>
          <p:nvPr/>
        </p:nvSpPr>
        <p:spPr>
          <a:xfrm>
            <a:off x="594360" y="5907024"/>
            <a:ext cx="11018520" cy="411480"/>
          </a:xfrm>
          <a:prstGeom prst="rect">
            <a:avLst/>
          </a:prstGeom>
          <a:solidFill>
            <a:srgbClr val="EEF3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77240" y="5980176"/>
            <a:ext cx="10652760" cy="265176"/>
          </a:xfrm>
          <a:prstGeom prst="rect">
            <a:avLst/>
          </a:prstGeom>
          <a:noFill/>
          <a:effectLst/>
        </p:spPr>
        <p:txBody>
          <a:bodyPr wrap="square" lIns="22860" rIns="22860" tIns="0" bIns="0">
            <a:spAutoFit/>
          </a:bodyPr>
          <a:lstStyle/>
          <a:p>
            <a:pPr>
              <a:spcAft>
                <a:spcPts val="600"/>
              </a:spcAft>
              <a:defRPr sz="1600" b="1">
                <a:solidFill>
                  <a:srgbClr val="203864"/>
                </a:solidFill>
                <a:latin typeface="Microsoft YaHei"/>
              </a:defRPr>
            </a:pPr>
            <a:r>
              <a:t>含氯结构提供研究入口，Cl· 的来源与反应贡献需要在本体系单独鉴定。</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384048" y="329184"/>
            <a:ext cx="50292" cy="320040"/>
          </a:xfrm>
          <a:prstGeom prst="rect">
            <a:avLst/>
          </a:prstGeom>
          <a:solidFill>
            <a:srgbClr val="20386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869680" y="246888"/>
            <a:ext cx="2880360" cy="356616"/>
          </a:xfrm>
          <a:prstGeom prst="rect">
            <a:avLst/>
          </a:prstGeom>
          <a:noFill/>
          <a:effectLst/>
        </p:spPr>
        <p:txBody>
          <a:bodyPr wrap="square" lIns="22860" rIns="22860" tIns="0" bIns="0">
            <a:spAutoFit/>
          </a:bodyPr>
          <a:lstStyle/>
          <a:p>
            <a:pPr algn="r">
              <a:spcAft>
                <a:spcPts val="600"/>
              </a:spcAft>
              <a:defRPr sz="2100" b="1">
                <a:solidFill>
                  <a:srgbClr val="159BB6"/>
                </a:solidFill>
                <a:latin typeface="Microsoft YaHei"/>
              </a:defRPr>
            </a:pPr>
            <a:r>
              <a:t>北京工业大学</a:t>
            </a:r>
          </a:p>
        </p:txBody>
      </p:sp>
      <p:sp>
        <p:nvSpPr>
          <p:cNvPr id="4" name="TextBox 3"/>
          <p:cNvSpPr txBox="1"/>
          <p:nvPr/>
        </p:nvSpPr>
        <p:spPr>
          <a:xfrm>
            <a:off x="8686800" y="621792"/>
            <a:ext cx="3063240" cy="182880"/>
          </a:xfrm>
          <a:prstGeom prst="rect">
            <a:avLst/>
          </a:prstGeom>
          <a:noFill/>
          <a:effectLst/>
        </p:spPr>
        <p:txBody>
          <a:bodyPr wrap="square" lIns="22860" rIns="22860" tIns="0" bIns="0">
            <a:spAutoFit/>
          </a:bodyPr>
          <a:lstStyle/>
          <a:p>
            <a:pPr algn="r">
              <a:spcAft>
                <a:spcPts val="600"/>
              </a:spcAft>
              <a:defRPr sz="770" b="1">
                <a:solidFill>
                  <a:srgbClr val="159BB6"/>
                </a:solidFill>
                <a:latin typeface="Microsoft YaHei"/>
              </a:defRPr>
            </a:pPr>
            <a:r>
              <a:t>BEIJING UNIVERSITY OF TECHNOLOGY</a:t>
            </a:r>
          </a:p>
        </p:txBody>
      </p:sp>
      <p:sp>
        <p:nvSpPr>
          <p:cNvPr id="5" name="TextBox 4"/>
          <p:cNvSpPr txBox="1"/>
          <p:nvPr/>
        </p:nvSpPr>
        <p:spPr>
          <a:xfrm>
            <a:off x="594360" y="914400"/>
            <a:ext cx="11109960" cy="594360"/>
          </a:xfrm>
          <a:prstGeom prst="rect">
            <a:avLst/>
          </a:prstGeom>
          <a:noFill/>
          <a:effectLst/>
        </p:spPr>
        <p:txBody>
          <a:bodyPr wrap="square" lIns="22860" rIns="22860" tIns="0" bIns="0">
            <a:spAutoFit/>
          </a:bodyPr>
          <a:lstStyle/>
          <a:p>
            <a:pPr>
              <a:spcAft>
                <a:spcPts val="600"/>
              </a:spcAft>
              <a:defRPr sz="2600" b="1">
                <a:solidFill>
                  <a:srgbClr val="203864"/>
                </a:solidFill>
                <a:latin typeface="Microsoft YaHei"/>
              </a:defRPr>
            </a:pPr>
            <a:r>
              <a:t>由简单底物到 PVC 的路线逐步隔离局部化学与聚合物效应</a:t>
            </a:r>
          </a:p>
        </p:txBody>
      </p:sp>
      <p:cxnSp>
        <p:nvCxnSpPr>
          <p:cNvPr id="6" name="Connector 5"/>
          <p:cNvCxnSpPr/>
          <p:nvPr/>
        </p:nvCxnSpPr>
        <p:spPr>
          <a:xfrm>
            <a:off x="594360" y="1636776"/>
            <a:ext cx="11018520" cy="0"/>
          </a:xfrm>
          <a:prstGeom prst="line">
            <a:avLst/>
          </a:prstGeom>
          <a:ln w="25400">
            <a:solidFill>
              <a:srgbClr val="203864"/>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40080" y="1773936"/>
            <a:ext cx="10972800" cy="393192"/>
          </a:xfrm>
          <a:prstGeom prst="rect">
            <a:avLst/>
          </a:prstGeom>
          <a:noFill/>
          <a:effectLst/>
        </p:spPr>
        <p:txBody>
          <a:bodyPr wrap="square" lIns="22860" rIns="22860" tIns="0" bIns="0">
            <a:spAutoFit/>
          </a:bodyPr>
          <a:lstStyle/>
          <a:p>
            <a:pPr>
              <a:spcAft>
                <a:spcPts val="600"/>
              </a:spcAft>
              <a:defRPr sz="1300" b="0">
                <a:solidFill>
                  <a:srgbClr val="566273"/>
                </a:solidFill>
                <a:latin typeface="Microsoft YaHei"/>
              </a:defRPr>
            </a:pPr>
            <a:r>
              <a:t>先在易解析体系中确认反应与产物，再增加含氯位点、链长与相态复杂度</a:t>
            </a:r>
          </a:p>
        </p:txBody>
      </p:sp>
      <p:cxnSp>
        <p:nvCxnSpPr>
          <p:cNvPr id="8" name="Connector 7"/>
          <p:cNvCxnSpPr/>
          <p:nvPr/>
        </p:nvCxnSpPr>
        <p:spPr>
          <a:xfrm>
            <a:off x="594360" y="6446520"/>
            <a:ext cx="11018520" cy="0"/>
          </a:xfrm>
          <a:prstGeom prst="line">
            <a:avLst/>
          </a:prstGeom>
          <a:ln w="10160">
            <a:solidFill>
              <a:srgbClr val="CED7E3"/>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94360" y="6547104"/>
            <a:ext cx="10469880" cy="182880"/>
          </a:xfrm>
          <a:prstGeom prst="rect">
            <a:avLst/>
          </a:prstGeom>
          <a:noFill/>
          <a:effectLst/>
        </p:spPr>
        <p:txBody>
          <a:bodyPr wrap="square" lIns="22860" rIns="22860" tIns="0" bIns="0">
            <a:spAutoFit/>
          </a:bodyPr>
          <a:lstStyle/>
          <a:p>
            <a:pPr>
              <a:spcAft>
                <a:spcPts val="600"/>
              </a:spcAft>
              <a:defRPr sz="800" b="0">
                <a:solidFill>
                  <a:srgbClr val="566273"/>
                </a:solidFill>
                <a:latin typeface="Arial"/>
              </a:defRPr>
            </a:pPr>
            <a:r>
              <a:t>Huang &amp; Wang, J. Polym. Sci. 2024, 62, 969–997.</a:t>
            </a:r>
          </a:p>
        </p:txBody>
      </p:sp>
      <p:sp>
        <p:nvSpPr>
          <p:cNvPr id="10" name="TextBox 9"/>
          <p:cNvSpPr txBox="1"/>
          <p:nvPr/>
        </p:nvSpPr>
        <p:spPr>
          <a:xfrm>
            <a:off x="11137392" y="6510528"/>
            <a:ext cx="438912" cy="237744"/>
          </a:xfrm>
          <a:prstGeom prst="rect">
            <a:avLst/>
          </a:prstGeom>
          <a:noFill/>
          <a:effectLst/>
        </p:spPr>
        <p:txBody>
          <a:bodyPr wrap="square" lIns="22860" rIns="22860" tIns="0" bIns="0">
            <a:spAutoFit/>
          </a:bodyPr>
          <a:lstStyle/>
          <a:p>
            <a:pPr algn="r">
              <a:spcAft>
                <a:spcPts val="600"/>
              </a:spcAft>
              <a:defRPr sz="1100" b="1">
                <a:solidFill>
                  <a:srgbClr val="203864"/>
                </a:solidFill>
                <a:latin typeface="Microsoft YaHei"/>
              </a:defRPr>
            </a:pPr>
            <a:r>
              <a:t>9</a:t>
            </a:r>
          </a:p>
        </p:txBody>
      </p:sp>
      <p:sp>
        <p:nvSpPr>
          <p:cNvPr id="11" name="TextBox 10"/>
          <p:cNvSpPr txBox="1"/>
          <p:nvPr/>
        </p:nvSpPr>
        <p:spPr>
          <a:xfrm>
            <a:off x="868680" y="2560320"/>
            <a:ext cx="3108960" cy="429768"/>
          </a:xfrm>
          <a:prstGeom prst="rect">
            <a:avLst/>
          </a:prstGeom>
          <a:noFill/>
          <a:effectLst/>
        </p:spPr>
        <p:txBody>
          <a:bodyPr wrap="square" lIns="22860" rIns="22860" tIns="0" bIns="0">
            <a:spAutoFit/>
          </a:bodyPr>
          <a:lstStyle/>
          <a:p>
            <a:pPr>
              <a:spcAft>
                <a:spcPts val="600"/>
              </a:spcAft>
              <a:defRPr sz="2200" b="1">
                <a:solidFill>
                  <a:srgbClr val="203864"/>
                </a:solidFill>
                <a:latin typeface="Microsoft YaHei"/>
              </a:defRPr>
            </a:pPr>
            <a:r>
              <a:t>EAQ 光化学体系</a:t>
            </a:r>
          </a:p>
        </p:txBody>
      </p:sp>
      <p:sp>
        <p:nvSpPr>
          <p:cNvPr id="12" name="TextBox 11"/>
          <p:cNvSpPr txBox="1"/>
          <p:nvPr/>
        </p:nvSpPr>
        <p:spPr>
          <a:xfrm>
            <a:off x="868680" y="3191256"/>
            <a:ext cx="3108960" cy="429768"/>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吸光与光敏增益</a:t>
            </a:r>
          </a:p>
        </p:txBody>
      </p:sp>
      <p:cxnSp>
        <p:nvCxnSpPr>
          <p:cNvPr id="13" name="Connector 12"/>
          <p:cNvCxnSpPr/>
          <p:nvPr/>
        </p:nvCxnSpPr>
        <p:spPr>
          <a:xfrm>
            <a:off x="4005072" y="2971800"/>
            <a:ext cx="365760" cy="0"/>
          </a:xfrm>
          <a:prstGeom prst="line">
            <a:avLst/>
          </a:prstGeom>
          <a:ln w="19050">
            <a:solidFill>
              <a:srgbClr val="20386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4526280" y="2560320"/>
            <a:ext cx="3108960" cy="429768"/>
          </a:xfrm>
          <a:prstGeom prst="rect">
            <a:avLst/>
          </a:prstGeom>
          <a:noFill/>
          <a:effectLst/>
        </p:spPr>
        <p:txBody>
          <a:bodyPr wrap="square" lIns="22860" rIns="22860" tIns="0" bIns="0">
            <a:spAutoFit/>
          </a:bodyPr>
          <a:lstStyle/>
          <a:p>
            <a:pPr>
              <a:spcAft>
                <a:spcPts val="600"/>
              </a:spcAft>
              <a:defRPr sz="2200" b="1">
                <a:solidFill>
                  <a:srgbClr val="203864"/>
                </a:solidFill>
                <a:latin typeface="Microsoft YaHei"/>
              </a:defRPr>
            </a:pPr>
            <a:r>
              <a:t>氯代烷烃模型</a:t>
            </a:r>
          </a:p>
        </p:txBody>
      </p:sp>
      <p:sp>
        <p:nvSpPr>
          <p:cNvPr id="15" name="TextBox 14"/>
          <p:cNvSpPr txBox="1"/>
          <p:nvPr/>
        </p:nvSpPr>
        <p:spPr>
          <a:xfrm>
            <a:off x="4526280" y="3191256"/>
            <a:ext cx="3108960" cy="429768"/>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局部 C–Cl / C–H</a:t>
            </a:r>
          </a:p>
        </p:txBody>
      </p:sp>
      <p:cxnSp>
        <p:nvCxnSpPr>
          <p:cNvPr id="16" name="Connector 15"/>
          <p:cNvCxnSpPr/>
          <p:nvPr/>
        </p:nvCxnSpPr>
        <p:spPr>
          <a:xfrm>
            <a:off x="7662672" y="2971800"/>
            <a:ext cx="365760" cy="0"/>
          </a:xfrm>
          <a:prstGeom prst="line">
            <a:avLst/>
          </a:prstGeom>
          <a:ln w="19050">
            <a:solidFill>
              <a:srgbClr val="20386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7" name="TextBox 16"/>
          <p:cNvSpPr txBox="1"/>
          <p:nvPr/>
        </p:nvSpPr>
        <p:spPr>
          <a:xfrm>
            <a:off x="8183879" y="2560320"/>
            <a:ext cx="3108960" cy="429768"/>
          </a:xfrm>
          <a:prstGeom prst="rect">
            <a:avLst/>
          </a:prstGeom>
          <a:noFill/>
          <a:effectLst/>
        </p:spPr>
        <p:txBody>
          <a:bodyPr wrap="square" lIns="22860" rIns="22860" tIns="0" bIns="0">
            <a:spAutoFit/>
          </a:bodyPr>
          <a:lstStyle/>
          <a:p>
            <a:pPr>
              <a:spcAft>
                <a:spcPts val="600"/>
              </a:spcAft>
              <a:defRPr sz="2200" b="1">
                <a:solidFill>
                  <a:srgbClr val="203864"/>
                </a:solidFill>
                <a:latin typeface="Microsoft YaHei"/>
              </a:defRPr>
            </a:pPr>
            <a:r>
              <a:t>物种与产物鉴定</a:t>
            </a:r>
          </a:p>
        </p:txBody>
      </p:sp>
      <p:sp>
        <p:nvSpPr>
          <p:cNvPr id="18" name="TextBox 17"/>
          <p:cNvSpPr txBox="1"/>
          <p:nvPr/>
        </p:nvSpPr>
        <p:spPr>
          <a:xfrm>
            <a:off x="8183879" y="3191256"/>
            <a:ext cx="3108960" cy="429768"/>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对照、捕获与定量</a:t>
            </a:r>
          </a:p>
        </p:txBody>
      </p:sp>
      <p:cxnSp>
        <p:nvCxnSpPr>
          <p:cNvPr id="19" name="Connector 18"/>
          <p:cNvCxnSpPr/>
          <p:nvPr/>
        </p:nvCxnSpPr>
        <p:spPr>
          <a:xfrm>
            <a:off x="9720072" y="3749039"/>
            <a:ext cx="0" cy="502921"/>
          </a:xfrm>
          <a:prstGeom prst="line">
            <a:avLst/>
          </a:prstGeom>
          <a:ln w="19050">
            <a:solidFill>
              <a:srgbClr val="20386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0" name="TextBox 19"/>
          <p:cNvSpPr txBox="1"/>
          <p:nvPr/>
        </p:nvSpPr>
        <p:spPr>
          <a:xfrm>
            <a:off x="868680" y="4517136"/>
            <a:ext cx="3108960" cy="429768"/>
          </a:xfrm>
          <a:prstGeom prst="rect">
            <a:avLst/>
          </a:prstGeom>
          <a:noFill/>
          <a:effectLst/>
        </p:spPr>
        <p:txBody>
          <a:bodyPr wrap="square" lIns="22860" rIns="22860" tIns="0" bIns="0">
            <a:spAutoFit/>
          </a:bodyPr>
          <a:lstStyle/>
          <a:p>
            <a:pPr>
              <a:spcAft>
                <a:spcPts val="600"/>
              </a:spcAft>
              <a:defRPr sz="2200" b="1">
                <a:solidFill>
                  <a:srgbClr val="203864"/>
                </a:solidFill>
                <a:latin typeface="Microsoft YaHei"/>
              </a:defRPr>
            </a:pPr>
            <a:r>
              <a:t>机制验证与优化</a:t>
            </a:r>
          </a:p>
        </p:txBody>
      </p:sp>
      <p:sp>
        <p:nvSpPr>
          <p:cNvPr id="21" name="TextBox 20"/>
          <p:cNvSpPr txBox="1"/>
          <p:nvPr/>
        </p:nvSpPr>
        <p:spPr>
          <a:xfrm>
            <a:off x="868680" y="5148072"/>
            <a:ext cx="3108960" cy="429768"/>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闭环证据与可重复性</a:t>
            </a:r>
          </a:p>
        </p:txBody>
      </p:sp>
      <p:cxnSp>
        <p:nvCxnSpPr>
          <p:cNvPr id="22" name="Connector 21"/>
          <p:cNvCxnSpPr/>
          <p:nvPr/>
        </p:nvCxnSpPr>
        <p:spPr>
          <a:xfrm flipH="1">
            <a:off x="4005072" y="4892040"/>
            <a:ext cx="365760" cy="0"/>
          </a:xfrm>
          <a:prstGeom prst="line">
            <a:avLst/>
          </a:prstGeom>
          <a:ln w="19050">
            <a:solidFill>
              <a:srgbClr val="20386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3" name="TextBox 22"/>
          <p:cNvSpPr txBox="1"/>
          <p:nvPr/>
        </p:nvSpPr>
        <p:spPr>
          <a:xfrm>
            <a:off x="4526280" y="4517136"/>
            <a:ext cx="3108960" cy="429768"/>
          </a:xfrm>
          <a:prstGeom prst="rect">
            <a:avLst/>
          </a:prstGeom>
          <a:noFill/>
          <a:effectLst/>
        </p:spPr>
        <p:txBody>
          <a:bodyPr wrap="square" lIns="22860" rIns="22860" tIns="0" bIns="0">
            <a:spAutoFit/>
          </a:bodyPr>
          <a:lstStyle/>
          <a:p>
            <a:pPr>
              <a:spcAft>
                <a:spcPts val="600"/>
              </a:spcAft>
              <a:defRPr sz="2200" b="1">
                <a:solidFill>
                  <a:srgbClr val="203864"/>
                </a:solidFill>
                <a:latin typeface="Microsoft YaHei"/>
              </a:defRPr>
            </a:pPr>
            <a:r>
              <a:t>PVC 转化</a:t>
            </a:r>
          </a:p>
        </p:txBody>
      </p:sp>
      <p:sp>
        <p:nvSpPr>
          <p:cNvPr id="24" name="TextBox 23"/>
          <p:cNvSpPr txBox="1"/>
          <p:nvPr/>
        </p:nvSpPr>
        <p:spPr>
          <a:xfrm>
            <a:off x="4526280" y="5148072"/>
            <a:ext cx="3108960" cy="429768"/>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氯、链长与物料平衡</a:t>
            </a:r>
          </a:p>
        </p:txBody>
      </p:sp>
      <p:cxnSp>
        <p:nvCxnSpPr>
          <p:cNvPr id="25" name="Connector 24"/>
          <p:cNvCxnSpPr/>
          <p:nvPr/>
        </p:nvCxnSpPr>
        <p:spPr>
          <a:xfrm flipH="1">
            <a:off x="7662672" y="4892040"/>
            <a:ext cx="365760" cy="0"/>
          </a:xfrm>
          <a:prstGeom prst="line">
            <a:avLst/>
          </a:prstGeom>
          <a:ln w="19050">
            <a:solidFill>
              <a:srgbClr val="20386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8183879" y="4517136"/>
            <a:ext cx="3108960" cy="429768"/>
          </a:xfrm>
          <a:prstGeom prst="rect">
            <a:avLst/>
          </a:prstGeom>
          <a:noFill/>
          <a:effectLst/>
        </p:spPr>
        <p:txBody>
          <a:bodyPr wrap="square" lIns="22860" rIns="22860" tIns="0" bIns="0">
            <a:spAutoFit/>
          </a:bodyPr>
          <a:lstStyle/>
          <a:p>
            <a:pPr>
              <a:spcAft>
                <a:spcPts val="600"/>
              </a:spcAft>
              <a:defRPr sz="2200" b="1">
                <a:solidFill>
                  <a:srgbClr val="203864"/>
                </a:solidFill>
                <a:latin typeface="Microsoft YaHei"/>
              </a:defRPr>
            </a:pPr>
            <a:r>
              <a:t>复杂含氯底物</a:t>
            </a:r>
          </a:p>
        </p:txBody>
      </p:sp>
      <p:sp>
        <p:nvSpPr>
          <p:cNvPr id="27" name="TextBox 26"/>
          <p:cNvSpPr txBox="1"/>
          <p:nvPr/>
        </p:nvSpPr>
        <p:spPr>
          <a:xfrm>
            <a:off x="8183879" y="5148072"/>
            <a:ext cx="3108960" cy="429768"/>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氯代石蜡等逐级扩展</a:t>
            </a:r>
          </a:p>
        </p:txBody>
      </p:sp>
      <p:sp>
        <p:nvSpPr>
          <p:cNvPr id="28" name="Rectangle 27"/>
          <p:cNvSpPr/>
          <p:nvPr/>
        </p:nvSpPr>
        <p:spPr>
          <a:xfrm>
            <a:off x="594360" y="5907024"/>
            <a:ext cx="11018520" cy="411480"/>
          </a:xfrm>
          <a:prstGeom prst="rect">
            <a:avLst/>
          </a:prstGeom>
          <a:solidFill>
            <a:srgbClr val="EEF3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77240" y="5980176"/>
            <a:ext cx="10652760" cy="265176"/>
          </a:xfrm>
          <a:prstGeom prst="rect">
            <a:avLst/>
          </a:prstGeom>
          <a:noFill/>
          <a:effectLst/>
        </p:spPr>
        <p:txBody>
          <a:bodyPr wrap="square" lIns="22860" rIns="22860" tIns="0" bIns="0">
            <a:spAutoFit/>
          </a:bodyPr>
          <a:lstStyle/>
          <a:p>
            <a:pPr>
              <a:spcAft>
                <a:spcPts val="600"/>
              </a:spcAft>
              <a:defRPr sz="1600" b="1">
                <a:solidFill>
                  <a:srgbClr val="203864"/>
                </a:solidFill>
                <a:latin typeface="Microsoft YaHei"/>
              </a:defRPr>
            </a:pPr>
            <a:r>
              <a:t>模型分子解析局部反应；PVC 的连续脱氯、聚集态与链裂解由聚合物实验独立验证。</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384048" y="329184"/>
            <a:ext cx="50292" cy="320040"/>
          </a:xfrm>
          <a:prstGeom prst="rect">
            <a:avLst/>
          </a:prstGeom>
          <a:solidFill>
            <a:srgbClr val="20386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869680" y="246888"/>
            <a:ext cx="2880360" cy="356616"/>
          </a:xfrm>
          <a:prstGeom prst="rect">
            <a:avLst/>
          </a:prstGeom>
          <a:noFill/>
          <a:effectLst/>
        </p:spPr>
        <p:txBody>
          <a:bodyPr wrap="square" lIns="22860" rIns="22860" tIns="0" bIns="0">
            <a:spAutoFit/>
          </a:bodyPr>
          <a:lstStyle/>
          <a:p>
            <a:pPr algn="r">
              <a:spcAft>
                <a:spcPts val="600"/>
              </a:spcAft>
              <a:defRPr sz="2100" b="1">
                <a:solidFill>
                  <a:srgbClr val="159BB6"/>
                </a:solidFill>
                <a:latin typeface="Microsoft YaHei"/>
              </a:defRPr>
            </a:pPr>
            <a:r>
              <a:t>北京工业大学</a:t>
            </a:r>
          </a:p>
        </p:txBody>
      </p:sp>
      <p:sp>
        <p:nvSpPr>
          <p:cNvPr id="4" name="TextBox 3"/>
          <p:cNvSpPr txBox="1"/>
          <p:nvPr/>
        </p:nvSpPr>
        <p:spPr>
          <a:xfrm>
            <a:off x="8686800" y="621792"/>
            <a:ext cx="3063240" cy="182880"/>
          </a:xfrm>
          <a:prstGeom prst="rect">
            <a:avLst/>
          </a:prstGeom>
          <a:noFill/>
          <a:effectLst/>
        </p:spPr>
        <p:txBody>
          <a:bodyPr wrap="square" lIns="22860" rIns="22860" tIns="0" bIns="0">
            <a:spAutoFit/>
          </a:bodyPr>
          <a:lstStyle/>
          <a:p>
            <a:pPr algn="r">
              <a:spcAft>
                <a:spcPts val="600"/>
              </a:spcAft>
              <a:defRPr sz="770" b="1">
                <a:solidFill>
                  <a:srgbClr val="159BB6"/>
                </a:solidFill>
                <a:latin typeface="Microsoft YaHei"/>
              </a:defRPr>
            </a:pPr>
            <a:r>
              <a:t>BEIJING UNIVERSITY OF TECHNOLOGY</a:t>
            </a:r>
          </a:p>
        </p:txBody>
      </p:sp>
      <p:sp>
        <p:nvSpPr>
          <p:cNvPr id="5" name="TextBox 4"/>
          <p:cNvSpPr txBox="1"/>
          <p:nvPr/>
        </p:nvSpPr>
        <p:spPr>
          <a:xfrm>
            <a:off x="594360" y="914400"/>
            <a:ext cx="11109960" cy="594360"/>
          </a:xfrm>
          <a:prstGeom prst="rect">
            <a:avLst/>
          </a:prstGeom>
          <a:noFill/>
          <a:effectLst/>
        </p:spPr>
        <p:txBody>
          <a:bodyPr wrap="square" lIns="22860" rIns="22860" tIns="0" bIns="0">
            <a:spAutoFit/>
          </a:bodyPr>
          <a:lstStyle/>
          <a:p>
            <a:pPr>
              <a:spcAft>
                <a:spcPts val="600"/>
              </a:spcAft>
              <a:defRPr sz="2600" b="1">
                <a:solidFill>
                  <a:srgbClr val="203864"/>
                </a:solidFill>
                <a:latin typeface="Microsoft YaHei"/>
              </a:defRPr>
            </a:pPr>
            <a:r>
              <a:t>前期实验以 2-氯戊烷考察光照体系的反应行为</a:t>
            </a:r>
          </a:p>
        </p:txBody>
      </p:sp>
      <p:cxnSp>
        <p:nvCxnSpPr>
          <p:cNvPr id="6" name="Connector 5"/>
          <p:cNvCxnSpPr/>
          <p:nvPr/>
        </p:nvCxnSpPr>
        <p:spPr>
          <a:xfrm>
            <a:off x="594360" y="1636776"/>
            <a:ext cx="11018520" cy="0"/>
          </a:xfrm>
          <a:prstGeom prst="line">
            <a:avLst/>
          </a:prstGeom>
          <a:ln w="25400">
            <a:solidFill>
              <a:srgbClr val="203864"/>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40080" y="1773936"/>
            <a:ext cx="10972800" cy="393192"/>
          </a:xfrm>
          <a:prstGeom prst="rect">
            <a:avLst/>
          </a:prstGeom>
          <a:noFill/>
          <a:effectLst/>
        </p:spPr>
        <p:txBody>
          <a:bodyPr wrap="square" lIns="22860" rIns="22860" tIns="0" bIns="0">
            <a:spAutoFit/>
          </a:bodyPr>
          <a:lstStyle/>
          <a:p>
            <a:pPr>
              <a:spcAft>
                <a:spcPts val="600"/>
              </a:spcAft>
              <a:defRPr sz="1300" b="0">
                <a:solidFill>
                  <a:srgbClr val="566273"/>
                </a:solidFill>
                <a:latin typeface="Microsoft YaHei"/>
              </a:defRPr>
            </a:pPr>
            <a:r>
              <a:t>先明确已开展的实验条件，再统一底物转化与候选产物的评价口径</a:t>
            </a:r>
          </a:p>
        </p:txBody>
      </p:sp>
      <p:cxnSp>
        <p:nvCxnSpPr>
          <p:cNvPr id="8" name="Connector 7"/>
          <p:cNvCxnSpPr/>
          <p:nvPr/>
        </p:nvCxnSpPr>
        <p:spPr>
          <a:xfrm>
            <a:off x="594360" y="6446520"/>
            <a:ext cx="11018520" cy="0"/>
          </a:xfrm>
          <a:prstGeom prst="line">
            <a:avLst/>
          </a:prstGeom>
          <a:ln w="10160">
            <a:solidFill>
              <a:srgbClr val="CED7E3"/>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94360" y="6547104"/>
            <a:ext cx="10469880" cy="182880"/>
          </a:xfrm>
          <a:prstGeom prst="rect">
            <a:avLst/>
          </a:prstGeom>
          <a:noFill/>
          <a:effectLst/>
        </p:spPr>
        <p:txBody>
          <a:bodyPr wrap="square" lIns="22860" rIns="22860" tIns="0" bIns="0">
            <a:spAutoFit/>
          </a:bodyPr>
          <a:lstStyle/>
          <a:p>
            <a:pPr>
              <a:spcAft>
                <a:spcPts val="600"/>
              </a:spcAft>
              <a:defRPr sz="800" b="0">
                <a:solidFill>
                  <a:srgbClr val="566273"/>
                </a:solidFill>
                <a:latin typeface="Arial"/>
              </a:defRPr>
            </a:pPr>
            <a:r>
              <a:t>实验条件：用户原始实验 PPT，第8页；左图为装置示意。</a:t>
            </a:r>
          </a:p>
        </p:txBody>
      </p:sp>
      <p:sp>
        <p:nvSpPr>
          <p:cNvPr id="10" name="TextBox 9"/>
          <p:cNvSpPr txBox="1"/>
          <p:nvPr/>
        </p:nvSpPr>
        <p:spPr>
          <a:xfrm>
            <a:off x="11137392" y="6510528"/>
            <a:ext cx="438912" cy="237744"/>
          </a:xfrm>
          <a:prstGeom prst="rect">
            <a:avLst/>
          </a:prstGeom>
          <a:noFill/>
          <a:effectLst/>
        </p:spPr>
        <p:txBody>
          <a:bodyPr wrap="square" lIns="22860" rIns="22860" tIns="0" bIns="0">
            <a:spAutoFit/>
          </a:bodyPr>
          <a:lstStyle/>
          <a:p>
            <a:pPr algn="r">
              <a:spcAft>
                <a:spcPts val="600"/>
              </a:spcAft>
              <a:defRPr sz="1100" b="1">
                <a:solidFill>
                  <a:srgbClr val="203864"/>
                </a:solidFill>
                <a:latin typeface="Microsoft YaHei"/>
              </a:defRPr>
            </a:pPr>
            <a:r>
              <a:t>10</a:t>
            </a:r>
          </a:p>
        </p:txBody>
      </p:sp>
      <p:sp>
        <p:nvSpPr>
          <p:cNvPr id="11" name="Rectangle 10"/>
          <p:cNvSpPr/>
          <p:nvPr/>
        </p:nvSpPr>
        <p:spPr>
          <a:xfrm>
            <a:off x="685800" y="2423160"/>
            <a:ext cx="4800600" cy="393192"/>
          </a:xfrm>
          <a:prstGeom prst="rect">
            <a:avLst/>
          </a:prstGeom>
          <a:solidFill>
            <a:srgbClr val="20386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813816" y="2491740"/>
            <a:ext cx="4544568" cy="265176"/>
          </a:xfrm>
          <a:prstGeom prst="rect">
            <a:avLst/>
          </a:prstGeom>
          <a:noFill/>
          <a:effectLst/>
        </p:spPr>
        <p:txBody>
          <a:bodyPr wrap="square" lIns="22860" rIns="22860" tIns="0" bIns="0">
            <a:spAutoFit/>
          </a:bodyPr>
          <a:lstStyle/>
          <a:p>
            <a:pPr>
              <a:spcAft>
                <a:spcPts val="600"/>
              </a:spcAft>
              <a:defRPr sz="1500" b="1">
                <a:solidFill>
                  <a:srgbClr val="FFFFFF"/>
                </a:solidFill>
                <a:latin typeface="Microsoft YaHei"/>
              </a:defRPr>
            </a:pPr>
            <a:r>
              <a:t>反应装置示意</a:t>
            </a:r>
          </a:p>
        </p:txBody>
      </p:sp>
      <p:sp>
        <p:nvSpPr>
          <p:cNvPr id="13" name="Rectangle 12"/>
          <p:cNvSpPr/>
          <p:nvPr/>
        </p:nvSpPr>
        <p:spPr>
          <a:xfrm>
            <a:off x="960120" y="3182112"/>
            <a:ext cx="4251960" cy="2020824"/>
          </a:xfrm>
          <a:prstGeom prst="rect">
            <a:avLst/>
          </a:prstGeom>
          <a:solidFill>
            <a:srgbClr val="EEF3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1472184" y="3410712"/>
            <a:ext cx="539496" cy="112471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1472184" y="4078224"/>
            <a:ext cx="539496" cy="457200"/>
          </a:xfrm>
          <a:prstGeom prst="rect">
            <a:avLst/>
          </a:prstGeom>
          <a:solidFill>
            <a:srgbClr val="D3DF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1399032" y="3310128"/>
            <a:ext cx="685800" cy="146304"/>
          </a:xfrm>
          <a:prstGeom prst="rect">
            <a:avLst/>
          </a:prstGeom>
          <a:solidFill>
            <a:srgbClr val="20386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 name="Connector 16"/>
          <p:cNvCxnSpPr/>
          <p:nvPr/>
        </p:nvCxnSpPr>
        <p:spPr>
          <a:xfrm flipV="1">
            <a:off x="1554480" y="4690872"/>
            <a:ext cx="0" cy="356616"/>
          </a:xfrm>
          <a:prstGeom prst="line">
            <a:avLst/>
          </a:prstGeom>
          <a:ln w="12700">
            <a:solidFill>
              <a:srgbClr val="426BB1"/>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18" name="Connector 17"/>
          <p:cNvCxnSpPr/>
          <p:nvPr/>
        </p:nvCxnSpPr>
        <p:spPr>
          <a:xfrm flipV="1">
            <a:off x="1737360" y="4690872"/>
            <a:ext cx="0" cy="356616"/>
          </a:xfrm>
          <a:prstGeom prst="line">
            <a:avLst/>
          </a:prstGeom>
          <a:ln w="12700">
            <a:solidFill>
              <a:srgbClr val="426BB1"/>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19" name="Connector 18"/>
          <p:cNvCxnSpPr/>
          <p:nvPr/>
        </p:nvCxnSpPr>
        <p:spPr>
          <a:xfrm flipV="1">
            <a:off x="1920240" y="4690872"/>
            <a:ext cx="0" cy="356616"/>
          </a:xfrm>
          <a:prstGeom prst="line">
            <a:avLst/>
          </a:prstGeom>
          <a:ln w="12700">
            <a:solidFill>
              <a:srgbClr val="426BB1"/>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0" name="Rectangle 19"/>
          <p:cNvSpPr/>
          <p:nvPr/>
        </p:nvSpPr>
        <p:spPr>
          <a:xfrm>
            <a:off x="2679192" y="3410712"/>
            <a:ext cx="539496" cy="112471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ectangle 20"/>
          <p:cNvSpPr/>
          <p:nvPr/>
        </p:nvSpPr>
        <p:spPr>
          <a:xfrm>
            <a:off x="2679192" y="4078224"/>
            <a:ext cx="539496" cy="457200"/>
          </a:xfrm>
          <a:prstGeom prst="rect">
            <a:avLst/>
          </a:prstGeom>
          <a:solidFill>
            <a:srgbClr val="D3DF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ectangle 21"/>
          <p:cNvSpPr/>
          <p:nvPr/>
        </p:nvSpPr>
        <p:spPr>
          <a:xfrm>
            <a:off x="2606040" y="3310128"/>
            <a:ext cx="685800" cy="146304"/>
          </a:xfrm>
          <a:prstGeom prst="rect">
            <a:avLst/>
          </a:prstGeom>
          <a:solidFill>
            <a:srgbClr val="20386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3" name="Connector 22"/>
          <p:cNvCxnSpPr/>
          <p:nvPr/>
        </p:nvCxnSpPr>
        <p:spPr>
          <a:xfrm flipV="1">
            <a:off x="2761488" y="4690872"/>
            <a:ext cx="0" cy="356616"/>
          </a:xfrm>
          <a:prstGeom prst="line">
            <a:avLst/>
          </a:prstGeom>
          <a:ln w="12700">
            <a:solidFill>
              <a:srgbClr val="426BB1"/>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flipV="1">
            <a:off x="2944368" y="4690872"/>
            <a:ext cx="0" cy="356616"/>
          </a:xfrm>
          <a:prstGeom prst="line">
            <a:avLst/>
          </a:prstGeom>
          <a:ln w="12700">
            <a:solidFill>
              <a:srgbClr val="426BB1"/>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25" name="Connector 24"/>
          <p:cNvCxnSpPr/>
          <p:nvPr/>
        </p:nvCxnSpPr>
        <p:spPr>
          <a:xfrm flipV="1">
            <a:off x="3127248" y="4690872"/>
            <a:ext cx="0" cy="356616"/>
          </a:xfrm>
          <a:prstGeom prst="line">
            <a:avLst/>
          </a:prstGeom>
          <a:ln w="12700">
            <a:solidFill>
              <a:srgbClr val="426BB1"/>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6" name="Rectangle 25"/>
          <p:cNvSpPr/>
          <p:nvPr/>
        </p:nvSpPr>
        <p:spPr>
          <a:xfrm>
            <a:off x="3886200" y="3410712"/>
            <a:ext cx="539496" cy="112471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3886200" y="4078224"/>
            <a:ext cx="539496" cy="457200"/>
          </a:xfrm>
          <a:prstGeom prst="rect">
            <a:avLst/>
          </a:prstGeom>
          <a:solidFill>
            <a:srgbClr val="D3DF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3813048" y="3310128"/>
            <a:ext cx="685800" cy="146304"/>
          </a:xfrm>
          <a:prstGeom prst="rect">
            <a:avLst/>
          </a:prstGeom>
          <a:solidFill>
            <a:srgbClr val="20386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9" name="Connector 28"/>
          <p:cNvCxnSpPr/>
          <p:nvPr/>
        </p:nvCxnSpPr>
        <p:spPr>
          <a:xfrm flipV="1">
            <a:off x="3968496" y="4690872"/>
            <a:ext cx="0" cy="356616"/>
          </a:xfrm>
          <a:prstGeom prst="line">
            <a:avLst/>
          </a:prstGeom>
          <a:ln w="12700">
            <a:solidFill>
              <a:srgbClr val="426BB1"/>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30" name="Connector 29"/>
          <p:cNvCxnSpPr/>
          <p:nvPr/>
        </p:nvCxnSpPr>
        <p:spPr>
          <a:xfrm flipV="1">
            <a:off x="4151376" y="4690872"/>
            <a:ext cx="0" cy="356616"/>
          </a:xfrm>
          <a:prstGeom prst="line">
            <a:avLst/>
          </a:prstGeom>
          <a:ln w="12700">
            <a:solidFill>
              <a:srgbClr val="426BB1"/>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31" name="Connector 30"/>
          <p:cNvCxnSpPr/>
          <p:nvPr/>
        </p:nvCxnSpPr>
        <p:spPr>
          <a:xfrm flipV="1">
            <a:off x="4334256" y="4690872"/>
            <a:ext cx="0" cy="356616"/>
          </a:xfrm>
          <a:prstGeom prst="line">
            <a:avLst/>
          </a:prstGeom>
          <a:ln w="12700">
            <a:solidFill>
              <a:srgbClr val="426BB1"/>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32" name="TextBox 31"/>
          <p:cNvSpPr txBox="1"/>
          <p:nvPr/>
        </p:nvSpPr>
        <p:spPr>
          <a:xfrm>
            <a:off x="1234440" y="5404104"/>
            <a:ext cx="3840480" cy="274320"/>
          </a:xfrm>
          <a:prstGeom prst="rect">
            <a:avLst/>
          </a:prstGeom>
          <a:noFill/>
          <a:effectLst/>
        </p:spPr>
        <p:txBody>
          <a:bodyPr wrap="square" lIns="22860" rIns="22860" tIns="0" bIns="0">
            <a:spAutoFit/>
          </a:bodyPr>
          <a:lstStyle/>
          <a:p>
            <a:pPr algn="ctr">
              <a:spcAft>
                <a:spcPts val="600"/>
              </a:spcAft>
              <a:defRPr sz="1500" b="1">
                <a:solidFill>
                  <a:srgbClr val="203864"/>
                </a:solidFill>
                <a:latin typeface="Microsoft YaHei"/>
              </a:defRPr>
            </a:pPr>
            <a:r>
              <a:t>365 nm 光照 · 气氛控制 · 定时取样</a:t>
            </a:r>
          </a:p>
        </p:txBody>
      </p:sp>
      <p:sp>
        <p:nvSpPr>
          <p:cNvPr id="33" name="Rectangle 32"/>
          <p:cNvSpPr/>
          <p:nvPr/>
        </p:nvSpPr>
        <p:spPr>
          <a:xfrm>
            <a:off x="5897880" y="2423160"/>
            <a:ext cx="5577840" cy="393192"/>
          </a:xfrm>
          <a:prstGeom prst="rect">
            <a:avLst/>
          </a:prstGeom>
          <a:solidFill>
            <a:srgbClr val="20386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6025896" y="2491740"/>
            <a:ext cx="5321807" cy="265176"/>
          </a:xfrm>
          <a:prstGeom prst="rect">
            <a:avLst/>
          </a:prstGeom>
          <a:noFill/>
          <a:effectLst/>
        </p:spPr>
        <p:txBody>
          <a:bodyPr wrap="square" lIns="22860" rIns="22860" tIns="0" bIns="0">
            <a:spAutoFit/>
          </a:bodyPr>
          <a:lstStyle/>
          <a:p>
            <a:pPr>
              <a:spcAft>
                <a:spcPts val="600"/>
              </a:spcAft>
              <a:defRPr sz="1500" b="1">
                <a:solidFill>
                  <a:srgbClr val="FFFFFF"/>
                </a:solidFill>
                <a:latin typeface="Microsoft YaHei"/>
              </a:defRPr>
            </a:pPr>
            <a:r>
              <a:t>已记录的基准条件</a:t>
            </a:r>
          </a:p>
        </p:txBody>
      </p:sp>
      <p:graphicFrame>
        <p:nvGraphicFramePr>
          <p:cNvPr id="35" name="Table 34"/>
          <p:cNvGraphicFramePr>
            <a:graphicFrameLocks noGrp="1"/>
          </p:cNvGraphicFramePr>
          <p:nvPr/>
        </p:nvGraphicFramePr>
        <p:xfrm>
          <a:off x="5897880" y="2944368"/>
          <a:ext cx="5577840" cy="2670048"/>
        </p:xfrm>
        <a:graphic>
          <a:graphicData uri="http://schemas.openxmlformats.org/drawingml/2006/table">
            <a:tbl>
              <a:tblPr firstRow="1" bandRow="1">
                <a:tableStyleId>{5C22544A-7EE6-4342-B048-85BDC9FD1C3A}</a:tableStyleId>
              </a:tblPr>
              <a:tblGrid>
                <a:gridCol w="1554480"/>
                <a:gridCol w="4023360"/>
              </a:tblGrid>
              <a:tr h="445008">
                <a:tc>
                  <a:txBody>
                    <a:bodyPr/>
                    <a:lstStyle/>
                    <a:p>
                      <a:pPr>
                        <a:defRPr sz="1600" b="1">
                          <a:solidFill>
                            <a:srgbClr val="FFFFFF"/>
                          </a:solidFill>
                          <a:latin typeface="Microsoft YaHei"/>
                        </a:defRPr>
                      </a:pPr>
                      <a:r>
                        <a:t>参数</a:t>
                      </a:r>
                    </a:p>
                  </a:txBody>
                  <a:tcPr marL="91440" marR="64008" marT="64008" marB="45720">
                    <a:solidFill>
                      <a:srgbClr val="203864"/>
                    </a:solidFill>
                  </a:tcPr>
                </a:tc>
                <a:tc>
                  <a:txBody>
                    <a:bodyPr/>
                    <a:lstStyle/>
                    <a:p>
                      <a:pPr>
                        <a:defRPr sz="1600" b="1">
                          <a:solidFill>
                            <a:srgbClr val="FFFFFF"/>
                          </a:solidFill>
                          <a:latin typeface="Microsoft YaHei"/>
                        </a:defRPr>
                      </a:pPr>
                      <a:r>
                        <a:t>实验记录</a:t>
                      </a:r>
                    </a:p>
                  </a:txBody>
                  <a:tcPr marL="91440" marR="64008" marT="64008" marB="45720">
                    <a:solidFill>
                      <a:srgbClr val="203864"/>
                    </a:solidFill>
                  </a:tcPr>
                </a:tc>
              </a:tr>
              <a:tr h="445008">
                <a:tc>
                  <a:txBody>
                    <a:bodyPr/>
                    <a:lstStyle/>
                    <a:p>
                      <a:pPr>
                        <a:defRPr sz="1600" b="0">
                          <a:solidFill>
                            <a:srgbClr val="111111"/>
                          </a:solidFill>
                          <a:latin typeface="Microsoft YaHei"/>
                        </a:defRPr>
                      </a:pPr>
                      <a:r>
                        <a:t>底物</a:t>
                      </a:r>
                    </a:p>
                  </a:txBody>
                  <a:tcPr marL="91440" marR="64008" marT="64008" marB="45720">
                    <a:solidFill>
                      <a:srgbClr val="FFFFFF"/>
                    </a:solidFill>
                  </a:tcPr>
                </a:tc>
                <a:tc>
                  <a:txBody>
                    <a:bodyPr/>
                    <a:lstStyle/>
                    <a:p>
                      <a:pPr>
                        <a:defRPr sz="1600" b="0">
                          <a:solidFill>
                            <a:srgbClr val="111111"/>
                          </a:solidFill>
                          <a:latin typeface="Microsoft YaHei"/>
                        </a:defRPr>
                      </a:pPr>
                      <a:r>
                        <a:t>2-氯戊烷，0.5 mmol</a:t>
                      </a:r>
                    </a:p>
                  </a:txBody>
                  <a:tcPr marL="91440" marR="64008" marT="64008" marB="45720">
                    <a:solidFill>
                      <a:srgbClr val="FFFFFF"/>
                    </a:solidFill>
                  </a:tcPr>
                </a:tc>
              </a:tr>
              <a:tr h="445008">
                <a:tc>
                  <a:txBody>
                    <a:bodyPr/>
                    <a:lstStyle/>
                    <a:p>
                      <a:pPr>
                        <a:defRPr sz="1600" b="0">
                          <a:solidFill>
                            <a:srgbClr val="111111"/>
                          </a:solidFill>
                          <a:latin typeface="Microsoft YaHei"/>
                        </a:defRPr>
                      </a:pPr>
                      <a:r>
                        <a:t>光敏组分</a:t>
                      </a:r>
                    </a:p>
                  </a:txBody>
                  <a:tcPr marL="91440" marR="64008" marT="64008" marB="45720">
                    <a:solidFill>
                      <a:srgbClr val="EEF3FA"/>
                    </a:solidFill>
                  </a:tcPr>
                </a:tc>
                <a:tc>
                  <a:txBody>
                    <a:bodyPr/>
                    <a:lstStyle/>
                    <a:p>
                      <a:pPr>
                        <a:defRPr sz="1600" b="0">
                          <a:solidFill>
                            <a:srgbClr val="111111"/>
                          </a:solidFill>
                          <a:latin typeface="Microsoft YaHei"/>
                        </a:defRPr>
                      </a:pPr>
                      <a:r>
                        <a:t>乙基蒽醌，5 mg/mL</a:t>
                      </a:r>
                    </a:p>
                  </a:txBody>
                  <a:tcPr marL="91440" marR="64008" marT="64008" marB="45720">
                    <a:solidFill>
                      <a:srgbClr val="EEF3FA"/>
                    </a:solidFill>
                  </a:tcPr>
                </a:tc>
              </a:tr>
              <a:tr h="445008">
                <a:tc>
                  <a:txBody>
                    <a:bodyPr/>
                    <a:lstStyle/>
                    <a:p>
                      <a:pPr>
                        <a:defRPr sz="1600" b="0">
                          <a:solidFill>
                            <a:srgbClr val="111111"/>
                          </a:solidFill>
                          <a:latin typeface="Microsoft YaHei"/>
                        </a:defRPr>
                      </a:pPr>
                      <a:r>
                        <a:t>介质</a:t>
                      </a:r>
                    </a:p>
                  </a:txBody>
                  <a:tcPr marL="91440" marR="64008" marT="64008" marB="45720">
                    <a:solidFill>
                      <a:srgbClr val="FFFFFF"/>
                    </a:solidFill>
                  </a:tcPr>
                </a:tc>
                <a:tc>
                  <a:txBody>
                    <a:bodyPr/>
                    <a:lstStyle/>
                    <a:p>
                      <a:pPr>
                        <a:defRPr sz="1600" b="0">
                          <a:solidFill>
                            <a:srgbClr val="111111"/>
                          </a:solidFill>
                          <a:latin typeface="Microsoft YaHei"/>
                        </a:defRPr>
                      </a:pPr>
                      <a:r>
                        <a:t>DCE，4 mL</a:t>
                      </a:r>
                    </a:p>
                  </a:txBody>
                  <a:tcPr marL="91440" marR="64008" marT="64008" marB="45720">
                    <a:solidFill>
                      <a:srgbClr val="FFFFFF"/>
                    </a:solidFill>
                  </a:tcPr>
                </a:tc>
              </a:tr>
              <a:tr h="445008">
                <a:tc>
                  <a:txBody>
                    <a:bodyPr/>
                    <a:lstStyle/>
                    <a:p>
                      <a:pPr>
                        <a:defRPr sz="1600" b="0">
                          <a:solidFill>
                            <a:srgbClr val="111111"/>
                          </a:solidFill>
                          <a:latin typeface="Microsoft YaHei"/>
                        </a:defRPr>
                      </a:pPr>
                      <a:r>
                        <a:t>光照 / 时间</a:t>
                      </a:r>
                    </a:p>
                  </a:txBody>
                  <a:tcPr marL="91440" marR="64008" marT="64008" marB="45720">
                    <a:solidFill>
                      <a:srgbClr val="EEF3FA"/>
                    </a:solidFill>
                  </a:tcPr>
                </a:tc>
                <a:tc>
                  <a:txBody>
                    <a:bodyPr/>
                    <a:lstStyle/>
                    <a:p>
                      <a:pPr>
                        <a:defRPr sz="1600" b="0">
                          <a:solidFill>
                            <a:srgbClr val="111111"/>
                          </a:solidFill>
                          <a:latin typeface="Microsoft YaHei"/>
                        </a:defRPr>
                      </a:pPr>
                      <a:r>
                        <a:t>365 nm，6 h</a:t>
                      </a:r>
                    </a:p>
                  </a:txBody>
                  <a:tcPr marL="91440" marR="64008" marT="64008" marB="45720">
                    <a:solidFill>
                      <a:srgbClr val="EEF3FA"/>
                    </a:solidFill>
                  </a:tcPr>
                </a:tc>
              </a:tr>
              <a:tr h="445008">
                <a:tc>
                  <a:txBody>
                    <a:bodyPr/>
                    <a:lstStyle/>
                    <a:p>
                      <a:pPr>
                        <a:defRPr sz="1600" b="0">
                          <a:solidFill>
                            <a:srgbClr val="111111"/>
                          </a:solidFill>
                          <a:latin typeface="Microsoft YaHei"/>
                        </a:defRPr>
                      </a:pPr>
                      <a:r>
                        <a:t>气氛</a:t>
                      </a:r>
                    </a:p>
                  </a:txBody>
                  <a:tcPr marL="91440" marR="64008" marT="64008" marB="45720">
                    <a:solidFill>
                      <a:srgbClr val="FFFFFF"/>
                    </a:solidFill>
                  </a:tcPr>
                </a:tc>
                <a:tc>
                  <a:txBody>
                    <a:bodyPr/>
                    <a:lstStyle/>
                    <a:p>
                      <a:pPr>
                        <a:defRPr sz="1600" b="0">
                          <a:solidFill>
                            <a:srgbClr val="111111"/>
                          </a:solidFill>
                          <a:latin typeface="Microsoft YaHei"/>
                        </a:defRPr>
                      </a:pPr>
                      <a:r>
                        <a:t>O₂ / O₂ 鼓泡 / N₂ / 空气</a:t>
                      </a:r>
                    </a:p>
                  </a:txBody>
                  <a:tcPr marL="91440" marR="64008" marT="64008" marB="45720">
                    <a:solidFill>
                      <a:srgbClr val="FFFFFF"/>
                    </a:solidFill>
                  </a:tcPr>
                </a:tc>
              </a:tr>
            </a:tbl>
          </a:graphicData>
        </a:graphic>
      </p:graphicFrame>
      <p:sp>
        <p:nvSpPr>
          <p:cNvPr id="36" name="Rectangle 35"/>
          <p:cNvSpPr/>
          <p:nvPr/>
        </p:nvSpPr>
        <p:spPr>
          <a:xfrm>
            <a:off x="594360" y="5907024"/>
            <a:ext cx="11018520" cy="411480"/>
          </a:xfrm>
          <a:prstGeom prst="rect">
            <a:avLst/>
          </a:prstGeom>
          <a:solidFill>
            <a:srgbClr val="EEF3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77240" y="5980176"/>
            <a:ext cx="10652760" cy="265176"/>
          </a:xfrm>
          <a:prstGeom prst="rect">
            <a:avLst/>
          </a:prstGeom>
          <a:noFill/>
          <a:effectLst/>
        </p:spPr>
        <p:txBody>
          <a:bodyPr wrap="square" lIns="22860" rIns="22860" tIns="0" bIns="0">
            <a:spAutoFit/>
          </a:bodyPr>
          <a:lstStyle/>
          <a:p>
            <a:pPr>
              <a:spcAft>
                <a:spcPts val="600"/>
              </a:spcAft>
              <a:defRPr sz="1600" b="1">
                <a:solidFill>
                  <a:srgbClr val="203864"/>
                </a:solidFill>
                <a:latin typeface="Microsoft YaHei"/>
              </a:defRPr>
            </a:pPr>
            <a:r>
              <a:t>现有实验构成条件筛查基础，后续以同一套定量方法完成可重复比较。</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384048" y="329184"/>
            <a:ext cx="50292" cy="320040"/>
          </a:xfrm>
          <a:prstGeom prst="rect">
            <a:avLst/>
          </a:prstGeom>
          <a:solidFill>
            <a:srgbClr val="20386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869680" y="246888"/>
            <a:ext cx="2880360" cy="356616"/>
          </a:xfrm>
          <a:prstGeom prst="rect">
            <a:avLst/>
          </a:prstGeom>
          <a:noFill/>
          <a:effectLst/>
        </p:spPr>
        <p:txBody>
          <a:bodyPr wrap="square" lIns="22860" rIns="22860" tIns="0" bIns="0">
            <a:spAutoFit/>
          </a:bodyPr>
          <a:lstStyle/>
          <a:p>
            <a:pPr algn="r">
              <a:spcAft>
                <a:spcPts val="600"/>
              </a:spcAft>
              <a:defRPr sz="2100" b="1">
                <a:solidFill>
                  <a:srgbClr val="159BB6"/>
                </a:solidFill>
                <a:latin typeface="Microsoft YaHei"/>
              </a:defRPr>
            </a:pPr>
            <a:r>
              <a:t>北京工业大学</a:t>
            </a:r>
          </a:p>
        </p:txBody>
      </p:sp>
      <p:sp>
        <p:nvSpPr>
          <p:cNvPr id="4" name="TextBox 3"/>
          <p:cNvSpPr txBox="1"/>
          <p:nvPr/>
        </p:nvSpPr>
        <p:spPr>
          <a:xfrm>
            <a:off x="8686800" y="621792"/>
            <a:ext cx="3063240" cy="182880"/>
          </a:xfrm>
          <a:prstGeom prst="rect">
            <a:avLst/>
          </a:prstGeom>
          <a:noFill/>
          <a:effectLst/>
        </p:spPr>
        <p:txBody>
          <a:bodyPr wrap="square" lIns="22860" rIns="22860" tIns="0" bIns="0">
            <a:spAutoFit/>
          </a:bodyPr>
          <a:lstStyle/>
          <a:p>
            <a:pPr algn="r">
              <a:spcAft>
                <a:spcPts val="600"/>
              </a:spcAft>
              <a:defRPr sz="770" b="1">
                <a:solidFill>
                  <a:srgbClr val="159BB6"/>
                </a:solidFill>
                <a:latin typeface="Microsoft YaHei"/>
              </a:defRPr>
            </a:pPr>
            <a:r>
              <a:t>BEIJING UNIVERSITY OF TECHNOLOGY</a:t>
            </a:r>
          </a:p>
        </p:txBody>
      </p:sp>
      <p:sp>
        <p:nvSpPr>
          <p:cNvPr id="5" name="TextBox 4"/>
          <p:cNvSpPr txBox="1"/>
          <p:nvPr/>
        </p:nvSpPr>
        <p:spPr>
          <a:xfrm>
            <a:off x="594360" y="914400"/>
            <a:ext cx="11109960" cy="594360"/>
          </a:xfrm>
          <a:prstGeom prst="rect">
            <a:avLst/>
          </a:prstGeom>
          <a:noFill/>
          <a:effectLst/>
        </p:spPr>
        <p:txBody>
          <a:bodyPr wrap="square" lIns="22860" rIns="22860" tIns="0" bIns="0">
            <a:spAutoFit/>
          </a:bodyPr>
          <a:lstStyle/>
          <a:p>
            <a:pPr>
              <a:spcAft>
                <a:spcPts val="600"/>
              </a:spcAft>
              <a:defRPr sz="2600" b="1">
                <a:solidFill>
                  <a:srgbClr val="203864"/>
                </a:solidFill>
                <a:latin typeface="Microsoft YaHei"/>
              </a:defRPr>
            </a:pPr>
            <a:r>
              <a:t>模型结果已有转化记录，产物归属与定量仍待完善</a:t>
            </a:r>
          </a:p>
        </p:txBody>
      </p:sp>
      <p:cxnSp>
        <p:nvCxnSpPr>
          <p:cNvPr id="6" name="Connector 5"/>
          <p:cNvCxnSpPr/>
          <p:nvPr/>
        </p:nvCxnSpPr>
        <p:spPr>
          <a:xfrm>
            <a:off x="594360" y="1636776"/>
            <a:ext cx="11018520" cy="0"/>
          </a:xfrm>
          <a:prstGeom prst="line">
            <a:avLst/>
          </a:prstGeom>
          <a:ln w="25400">
            <a:solidFill>
              <a:srgbClr val="203864"/>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40080" y="1773936"/>
            <a:ext cx="10972800" cy="393192"/>
          </a:xfrm>
          <a:prstGeom prst="rect">
            <a:avLst/>
          </a:prstGeom>
          <a:noFill/>
          <a:effectLst/>
        </p:spPr>
        <p:txBody>
          <a:bodyPr wrap="square" lIns="22860" rIns="22860" tIns="0" bIns="0">
            <a:spAutoFit/>
          </a:bodyPr>
          <a:lstStyle/>
          <a:p>
            <a:pPr>
              <a:spcAft>
                <a:spcPts val="600"/>
              </a:spcAft>
              <a:defRPr sz="1300" b="0">
                <a:solidFill>
                  <a:srgbClr val="566273"/>
                </a:solidFill>
                <a:latin typeface="Microsoft YaHei"/>
              </a:defRPr>
            </a:pPr>
            <a:r>
              <a:t>保留原始转化率与六组定性记录，不将底物消耗直接表述为脱氯率或降解率</a:t>
            </a:r>
          </a:p>
        </p:txBody>
      </p:sp>
      <p:cxnSp>
        <p:nvCxnSpPr>
          <p:cNvPr id="8" name="Connector 7"/>
          <p:cNvCxnSpPr/>
          <p:nvPr/>
        </p:nvCxnSpPr>
        <p:spPr>
          <a:xfrm>
            <a:off x="594360" y="6446520"/>
            <a:ext cx="11018520" cy="0"/>
          </a:xfrm>
          <a:prstGeom prst="line">
            <a:avLst/>
          </a:prstGeom>
          <a:ln w="10160">
            <a:solidFill>
              <a:srgbClr val="CED7E3"/>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94360" y="6547104"/>
            <a:ext cx="10469880" cy="182880"/>
          </a:xfrm>
          <a:prstGeom prst="rect">
            <a:avLst/>
          </a:prstGeom>
          <a:noFill/>
          <a:effectLst/>
        </p:spPr>
        <p:txBody>
          <a:bodyPr wrap="square" lIns="22860" rIns="22860" tIns="0" bIns="0">
            <a:spAutoFit/>
          </a:bodyPr>
          <a:lstStyle/>
          <a:p>
            <a:pPr>
              <a:spcAft>
                <a:spcPts val="600"/>
              </a:spcAft>
              <a:defRPr sz="800" b="0">
                <a:solidFill>
                  <a:srgbClr val="566273"/>
                </a:solidFill>
                <a:latin typeface="Arial"/>
              </a:defRPr>
            </a:pPr>
            <a:r>
              <a:t>实验数据：用户原始实验 PPT，第8页；转化率计算方法与候选峰归属待复核。</a:t>
            </a:r>
          </a:p>
        </p:txBody>
      </p:sp>
      <p:sp>
        <p:nvSpPr>
          <p:cNvPr id="10" name="TextBox 9"/>
          <p:cNvSpPr txBox="1"/>
          <p:nvPr/>
        </p:nvSpPr>
        <p:spPr>
          <a:xfrm>
            <a:off x="11137392" y="6510528"/>
            <a:ext cx="438912" cy="237744"/>
          </a:xfrm>
          <a:prstGeom prst="rect">
            <a:avLst/>
          </a:prstGeom>
          <a:noFill/>
          <a:effectLst/>
        </p:spPr>
        <p:txBody>
          <a:bodyPr wrap="square" lIns="22860" rIns="22860" tIns="0" bIns="0">
            <a:spAutoFit/>
          </a:bodyPr>
          <a:lstStyle/>
          <a:p>
            <a:pPr algn="r">
              <a:spcAft>
                <a:spcPts val="600"/>
              </a:spcAft>
              <a:defRPr sz="1100" b="1">
                <a:solidFill>
                  <a:srgbClr val="203864"/>
                </a:solidFill>
                <a:latin typeface="Microsoft YaHei"/>
              </a:defRPr>
            </a:pPr>
            <a:r>
              <a:t>11</a:t>
            </a:r>
          </a:p>
        </p:txBody>
      </p:sp>
      <p:sp>
        <p:nvSpPr>
          <p:cNvPr id="11" name="Rectangle 10"/>
          <p:cNvSpPr/>
          <p:nvPr/>
        </p:nvSpPr>
        <p:spPr>
          <a:xfrm>
            <a:off x="685800" y="2423160"/>
            <a:ext cx="4617720" cy="393192"/>
          </a:xfrm>
          <a:prstGeom prst="rect">
            <a:avLst/>
          </a:prstGeom>
          <a:solidFill>
            <a:srgbClr val="20386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813816" y="2491740"/>
            <a:ext cx="4361688" cy="265176"/>
          </a:xfrm>
          <a:prstGeom prst="rect">
            <a:avLst/>
          </a:prstGeom>
          <a:noFill/>
          <a:effectLst/>
        </p:spPr>
        <p:txBody>
          <a:bodyPr wrap="square" lIns="22860" rIns="22860" tIns="0" bIns="0">
            <a:spAutoFit/>
          </a:bodyPr>
          <a:lstStyle/>
          <a:p>
            <a:pPr>
              <a:spcAft>
                <a:spcPts val="600"/>
              </a:spcAft>
              <a:defRPr sz="1500" b="1">
                <a:solidFill>
                  <a:srgbClr val="FFFFFF"/>
                </a:solidFill>
                <a:latin typeface="Microsoft YaHei"/>
              </a:defRPr>
            </a:pPr>
            <a:r>
              <a:t>已记录的底物转化率 / %</a:t>
            </a:r>
          </a:p>
        </p:txBody>
      </p:sp>
      <p:graphicFrame>
        <p:nvGraphicFramePr>
          <p:cNvPr id="13" name="Chart 12"/>
          <p:cNvGraphicFramePr>
            <a:graphicFrameLocks noGrp="1"/>
          </p:cNvGraphicFramePr>
          <p:nvPr/>
        </p:nvGraphicFramePr>
        <p:xfrm>
          <a:off x="749808" y="2962656"/>
          <a:ext cx="4462272" cy="2487168"/>
        </p:xfrm>
        <a:graphic>
          <a:graphicData uri="http://schemas.openxmlformats.org/drawingml/2006/chart">
            <c:chart xmlns:c="http://schemas.openxmlformats.org/drawingml/2006/chart" r:id="rId2"/>
          </a:graphicData>
        </a:graphic>
      </p:graphicFrame>
      <p:sp>
        <p:nvSpPr>
          <p:cNvPr id="14" name="Rectangle 13"/>
          <p:cNvSpPr/>
          <p:nvPr/>
        </p:nvSpPr>
        <p:spPr>
          <a:xfrm>
            <a:off x="5623560" y="2423160"/>
            <a:ext cx="5852160" cy="393192"/>
          </a:xfrm>
          <a:prstGeom prst="rect">
            <a:avLst/>
          </a:prstGeom>
          <a:solidFill>
            <a:srgbClr val="20386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5751576" y="2491740"/>
            <a:ext cx="5596128" cy="265176"/>
          </a:xfrm>
          <a:prstGeom prst="rect">
            <a:avLst/>
          </a:prstGeom>
          <a:noFill/>
          <a:effectLst/>
        </p:spPr>
        <p:txBody>
          <a:bodyPr wrap="square" lIns="22860" rIns="22860" tIns="0" bIns="0">
            <a:spAutoFit/>
          </a:bodyPr>
          <a:lstStyle/>
          <a:p>
            <a:pPr>
              <a:spcAft>
                <a:spcPts val="600"/>
              </a:spcAft>
              <a:defRPr sz="1500" b="1">
                <a:solidFill>
                  <a:srgbClr val="FFFFFF"/>
                </a:solidFill>
                <a:latin typeface="Microsoft YaHei"/>
              </a:defRPr>
            </a:pPr>
            <a:r>
              <a:t>候选产物：原始定性记录</a:t>
            </a:r>
          </a:p>
        </p:txBody>
      </p:sp>
      <p:graphicFrame>
        <p:nvGraphicFramePr>
          <p:cNvPr id="16" name="Table 15"/>
          <p:cNvGraphicFramePr>
            <a:graphicFrameLocks noGrp="1"/>
          </p:cNvGraphicFramePr>
          <p:nvPr/>
        </p:nvGraphicFramePr>
        <p:xfrm>
          <a:off x="5623560" y="2926080"/>
          <a:ext cx="5852160" cy="2596896"/>
        </p:xfrm>
        <a:graphic>
          <a:graphicData uri="http://schemas.openxmlformats.org/drawingml/2006/table">
            <a:tbl>
              <a:tblPr firstRow="1" bandRow="1">
                <a:tableStyleId>{5C22544A-7EE6-4342-B048-85BDC9FD1C3A}</a:tableStyleId>
              </a:tblPr>
              <a:tblGrid>
                <a:gridCol w="2011680"/>
                <a:gridCol w="1024128"/>
                <a:gridCol w="1024128"/>
                <a:gridCol w="914400"/>
                <a:gridCol w="877824"/>
              </a:tblGrid>
              <a:tr h="370985">
                <a:tc>
                  <a:txBody>
                    <a:bodyPr/>
                    <a:lstStyle/>
                    <a:p>
                      <a:pPr>
                        <a:defRPr sz="1100" b="1">
                          <a:solidFill>
                            <a:srgbClr val="FFFFFF"/>
                          </a:solidFill>
                          <a:latin typeface="Microsoft YaHei"/>
                        </a:defRPr>
                      </a:pPr>
                      <a:r>
                        <a:t>条件</a:t>
                      </a:r>
                    </a:p>
                  </a:txBody>
                  <a:tcPr marL="91440" marR="64008" marT="64008" marB="45720">
                    <a:solidFill>
                      <a:srgbClr val="203864"/>
                    </a:solidFill>
                  </a:tcPr>
                </a:tc>
                <a:tc>
                  <a:txBody>
                    <a:bodyPr/>
                    <a:lstStyle/>
                    <a:p>
                      <a:pPr>
                        <a:defRPr sz="1100" b="1">
                          <a:solidFill>
                            <a:srgbClr val="FFFFFF"/>
                          </a:solidFill>
                          <a:latin typeface="Microsoft YaHei"/>
                        </a:defRPr>
                      </a:pPr>
                      <a:r>
                        <a:t>2,4-二氯戊烷</a:t>
                      </a:r>
                    </a:p>
                  </a:txBody>
                  <a:tcPr marL="91440" marR="64008" marT="64008" marB="45720">
                    <a:solidFill>
                      <a:srgbClr val="203864"/>
                    </a:solidFill>
                  </a:tcPr>
                </a:tc>
                <a:tc>
                  <a:txBody>
                    <a:bodyPr/>
                    <a:lstStyle/>
                    <a:p>
                      <a:pPr>
                        <a:defRPr sz="1100" b="1">
                          <a:solidFill>
                            <a:srgbClr val="FFFFFF"/>
                          </a:solidFill>
                          <a:latin typeface="Microsoft YaHei"/>
                        </a:defRPr>
                      </a:pPr>
                      <a:r>
                        <a:t>四氯丁烷</a:t>
                      </a:r>
                    </a:p>
                  </a:txBody>
                  <a:tcPr marL="91440" marR="64008" marT="64008" marB="45720">
                    <a:solidFill>
                      <a:srgbClr val="203864"/>
                    </a:solidFill>
                  </a:tcPr>
                </a:tc>
                <a:tc>
                  <a:txBody>
                    <a:bodyPr/>
                    <a:lstStyle/>
                    <a:p>
                      <a:pPr>
                        <a:defRPr sz="1100" b="1">
                          <a:solidFill>
                            <a:srgbClr val="FFFFFF"/>
                          </a:solidFill>
                          <a:latin typeface="Microsoft YaHei"/>
                        </a:defRPr>
                      </a:pPr>
                      <a:r>
                        <a:t>氯乙酸</a:t>
                      </a:r>
                    </a:p>
                  </a:txBody>
                  <a:tcPr marL="91440" marR="64008" marT="64008" marB="45720">
                    <a:solidFill>
                      <a:srgbClr val="203864"/>
                    </a:solidFill>
                  </a:tcPr>
                </a:tc>
                <a:tc>
                  <a:txBody>
                    <a:bodyPr/>
                    <a:lstStyle/>
                    <a:p>
                      <a:pPr>
                        <a:defRPr sz="1100" b="1">
                          <a:solidFill>
                            <a:srgbClr val="FFFFFF"/>
                          </a:solidFill>
                          <a:latin typeface="Microsoft YaHei"/>
                        </a:defRPr>
                      </a:pPr>
                      <a:r>
                        <a:t>未知</a:t>
                      </a:r>
                    </a:p>
                  </a:txBody>
                  <a:tcPr marL="91440" marR="64008" marT="64008" marB="45720">
                    <a:solidFill>
                      <a:srgbClr val="203864"/>
                    </a:solidFill>
                  </a:tcPr>
                </a:tc>
              </a:tr>
              <a:tr h="370985">
                <a:tc>
                  <a:txBody>
                    <a:bodyPr/>
                    <a:lstStyle/>
                    <a:p>
                      <a:pPr>
                        <a:defRPr sz="1100" b="0">
                          <a:solidFill>
                            <a:srgbClr val="111111"/>
                          </a:solidFill>
                          <a:latin typeface="Microsoft YaHei"/>
                        </a:defRPr>
                      </a:pPr>
                      <a:r>
                        <a:t>O₂</a:t>
                      </a:r>
                    </a:p>
                  </a:txBody>
                  <a:tcPr marL="91440" marR="64008" marT="64008" marB="45720">
                    <a:solidFill>
                      <a:srgbClr val="FFFFFF"/>
                    </a:solidFill>
                  </a:tcPr>
                </a:tc>
                <a:tc>
                  <a:txBody>
                    <a:bodyPr/>
                    <a:lstStyle/>
                    <a:p>
                      <a:pPr>
                        <a:defRPr sz="1100" b="0">
                          <a:solidFill>
                            <a:srgbClr val="111111"/>
                          </a:solidFill>
                          <a:latin typeface="Microsoft YaHei"/>
                        </a:defRPr>
                      </a:pPr>
                      <a:r>
                        <a:t>√</a:t>
                      </a:r>
                    </a:p>
                  </a:txBody>
                  <a:tcPr marL="91440" marR="64008" marT="64008" marB="45720">
                    <a:solidFill>
                      <a:srgbClr val="FFFFFF"/>
                    </a:solidFill>
                  </a:tcPr>
                </a:tc>
                <a:tc>
                  <a:txBody>
                    <a:bodyPr/>
                    <a:lstStyle/>
                    <a:p>
                      <a:pPr>
                        <a:defRPr sz="1100" b="0">
                          <a:solidFill>
                            <a:srgbClr val="111111"/>
                          </a:solidFill>
                          <a:latin typeface="Microsoft YaHei"/>
                        </a:defRPr>
                      </a:pPr>
                      <a:r>
                        <a:t>√</a:t>
                      </a:r>
                    </a:p>
                  </a:txBody>
                  <a:tcPr marL="91440" marR="64008" marT="64008" marB="45720">
                    <a:solidFill>
                      <a:srgbClr val="FFFFFF"/>
                    </a:solidFill>
                  </a:tcPr>
                </a:tc>
                <a:tc>
                  <a:txBody>
                    <a:bodyPr/>
                    <a:lstStyle/>
                    <a:p>
                      <a:pPr>
                        <a:defRPr sz="1100" b="0">
                          <a:solidFill>
                            <a:srgbClr val="111111"/>
                          </a:solidFill>
                          <a:latin typeface="Microsoft YaHei"/>
                        </a:defRPr>
                      </a:pPr>
                      <a:r>
                        <a:t>√</a:t>
                      </a:r>
                    </a:p>
                  </a:txBody>
                  <a:tcPr marL="91440" marR="64008" marT="64008" marB="45720">
                    <a:solidFill>
                      <a:srgbClr val="FFFFFF"/>
                    </a:solidFill>
                  </a:tcPr>
                </a:tc>
                <a:tc>
                  <a:txBody>
                    <a:bodyPr/>
                    <a:lstStyle/>
                    <a:p>
                      <a:pPr>
                        <a:defRPr sz="1100" b="0">
                          <a:solidFill>
                            <a:srgbClr val="111111"/>
                          </a:solidFill>
                          <a:latin typeface="Microsoft YaHei"/>
                        </a:defRPr>
                      </a:pPr>
                      <a:r>
                        <a:t>√</a:t>
                      </a:r>
                    </a:p>
                  </a:txBody>
                  <a:tcPr marL="91440" marR="64008" marT="64008" marB="45720">
                    <a:solidFill>
                      <a:srgbClr val="FFFFFF"/>
                    </a:solidFill>
                  </a:tcPr>
                </a:tc>
              </a:tr>
              <a:tr h="370985">
                <a:tc>
                  <a:txBody>
                    <a:bodyPr/>
                    <a:lstStyle/>
                    <a:p>
                      <a:pPr>
                        <a:defRPr sz="1100" b="0">
                          <a:solidFill>
                            <a:srgbClr val="111111"/>
                          </a:solidFill>
                          <a:latin typeface="Microsoft YaHei"/>
                        </a:defRPr>
                      </a:pPr>
                      <a:r>
                        <a:t>O₂ 鼓泡</a:t>
                      </a:r>
                    </a:p>
                  </a:txBody>
                  <a:tcPr marL="91440" marR="64008" marT="64008" marB="45720">
                    <a:solidFill>
                      <a:srgbClr val="EEF3FA"/>
                    </a:solidFill>
                  </a:tcPr>
                </a:tc>
                <a:tc>
                  <a:txBody>
                    <a:bodyPr/>
                    <a:lstStyle/>
                    <a:p>
                      <a:pPr>
                        <a:defRPr sz="1100" b="0">
                          <a:solidFill>
                            <a:srgbClr val="111111"/>
                          </a:solidFill>
                          <a:latin typeface="Microsoft YaHei"/>
                        </a:defRPr>
                      </a:pPr>
                      <a:r>
                        <a:t>√</a:t>
                      </a:r>
                    </a:p>
                  </a:txBody>
                  <a:tcPr marL="91440" marR="64008" marT="64008" marB="45720">
                    <a:solidFill>
                      <a:srgbClr val="EEF3FA"/>
                    </a:solidFill>
                  </a:tcPr>
                </a:tc>
                <a:tc>
                  <a:txBody>
                    <a:bodyPr/>
                    <a:lstStyle/>
                    <a:p>
                      <a:pPr>
                        <a:defRPr sz="1100" b="0">
                          <a:solidFill>
                            <a:srgbClr val="111111"/>
                          </a:solidFill>
                          <a:latin typeface="Microsoft YaHei"/>
                        </a:defRPr>
                      </a:pPr>
                      <a:r>
                        <a:t>√</a:t>
                      </a:r>
                    </a:p>
                  </a:txBody>
                  <a:tcPr marL="91440" marR="64008" marT="64008" marB="45720">
                    <a:solidFill>
                      <a:srgbClr val="EEF3FA"/>
                    </a:solidFill>
                  </a:tcPr>
                </a:tc>
                <a:tc>
                  <a:txBody>
                    <a:bodyPr/>
                    <a:lstStyle/>
                    <a:p>
                      <a:pPr>
                        <a:defRPr sz="1100" b="0">
                          <a:solidFill>
                            <a:srgbClr val="111111"/>
                          </a:solidFill>
                          <a:latin typeface="Microsoft YaHei"/>
                        </a:defRPr>
                      </a:pPr>
                      <a:r>
                        <a:t>√</a:t>
                      </a:r>
                    </a:p>
                  </a:txBody>
                  <a:tcPr marL="91440" marR="64008" marT="64008" marB="45720">
                    <a:solidFill>
                      <a:srgbClr val="EEF3FA"/>
                    </a:solidFill>
                  </a:tcPr>
                </a:tc>
                <a:tc>
                  <a:txBody>
                    <a:bodyPr/>
                    <a:lstStyle/>
                    <a:p>
                      <a:pPr>
                        <a:defRPr sz="1100" b="0">
                          <a:solidFill>
                            <a:srgbClr val="111111"/>
                          </a:solidFill>
                          <a:latin typeface="Microsoft YaHei"/>
                        </a:defRPr>
                      </a:pPr>
                      <a:r>
                        <a:t>√</a:t>
                      </a:r>
                    </a:p>
                  </a:txBody>
                  <a:tcPr marL="91440" marR="64008" marT="64008" marB="45720">
                    <a:solidFill>
                      <a:srgbClr val="EEF3FA"/>
                    </a:solidFill>
                  </a:tcPr>
                </a:tc>
              </a:tr>
              <a:tr h="370985">
                <a:tc>
                  <a:txBody>
                    <a:bodyPr/>
                    <a:lstStyle/>
                    <a:p>
                      <a:pPr>
                        <a:defRPr sz="1100" b="0">
                          <a:solidFill>
                            <a:srgbClr val="111111"/>
                          </a:solidFill>
                          <a:latin typeface="Microsoft YaHei"/>
                        </a:defRPr>
                      </a:pPr>
                      <a:r>
                        <a:t>N₂</a:t>
                      </a:r>
                    </a:p>
                  </a:txBody>
                  <a:tcPr marL="91440" marR="64008" marT="64008" marB="45720">
                    <a:solidFill>
                      <a:srgbClr val="FFFFFF"/>
                    </a:solidFill>
                  </a:tcPr>
                </a:tc>
                <a:tc>
                  <a:txBody>
                    <a:bodyPr/>
                    <a:lstStyle/>
                    <a:p>
                      <a:pPr>
                        <a:defRPr sz="1100" b="0">
                          <a:solidFill>
                            <a:srgbClr val="111111"/>
                          </a:solidFill>
                          <a:latin typeface="Microsoft YaHei"/>
                        </a:defRPr>
                      </a:pPr>
                      <a:r>
                        <a:t>√</a:t>
                      </a:r>
                    </a:p>
                  </a:txBody>
                  <a:tcPr marL="91440" marR="64008" marT="64008" marB="45720">
                    <a:solidFill>
                      <a:srgbClr val="FFFFFF"/>
                    </a:solidFill>
                  </a:tcPr>
                </a:tc>
                <a:tc>
                  <a:txBody>
                    <a:bodyPr/>
                    <a:lstStyle/>
                    <a:p>
                      <a:pPr>
                        <a:defRPr sz="1100" b="0">
                          <a:solidFill>
                            <a:srgbClr val="111111"/>
                          </a:solidFill>
                          <a:latin typeface="Microsoft YaHei"/>
                        </a:defRPr>
                      </a:pPr>
                      <a:r>
                        <a:t>√</a:t>
                      </a:r>
                    </a:p>
                  </a:txBody>
                  <a:tcPr marL="91440" marR="64008" marT="64008" marB="45720">
                    <a:solidFill>
                      <a:srgbClr val="FFFFFF"/>
                    </a:solidFill>
                  </a:tcPr>
                </a:tc>
                <a:tc>
                  <a:txBody>
                    <a:bodyPr/>
                    <a:lstStyle/>
                    <a:p>
                      <a:pPr>
                        <a:defRPr sz="1100" b="0">
                          <a:solidFill>
                            <a:srgbClr val="111111"/>
                          </a:solidFill>
                          <a:latin typeface="Microsoft YaHei"/>
                        </a:defRPr>
                      </a:pPr>
                      <a:r>
                        <a:t>n.d.</a:t>
                      </a:r>
                    </a:p>
                  </a:txBody>
                  <a:tcPr marL="91440" marR="64008" marT="64008" marB="45720">
                    <a:solidFill>
                      <a:srgbClr val="FFFFFF"/>
                    </a:solidFill>
                  </a:tcPr>
                </a:tc>
                <a:tc>
                  <a:txBody>
                    <a:bodyPr/>
                    <a:lstStyle/>
                    <a:p>
                      <a:pPr>
                        <a:defRPr sz="1100" b="0">
                          <a:solidFill>
                            <a:srgbClr val="111111"/>
                          </a:solidFill>
                          <a:latin typeface="Microsoft YaHei"/>
                        </a:defRPr>
                      </a:pPr>
                      <a:r>
                        <a:t>/</a:t>
                      </a:r>
                    </a:p>
                  </a:txBody>
                  <a:tcPr marL="91440" marR="64008" marT="64008" marB="45720">
                    <a:solidFill>
                      <a:srgbClr val="FFFFFF"/>
                    </a:solidFill>
                  </a:tcPr>
                </a:tc>
              </a:tr>
              <a:tr h="370985">
                <a:tc>
                  <a:txBody>
                    <a:bodyPr/>
                    <a:lstStyle/>
                    <a:p>
                      <a:pPr>
                        <a:defRPr sz="1100" b="0">
                          <a:solidFill>
                            <a:srgbClr val="111111"/>
                          </a:solidFill>
                          <a:latin typeface="Microsoft YaHei"/>
                        </a:defRPr>
                      </a:pPr>
                      <a:r>
                        <a:t>空气</a:t>
                      </a:r>
                    </a:p>
                  </a:txBody>
                  <a:tcPr marL="91440" marR="64008" marT="64008" marB="45720">
                    <a:solidFill>
                      <a:srgbClr val="EEF3FA"/>
                    </a:solidFill>
                  </a:tcPr>
                </a:tc>
                <a:tc>
                  <a:txBody>
                    <a:bodyPr/>
                    <a:lstStyle/>
                    <a:p>
                      <a:pPr>
                        <a:defRPr sz="1100" b="0">
                          <a:solidFill>
                            <a:srgbClr val="111111"/>
                          </a:solidFill>
                          <a:latin typeface="Microsoft YaHei"/>
                        </a:defRPr>
                      </a:pPr>
                      <a:r>
                        <a:t>/</a:t>
                      </a:r>
                    </a:p>
                  </a:txBody>
                  <a:tcPr marL="91440" marR="64008" marT="64008" marB="45720">
                    <a:solidFill>
                      <a:srgbClr val="EEF3FA"/>
                    </a:solidFill>
                  </a:tcPr>
                </a:tc>
                <a:tc>
                  <a:txBody>
                    <a:bodyPr/>
                    <a:lstStyle/>
                    <a:p>
                      <a:pPr>
                        <a:defRPr sz="1100" b="0">
                          <a:solidFill>
                            <a:srgbClr val="111111"/>
                          </a:solidFill>
                          <a:latin typeface="Microsoft YaHei"/>
                        </a:defRPr>
                      </a:pPr>
                      <a:r>
                        <a:t>√</a:t>
                      </a:r>
                    </a:p>
                  </a:txBody>
                  <a:tcPr marL="91440" marR="64008" marT="64008" marB="45720">
                    <a:solidFill>
                      <a:srgbClr val="EEF3FA"/>
                    </a:solidFill>
                  </a:tcPr>
                </a:tc>
                <a:tc>
                  <a:txBody>
                    <a:bodyPr/>
                    <a:lstStyle/>
                    <a:p>
                      <a:pPr>
                        <a:defRPr sz="1100" b="0">
                          <a:solidFill>
                            <a:srgbClr val="111111"/>
                          </a:solidFill>
                          <a:latin typeface="Microsoft YaHei"/>
                        </a:defRPr>
                      </a:pPr>
                      <a:r>
                        <a:t>n.d.</a:t>
                      </a:r>
                    </a:p>
                  </a:txBody>
                  <a:tcPr marL="91440" marR="64008" marT="64008" marB="45720">
                    <a:solidFill>
                      <a:srgbClr val="EEF3FA"/>
                    </a:solidFill>
                  </a:tcPr>
                </a:tc>
                <a:tc>
                  <a:txBody>
                    <a:bodyPr/>
                    <a:lstStyle/>
                    <a:p>
                      <a:pPr>
                        <a:defRPr sz="1100" b="0">
                          <a:solidFill>
                            <a:srgbClr val="111111"/>
                          </a:solidFill>
                          <a:latin typeface="Microsoft YaHei"/>
                        </a:defRPr>
                      </a:pPr>
                      <a:r>
                        <a:t>/</a:t>
                      </a:r>
                    </a:p>
                  </a:txBody>
                  <a:tcPr marL="91440" marR="64008" marT="64008" marB="45720">
                    <a:solidFill>
                      <a:srgbClr val="EEF3FA"/>
                    </a:solidFill>
                  </a:tcPr>
                </a:tc>
              </a:tr>
              <a:tr h="370985">
                <a:tc>
                  <a:txBody>
                    <a:bodyPr/>
                    <a:lstStyle/>
                    <a:p>
                      <a:pPr>
                        <a:defRPr sz="1100" b="0">
                          <a:solidFill>
                            <a:srgbClr val="111111"/>
                          </a:solidFill>
                          <a:latin typeface="Microsoft YaHei"/>
                        </a:defRPr>
                      </a:pPr>
                      <a:r>
                        <a:t>乙腈 / 各气氛</a:t>
                      </a:r>
                    </a:p>
                  </a:txBody>
                  <a:tcPr marL="91440" marR="64008" marT="64008" marB="45720">
                    <a:solidFill>
                      <a:srgbClr val="FFFFFF"/>
                    </a:solidFill>
                  </a:tcPr>
                </a:tc>
                <a:tc>
                  <a:txBody>
                    <a:bodyPr/>
                    <a:lstStyle/>
                    <a:p>
                      <a:pPr>
                        <a:defRPr sz="1100" b="0">
                          <a:solidFill>
                            <a:srgbClr val="111111"/>
                          </a:solidFill>
                          <a:latin typeface="Microsoft YaHei"/>
                        </a:defRPr>
                      </a:pPr>
                      <a:r>
                        <a:t>n.d.</a:t>
                      </a:r>
                    </a:p>
                  </a:txBody>
                  <a:tcPr marL="91440" marR="64008" marT="64008" marB="45720">
                    <a:solidFill>
                      <a:srgbClr val="FFFFFF"/>
                    </a:solidFill>
                  </a:tcPr>
                </a:tc>
                <a:tc>
                  <a:txBody>
                    <a:bodyPr/>
                    <a:lstStyle/>
                    <a:p>
                      <a:pPr>
                        <a:defRPr sz="1100" b="0">
                          <a:solidFill>
                            <a:srgbClr val="111111"/>
                          </a:solidFill>
                          <a:latin typeface="Microsoft YaHei"/>
                        </a:defRPr>
                      </a:pPr>
                      <a:r>
                        <a:t>n.d.</a:t>
                      </a:r>
                    </a:p>
                  </a:txBody>
                  <a:tcPr marL="91440" marR="64008" marT="64008" marB="45720">
                    <a:solidFill>
                      <a:srgbClr val="FFFFFF"/>
                    </a:solidFill>
                  </a:tcPr>
                </a:tc>
                <a:tc>
                  <a:txBody>
                    <a:bodyPr/>
                    <a:lstStyle/>
                    <a:p>
                      <a:pPr>
                        <a:defRPr sz="1100" b="0">
                          <a:solidFill>
                            <a:srgbClr val="111111"/>
                          </a:solidFill>
                          <a:latin typeface="Microsoft YaHei"/>
                        </a:defRPr>
                      </a:pPr>
                      <a:r>
                        <a:t>n.d.</a:t>
                      </a:r>
                    </a:p>
                  </a:txBody>
                  <a:tcPr marL="91440" marR="64008" marT="64008" marB="45720">
                    <a:solidFill>
                      <a:srgbClr val="FFFFFF"/>
                    </a:solidFill>
                  </a:tcPr>
                </a:tc>
                <a:tc>
                  <a:txBody>
                    <a:bodyPr/>
                    <a:lstStyle/>
                    <a:p>
                      <a:pPr>
                        <a:defRPr sz="1100" b="0">
                          <a:solidFill>
                            <a:srgbClr val="111111"/>
                          </a:solidFill>
                          <a:latin typeface="Microsoft YaHei"/>
                        </a:defRPr>
                      </a:pPr>
                      <a:r>
                        <a:t>/</a:t>
                      </a:r>
                    </a:p>
                  </a:txBody>
                  <a:tcPr marL="91440" marR="64008" marT="64008" marB="45720">
                    <a:solidFill>
                      <a:srgbClr val="FFFFFF"/>
                    </a:solidFill>
                  </a:tcPr>
                </a:tc>
              </a:tr>
              <a:tr h="370986">
                <a:tc>
                  <a:txBody>
                    <a:bodyPr/>
                    <a:lstStyle/>
                    <a:p>
                      <a:pPr>
                        <a:defRPr sz="1100" b="0">
                          <a:solidFill>
                            <a:srgbClr val="111111"/>
                          </a:solidFill>
                          <a:latin typeface="Microsoft YaHei"/>
                        </a:defRPr>
                      </a:pPr>
                      <a:r>
                        <a:t>乙腈 / 2.5 mmol 2-CP</a:t>
                      </a:r>
                    </a:p>
                  </a:txBody>
                  <a:tcPr marL="91440" marR="64008" marT="64008" marB="45720">
                    <a:solidFill>
                      <a:srgbClr val="EEF3FA"/>
                    </a:solidFill>
                  </a:tcPr>
                </a:tc>
                <a:tc>
                  <a:txBody>
                    <a:bodyPr/>
                    <a:lstStyle/>
                    <a:p>
                      <a:pPr>
                        <a:defRPr sz="1100" b="0">
                          <a:solidFill>
                            <a:srgbClr val="111111"/>
                          </a:solidFill>
                          <a:latin typeface="Microsoft YaHei"/>
                        </a:defRPr>
                      </a:pPr>
                      <a:r>
                        <a:t>n.d.</a:t>
                      </a:r>
                    </a:p>
                  </a:txBody>
                  <a:tcPr marL="91440" marR="64008" marT="64008" marB="45720">
                    <a:solidFill>
                      <a:srgbClr val="EEF3FA"/>
                    </a:solidFill>
                  </a:tcPr>
                </a:tc>
                <a:tc>
                  <a:txBody>
                    <a:bodyPr/>
                    <a:lstStyle/>
                    <a:p>
                      <a:pPr>
                        <a:defRPr sz="1100" b="0">
                          <a:solidFill>
                            <a:srgbClr val="111111"/>
                          </a:solidFill>
                          <a:latin typeface="Microsoft YaHei"/>
                        </a:defRPr>
                      </a:pPr>
                      <a:r>
                        <a:t>n.d.</a:t>
                      </a:r>
                    </a:p>
                  </a:txBody>
                  <a:tcPr marL="91440" marR="64008" marT="64008" marB="45720">
                    <a:solidFill>
                      <a:srgbClr val="EEF3FA"/>
                    </a:solidFill>
                  </a:tcPr>
                </a:tc>
                <a:tc>
                  <a:txBody>
                    <a:bodyPr/>
                    <a:lstStyle/>
                    <a:p>
                      <a:pPr>
                        <a:defRPr sz="1100" b="0">
                          <a:solidFill>
                            <a:srgbClr val="111111"/>
                          </a:solidFill>
                          <a:latin typeface="Microsoft YaHei"/>
                        </a:defRPr>
                      </a:pPr>
                      <a:r>
                        <a:t>n.d.</a:t>
                      </a:r>
                    </a:p>
                  </a:txBody>
                  <a:tcPr marL="91440" marR="64008" marT="64008" marB="45720">
                    <a:solidFill>
                      <a:srgbClr val="EEF3FA"/>
                    </a:solidFill>
                  </a:tcPr>
                </a:tc>
                <a:tc>
                  <a:txBody>
                    <a:bodyPr/>
                    <a:lstStyle/>
                    <a:p>
                      <a:pPr>
                        <a:defRPr sz="1100" b="0">
                          <a:solidFill>
                            <a:srgbClr val="111111"/>
                          </a:solidFill>
                          <a:latin typeface="Microsoft YaHei"/>
                        </a:defRPr>
                      </a:pPr>
                      <a:r>
                        <a:t>/</a:t>
                      </a:r>
                    </a:p>
                  </a:txBody>
                  <a:tcPr marL="91440" marR="64008" marT="64008" marB="45720">
                    <a:solidFill>
                      <a:srgbClr val="EEF3FA"/>
                    </a:solidFill>
                  </a:tcPr>
                </a:tc>
              </a:tr>
            </a:tbl>
          </a:graphicData>
        </a:graphic>
      </p:graphicFrame>
      <p:sp>
        <p:nvSpPr>
          <p:cNvPr id="17" name="TextBox 16"/>
          <p:cNvSpPr txBox="1"/>
          <p:nvPr/>
        </p:nvSpPr>
        <p:spPr>
          <a:xfrm>
            <a:off x="804672" y="5577840"/>
            <a:ext cx="4480560" cy="219456"/>
          </a:xfrm>
          <a:prstGeom prst="rect">
            <a:avLst/>
          </a:prstGeom>
          <a:noFill/>
          <a:effectLst/>
        </p:spPr>
        <p:txBody>
          <a:bodyPr wrap="square" lIns="22860" rIns="22860" tIns="0" bIns="0">
            <a:spAutoFit/>
          </a:bodyPr>
          <a:lstStyle/>
          <a:p>
            <a:pPr>
              <a:spcAft>
                <a:spcPts val="600"/>
              </a:spcAft>
              <a:defRPr sz="1100" b="0">
                <a:solidFill>
                  <a:srgbClr val="566273"/>
                </a:solidFill>
                <a:latin typeface="Microsoft YaHei"/>
              </a:defRPr>
            </a:pPr>
            <a:r>
              <a:t>计算方法 / 内标 / 校准未提供；不添加误差线。</a:t>
            </a:r>
          </a:p>
        </p:txBody>
      </p:sp>
      <p:sp>
        <p:nvSpPr>
          <p:cNvPr id="18" name="TextBox 17"/>
          <p:cNvSpPr txBox="1"/>
          <p:nvPr/>
        </p:nvSpPr>
        <p:spPr>
          <a:xfrm>
            <a:off x="5715000" y="5577840"/>
            <a:ext cx="5669280" cy="219456"/>
          </a:xfrm>
          <a:prstGeom prst="rect">
            <a:avLst/>
          </a:prstGeom>
          <a:noFill/>
          <a:effectLst/>
        </p:spPr>
        <p:txBody>
          <a:bodyPr wrap="square" lIns="22860" rIns="22860" tIns="0" bIns="0">
            <a:spAutoFit/>
          </a:bodyPr>
          <a:lstStyle/>
          <a:p>
            <a:pPr>
              <a:spcAft>
                <a:spcPts val="600"/>
              </a:spcAft>
              <a:defRPr sz="1100" b="0">
                <a:solidFill>
                  <a:srgbClr val="566273"/>
                </a:solidFill>
                <a:latin typeface="Microsoft YaHei"/>
              </a:defRPr>
            </a:pPr>
            <a:r>
              <a:t>符号沿用原记录；候选结构与峰归属尚待标准品核对。</a:t>
            </a:r>
          </a:p>
        </p:txBody>
      </p:sp>
      <p:sp>
        <p:nvSpPr>
          <p:cNvPr id="19" name="Rectangle 18"/>
          <p:cNvSpPr/>
          <p:nvPr/>
        </p:nvSpPr>
        <p:spPr>
          <a:xfrm>
            <a:off x="594360" y="5907024"/>
            <a:ext cx="11018520" cy="411480"/>
          </a:xfrm>
          <a:prstGeom prst="rect">
            <a:avLst/>
          </a:prstGeom>
          <a:solidFill>
            <a:srgbClr val="EEF3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77240" y="5980176"/>
            <a:ext cx="10652760" cy="265176"/>
          </a:xfrm>
          <a:prstGeom prst="rect">
            <a:avLst/>
          </a:prstGeom>
          <a:noFill/>
          <a:effectLst/>
        </p:spPr>
        <p:txBody>
          <a:bodyPr wrap="square" lIns="22860" rIns="22860" tIns="0" bIns="0">
            <a:spAutoFit/>
          </a:bodyPr>
          <a:lstStyle/>
          <a:p>
            <a:pPr>
              <a:spcAft>
                <a:spcPts val="600"/>
              </a:spcAft>
              <a:defRPr sz="1600" b="1">
                <a:solidFill>
                  <a:srgbClr val="203864"/>
                </a:solidFill>
                <a:latin typeface="Microsoft YaHei"/>
              </a:defRPr>
            </a:pPr>
            <a:r>
              <a:t>当前结论限于底物转化与候选信号，目标产物收率和物料平衡仍需建立。</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384048" y="329184"/>
            <a:ext cx="50292" cy="320040"/>
          </a:xfrm>
          <a:prstGeom prst="rect">
            <a:avLst/>
          </a:prstGeom>
          <a:solidFill>
            <a:srgbClr val="20386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869680" y="246888"/>
            <a:ext cx="2880360" cy="356616"/>
          </a:xfrm>
          <a:prstGeom prst="rect">
            <a:avLst/>
          </a:prstGeom>
          <a:noFill/>
          <a:effectLst/>
        </p:spPr>
        <p:txBody>
          <a:bodyPr wrap="square" lIns="22860" rIns="22860" tIns="0" bIns="0">
            <a:spAutoFit/>
          </a:bodyPr>
          <a:lstStyle/>
          <a:p>
            <a:pPr algn="r">
              <a:spcAft>
                <a:spcPts val="600"/>
              </a:spcAft>
              <a:defRPr sz="2100" b="1">
                <a:solidFill>
                  <a:srgbClr val="159BB6"/>
                </a:solidFill>
                <a:latin typeface="Microsoft YaHei"/>
              </a:defRPr>
            </a:pPr>
            <a:r>
              <a:t>北京工业大学</a:t>
            </a:r>
          </a:p>
        </p:txBody>
      </p:sp>
      <p:sp>
        <p:nvSpPr>
          <p:cNvPr id="4" name="TextBox 3"/>
          <p:cNvSpPr txBox="1"/>
          <p:nvPr/>
        </p:nvSpPr>
        <p:spPr>
          <a:xfrm>
            <a:off x="8686800" y="621792"/>
            <a:ext cx="3063240" cy="182880"/>
          </a:xfrm>
          <a:prstGeom prst="rect">
            <a:avLst/>
          </a:prstGeom>
          <a:noFill/>
          <a:effectLst/>
        </p:spPr>
        <p:txBody>
          <a:bodyPr wrap="square" lIns="22860" rIns="22860" tIns="0" bIns="0">
            <a:spAutoFit/>
          </a:bodyPr>
          <a:lstStyle/>
          <a:p>
            <a:pPr algn="r">
              <a:spcAft>
                <a:spcPts val="600"/>
              </a:spcAft>
              <a:defRPr sz="770" b="1">
                <a:solidFill>
                  <a:srgbClr val="159BB6"/>
                </a:solidFill>
                <a:latin typeface="Microsoft YaHei"/>
              </a:defRPr>
            </a:pPr>
            <a:r>
              <a:t>BEIJING UNIVERSITY OF TECHNOLOGY</a:t>
            </a:r>
          </a:p>
        </p:txBody>
      </p:sp>
      <p:sp>
        <p:nvSpPr>
          <p:cNvPr id="5" name="TextBox 4"/>
          <p:cNvSpPr txBox="1"/>
          <p:nvPr/>
        </p:nvSpPr>
        <p:spPr>
          <a:xfrm>
            <a:off x="594360" y="914400"/>
            <a:ext cx="11109960" cy="594360"/>
          </a:xfrm>
          <a:prstGeom prst="rect">
            <a:avLst/>
          </a:prstGeom>
          <a:noFill/>
          <a:effectLst/>
        </p:spPr>
        <p:txBody>
          <a:bodyPr wrap="square" lIns="22860" rIns="22860" tIns="0" bIns="0">
            <a:spAutoFit/>
          </a:bodyPr>
          <a:lstStyle/>
          <a:p>
            <a:pPr>
              <a:spcAft>
                <a:spcPts val="600"/>
              </a:spcAft>
              <a:defRPr sz="2600" b="1">
                <a:solidFill>
                  <a:srgbClr val="203864"/>
                </a:solidFill>
                <a:latin typeface="Microsoft YaHei"/>
              </a:defRPr>
            </a:pPr>
            <a:r>
              <a:t>溶剂相关信号使初始活化与产物来源成为首要分析对象</a:t>
            </a:r>
          </a:p>
        </p:txBody>
      </p:sp>
      <p:cxnSp>
        <p:nvCxnSpPr>
          <p:cNvPr id="6" name="Connector 5"/>
          <p:cNvCxnSpPr/>
          <p:nvPr/>
        </p:nvCxnSpPr>
        <p:spPr>
          <a:xfrm>
            <a:off x="594360" y="1636776"/>
            <a:ext cx="11018520" cy="0"/>
          </a:xfrm>
          <a:prstGeom prst="line">
            <a:avLst/>
          </a:prstGeom>
          <a:ln w="25400">
            <a:solidFill>
              <a:srgbClr val="203864"/>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40080" y="1773936"/>
            <a:ext cx="10972800" cy="393192"/>
          </a:xfrm>
          <a:prstGeom prst="rect">
            <a:avLst/>
          </a:prstGeom>
          <a:noFill/>
          <a:effectLst/>
        </p:spPr>
        <p:txBody>
          <a:bodyPr wrap="square" lIns="22860" rIns="22860" tIns="0" bIns="0">
            <a:spAutoFit/>
          </a:bodyPr>
          <a:lstStyle/>
          <a:p>
            <a:pPr>
              <a:spcAft>
                <a:spcPts val="600"/>
              </a:spcAft>
              <a:defRPr sz="1300" b="0">
                <a:solidFill>
                  <a:srgbClr val="566273"/>
                </a:solidFill>
                <a:latin typeface="Microsoft YaHei"/>
              </a:defRPr>
            </a:pPr>
            <a:r>
              <a:t>观察：预期模型产物未明确确认；出现 DCE 相关候选信号；乙腈中未见同类明确产物</a:t>
            </a:r>
          </a:p>
        </p:txBody>
      </p:sp>
      <p:cxnSp>
        <p:nvCxnSpPr>
          <p:cNvPr id="8" name="Connector 7"/>
          <p:cNvCxnSpPr/>
          <p:nvPr/>
        </p:nvCxnSpPr>
        <p:spPr>
          <a:xfrm>
            <a:off x="594360" y="6446520"/>
            <a:ext cx="11018520" cy="0"/>
          </a:xfrm>
          <a:prstGeom prst="line">
            <a:avLst/>
          </a:prstGeom>
          <a:ln w="10160">
            <a:solidFill>
              <a:srgbClr val="CED7E3"/>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94360" y="6547104"/>
            <a:ext cx="10469880" cy="182880"/>
          </a:xfrm>
          <a:prstGeom prst="rect">
            <a:avLst/>
          </a:prstGeom>
          <a:noFill/>
          <a:effectLst/>
        </p:spPr>
        <p:txBody>
          <a:bodyPr wrap="square" lIns="22860" rIns="22860" tIns="0" bIns="0">
            <a:spAutoFit/>
          </a:bodyPr>
          <a:lstStyle/>
          <a:p>
            <a:pPr>
              <a:spcAft>
                <a:spcPts val="600"/>
              </a:spcAft>
              <a:defRPr sz="800" b="0">
                <a:solidFill>
                  <a:srgbClr val="566273"/>
                </a:solidFill>
                <a:latin typeface="Arial"/>
              </a:defRPr>
            </a:pPr>
            <a:r>
              <a:t>观察：用户实验记录与补充说明；各解释为本课题待验证假说。</a:t>
            </a:r>
          </a:p>
        </p:txBody>
      </p:sp>
      <p:sp>
        <p:nvSpPr>
          <p:cNvPr id="10" name="TextBox 9"/>
          <p:cNvSpPr txBox="1"/>
          <p:nvPr/>
        </p:nvSpPr>
        <p:spPr>
          <a:xfrm>
            <a:off x="11137392" y="6510528"/>
            <a:ext cx="438912" cy="237744"/>
          </a:xfrm>
          <a:prstGeom prst="rect">
            <a:avLst/>
          </a:prstGeom>
          <a:noFill/>
          <a:effectLst/>
        </p:spPr>
        <p:txBody>
          <a:bodyPr wrap="square" lIns="22860" rIns="22860" tIns="0" bIns="0">
            <a:spAutoFit/>
          </a:bodyPr>
          <a:lstStyle/>
          <a:p>
            <a:pPr algn="r">
              <a:spcAft>
                <a:spcPts val="600"/>
              </a:spcAft>
              <a:defRPr sz="1100" b="1">
                <a:solidFill>
                  <a:srgbClr val="203864"/>
                </a:solidFill>
                <a:latin typeface="Microsoft YaHei"/>
              </a:defRPr>
            </a:pPr>
            <a:r>
              <a:t>12</a:t>
            </a:r>
          </a:p>
        </p:txBody>
      </p:sp>
      <p:graphicFrame>
        <p:nvGraphicFramePr>
          <p:cNvPr id="11" name="Table 10"/>
          <p:cNvGraphicFramePr>
            <a:graphicFrameLocks noGrp="1"/>
          </p:cNvGraphicFramePr>
          <p:nvPr/>
        </p:nvGraphicFramePr>
        <p:xfrm>
          <a:off x="731520" y="2423160"/>
          <a:ext cx="10725912" cy="3182112"/>
        </p:xfrm>
        <a:graphic>
          <a:graphicData uri="http://schemas.openxmlformats.org/drawingml/2006/table">
            <a:tbl>
              <a:tblPr firstRow="1" bandRow="1">
                <a:tableStyleId>{5C22544A-7EE6-4342-B048-85BDC9FD1C3A}</a:tableStyleId>
              </a:tblPr>
              <a:tblGrid>
                <a:gridCol w="2194560"/>
                <a:gridCol w="4041648"/>
                <a:gridCol w="4489704"/>
              </a:tblGrid>
              <a:tr h="454587">
                <a:tc>
                  <a:txBody>
                    <a:bodyPr/>
                    <a:lstStyle/>
                    <a:p>
                      <a:pPr>
                        <a:defRPr sz="1500" b="1">
                          <a:solidFill>
                            <a:srgbClr val="FFFFFF"/>
                          </a:solidFill>
                          <a:latin typeface="Microsoft YaHei"/>
                        </a:defRPr>
                      </a:pPr>
                      <a:r>
                        <a:t>待验证解释</a:t>
                      </a:r>
                    </a:p>
                  </a:txBody>
                  <a:tcPr marL="91440" marR="64008" marT="64008" marB="45720">
                    <a:solidFill>
                      <a:srgbClr val="203864"/>
                    </a:solidFill>
                  </a:tcPr>
                </a:tc>
                <a:tc>
                  <a:txBody>
                    <a:bodyPr/>
                    <a:lstStyle/>
                    <a:p>
                      <a:pPr>
                        <a:defRPr sz="1500" b="1">
                          <a:solidFill>
                            <a:srgbClr val="FFFFFF"/>
                          </a:solidFill>
                          <a:latin typeface="Microsoft YaHei"/>
                        </a:defRPr>
                      </a:pPr>
                      <a:r>
                        <a:t>具体分析</a:t>
                      </a:r>
                    </a:p>
                  </a:txBody>
                  <a:tcPr marL="91440" marR="64008" marT="64008" marB="45720">
                    <a:solidFill>
                      <a:srgbClr val="203864"/>
                    </a:solidFill>
                  </a:tcPr>
                </a:tc>
                <a:tc>
                  <a:txBody>
                    <a:bodyPr/>
                    <a:lstStyle/>
                    <a:p>
                      <a:pPr>
                        <a:defRPr sz="1500" b="1">
                          <a:solidFill>
                            <a:srgbClr val="FFFFFF"/>
                          </a:solidFill>
                          <a:latin typeface="Microsoft YaHei"/>
                        </a:defRPr>
                      </a:pPr>
                      <a:r>
                        <a:t>最有区分度的实验</a:t>
                      </a:r>
                    </a:p>
                  </a:txBody>
                  <a:tcPr marL="91440" marR="64008" marT="64008" marB="45720">
                    <a:solidFill>
                      <a:srgbClr val="203864"/>
                    </a:solidFill>
                  </a:tcPr>
                </a:tc>
              </a:tr>
              <a:tr h="454587">
                <a:tc>
                  <a:txBody>
                    <a:bodyPr/>
                    <a:lstStyle/>
                    <a:p>
                      <a:pPr>
                        <a:defRPr sz="1500" b="0">
                          <a:solidFill>
                            <a:srgbClr val="111111"/>
                          </a:solidFill>
                          <a:latin typeface="Microsoft YaHei"/>
                        </a:defRPr>
                      </a:pPr>
                      <a:r>
                        <a:t>DCE 化学参与</a:t>
                      </a:r>
                    </a:p>
                  </a:txBody>
                  <a:tcPr marL="91440" marR="64008" marT="64008" marB="45720">
                    <a:solidFill>
                      <a:srgbClr val="FFFFFF"/>
                    </a:solidFill>
                  </a:tcPr>
                </a:tc>
                <a:tc>
                  <a:txBody>
                    <a:bodyPr/>
                    <a:lstStyle/>
                    <a:p>
                      <a:pPr>
                        <a:defRPr sz="1500" b="0">
                          <a:solidFill>
                            <a:srgbClr val="111111"/>
                          </a:solidFill>
                          <a:latin typeface="Microsoft YaHei"/>
                        </a:defRPr>
                      </a:pPr>
                      <a:r>
                        <a:t>溶剂自身产生背景或副产物</a:t>
                      </a:r>
                    </a:p>
                  </a:txBody>
                  <a:tcPr marL="91440" marR="64008" marT="64008" marB="45720">
                    <a:solidFill>
                      <a:srgbClr val="FFFFFF"/>
                    </a:solidFill>
                  </a:tcPr>
                </a:tc>
                <a:tc>
                  <a:txBody>
                    <a:bodyPr/>
                    <a:lstStyle/>
                    <a:p>
                      <a:pPr>
                        <a:defRPr sz="1500" b="0">
                          <a:solidFill>
                            <a:srgbClr val="111111"/>
                          </a:solidFill>
                          <a:latin typeface="Microsoft YaHei"/>
                        </a:defRPr>
                      </a:pPr>
                      <a:r>
                        <a:t>无底物 DCE / EAQ 光照空白</a:t>
                      </a:r>
                    </a:p>
                  </a:txBody>
                  <a:tcPr marL="91440" marR="64008" marT="64008" marB="45720">
                    <a:solidFill>
                      <a:srgbClr val="FFFFFF"/>
                    </a:solidFill>
                  </a:tcPr>
                </a:tc>
              </a:tr>
              <a:tr h="454587">
                <a:tc>
                  <a:txBody>
                    <a:bodyPr/>
                    <a:lstStyle/>
                    <a:p>
                      <a:pPr>
                        <a:defRPr sz="1500" b="0">
                          <a:solidFill>
                            <a:srgbClr val="111111"/>
                          </a:solidFill>
                          <a:latin typeface="Microsoft YaHei"/>
                        </a:defRPr>
                      </a:pPr>
                      <a:r>
                        <a:t>EAQ* 优先与介质作用</a:t>
                      </a:r>
                    </a:p>
                  </a:txBody>
                  <a:tcPr marL="91440" marR="64008" marT="64008" marB="45720">
                    <a:solidFill>
                      <a:srgbClr val="EEF3FA"/>
                    </a:solidFill>
                  </a:tcPr>
                </a:tc>
                <a:tc>
                  <a:txBody>
                    <a:bodyPr/>
                    <a:lstStyle/>
                    <a:p>
                      <a:pPr>
                        <a:defRPr sz="1500" b="0">
                          <a:solidFill>
                            <a:srgbClr val="111111"/>
                          </a:solidFill>
                          <a:latin typeface="Microsoft YaHei"/>
                        </a:defRPr>
                      </a:pPr>
                      <a:r>
                        <a:t>溶剂浓度与激发态相互作用竞争</a:t>
                      </a:r>
                    </a:p>
                  </a:txBody>
                  <a:tcPr marL="91440" marR="64008" marT="64008" marB="45720">
                    <a:solidFill>
                      <a:srgbClr val="EEF3FA"/>
                    </a:solidFill>
                  </a:tcPr>
                </a:tc>
                <a:tc>
                  <a:txBody>
                    <a:bodyPr/>
                    <a:lstStyle/>
                    <a:p>
                      <a:pPr>
                        <a:defRPr sz="1500" b="0">
                          <a:solidFill>
                            <a:srgbClr val="111111"/>
                          </a:solidFill>
                          <a:latin typeface="Microsoft YaHei"/>
                        </a:defRPr>
                      </a:pPr>
                      <a:r>
                        <a:t>吸收 / 发光或瞬态测试；配对介质</a:t>
                      </a:r>
                    </a:p>
                  </a:txBody>
                  <a:tcPr marL="91440" marR="64008" marT="64008" marB="45720">
                    <a:solidFill>
                      <a:srgbClr val="EEF3FA"/>
                    </a:solidFill>
                  </a:tcPr>
                </a:tc>
              </a:tr>
              <a:tr h="454587">
                <a:tc>
                  <a:txBody>
                    <a:bodyPr/>
                    <a:lstStyle/>
                    <a:p>
                      <a:pPr>
                        <a:defRPr sz="1500" b="0">
                          <a:solidFill>
                            <a:srgbClr val="111111"/>
                          </a:solidFill>
                          <a:latin typeface="Microsoft YaHei"/>
                        </a:defRPr>
                      </a:pPr>
                      <a:r>
                        <a:t>底物初始活化不足</a:t>
                      </a:r>
                    </a:p>
                  </a:txBody>
                  <a:tcPr marL="91440" marR="64008" marT="64008" marB="45720">
                    <a:solidFill>
                      <a:srgbClr val="FFFFFF"/>
                    </a:solidFill>
                  </a:tcPr>
                </a:tc>
                <a:tc>
                  <a:txBody>
                    <a:bodyPr/>
                    <a:lstStyle/>
                    <a:p>
                      <a:pPr>
                        <a:defRPr sz="1500" b="0">
                          <a:solidFill>
                            <a:srgbClr val="111111"/>
                          </a:solidFill>
                          <a:latin typeface="Microsoft YaHei"/>
                        </a:defRPr>
                      </a:pPr>
                      <a:r>
                        <a:t>模型 C–H / C–Cl 未有效进入路径</a:t>
                      </a:r>
                    </a:p>
                  </a:txBody>
                  <a:tcPr marL="91440" marR="64008" marT="64008" marB="45720">
                    <a:solidFill>
                      <a:srgbClr val="FFFFFF"/>
                    </a:solidFill>
                  </a:tcPr>
                </a:tc>
                <a:tc>
                  <a:txBody>
                    <a:bodyPr/>
                    <a:lstStyle/>
                    <a:p>
                      <a:pPr>
                        <a:defRPr sz="1500" b="0">
                          <a:solidFill>
                            <a:srgbClr val="111111"/>
                          </a:solidFill>
                          <a:latin typeface="Microsoft YaHei"/>
                        </a:defRPr>
                      </a:pPr>
                      <a:r>
                        <a:t>底物浓度与时间曲线；底物回收</a:t>
                      </a:r>
                    </a:p>
                  </a:txBody>
                  <a:tcPr marL="91440" marR="64008" marT="64008" marB="45720">
                    <a:solidFill>
                      <a:srgbClr val="FFFFFF"/>
                    </a:solidFill>
                  </a:tcPr>
                </a:tc>
              </a:tr>
              <a:tr h="454587">
                <a:tc>
                  <a:txBody>
                    <a:bodyPr/>
                    <a:lstStyle/>
                    <a:p>
                      <a:pPr>
                        <a:defRPr sz="1500" b="0">
                          <a:solidFill>
                            <a:srgbClr val="111111"/>
                          </a:solidFill>
                          <a:latin typeface="Microsoft YaHei"/>
                        </a:defRPr>
                      </a:pPr>
                      <a:r>
                        <a:t>产物识别不完整</a:t>
                      </a:r>
                    </a:p>
                  </a:txBody>
                  <a:tcPr marL="91440" marR="64008" marT="64008" marB="45720">
                    <a:solidFill>
                      <a:srgbClr val="EEF3FA"/>
                    </a:solidFill>
                  </a:tcPr>
                </a:tc>
                <a:tc>
                  <a:txBody>
                    <a:bodyPr/>
                    <a:lstStyle/>
                    <a:p>
                      <a:pPr>
                        <a:defRPr sz="1500" b="0">
                          <a:solidFill>
                            <a:srgbClr val="111111"/>
                          </a:solidFill>
                          <a:latin typeface="Microsoft YaHei"/>
                        </a:defRPr>
                      </a:pPr>
                      <a:r>
                        <a:t>挥发性、极性或不稳定产物漏检</a:t>
                      </a:r>
                    </a:p>
                  </a:txBody>
                  <a:tcPr marL="91440" marR="64008" marT="64008" marB="45720">
                    <a:solidFill>
                      <a:srgbClr val="EEF3FA"/>
                    </a:solidFill>
                  </a:tcPr>
                </a:tc>
                <a:tc>
                  <a:txBody>
                    <a:bodyPr/>
                    <a:lstStyle/>
                    <a:p>
                      <a:pPr>
                        <a:defRPr sz="1500" b="0">
                          <a:solidFill>
                            <a:srgbClr val="111111"/>
                          </a:solidFill>
                          <a:latin typeface="Microsoft YaHei"/>
                        </a:defRPr>
                      </a:pPr>
                      <a:r>
                        <a:t>标准品、检测窗口与回收率检查</a:t>
                      </a:r>
                    </a:p>
                  </a:txBody>
                  <a:tcPr marL="91440" marR="64008" marT="64008" marB="45720">
                    <a:solidFill>
                      <a:srgbClr val="EEF3FA"/>
                    </a:solidFill>
                  </a:tcPr>
                </a:tc>
              </a:tr>
              <a:tr h="454587">
                <a:tc>
                  <a:txBody>
                    <a:bodyPr/>
                    <a:lstStyle/>
                    <a:p>
                      <a:pPr>
                        <a:defRPr sz="1500" b="0">
                          <a:solidFill>
                            <a:srgbClr val="111111"/>
                          </a:solidFill>
                          <a:latin typeface="Microsoft YaHei"/>
                        </a:defRPr>
                      </a:pPr>
                      <a:r>
                        <a:t>氧改变反应路径</a:t>
                      </a:r>
                    </a:p>
                  </a:txBody>
                  <a:tcPr marL="91440" marR="64008" marT="64008" marB="45720">
                    <a:solidFill>
                      <a:srgbClr val="FFFFFF"/>
                    </a:solidFill>
                  </a:tcPr>
                </a:tc>
                <a:tc>
                  <a:txBody>
                    <a:bodyPr/>
                    <a:lstStyle/>
                    <a:p>
                      <a:pPr>
                        <a:defRPr sz="1500" b="0">
                          <a:solidFill>
                            <a:srgbClr val="111111"/>
                          </a:solidFill>
                          <a:latin typeface="Microsoft YaHei"/>
                        </a:defRPr>
                      </a:pPr>
                      <a:r>
                        <a:t>氧参与或猝灭影响速率与选择性</a:t>
                      </a:r>
                    </a:p>
                  </a:txBody>
                  <a:tcPr marL="91440" marR="64008" marT="64008" marB="45720">
                    <a:solidFill>
                      <a:srgbClr val="FFFFFF"/>
                    </a:solidFill>
                  </a:tcPr>
                </a:tc>
                <a:tc>
                  <a:txBody>
                    <a:bodyPr/>
                    <a:lstStyle/>
                    <a:p>
                      <a:pPr>
                        <a:defRPr sz="1500" b="0">
                          <a:solidFill>
                            <a:srgbClr val="111111"/>
                          </a:solidFill>
                          <a:latin typeface="Microsoft YaHei"/>
                        </a:defRPr>
                      </a:pPr>
                      <a:r>
                        <a:t>O₂ / N₂ 配对；氧化产物分析</a:t>
                      </a:r>
                    </a:p>
                  </a:txBody>
                  <a:tcPr marL="91440" marR="64008" marT="64008" marB="45720">
                    <a:solidFill>
                      <a:srgbClr val="FFFFFF"/>
                    </a:solidFill>
                  </a:tcPr>
                </a:tc>
              </a:tr>
              <a:tr h="454590">
                <a:tc>
                  <a:txBody>
                    <a:bodyPr/>
                    <a:lstStyle/>
                    <a:p>
                      <a:pPr>
                        <a:defRPr sz="1500" b="0">
                          <a:solidFill>
                            <a:srgbClr val="111111"/>
                          </a:solidFill>
                          <a:latin typeface="Microsoft YaHei"/>
                        </a:defRPr>
                      </a:pPr>
                      <a:r>
                        <a:t>定量方法仍需复核</a:t>
                      </a:r>
                    </a:p>
                  </a:txBody>
                  <a:tcPr marL="91440" marR="64008" marT="64008" marB="45720">
                    <a:solidFill>
                      <a:srgbClr val="EEF3FA"/>
                    </a:solidFill>
                  </a:tcPr>
                </a:tc>
                <a:tc>
                  <a:txBody>
                    <a:bodyPr/>
                    <a:lstStyle/>
                    <a:p>
                      <a:pPr>
                        <a:defRPr sz="1500" b="0">
                          <a:solidFill>
                            <a:srgbClr val="111111"/>
                          </a:solidFill>
                          <a:latin typeface="Microsoft YaHei"/>
                        </a:defRPr>
                      </a:pPr>
                      <a:r>
                        <a:t>峰归属、响应因子或内标有偏差</a:t>
                      </a:r>
                    </a:p>
                  </a:txBody>
                  <a:tcPr marL="91440" marR="64008" marT="64008" marB="45720">
                    <a:solidFill>
                      <a:srgbClr val="EEF3FA"/>
                    </a:solidFill>
                  </a:tcPr>
                </a:tc>
                <a:tc>
                  <a:txBody>
                    <a:bodyPr/>
                    <a:lstStyle/>
                    <a:p>
                      <a:pPr>
                        <a:defRPr sz="1500" b="0">
                          <a:solidFill>
                            <a:srgbClr val="111111"/>
                          </a:solidFill>
                          <a:latin typeface="Microsoft YaHei"/>
                        </a:defRPr>
                      </a:pPr>
                      <a:r>
                        <a:t>原始色谱复查；内标与校准曲线</a:t>
                      </a:r>
                    </a:p>
                  </a:txBody>
                  <a:tcPr marL="91440" marR="64008" marT="64008" marB="45720">
                    <a:solidFill>
                      <a:srgbClr val="EEF3FA"/>
                    </a:solidFill>
                  </a:tcPr>
                </a:tc>
              </a:tr>
            </a:tbl>
          </a:graphicData>
        </a:graphic>
      </p:graphicFrame>
      <p:sp>
        <p:nvSpPr>
          <p:cNvPr id="12" name="Rectangle 11"/>
          <p:cNvSpPr/>
          <p:nvPr/>
        </p:nvSpPr>
        <p:spPr>
          <a:xfrm>
            <a:off x="594360" y="5907024"/>
            <a:ext cx="11018520" cy="411480"/>
          </a:xfrm>
          <a:prstGeom prst="rect">
            <a:avLst/>
          </a:prstGeom>
          <a:solidFill>
            <a:srgbClr val="EEF3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77240" y="5980176"/>
            <a:ext cx="10652760" cy="265176"/>
          </a:xfrm>
          <a:prstGeom prst="rect">
            <a:avLst/>
          </a:prstGeom>
          <a:noFill/>
          <a:effectLst/>
        </p:spPr>
        <p:txBody>
          <a:bodyPr wrap="square" lIns="22860" rIns="22860" tIns="0" bIns="0">
            <a:spAutoFit/>
          </a:bodyPr>
          <a:lstStyle/>
          <a:p>
            <a:pPr>
              <a:spcAft>
                <a:spcPts val="600"/>
              </a:spcAft>
              <a:defRPr sz="1600" b="1">
                <a:solidFill>
                  <a:srgbClr val="203864"/>
                </a:solidFill>
                <a:latin typeface="Microsoft YaHei"/>
              </a:defRPr>
            </a:pPr>
            <a:r>
              <a:t>将六种解释作为可证伪假说，先完成空白与分析确认，再优化反应条件。</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384048" y="329184"/>
            <a:ext cx="50292" cy="320040"/>
          </a:xfrm>
          <a:prstGeom prst="rect">
            <a:avLst/>
          </a:prstGeom>
          <a:solidFill>
            <a:srgbClr val="20386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869680" y="246888"/>
            <a:ext cx="2880360" cy="356616"/>
          </a:xfrm>
          <a:prstGeom prst="rect">
            <a:avLst/>
          </a:prstGeom>
          <a:noFill/>
          <a:effectLst/>
        </p:spPr>
        <p:txBody>
          <a:bodyPr wrap="square" lIns="22860" rIns="22860" tIns="0" bIns="0">
            <a:spAutoFit/>
          </a:bodyPr>
          <a:lstStyle/>
          <a:p>
            <a:pPr algn="r">
              <a:spcAft>
                <a:spcPts val="600"/>
              </a:spcAft>
              <a:defRPr sz="2100" b="1">
                <a:solidFill>
                  <a:srgbClr val="159BB6"/>
                </a:solidFill>
                <a:latin typeface="Microsoft YaHei"/>
              </a:defRPr>
            </a:pPr>
            <a:r>
              <a:t>北京工业大学</a:t>
            </a:r>
          </a:p>
        </p:txBody>
      </p:sp>
      <p:sp>
        <p:nvSpPr>
          <p:cNvPr id="4" name="TextBox 3"/>
          <p:cNvSpPr txBox="1"/>
          <p:nvPr/>
        </p:nvSpPr>
        <p:spPr>
          <a:xfrm>
            <a:off x="8686800" y="621792"/>
            <a:ext cx="3063240" cy="182880"/>
          </a:xfrm>
          <a:prstGeom prst="rect">
            <a:avLst/>
          </a:prstGeom>
          <a:noFill/>
          <a:effectLst/>
        </p:spPr>
        <p:txBody>
          <a:bodyPr wrap="square" lIns="22860" rIns="22860" tIns="0" bIns="0">
            <a:spAutoFit/>
          </a:bodyPr>
          <a:lstStyle/>
          <a:p>
            <a:pPr algn="r">
              <a:spcAft>
                <a:spcPts val="600"/>
              </a:spcAft>
              <a:defRPr sz="770" b="1">
                <a:solidFill>
                  <a:srgbClr val="159BB6"/>
                </a:solidFill>
                <a:latin typeface="Microsoft YaHei"/>
              </a:defRPr>
            </a:pPr>
            <a:r>
              <a:t>BEIJING UNIVERSITY OF TECHNOLOGY</a:t>
            </a:r>
          </a:p>
        </p:txBody>
      </p:sp>
      <p:sp>
        <p:nvSpPr>
          <p:cNvPr id="5" name="TextBox 4"/>
          <p:cNvSpPr txBox="1"/>
          <p:nvPr/>
        </p:nvSpPr>
        <p:spPr>
          <a:xfrm>
            <a:off x="594360" y="914400"/>
            <a:ext cx="11109960" cy="594360"/>
          </a:xfrm>
          <a:prstGeom prst="rect">
            <a:avLst/>
          </a:prstGeom>
          <a:noFill/>
          <a:effectLst/>
        </p:spPr>
        <p:txBody>
          <a:bodyPr wrap="square" lIns="22860" rIns="22860" tIns="0" bIns="0">
            <a:spAutoFit/>
          </a:bodyPr>
          <a:lstStyle/>
          <a:p>
            <a:pPr>
              <a:spcAft>
                <a:spcPts val="600"/>
              </a:spcAft>
              <a:defRPr sz="2600" b="1">
                <a:solidFill>
                  <a:srgbClr val="203864"/>
                </a:solidFill>
                <a:latin typeface="Microsoft YaHei"/>
              </a:defRPr>
            </a:pPr>
            <a:r>
              <a:t>PVC 谱形变化提供结构线索，尚不足以确认主链断裂</a:t>
            </a:r>
          </a:p>
        </p:txBody>
      </p:sp>
      <p:cxnSp>
        <p:nvCxnSpPr>
          <p:cNvPr id="6" name="Connector 5"/>
          <p:cNvCxnSpPr/>
          <p:nvPr/>
        </p:nvCxnSpPr>
        <p:spPr>
          <a:xfrm>
            <a:off x="594360" y="1636776"/>
            <a:ext cx="11018520" cy="0"/>
          </a:xfrm>
          <a:prstGeom prst="line">
            <a:avLst/>
          </a:prstGeom>
          <a:ln w="25400">
            <a:solidFill>
              <a:srgbClr val="203864"/>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40080" y="1773936"/>
            <a:ext cx="10972800" cy="393192"/>
          </a:xfrm>
          <a:prstGeom prst="rect">
            <a:avLst/>
          </a:prstGeom>
          <a:noFill/>
          <a:effectLst/>
        </p:spPr>
        <p:txBody>
          <a:bodyPr wrap="square" lIns="22860" rIns="22860" tIns="0" bIns="0">
            <a:spAutoFit/>
          </a:bodyPr>
          <a:lstStyle/>
          <a:p>
            <a:pPr>
              <a:spcAft>
                <a:spcPts val="600"/>
              </a:spcAft>
              <a:defRPr sz="1300" b="0">
                <a:solidFill>
                  <a:srgbClr val="566273"/>
                </a:solidFill>
                <a:latin typeface="Microsoft YaHei"/>
              </a:defRPr>
            </a:pPr>
            <a:r>
              <a:t>12 h 与 24 h；按原谱图矢量转录，非原始光谱点；未平滑、未拟合、未补造纵轴数值</a:t>
            </a:r>
          </a:p>
        </p:txBody>
      </p:sp>
      <p:cxnSp>
        <p:nvCxnSpPr>
          <p:cNvPr id="8" name="Connector 7"/>
          <p:cNvCxnSpPr/>
          <p:nvPr/>
        </p:nvCxnSpPr>
        <p:spPr>
          <a:xfrm>
            <a:off x="594360" y="6446520"/>
            <a:ext cx="11018520" cy="0"/>
          </a:xfrm>
          <a:prstGeom prst="line">
            <a:avLst/>
          </a:prstGeom>
          <a:ln w="10160">
            <a:solidFill>
              <a:srgbClr val="CED7E3"/>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94360" y="6547104"/>
            <a:ext cx="10469880" cy="182880"/>
          </a:xfrm>
          <a:prstGeom prst="rect">
            <a:avLst/>
          </a:prstGeom>
          <a:noFill/>
          <a:effectLst/>
        </p:spPr>
        <p:txBody>
          <a:bodyPr wrap="square" lIns="22860" rIns="22860" tIns="0" bIns="0">
            <a:spAutoFit/>
          </a:bodyPr>
          <a:lstStyle/>
          <a:p>
            <a:pPr>
              <a:spcAft>
                <a:spcPts val="600"/>
              </a:spcAft>
              <a:defRPr sz="800" b="0">
                <a:solidFill>
                  <a:srgbClr val="566273"/>
                </a:solidFill>
                <a:latin typeface="Arial"/>
              </a:defRPr>
            </a:pPr>
            <a:r>
              <a:t>Gardette et al., Macromolecules 1989, 22, 2576–2581.  本课题原始谱图：用户提供</a:t>
            </a:r>
          </a:p>
        </p:txBody>
      </p:sp>
      <p:sp>
        <p:nvSpPr>
          <p:cNvPr id="10" name="TextBox 9"/>
          <p:cNvSpPr txBox="1"/>
          <p:nvPr/>
        </p:nvSpPr>
        <p:spPr>
          <a:xfrm>
            <a:off x="11137392" y="6510528"/>
            <a:ext cx="438912" cy="237744"/>
          </a:xfrm>
          <a:prstGeom prst="rect">
            <a:avLst/>
          </a:prstGeom>
          <a:noFill/>
          <a:effectLst/>
        </p:spPr>
        <p:txBody>
          <a:bodyPr wrap="square" lIns="22860" rIns="22860" tIns="0" bIns="0">
            <a:spAutoFit/>
          </a:bodyPr>
          <a:lstStyle/>
          <a:p>
            <a:pPr algn="r">
              <a:spcAft>
                <a:spcPts val="600"/>
              </a:spcAft>
              <a:defRPr sz="1100" b="1">
                <a:solidFill>
                  <a:srgbClr val="203864"/>
                </a:solidFill>
                <a:latin typeface="Microsoft YaHei"/>
              </a:defRPr>
            </a:pPr>
            <a:r>
              <a:t>13</a:t>
            </a:r>
          </a:p>
        </p:txBody>
      </p:sp>
      <p:sp>
        <p:nvSpPr>
          <p:cNvPr id="11" name="Freeform 10"/>
          <p:cNvSpPr/>
          <p:nvPr/>
        </p:nvSpPr>
        <p:spPr>
          <a:xfrm>
            <a:off x="1005840" y="3802662"/>
            <a:ext cx="4471540" cy="1303189"/>
          </a:xfrm>
          <a:custGeom>
            <a:avLst/>
            <a:gdLst/>
            <a:ahLst/>
            <a:cxnLst/>
            <a:rect l="l" t="t" r="r" b="b"/>
            <a:pathLst>
              <a:path w="4471540" h="1303189">
                <a:moveTo>
                  <a:pt x="0" y="882159"/>
                </a:moveTo>
                <a:lnTo>
                  <a:pt x="5466" y="878817"/>
                </a:lnTo>
                <a:lnTo>
                  <a:pt x="10932" y="878817"/>
                </a:lnTo>
                <a:lnTo>
                  <a:pt x="16399" y="878817"/>
                </a:lnTo>
                <a:lnTo>
                  <a:pt x="21865" y="875476"/>
                </a:lnTo>
                <a:lnTo>
                  <a:pt x="27332" y="872134"/>
                </a:lnTo>
                <a:lnTo>
                  <a:pt x="32798" y="872134"/>
                </a:lnTo>
                <a:lnTo>
                  <a:pt x="38265" y="872134"/>
                </a:lnTo>
                <a:lnTo>
                  <a:pt x="43731" y="868793"/>
                </a:lnTo>
                <a:lnTo>
                  <a:pt x="49197" y="868793"/>
                </a:lnTo>
                <a:lnTo>
                  <a:pt x="54664" y="865451"/>
                </a:lnTo>
                <a:lnTo>
                  <a:pt x="60130" y="865451"/>
                </a:lnTo>
                <a:lnTo>
                  <a:pt x="65597" y="862110"/>
                </a:lnTo>
                <a:lnTo>
                  <a:pt x="71063" y="862110"/>
                </a:lnTo>
                <a:lnTo>
                  <a:pt x="76530" y="862110"/>
                </a:lnTo>
                <a:lnTo>
                  <a:pt x="81996" y="858768"/>
                </a:lnTo>
                <a:lnTo>
                  <a:pt x="87462" y="858768"/>
                </a:lnTo>
                <a:lnTo>
                  <a:pt x="92929" y="855427"/>
                </a:lnTo>
                <a:lnTo>
                  <a:pt x="98395" y="855427"/>
                </a:lnTo>
                <a:lnTo>
                  <a:pt x="103862" y="855427"/>
                </a:lnTo>
                <a:lnTo>
                  <a:pt x="109328" y="852085"/>
                </a:lnTo>
                <a:lnTo>
                  <a:pt x="114795" y="848744"/>
                </a:lnTo>
                <a:lnTo>
                  <a:pt x="120261" y="848744"/>
                </a:lnTo>
                <a:lnTo>
                  <a:pt x="125727" y="848744"/>
                </a:lnTo>
                <a:lnTo>
                  <a:pt x="131194" y="845402"/>
                </a:lnTo>
                <a:lnTo>
                  <a:pt x="136660" y="845402"/>
                </a:lnTo>
                <a:lnTo>
                  <a:pt x="142127" y="842061"/>
                </a:lnTo>
                <a:lnTo>
                  <a:pt x="147593" y="842061"/>
                </a:lnTo>
                <a:lnTo>
                  <a:pt x="153060" y="842061"/>
                </a:lnTo>
                <a:lnTo>
                  <a:pt x="158526" y="838719"/>
                </a:lnTo>
                <a:lnTo>
                  <a:pt x="163992" y="838719"/>
                </a:lnTo>
                <a:lnTo>
                  <a:pt x="169459" y="835378"/>
                </a:lnTo>
                <a:lnTo>
                  <a:pt x="174925" y="835378"/>
                </a:lnTo>
                <a:lnTo>
                  <a:pt x="180392" y="835378"/>
                </a:lnTo>
                <a:lnTo>
                  <a:pt x="185858" y="832036"/>
                </a:lnTo>
                <a:lnTo>
                  <a:pt x="191325" y="832036"/>
                </a:lnTo>
                <a:lnTo>
                  <a:pt x="196791" y="828694"/>
                </a:lnTo>
                <a:lnTo>
                  <a:pt x="202257" y="828694"/>
                </a:lnTo>
                <a:lnTo>
                  <a:pt x="207724" y="825353"/>
                </a:lnTo>
                <a:lnTo>
                  <a:pt x="213190" y="825353"/>
                </a:lnTo>
                <a:lnTo>
                  <a:pt x="218657" y="822011"/>
                </a:lnTo>
                <a:lnTo>
                  <a:pt x="224123" y="822011"/>
                </a:lnTo>
                <a:lnTo>
                  <a:pt x="229590" y="818670"/>
                </a:lnTo>
                <a:lnTo>
                  <a:pt x="235056" y="818670"/>
                </a:lnTo>
                <a:lnTo>
                  <a:pt x="240522" y="815328"/>
                </a:lnTo>
                <a:lnTo>
                  <a:pt x="245989" y="815328"/>
                </a:lnTo>
                <a:lnTo>
                  <a:pt x="251455" y="811987"/>
                </a:lnTo>
                <a:lnTo>
                  <a:pt x="256922" y="815328"/>
                </a:lnTo>
                <a:lnTo>
                  <a:pt x="262388" y="815328"/>
                </a:lnTo>
                <a:lnTo>
                  <a:pt x="267855" y="811987"/>
                </a:lnTo>
                <a:lnTo>
                  <a:pt x="273321" y="808645"/>
                </a:lnTo>
                <a:lnTo>
                  <a:pt x="278787" y="808645"/>
                </a:lnTo>
                <a:lnTo>
                  <a:pt x="284254" y="808645"/>
                </a:lnTo>
                <a:lnTo>
                  <a:pt x="289720" y="808645"/>
                </a:lnTo>
                <a:lnTo>
                  <a:pt x="295187" y="805304"/>
                </a:lnTo>
                <a:lnTo>
                  <a:pt x="300653" y="805304"/>
                </a:lnTo>
                <a:lnTo>
                  <a:pt x="306120" y="801962"/>
                </a:lnTo>
                <a:lnTo>
                  <a:pt x="311586" y="798621"/>
                </a:lnTo>
                <a:lnTo>
                  <a:pt x="317053" y="801962"/>
                </a:lnTo>
                <a:lnTo>
                  <a:pt x="322519" y="798621"/>
                </a:lnTo>
                <a:lnTo>
                  <a:pt x="327985" y="798621"/>
                </a:lnTo>
                <a:lnTo>
                  <a:pt x="333452" y="795279"/>
                </a:lnTo>
                <a:lnTo>
                  <a:pt x="338918" y="795279"/>
                </a:lnTo>
                <a:lnTo>
                  <a:pt x="344385" y="795279"/>
                </a:lnTo>
                <a:lnTo>
                  <a:pt x="349851" y="795279"/>
                </a:lnTo>
                <a:lnTo>
                  <a:pt x="355318" y="795279"/>
                </a:lnTo>
                <a:lnTo>
                  <a:pt x="360784" y="795279"/>
                </a:lnTo>
                <a:lnTo>
                  <a:pt x="366250" y="795279"/>
                </a:lnTo>
                <a:lnTo>
                  <a:pt x="371717" y="791938"/>
                </a:lnTo>
                <a:lnTo>
                  <a:pt x="377183" y="791938"/>
                </a:lnTo>
                <a:lnTo>
                  <a:pt x="382650" y="788596"/>
                </a:lnTo>
                <a:lnTo>
                  <a:pt x="388116" y="788596"/>
                </a:lnTo>
                <a:lnTo>
                  <a:pt x="393583" y="788596"/>
                </a:lnTo>
                <a:lnTo>
                  <a:pt x="399049" y="785255"/>
                </a:lnTo>
                <a:lnTo>
                  <a:pt x="404515" y="785255"/>
                </a:lnTo>
                <a:lnTo>
                  <a:pt x="409982" y="781913"/>
                </a:lnTo>
                <a:lnTo>
                  <a:pt x="415448" y="778572"/>
                </a:lnTo>
                <a:lnTo>
                  <a:pt x="420915" y="778572"/>
                </a:lnTo>
                <a:lnTo>
                  <a:pt x="426381" y="775230"/>
                </a:lnTo>
                <a:lnTo>
                  <a:pt x="431848" y="778572"/>
                </a:lnTo>
                <a:lnTo>
                  <a:pt x="437314" y="778572"/>
                </a:lnTo>
                <a:lnTo>
                  <a:pt x="442780" y="778572"/>
                </a:lnTo>
                <a:lnTo>
                  <a:pt x="448247" y="778572"/>
                </a:lnTo>
                <a:lnTo>
                  <a:pt x="453713" y="775230"/>
                </a:lnTo>
                <a:lnTo>
                  <a:pt x="459180" y="778572"/>
                </a:lnTo>
                <a:lnTo>
                  <a:pt x="464646" y="778572"/>
                </a:lnTo>
                <a:lnTo>
                  <a:pt x="470113" y="778572"/>
                </a:lnTo>
                <a:lnTo>
                  <a:pt x="475579" y="778572"/>
                </a:lnTo>
                <a:lnTo>
                  <a:pt x="481045" y="778572"/>
                </a:lnTo>
                <a:lnTo>
                  <a:pt x="486512" y="778572"/>
                </a:lnTo>
                <a:lnTo>
                  <a:pt x="491978" y="781913"/>
                </a:lnTo>
                <a:lnTo>
                  <a:pt x="497445" y="785255"/>
                </a:lnTo>
                <a:lnTo>
                  <a:pt x="502911" y="788596"/>
                </a:lnTo>
                <a:lnTo>
                  <a:pt x="508378" y="791938"/>
                </a:lnTo>
                <a:lnTo>
                  <a:pt x="513844" y="795279"/>
                </a:lnTo>
                <a:lnTo>
                  <a:pt x="519310" y="798621"/>
                </a:lnTo>
                <a:lnTo>
                  <a:pt x="524777" y="801962"/>
                </a:lnTo>
                <a:lnTo>
                  <a:pt x="530243" y="805304"/>
                </a:lnTo>
                <a:lnTo>
                  <a:pt x="535710" y="808645"/>
                </a:lnTo>
                <a:lnTo>
                  <a:pt x="541176" y="811987"/>
                </a:lnTo>
                <a:lnTo>
                  <a:pt x="546643" y="818670"/>
                </a:lnTo>
                <a:lnTo>
                  <a:pt x="552109" y="825353"/>
                </a:lnTo>
                <a:lnTo>
                  <a:pt x="557575" y="828694"/>
                </a:lnTo>
                <a:lnTo>
                  <a:pt x="563042" y="832036"/>
                </a:lnTo>
                <a:lnTo>
                  <a:pt x="568508" y="835378"/>
                </a:lnTo>
                <a:lnTo>
                  <a:pt x="573975" y="842061"/>
                </a:lnTo>
                <a:lnTo>
                  <a:pt x="579441" y="848744"/>
                </a:lnTo>
                <a:lnTo>
                  <a:pt x="584908" y="858768"/>
                </a:lnTo>
                <a:lnTo>
                  <a:pt x="590374" y="865451"/>
                </a:lnTo>
                <a:lnTo>
                  <a:pt x="595841" y="872134"/>
                </a:lnTo>
                <a:lnTo>
                  <a:pt x="601307" y="878817"/>
                </a:lnTo>
                <a:lnTo>
                  <a:pt x="606773" y="885500"/>
                </a:lnTo>
                <a:lnTo>
                  <a:pt x="612240" y="895525"/>
                </a:lnTo>
                <a:lnTo>
                  <a:pt x="617706" y="905549"/>
                </a:lnTo>
                <a:lnTo>
                  <a:pt x="623173" y="915574"/>
                </a:lnTo>
                <a:lnTo>
                  <a:pt x="628639" y="925598"/>
                </a:lnTo>
                <a:lnTo>
                  <a:pt x="634106" y="932281"/>
                </a:lnTo>
                <a:lnTo>
                  <a:pt x="639572" y="942306"/>
                </a:lnTo>
                <a:lnTo>
                  <a:pt x="645038" y="955672"/>
                </a:lnTo>
                <a:lnTo>
                  <a:pt x="650505" y="965696"/>
                </a:lnTo>
                <a:lnTo>
                  <a:pt x="655971" y="975721"/>
                </a:lnTo>
                <a:lnTo>
                  <a:pt x="661438" y="985746"/>
                </a:lnTo>
                <a:lnTo>
                  <a:pt x="666904" y="995770"/>
                </a:lnTo>
                <a:lnTo>
                  <a:pt x="672371" y="1009136"/>
                </a:lnTo>
                <a:lnTo>
                  <a:pt x="677837" y="1019161"/>
                </a:lnTo>
                <a:lnTo>
                  <a:pt x="683303" y="1029185"/>
                </a:lnTo>
                <a:lnTo>
                  <a:pt x="688770" y="1039210"/>
                </a:lnTo>
                <a:lnTo>
                  <a:pt x="694236" y="1049234"/>
                </a:lnTo>
                <a:lnTo>
                  <a:pt x="699703" y="1059259"/>
                </a:lnTo>
                <a:lnTo>
                  <a:pt x="705169" y="1072625"/>
                </a:lnTo>
                <a:lnTo>
                  <a:pt x="710636" y="1082649"/>
                </a:lnTo>
                <a:lnTo>
                  <a:pt x="716102" y="1092674"/>
                </a:lnTo>
                <a:lnTo>
                  <a:pt x="721568" y="1099357"/>
                </a:lnTo>
                <a:lnTo>
                  <a:pt x="727035" y="1112723"/>
                </a:lnTo>
                <a:lnTo>
                  <a:pt x="732501" y="1122747"/>
                </a:lnTo>
                <a:lnTo>
                  <a:pt x="737968" y="1132772"/>
                </a:lnTo>
                <a:lnTo>
                  <a:pt x="743434" y="1142797"/>
                </a:lnTo>
                <a:lnTo>
                  <a:pt x="748901" y="1152821"/>
                </a:lnTo>
                <a:lnTo>
                  <a:pt x="754367" y="1162846"/>
                </a:lnTo>
                <a:lnTo>
                  <a:pt x="759833" y="1172870"/>
                </a:lnTo>
                <a:lnTo>
                  <a:pt x="765300" y="1182895"/>
                </a:lnTo>
                <a:lnTo>
                  <a:pt x="770766" y="1189578"/>
                </a:lnTo>
                <a:lnTo>
                  <a:pt x="776233" y="1199602"/>
                </a:lnTo>
                <a:lnTo>
                  <a:pt x="781699" y="1206285"/>
                </a:lnTo>
                <a:lnTo>
                  <a:pt x="787166" y="1212968"/>
                </a:lnTo>
                <a:lnTo>
                  <a:pt x="792632" y="1219651"/>
                </a:lnTo>
                <a:lnTo>
                  <a:pt x="798098" y="1222993"/>
                </a:lnTo>
                <a:lnTo>
                  <a:pt x="803565" y="1229676"/>
                </a:lnTo>
                <a:lnTo>
                  <a:pt x="809031" y="1233017"/>
                </a:lnTo>
                <a:lnTo>
                  <a:pt x="814498" y="1239700"/>
                </a:lnTo>
                <a:lnTo>
                  <a:pt x="819964" y="1246383"/>
                </a:lnTo>
                <a:lnTo>
                  <a:pt x="825431" y="1249725"/>
                </a:lnTo>
                <a:lnTo>
                  <a:pt x="830897" y="1253066"/>
                </a:lnTo>
                <a:lnTo>
                  <a:pt x="836363" y="1259749"/>
                </a:lnTo>
                <a:lnTo>
                  <a:pt x="841830" y="1266432"/>
                </a:lnTo>
                <a:lnTo>
                  <a:pt x="847296" y="1269774"/>
                </a:lnTo>
                <a:lnTo>
                  <a:pt x="852763" y="1276457"/>
                </a:lnTo>
                <a:lnTo>
                  <a:pt x="858229" y="1279798"/>
                </a:lnTo>
                <a:lnTo>
                  <a:pt x="863696" y="1283140"/>
                </a:lnTo>
                <a:lnTo>
                  <a:pt x="869162" y="1289823"/>
                </a:lnTo>
                <a:lnTo>
                  <a:pt x="874629" y="1293165"/>
                </a:lnTo>
                <a:lnTo>
                  <a:pt x="880095" y="1296506"/>
                </a:lnTo>
                <a:lnTo>
                  <a:pt x="885561" y="1296506"/>
                </a:lnTo>
                <a:lnTo>
                  <a:pt x="891028" y="1299848"/>
                </a:lnTo>
                <a:lnTo>
                  <a:pt x="896494" y="1303189"/>
                </a:lnTo>
                <a:lnTo>
                  <a:pt x="901961" y="1303189"/>
                </a:lnTo>
                <a:lnTo>
                  <a:pt x="907427" y="1303189"/>
                </a:lnTo>
                <a:lnTo>
                  <a:pt x="923826" y="1303189"/>
                </a:lnTo>
                <a:lnTo>
                  <a:pt x="929293" y="1303189"/>
                </a:lnTo>
                <a:lnTo>
                  <a:pt x="934759" y="1303189"/>
                </a:lnTo>
                <a:lnTo>
                  <a:pt x="940226" y="1303189"/>
                </a:lnTo>
                <a:lnTo>
                  <a:pt x="945692" y="1299848"/>
                </a:lnTo>
                <a:lnTo>
                  <a:pt x="951159" y="1296506"/>
                </a:lnTo>
                <a:lnTo>
                  <a:pt x="956625" y="1293165"/>
                </a:lnTo>
                <a:lnTo>
                  <a:pt x="962091" y="1289823"/>
                </a:lnTo>
                <a:lnTo>
                  <a:pt x="967558" y="1283140"/>
                </a:lnTo>
                <a:lnTo>
                  <a:pt x="973024" y="1276457"/>
                </a:lnTo>
                <a:lnTo>
                  <a:pt x="978491" y="1273115"/>
                </a:lnTo>
                <a:lnTo>
                  <a:pt x="983957" y="1266432"/>
                </a:lnTo>
                <a:lnTo>
                  <a:pt x="989424" y="1259749"/>
                </a:lnTo>
                <a:lnTo>
                  <a:pt x="994890" y="1256408"/>
                </a:lnTo>
                <a:lnTo>
                  <a:pt x="1000356" y="1246383"/>
                </a:lnTo>
                <a:lnTo>
                  <a:pt x="1005823" y="1239700"/>
                </a:lnTo>
                <a:lnTo>
                  <a:pt x="1011289" y="1233017"/>
                </a:lnTo>
                <a:lnTo>
                  <a:pt x="1016756" y="1226334"/>
                </a:lnTo>
                <a:lnTo>
                  <a:pt x="1022222" y="1212968"/>
                </a:lnTo>
                <a:lnTo>
                  <a:pt x="1027689" y="1206285"/>
                </a:lnTo>
                <a:lnTo>
                  <a:pt x="1033155" y="1199602"/>
                </a:lnTo>
                <a:lnTo>
                  <a:pt x="1038621" y="1189578"/>
                </a:lnTo>
                <a:lnTo>
                  <a:pt x="1044088" y="1176212"/>
                </a:lnTo>
                <a:lnTo>
                  <a:pt x="1049554" y="1166187"/>
                </a:lnTo>
                <a:lnTo>
                  <a:pt x="1055021" y="1156163"/>
                </a:lnTo>
                <a:lnTo>
                  <a:pt x="1060487" y="1146138"/>
                </a:lnTo>
                <a:lnTo>
                  <a:pt x="1065954" y="1139455"/>
                </a:lnTo>
                <a:lnTo>
                  <a:pt x="1071420" y="1129430"/>
                </a:lnTo>
                <a:lnTo>
                  <a:pt x="1076886" y="1112723"/>
                </a:lnTo>
                <a:lnTo>
                  <a:pt x="1082353" y="1102698"/>
                </a:lnTo>
                <a:lnTo>
                  <a:pt x="1087819" y="1092674"/>
                </a:lnTo>
                <a:lnTo>
                  <a:pt x="1093286" y="1079308"/>
                </a:lnTo>
                <a:lnTo>
                  <a:pt x="1098752" y="1069283"/>
                </a:lnTo>
                <a:lnTo>
                  <a:pt x="1104219" y="1059259"/>
                </a:lnTo>
                <a:lnTo>
                  <a:pt x="1109685" y="1052576"/>
                </a:lnTo>
                <a:lnTo>
                  <a:pt x="1115151" y="1039210"/>
                </a:lnTo>
                <a:lnTo>
                  <a:pt x="1120618" y="1029185"/>
                </a:lnTo>
                <a:lnTo>
                  <a:pt x="1126084" y="1019161"/>
                </a:lnTo>
                <a:lnTo>
                  <a:pt x="1131551" y="1009136"/>
                </a:lnTo>
                <a:lnTo>
                  <a:pt x="1137017" y="1002453"/>
                </a:lnTo>
                <a:lnTo>
                  <a:pt x="1142484" y="995770"/>
                </a:lnTo>
                <a:lnTo>
                  <a:pt x="1147950" y="982404"/>
                </a:lnTo>
                <a:lnTo>
                  <a:pt x="1153417" y="975721"/>
                </a:lnTo>
                <a:lnTo>
                  <a:pt x="1158883" y="965696"/>
                </a:lnTo>
                <a:lnTo>
                  <a:pt x="1164349" y="962355"/>
                </a:lnTo>
                <a:lnTo>
                  <a:pt x="1169816" y="955672"/>
                </a:lnTo>
                <a:lnTo>
                  <a:pt x="1175282" y="945647"/>
                </a:lnTo>
                <a:lnTo>
                  <a:pt x="1180749" y="935623"/>
                </a:lnTo>
                <a:lnTo>
                  <a:pt x="1186215" y="932281"/>
                </a:lnTo>
                <a:lnTo>
                  <a:pt x="1191682" y="925598"/>
                </a:lnTo>
                <a:lnTo>
                  <a:pt x="1197148" y="918915"/>
                </a:lnTo>
                <a:lnTo>
                  <a:pt x="1202614" y="912232"/>
                </a:lnTo>
                <a:lnTo>
                  <a:pt x="1208081" y="905549"/>
                </a:lnTo>
                <a:lnTo>
                  <a:pt x="1213547" y="898866"/>
                </a:lnTo>
                <a:lnTo>
                  <a:pt x="1219014" y="892183"/>
                </a:lnTo>
                <a:lnTo>
                  <a:pt x="1224480" y="885500"/>
                </a:lnTo>
                <a:lnTo>
                  <a:pt x="1229947" y="882159"/>
                </a:lnTo>
                <a:lnTo>
                  <a:pt x="1235413" y="875476"/>
                </a:lnTo>
                <a:lnTo>
                  <a:pt x="1240879" y="868793"/>
                </a:lnTo>
                <a:lnTo>
                  <a:pt x="1246346" y="862110"/>
                </a:lnTo>
                <a:lnTo>
                  <a:pt x="1251812" y="855427"/>
                </a:lnTo>
                <a:lnTo>
                  <a:pt x="1257279" y="848744"/>
                </a:lnTo>
                <a:lnTo>
                  <a:pt x="1262745" y="845402"/>
                </a:lnTo>
                <a:lnTo>
                  <a:pt x="1268212" y="835378"/>
                </a:lnTo>
                <a:lnTo>
                  <a:pt x="1273678" y="832036"/>
                </a:lnTo>
                <a:lnTo>
                  <a:pt x="1279144" y="822011"/>
                </a:lnTo>
                <a:lnTo>
                  <a:pt x="1284611" y="815328"/>
                </a:lnTo>
                <a:lnTo>
                  <a:pt x="1290077" y="811987"/>
                </a:lnTo>
                <a:lnTo>
                  <a:pt x="1295544" y="801962"/>
                </a:lnTo>
                <a:lnTo>
                  <a:pt x="1301010" y="795279"/>
                </a:lnTo>
                <a:lnTo>
                  <a:pt x="1306477" y="788596"/>
                </a:lnTo>
                <a:lnTo>
                  <a:pt x="1311943" y="781913"/>
                </a:lnTo>
                <a:lnTo>
                  <a:pt x="1317409" y="775230"/>
                </a:lnTo>
                <a:lnTo>
                  <a:pt x="1322876" y="765206"/>
                </a:lnTo>
                <a:lnTo>
                  <a:pt x="1328342" y="758523"/>
                </a:lnTo>
                <a:lnTo>
                  <a:pt x="1333809" y="751840"/>
                </a:lnTo>
                <a:lnTo>
                  <a:pt x="1339275" y="741815"/>
                </a:lnTo>
                <a:lnTo>
                  <a:pt x="1344742" y="735132"/>
                </a:lnTo>
                <a:lnTo>
                  <a:pt x="1350208" y="728449"/>
                </a:lnTo>
                <a:lnTo>
                  <a:pt x="1355674" y="721766"/>
                </a:lnTo>
                <a:lnTo>
                  <a:pt x="1361141" y="715083"/>
                </a:lnTo>
                <a:lnTo>
                  <a:pt x="1366607" y="708400"/>
                </a:lnTo>
                <a:lnTo>
                  <a:pt x="1372074" y="698376"/>
                </a:lnTo>
                <a:lnTo>
                  <a:pt x="1377540" y="691693"/>
                </a:lnTo>
                <a:lnTo>
                  <a:pt x="1383007" y="685010"/>
                </a:lnTo>
                <a:lnTo>
                  <a:pt x="1388473" y="678326"/>
                </a:lnTo>
                <a:lnTo>
                  <a:pt x="1393939" y="674985"/>
                </a:lnTo>
                <a:lnTo>
                  <a:pt x="1399406" y="668302"/>
                </a:lnTo>
                <a:lnTo>
                  <a:pt x="1404872" y="661619"/>
                </a:lnTo>
                <a:lnTo>
                  <a:pt x="1410339" y="654936"/>
                </a:lnTo>
                <a:lnTo>
                  <a:pt x="1415805" y="648253"/>
                </a:lnTo>
                <a:lnTo>
                  <a:pt x="1421272" y="644911"/>
                </a:lnTo>
                <a:lnTo>
                  <a:pt x="1426738" y="638228"/>
                </a:lnTo>
                <a:lnTo>
                  <a:pt x="1432205" y="631545"/>
                </a:lnTo>
                <a:lnTo>
                  <a:pt x="1437671" y="624862"/>
                </a:lnTo>
                <a:lnTo>
                  <a:pt x="1443137" y="618179"/>
                </a:lnTo>
                <a:lnTo>
                  <a:pt x="1448604" y="614838"/>
                </a:lnTo>
                <a:lnTo>
                  <a:pt x="1454070" y="611496"/>
                </a:lnTo>
                <a:lnTo>
                  <a:pt x="1459537" y="604813"/>
                </a:lnTo>
                <a:lnTo>
                  <a:pt x="1465003" y="601472"/>
                </a:lnTo>
                <a:lnTo>
                  <a:pt x="1470470" y="594789"/>
                </a:lnTo>
                <a:lnTo>
                  <a:pt x="1475936" y="591447"/>
                </a:lnTo>
                <a:lnTo>
                  <a:pt x="1481402" y="588106"/>
                </a:lnTo>
                <a:lnTo>
                  <a:pt x="1486869" y="584764"/>
                </a:lnTo>
                <a:lnTo>
                  <a:pt x="1492335" y="578081"/>
                </a:lnTo>
                <a:lnTo>
                  <a:pt x="1497802" y="571398"/>
                </a:lnTo>
                <a:lnTo>
                  <a:pt x="1503268" y="568057"/>
                </a:lnTo>
                <a:lnTo>
                  <a:pt x="1508735" y="561374"/>
                </a:lnTo>
                <a:lnTo>
                  <a:pt x="1514201" y="558032"/>
                </a:lnTo>
                <a:lnTo>
                  <a:pt x="1519667" y="554691"/>
                </a:lnTo>
                <a:lnTo>
                  <a:pt x="1525134" y="548008"/>
                </a:lnTo>
                <a:lnTo>
                  <a:pt x="1530600" y="544666"/>
                </a:lnTo>
                <a:lnTo>
                  <a:pt x="1536067" y="541325"/>
                </a:lnTo>
                <a:lnTo>
                  <a:pt x="1541533" y="537983"/>
                </a:lnTo>
                <a:lnTo>
                  <a:pt x="1547000" y="534642"/>
                </a:lnTo>
                <a:lnTo>
                  <a:pt x="1552466" y="527958"/>
                </a:lnTo>
                <a:lnTo>
                  <a:pt x="1557932" y="524617"/>
                </a:lnTo>
                <a:lnTo>
                  <a:pt x="1563399" y="521275"/>
                </a:lnTo>
                <a:lnTo>
                  <a:pt x="1568865" y="517934"/>
                </a:lnTo>
                <a:lnTo>
                  <a:pt x="1574332" y="514592"/>
                </a:lnTo>
                <a:lnTo>
                  <a:pt x="1579798" y="511251"/>
                </a:lnTo>
                <a:lnTo>
                  <a:pt x="1585265" y="507909"/>
                </a:lnTo>
                <a:lnTo>
                  <a:pt x="1590731" y="504568"/>
                </a:lnTo>
                <a:lnTo>
                  <a:pt x="1596197" y="504568"/>
                </a:lnTo>
                <a:lnTo>
                  <a:pt x="1601664" y="501226"/>
                </a:lnTo>
                <a:lnTo>
                  <a:pt x="1607130" y="501226"/>
                </a:lnTo>
                <a:lnTo>
                  <a:pt x="1612597" y="497885"/>
                </a:lnTo>
                <a:lnTo>
                  <a:pt x="1618063" y="494543"/>
                </a:lnTo>
                <a:lnTo>
                  <a:pt x="1623530" y="491202"/>
                </a:lnTo>
                <a:lnTo>
                  <a:pt x="1628996" y="491202"/>
                </a:lnTo>
                <a:lnTo>
                  <a:pt x="1634462" y="491202"/>
                </a:lnTo>
                <a:lnTo>
                  <a:pt x="1639929" y="491202"/>
                </a:lnTo>
                <a:lnTo>
                  <a:pt x="1645395" y="487860"/>
                </a:lnTo>
                <a:lnTo>
                  <a:pt x="1650862" y="487860"/>
                </a:lnTo>
                <a:lnTo>
                  <a:pt x="1656328" y="484519"/>
                </a:lnTo>
                <a:lnTo>
                  <a:pt x="1661795" y="491202"/>
                </a:lnTo>
                <a:lnTo>
                  <a:pt x="1667261" y="497885"/>
                </a:lnTo>
                <a:lnTo>
                  <a:pt x="1672727" y="507909"/>
                </a:lnTo>
                <a:lnTo>
                  <a:pt x="1678194" y="521275"/>
                </a:lnTo>
                <a:lnTo>
                  <a:pt x="1683660" y="541325"/>
                </a:lnTo>
                <a:lnTo>
                  <a:pt x="1689127" y="554691"/>
                </a:lnTo>
                <a:lnTo>
                  <a:pt x="1694593" y="568057"/>
                </a:lnTo>
                <a:lnTo>
                  <a:pt x="1700060" y="578081"/>
                </a:lnTo>
                <a:lnTo>
                  <a:pt x="1705526" y="588106"/>
                </a:lnTo>
                <a:lnTo>
                  <a:pt x="1710992" y="604813"/>
                </a:lnTo>
                <a:lnTo>
                  <a:pt x="1716459" y="618179"/>
                </a:lnTo>
                <a:lnTo>
                  <a:pt x="1721925" y="621521"/>
                </a:lnTo>
                <a:lnTo>
                  <a:pt x="1727392" y="614838"/>
                </a:lnTo>
                <a:lnTo>
                  <a:pt x="1732858" y="611496"/>
                </a:lnTo>
                <a:lnTo>
                  <a:pt x="1738325" y="608155"/>
                </a:lnTo>
                <a:lnTo>
                  <a:pt x="1743791" y="601472"/>
                </a:lnTo>
                <a:lnTo>
                  <a:pt x="1749258" y="594789"/>
                </a:lnTo>
                <a:lnTo>
                  <a:pt x="1754724" y="594789"/>
                </a:lnTo>
                <a:lnTo>
                  <a:pt x="1760190" y="601472"/>
                </a:lnTo>
                <a:lnTo>
                  <a:pt x="1765657" y="604813"/>
                </a:lnTo>
                <a:lnTo>
                  <a:pt x="1771123" y="611496"/>
                </a:lnTo>
                <a:lnTo>
                  <a:pt x="1776590" y="621521"/>
                </a:lnTo>
                <a:lnTo>
                  <a:pt x="1782056" y="628204"/>
                </a:lnTo>
                <a:lnTo>
                  <a:pt x="1787523" y="641570"/>
                </a:lnTo>
                <a:lnTo>
                  <a:pt x="1792989" y="658277"/>
                </a:lnTo>
                <a:lnTo>
                  <a:pt x="1798455" y="664960"/>
                </a:lnTo>
                <a:lnTo>
                  <a:pt x="1803922" y="671643"/>
                </a:lnTo>
                <a:lnTo>
                  <a:pt x="1809388" y="648253"/>
                </a:lnTo>
                <a:lnTo>
                  <a:pt x="1814855" y="644911"/>
                </a:lnTo>
                <a:lnTo>
                  <a:pt x="1820321" y="648253"/>
                </a:lnTo>
                <a:lnTo>
                  <a:pt x="1825788" y="624862"/>
                </a:lnTo>
                <a:lnTo>
                  <a:pt x="1831254" y="614838"/>
                </a:lnTo>
                <a:lnTo>
                  <a:pt x="1836720" y="584764"/>
                </a:lnTo>
                <a:lnTo>
                  <a:pt x="1842187" y="564715"/>
                </a:lnTo>
                <a:lnTo>
                  <a:pt x="1847653" y="541325"/>
                </a:lnTo>
                <a:lnTo>
                  <a:pt x="1853120" y="511251"/>
                </a:lnTo>
                <a:lnTo>
                  <a:pt x="1858586" y="484519"/>
                </a:lnTo>
                <a:lnTo>
                  <a:pt x="1864053" y="464470"/>
                </a:lnTo>
                <a:lnTo>
                  <a:pt x="1869519" y="447762"/>
                </a:lnTo>
                <a:lnTo>
                  <a:pt x="1874985" y="437738"/>
                </a:lnTo>
                <a:lnTo>
                  <a:pt x="1880452" y="431055"/>
                </a:lnTo>
                <a:lnTo>
                  <a:pt x="1885918" y="427713"/>
                </a:lnTo>
                <a:lnTo>
                  <a:pt x="1891385" y="427713"/>
                </a:lnTo>
                <a:lnTo>
                  <a:pt x="1896851" y="427713"/>
                </a:lnTo>
                <a:lnTo>
                  <a:pt x="1902318" y="431055"/>
                </a:lnTo>
                <a:lnTo>
                  <a:pt x="1907784" y="434396"/>
                </a:lnTo>
                <a:lnTo>
                  <a:pt x="1913250" y="434396"/>
                </a:lnTo>
                <a:lnTo>
                  <a:pt x="1918717" y="437738"/>
                </a:lnTo>
                <a:lnTo>
                  <a:pt x="1924183" y="431055"/>
                </a:lnTo>
                <a:lnTo>
                  <a:pt x="1929650" y="424372"/>
                </a:lnTo>
                <a:lnTo>
                  <a:pt x="1935116" y="417689"/>
                </a:lnTo>
                <a:lnTo>
                  <a:pt x="1940583" y="414347"/>
                </a:lnTo>
                <a:lnTo>
                  <a:pt x="1946049" y="407664"/>
                </a:lnTo>
                <a:lnTo>
                  <a:pt x="1951515" y="404323"/>
                </a:lnTo>
                <a:lnTo>
                  <a:pt x="1956982" y="397640"/>
                </a:lnTo>
                <a:lnTo>
                  <a:pt x="1962448" y="397640"/>
                </a:lnTo>
                <a:lnTo>
                  <a:pt x="1967915" y="400981"/>
                </a:lnTo>
                <a:lnTo>
                  <a:pt x="1973381" y="394298"/>
                </a:lnTo>
                <a:lnTo>
                  <a:pt x="1978848" y="390957"/>
                </a:lnTo>
                <a:lnTo>
                  <a:pt x="1984314" y="387615"/>
                </a:lnTo>
                <a:lnTo>
                  <a:pt x="1989780" y="380932"/>
                </a:lnTo>
                <a:lnTo>
                  <a:pt x="1995247" y="377590"/>
                </a:lnTo>
                <a:lnTo>
                  <a:pt x="2000713" y="370907"/>
                </a:lnTo>
                <a:lnTo>
                  <a:pt x="2006180" y="360883"/>
                </a:lnTo>
                <a:lnTo>
                  <a:pt x="2011646" y="354200"/>
                </a:lnTo>
                <a:lnTo>
                  <a:pt x="2017113" y="350858"/>
                </a:lnTo>
                <a:lnTo>
                  <a:pt x="2022579" y="347517"/>
                </a:lnTo>
                <a:lnTo>
                  <a:pt x="2028046" y="344175"/>
                </a:lnTo>
                <a:lnTo>
                  <a:pt x="2033512" y="340834"/>
                </a:lnTo>
                <a:lnTo>
                  <a:pt x="2038978" y="337492"/>
                </a:lnTo>
                <a:lnTo>
                  <a:pt x="2044445" y="337492"/>
                </a:lnTo>
                <a:lnTo>
                  <a:pt x="2049911" y="334151"/>
                </a:lnTo>
                <a:lnTo>
                  <a:pt x="2055378" y="334151"/>
                </a:lnTo>
                <a:lnTo>
                  <a:pt x="2060844" y="334151"/>
                </a:lnTo>
                <a:lnTo>
                  <a:pt x="2066311" y="330809"/>
                </a:lnTo>
                <a:lnTo>
                  <a:pt x="2071777" y="330809"/>
                </a:lnTo>
                <a:lnTo>
                  <a:pt x="2077243" y="330809"/>
                </a:lnTo>
                <a:lnTo>
                  <a:pt x="2082710" y="330809"/>
                </a:lnTo>
                <a:lnTo>
                  <a:pt x="2088176" y="327468"/>
                </a:lnTo>
                <a:lnTo>
                  <a:pt x="2093643" y="327468"/>
                </a:lnTo>
                <a:lnTo>
                  <a:pt x="2099109" y="327468"/>
                </a:lnTo>
                <a:lnTo>
                  <a:pt x="2104576" y="324126"/>
                </a:lnTo>
                <a:lnTo>
                  <a:pt x="2110042" y="324126"/>
                </a:lnTo>
                <a:lnTo>
                  <a:pt x="2115508" y="320785"/>
                </a:lnTo>
                <a:lnTo>
                  <a:pt x="2120975" y="320785"/>
                </a:lnTo>
                <a:lnTo>
                  <a:pt x="2126441" y="317443"/>
                </a:lnTo>
                <a:lnTo>
                  <a:pt x="2131908" y="314102"/>
                </a:lnTo>
                <a:lnTo>
                  <a:pt x="2137374" y="314102"/>
                </a:lnTo>
                <a:lnTo>
                  <a:pt x="2142841" y="310760"/>
                </a:lnTo>
                <a:lnTo>
                  <a:pt x="2148307" y="310760"/>
                </a:lnTo>
                <a:lnTo>
                  <a:pt x="2153773" y="307419"/>
                </a:lnTo>
                <a:lnTo>
                  <a:pt x="2159240" y="307419"/>
                </a:lnTo>
                <a:lnTo>
                  <a:pt x="2164706" y="304077"/>
                </a:lnTo>
                <a:lnTo>
                  <a:pt x="2170173" y="304077"/>
                </a:lnTo>
                <a:lnTo>
                  <a:pt x="2175639" y="304077"/>
                </a:lnTo>
                <a:lnTo>
                  <a:pt x="2181106" y="300736"/>
                </a:lnTo>
                <a:lnTo>
                  <a:pt x="2186572" y="300736"/>
                </a:lnTo>
                <a:lnTo>
                  <a:pt x="2192038" y="300736"/>
                </a:lnTo>
                <a:lnTo>
                  <a:pt x="2197505" y="297394"/>
                </a:lnTo>
                <a:lnTo>
                  <a:pt x="2202971" y="297394"/>
                </a:lnTo>
                <a:lnTo>
                  <a:pt x="2208438" y="297394"/>
                </a:lnTo>
                <a:lnTo>
                  <a:pt x="2213904" y="294053"/>
                </a:lnTo>
                <a:lnTo>
                  <a:pt x="2219371" y="294053"/>
                </a:lnTo>
                <a:lnTo>
                  <a:pt x="2224837" y="290711"/>
                </a:lnTo>
                <a:lnTo>
                  <a:pt x="2230303" y="290711"/>
                </a:lnTo>
                <a:lnTo>
                  <a:pt x="2235770" y="287370"/>
                </a:lnTo>
                <a:lnTo>
                  <a:pt x="2241236" y="287370"/>
                </a:lnTo>
                <a:lnTo>
                  <a:pt x="2246703" y="287370"/>
                </a:lnTo>
                <a:lnTo>
                  <a:pt x="2252169" y="284028"/>
                </a:lnTo>
                <a:lnTo>
                  <a:pt x="2257636" y="284028"/>
                </a:lnTo>
                <a:lnTo>
                  <a:pt x="2263102" y="284028"/>
                </a:lnTo>
                <a:lnTo>
                  <a:pt x="2268568" y="284028"/>
                </a:lnTo>
                <a:lnTo>
                  <a:pt x="2274035" y="280687"/>
                </a:lnTo>
                <a:lnTo>
                  <a:pt x="2279501" y="280687"/>
                </a:lnTo>
                <a:lnTo>
                  <a:pt x="2284968" y="280687"/>
                </a:lnTo>
                <a:lnTo>
                  <a:pt x="2290434" y="277345"/>
                </a:lnTo>
                <a:lnTo>
                  <a:pt x="2295901" y="277345"/>
                </a:lnTo>
                <a:lnTo>
                  <a:pt x="2301367" y="277345"/>
                </a:lnTo>
                <a:lnTo>
                  <a:pt x="2306834" y="277345"/>
                </a:lnTo>
                <a:lnTo>
                  <a:pt x="2312300" y="277345"/>
                </a:lnTo>
                <a:lnTo>
                  <a:pt x="2317766" y="274004"/>
                </a:lnTo>
                <a:lnTo>
                  <a:pt x="2323233" y="274004"/>
                </a:lnTo>
                <a:lnTo>
                  <a:pt x="2328699" y="274004"/>
                </a:lnTo>
                <a:lnTo>
                  <a:pt x="2334166" y="270662"/>
                </a:lnTo>
                <a:lnTo>
                  <a:pt x="2339632" y="270662"/>
                </a:lnTo>
                <a:lnTo>
                  <a:pt x="2345099" y="270662"/>
                </a:lnTo>
                <a:lnTo>
                  <a:pt x="2350565" y="267321"/>
                </a:lnTo>
                <a:lnTo>
                  <a:pt x="2356031" y="267321"/>
                </a:lnTo>
                <a:lnTo>
                  <a:pt x="2361498" y="267321"/>
                </a:lnTo>
                <a:lnTo>
                  <a:pt x="2366964" y="267321"/>
                </a:lnTo>
                <a:lnTo>
                  <a:pt x="2372431" y="263979"/>
                </a:lnTo>
                <a:lnTo>
                  <a:pt x="2377897" y="263979"/>
                </a:lnTo>
                <a:lnTo>
                  <a:pt x="2383364" y="263979"/>
                </a:lnTo>
                <a:lnTo>
                  <a:pt x="2388830" y="260638"/>
                </a:lnTo>
                <a:lnTo>
                  <a:pt x="2394296" y="260638"/>
                </a:lnTo>
                <a:lnTo>
                  <a:pt x="2399763" y="260638"/>
                </a:lnTo>
                <a:lnTo>
                  <a:pt x="2405229" y="260638"/>
                </a:lnTo>
                <a:lnTo>
                  <a:pt x="2410696" y="257296"/>
                </a:lnTo>
                <a:lnTo>
                  <a:pt x="2416162" y="257296"/>
                </a:lnTo>
                <a:lnTo>
                  <a:pt x="2421629" y="257296"/>
                </a:lnTo>
                <a:lnTo>
                  <a:pt x="2427095" y="253955"/>
                </a:lnTo>
                <a:lnTo>
                  <a:pt x="2432561" y="253955"/>
                </a:lnTo>
                <a:lnTo>
                  <a:pt x="2438028" y="250613"/>
                </a:lnTo>
                <a:lnTo>
                  <a:pt x="2443494" y="250613"/>
                </a:lnTo>
                <a:lnTo>
                  <a:pt x="2448961" y="250613"/>
                </a:lnTo>
                <a:lnTo>
                  <a:pt x="2454427" y="247272"/>
                </a:lnTo>
                <a:lnTo>
                  <a:pt x="2459894" y="247272"/>
                </a:lnTo>
                <a:lnTo>
                  <a:pt x="2465360" y="243930"/>
                </a:lnTo>
                <a:lnTo>
                  <a:pt x="2470826" y="243930"/>
                </a:lnTo>
                <a:lnTo>
                  <a:pt x="2476293" y="240589"/>
                </a:lnTo>
                <a:lnTo>
                  <a:pt x="2481759" y="240589"/>
                </a:lnTo>
                <a:lnTo>
                  <a:pt x="2487226" y="240589"/>
                </a:lnTo>
                <a:lnTo>
                  <a:pt x="2492692" y="237247"/>
                </a:lnTo>
                <a:lnTo>
                  <a:pt x="2498159" y="237247"/>
                </a:lnTo>
                <a:lnTo>
                  <a:pt x="2503625" y="233906"/>
                </a:lnTo>
                <a:lnTo>
                  <a:pt x="2509091" y="233906"/>
                </a:lnTo>
                <a:lnTo>
                  <a:pt x="2514558" y="233906"/>
                </a:lnTo>
                <a:lnTo>
                  <a:pt x="2520024" y="230564"/>
                </a:lnTo>
                <a:lnTo>
                  <a:pt x="2525491" y="230564"/>
                </a:lnTo>
                <a:lnTo>
                  <a:pt x="2530957" y="227222"/>
                </a:lnTo>
                <a:lnTo>
                  <a:pt x="2536424" y="227222"/>
                </a:lnTo>
                <a:lnTo>
                  <a:pt x="2541890" y="227222"/>
                </a:lnTo>
                <a:lnTo>
                  <a:pt x="2547356" y="223881"/>
                </a:lnTo>
                <a:lnTo>
                  <a:pt x="2552823" y="223881"/>
                </a:lnTo>
                <a:lnTo>
                  <a:pt x="2558289" y="223881"/>
                </a:lnTo>
                <a:lnTo>
                  <a:pt x="2563756" y="220539"/>
                </a:lnTo>
                <a:lnTo>
                  <a:pt x="2569222" y="220539"/>
                </a:lnTo>
                <a:lnTo>
                  <a:pt x="2574689" y="217198"/>
                </a:lnTo>
                <a:lnTo>
                  <a:pt x="2580155" y="217198"/>
                </a:lnTo>
                <a:lnTo>
                  <a:pt x="2585622" y="213856"/>
                </a:lnTo>
                <a:lnTo>
                  <a:pt x="2591088" y="213856"/>
                </a:lnTo>
                <a:lnTo>
                  <a:pt x="2596554" y="213856"/>
                </a:lnTo>
                <a:lnTo>
                  <a:pt x="2602021" y="213856"/>
                </a:lnTo>
                <a:lnTo>
                  <a:pt x="2607487" y="210515"/>
                </a:lnTo>
                <a:lnTo>
                  <a:pt x="2612954" y="210515"/>
                </a:lnTo>
                <a:lnTo>
                  <a:pt x="2618420" y="210515"/>
                </a:lnTo>
                <a:lnTo>
                  <a:pt x="2623887" y="207173"/>
                </a:lnTo>
                <a:lnTo>
                  <a:pt x="2629353" y="207173"/>
                </a:lnTo>
                <a:lnTo>
                  <a:pt x="2634819" y="207173"/>
                </a:lnTo>
                <a:lnTo>
                  <a:pt x="2640286" y="203832"/>
                </a:lnTo>
                <a:lnTo>
                  <a:pt x="2645752" y="203832"/>
                </a:lnTo>
                <a:lnTo>
                  <a:pt x="2651219" y="203832"/>
                </a:lnTo>
                <a:lnTo>
                  <a:pt x="2656685" y="200490"/>
                </a:lnTo>
                <a:lnTo>
                  <a:pt x="2662152" y="200490"/>
                </a:lnTo>
                <a:lnTo>
                  <a:pt x="2667618" y="197149"/>
                </a:lnTo>
                <a:lnTo>
                  <a:pt x="2673084" y="197149"/>
                </a:lnTo>
                <a:lnTo>
                  <a:pt x="2678551" y="197149"/>
                </a:lnTo>
                <a:lnTo>
                  <a:pt x="2684017" y="197149"/>
                </a:lnTo>
                <a:lnTo>
                  <a:pt x="2689484" y="193807"/>
                </a:lnTo>
                <a:lnTo>
                  <a:pt x="2694950" y="193807"/>
                </a:lnTo>
                <a:lnTo>
                  <a:pt x="2700417" y="193807"/>
                </a:lnTo>
                <a:lnTo>
                  <a:pt x="2705883" y="190466"/>
                </a:lnTo>
                <a:lnTo>
                  <a:pt x="2711349" y="187124"/>
                </a:lnTo>
                <a:lnTo>
                  <a:pt x="2716816" y="187124"/>
                </a:lnTo>
                <a:lnTo>
                  <a:pt x="2722282" y="187124"/>
                </a:lnTo>
                <a:lnTo>
                  <a:pt x="2727749" y="183783"/>
                </a:lnTo>
                <a:lnTo>
                  <a:pt x="2733215" y="180441"/>
                </a:lnTo>
                <a:lnTo>
                  <a:pt x="2738682" y="180441"/>
                </a:lnTo>
                <a:lnTo>
                  <a:pt x="2744148" y="177100"/>
                </a:lnTo>
                <a:lnTo>
                  <a:pt x="2749614" y="177100"/>
                </a:lnTo>
                <a:lnTo>
                  <a:pt x="2755081" y="177100"/>
                </a:lnTo>
                <a:lnTo>
                  <a:pt x="2760547" y="180441"/>
                </a:lnTo>
                <a:lnTo>
                  <a:pt x="2766014" y="177100"/>
                </a:lnTo>
                <a:lnTo>
                  <a:pt x="2771480" y="177100"/>
                </a:lnTo>
                <a:lnTo>
                  <a:pt x="2776947" y="173758"/>
                </a:lnTo>
                <a:lnTo>
                  <a:pt x="2782413" y="173758"/>
                </a:lnTo>
                <a:lnTo>
                  <a:pt x="2787879" y="170417"/>
                </a:lnTo>
                <a:lnTo>
                  <a:pt x="2793346" y="170417"/>
                </a:lnTo>
                <a:lnTo>
                  <a:pt x="2798812" y="170417"/>
                </a:lnTo>
                <a:lnTo>
                  <a:pt x="2804279" y="170417"/>
                </a:lnTo>
                <a:lnTo>
                  <a:pt x="2809745" y="170417"/>
                </a:lnTo>
                <a:lnTo>
                  <a:pt x="2815212" y="170417"/>
                </a:lnTo>
                <a:lnTo>
                  <a:pt x="2820678" y="170417"/>
                </a:lnTo>
                <a:lnTo>
                  <a:pt x="2826144" y="170417"/>
                </a:lnTo>
                <a:lnTo>
                  <a:pt x="2831611" y="170417"/>
                </a:lnTo>
                <a:lnTo>
                  <a:pt x="2837077" y="170417"/>
                </a:lnTo>
                <a:lnTo>
                  <a:pt x="2842544" y="170417"/>
                </a:lnTo>
                <a:lnTo>
                  <a:pt x="2848010" y="167075"/>
                </a:lnTo>
                <a:lnTo>
                  <a:pt x="2853477" y="167075"/>
                </a:lnTo>
                <a:lnTo>
                  <a:pt x="2858943" y="167075"/>
                </a:lnTo>
                <a:lnTo>
                  <a:pt x="2864410" y="167075"/>
                </a:lnTo>
                <a:lnTo>
                  <a:pt x="2869876" y="163734"/>
                </a:lnTo>
                <a:lnTo>
                  <a:pt x="2875342" y="163734"/>
                </a:lnTo>
                <a:lnTo>
                  <a:pt x="2880809" y="163734"/>
                </a:lnTo>
                <a:lnTo>
                  <a:pt x="2886275" y="163734"/>
                </a:lnTo>
                <a:lnTo>
                  <a:pt x="2891742" y="160392"/>
                </a:lnTo>
                <a:lnTo>
                  <a:pt x="2897208" y="160392"/>
                </a:lnTo>
                <a:lnTo>
                  <a:pt x="2902675" y="160392"/>
                </a:lnTo>
                <a:lnTo>
                  <a:pt x="2908141" y="157051"/>
                </a:lnTo>
                <a:lnTo>
                  <a:pt x="2913607" y="157051"/>
                </a:lnTo>
                <a:lnTo>
                  <a:pt x="2919074" y="157051"/>
                </a:lnTo>
                <a:lnTo>
                  <a:pt x="2924540" y="153709"/>
                </a:lnTo>
                <a:lnTo>
                  <a:pt x="2930007" y="153709"/>
                </a:lnTo>
                <a:lnTo>
                  <a:pt x="2935473" y="153709"/>
                </a:lnTo>
                <a:lnTo>
                  <a:pt x="2940940" y="150368"/>
                </a:lnTo>
                <a:lnTo>
                  <a:pt x="2946406" y="150368"/>
                </a:lnTo>
                <a:lnTo>
                  <a:pt x="2951872" y="147026"/>
                </a:lnTo>
                <a:lnTo>
                  <a:pt x="2957339" y="147026"/>
                </a:lnTo>
                <a:lnTo>
                  <a:pt x="2962805" y="147026"/>
                </a:lnTo>
                <a:lnTo>
                  <a:pt x="2968272" y="147026"/>
                </a:lnTo>
                <a:lnTo>
                  <a:pt x="2973738" y="143685"/>
                </a:lnTo>
                <a:lnTo>
                  <a:pt x="2979205" y="143685"/>
                </a:lnTo>
                <a:lnTo>
                  <a:pt x="2984671" y="143685"/>
                </a:lnTo>
                <a:lnTo>
                  <a:pt x="2990137" y="140343"/>
                </a:lnTo>
                <a:lnTo>
                  <a:pt x="2995604" y="140343"/>
                </a:lnTo>
                <a:lnTo>
                  <a:pt x="3001070" y="140343"/>
                </a:lnTo>
                <a:lnTo>
                  <a:pt x="3006537" y="137002"/>
                </a:lnTo>
                <a:lnTo>
                  <a:pt x="3012003" y="137002"/>
                </a:lnTo>
                <a:lnTo>
                  <a:pt x="3017470" y="137002"/>
                </a:lnTo>
                <a:lnTo>
                  <a:pt x="3022936" y="137002"/>
                </a:lnTo>
                <a:lnTo>
                  <a:pt x="3028402" y="137002"/>
                </a:lnTo>
                <a:lnTo>
                  <a:pt x="3033869" y="133660"/>
                </a:lnTo>
                <a:lnTo>
                  <a:pt x="3039335" y="133660"/>
                </a:lnTo>
                <a:lnTo>
                  <a:pt x="3044802" y="133660"/>
                </a:lnTo>
                <a:lnTo>
                  <a:pt x="3050268" y="133660"/>
                </a:lnTo>
                <a:lnTo>
                  <a:pt x="3055735" y="130319"/>
                </a:lnTo>
                <a:lnTo>
                  <a:pt x="3061201" y="130319"/>
                </a:lnTo>
                <a:lnTo>
                  <a:pt x="3066667" y="130319"/>
                </a:lnTo>
                <a:lnTo>
                  <a:pt x="3072134" y="126977"/>
                </a:lnTo>
                <a:lnTo>
                  <a:pt x="3077600" y="126977"/>
                </a:lnTo>
                <a:lnTo>
                  <a:pt x="3083067" y="126977"/>
                </a:lnTo>
                <a:lnTo>
                  <a:pt x="3088533" y="126977"/>
                </a:lnTo>
                <a:lnTo>
                  <a:pt x="3094000" y="123636"/>
                </a:lnTo>
                <a:lnTo>
                  <a:pt x="3099466" y="123636"/>
                </a:lnTo>
                <a:lnTo>
                  <a:pt x="3104932" y="123636"/>
                </a:lnTo>
                <a:lnTo>
                  <a:pt x="3110399" y="120294"/>
                </a:lnTo>
                <a:lnTo>
                  <a:pt x="3115865" y="120294"/>
                </a:lnTo>
                <a:lnTo>
                  <a:pt x="3121332" y="120294"/>
                </a:lnTo>
                <a:lnTo>
                  <a:pt x="3126798" y="120294"/>
                </a:lnTo>
                <a:lnTo>
                  <a:pt x="3132265" y="120294"/>
                </a:lnTo>
                <a:lnTo>
                  <a:pt x="3137731" y="116953"/>
                </a:lnTo>
                <a:lnTo>
                  <a:pt x="3143197" y="116953"/>
                </a:lnTo>
                <a:lnTo>
                  <a:pt x="3148664" y="116953"/>
                </a:lnTo>
                <a:lnTo>
                  <a:pt x="3154130" y="116953"/>
                </a:lnTo>
                <a:lnTo>
                  <a:pt x="3159597" y="113611"/>
                </a:lnTo>
                <a:lnTo>
                  <a:pt x="3165063" y="113611"/>
                </a:lnTo>
                <a:lnTo>
                  <a:pt x="3170530" y="113611"/>
                </a:lnTo>
                <a:lnTo>
                  <a:pt x="3175996" y="113611"/>
                </a:lnTo>
                <a:lnTo>
                  <a:pt x="3181463" y="113611"/>
                </a:lnTo>
                <a:lnTo>
                  <a:pt x="3186929" y="110270"/>
                </a:lnTo>
                <a:lnTo>
                  <a:pt x="3192395" y="110270"/>
                </a:lnTo>
                <a:lnTo>
                  <a:pt x="3197862" y="110270"/>
                </a:lnTo>
                <a:lnTo>
                  <a:pt x="3203328" y="110270"/>
                </a:lnTo>
                <a:lnTo>
                  <a:pt x="3208795" y="106928"/>
                </a:lnTo>
                <a:lnTo>
                  <a:pt x="3214261" y="106928"/>
                </a:lnTo>
                <a:lnTo>
                  <a:pt x="3219728" y="106928"/>
                </a:lnTo>
                <a:lnTo>
                  <a:pt x="3225194" y="106928"/>
                </a:lnTo>
                <a:lnTo>
                  <a:pt x="3230660" y="103587"/>
                </a:lnTo>
                <a:lnTo>
                  <a:pt x="3236127" y="103587"/>
                </a:lnTo>
                <a:lnTo>
                  <a:pt x="3241593" y="103587"/>
                </a:lnTo>
                <a:lnTo>
                  <a:pt x="3247060" y="103587"/>
                </a:lnTo>
                <a:lnTo>
                  <a:pt x="3252526" y="100245"/>
                </a:lnTo>
                <a:lnTo>
                  <a:pt x="3257993" y="100245"/>
                </a:lnTo>
                <a:lnTo>
                  <a:pt x="3263459" y="100245"/>
                </a:lnTo>
                <a:lnTo>
                  <a:pt x="3268925" y="96904"/>
                </a:lnTo>
                <a:lnTo>
                  <a:pt x="3274392" y="96904"/>
                </a:lnTo>
                <a:lnTo>
                  <a:pt x="3279858" y="96904"/>
                </a:lnTo>
                <a:lnTo>
                  <a:pt x="3285325" y="93562"/>
                </a:lnTo>
                <a:lnTo>
                  <a:pt x="3290791" y="93562"/>
                </a:lnTo>
                <a:lnTo>
                  <a:pt x="3296258" y="93562"/>
                </a:lnTo>
                <a:lnTo>
                  <a:pt x="3301724" y="90221"/>
                </a:lnTo>
                <a:lnTo>
                  <a:pt x="3307190" y="90221"/>
                </a:lnTo>
                <a:lnTo>
                  <a:pt x="3312657" y="90221"/>
                </a:lnTo>
                <a:lnTo>
                  <a:pt x="3318123" y="86879"/>
                </a:lnTo>
                <a:lnTo>
                  <a:pt x="3323590" y="86879"/>
                </a:lnTo>
                <a:lnTo>
                  <a:pt x="3329056" y="86879"/>
                </a:lnTo>
                <a:lnTo>
                  <a:pt x="3334523" y="83538"/>
                </a:lnTo>
                <a:lnTo>
                  <a:pt x="3339989" y="83538"/>
                </a:lnTo>
                <a:lnTo>
                  <a:pt x="3345455" y="83538"/>
                </a:lnTo>
                <a:lnTo>
                  <a:pt x="3350922" y="80196"/>
                </a:lnTo>
                <a:lnTo>
                  <a:pt x="3356388" y="80196"/>
                </a:lnTo>
                <a:lnTo>
                  <a:pt x="3361855" y="76854"/>
                </a:lnTo>
                <a:lnTo>
                  <a:pt x="3367321" y="76854"/>
                </a:lnTo>
                <a:lnTo>
                  <a:pt x="3372788" y="73513"/>
                </a:lnTo>
                <a:lnTo>
                  <a:pt x="3378254" y="73513"/>
                </a:lnTo>
                <a:lnTo>
                  <a:pt x="3383720" y="70171"/>
                </a:lnTo>
                <a:lnTo>
                  <a:pt x="3389187" y="70171"/>
                </a:lnTo>
                <a:lnTo>
                  <a:pt x="3394653" y="70171"/>
                </a:lnTo>
                <a:lnTo>
                  <a:pt x="3400120" y="66830"/>
                </a:lnTo>
                <a:lnTo>
                  <a:pt x="3405586" y="66830"/>
                </a:lnTo>
                <a:lnTo>
                  <a:pt x="3411053" y="66830"/>
                </a:lnTo>
                <a:lnTo>
                  <a:pt x="3416519" y="63488"/>
                </a:lnTo>
                <a:lnTo>
                  <a:pt x="3421985" y="63488"/>
                </a:lnTo>
                <a:lnTo>
                  <a:pt x="3427452" y="63488"/>
                </a:lnTo>
                <a:lnTo>
                  <a:pt x="3432918" y="60147"/>
                </a:lnTo>
                <a:lnTo>
                  <a:pt x="3438385" y="60147"/>
                </a:lnTo>
                <a:lnTo>
                  <a:pt x="3443851" y="56805"/>
                </a:lnTo>
                <a:lnTo>
                  <a:pt x="3449318" y="56805"/>
                </a:lnTo>
                <a:lnTo>
                  <a:pt x="3454784" y="56805"/>
                </a:lnTo>
                <a:lnTo>
                  <a:pt x="3460251" y="53464"/>
                </a:lnTo>
                <a:lnTo>
                  <a:pt x="3465717" y="53464"/>
                </a:lnTo>
                <a:lnTo>
                  <a:pt x="3471183" y="50122"/>
                </a:lnTo>
                <a:lnTo>
                  <a:pt x="3476650" y="50122"/>
                </a:lnTo>
                <a:lnTo>
                  <a:pt x="3482116" y="50122"/>
                </a:lnTo>
                <a:lnTo>
                  <a:pt x="3487583" y="46781"/>
                </a:lnTo>
                <a:lnTo>
                  <a:pt x="3493049" y="46781"/>
                </a:lnTo>
                <a:lnTo>
                  <a:pt x="3498516" y="46781"/>
                </a:lnTo>
                <a:lnTo>
                  <a:pt x="3503982" y="43439"/>
                </a:lnTo>
                <a:lnTo>
                  <a:pt x="3509448" y="43439"/>
                </a:lnTo>
                <a:lnTo>
                  <a:pt x="3514915" y="43439"/>
                </a:lnTo>
                <a:lnTo>
                  <a:pt x="3520381" y="40098"/>
                </a:lnTo>
                <a:lnTo>
                  <a:pt x="3525848" y="40098"/>
                </a:lnTo>
                <a:lnTo>
                  <a:pt x="3531314" y="40098"/>
                </a:lnTo>
                <a:lnTo>
                  <a:pt x="3536781" y="36756"/>
                </a:lnTo>
                <a:lnTo>
                  <a:pt x="3542247" y="36756"/>
                </a:lnTo>
                <a:lnTo>
                  <a:pt x="3547713" y="36756"/>
                </a:lnTo>
                <a:lnTo>
                  <a:pt x="3553180" y="36756"/>
                </a:lnTo>
                <a:lnTo>
                  <a:pt x="3558646" y="33415"/>
                </a:lnTo>
                <a:lnTo>
                  <a:pt x="3564113" y="33415"/>
                </a:lnTo>
                <a:lnTo>
                  <a:pt x="3569579" y="33415"/>
                </a:lnTo>
                <a:lnTo>
                  <a:pt x="3575046" y="33415"/>
                </a:lnTo>
                <a:lnTo>
                  <a:pt x="3580512" y="30073"/>
                </a:lnTo>
                <a:lnTo>
                  <a:pt x="3585978" y="30073"/>
                </a:lnTo>
                <a:lnTo>
                  <a:pt x="3591445" y="30073"/>
                </a:lnTo>
                <a:lnTo>
                  <a:pt x="3596911" y="26732"/>
                </a:lnTo>
                <a:lnTo>
                  <a:pt x="3602378" y="26732"/>
                </a:lnTo>
                <a:lnTo>
                  <a:pt x="3607844" y="26732"/>
                </a:lnTo>
                <a:lnTo>
                  <a:pt x="3613311" y="26732"/>
                </a:lnTo>
                <a:lnTo>
                  <a:pt x="3618777" y="26732"/>
                </a:lnTo>
                <a:lnTo>
                  <a:pt x="3624243" y="26732"/>
                </a:lnTo>
                <a:lnTo>
                  <a:pt x="3629710" y="26732"/>
                </a:lnTo>
                <a:lnTo>
                  <a:pt x="3635176" y="23390"/>
                </a:lnTo>
                <a:lnTo>
                  <a:pt x="3640643" y="23390"/>
                </a:lnTo>
                <a:lnTo>
                  <a:pt x="3646109" y="23390"/>
                </a:lnTo>
                <a:lnTo>
                  <a:pt x="3651576" y="23390"/>
                </a:lnTo>
                <a:lnTo>
                  <a:pt x="3657042" y="23390"/>
                </a:lnTo>
                <a:lnTo>
                  <a:pt x="3662508" y="23390"/>
                </a:lnTo>
                <a:lnTo>
                  <a:pt x="3667975" y="23390"/>
                </a:lnTo>
                <a:lnTo>
                  <a:pt x="3673441" y="23390"/>
                </a:lnTo>
                <a:lnTo>
                  <a:pt x="3678908" y="23390"/>
                </a:lnTo>
                <a:lnTo>
                  <a:pt x="3684374" y="23390"/>
                </a:lnTo>
                <a:lnTo>
                  <a:pt x="3689841" y="20049"/>
                </a:lnTo>
                <a:lnTo>
                  <a:pt x="3695307" y="20049"/>
                </a:lnTo>
                <a:lnTo>
                  <a:pt x="3700773" y="23390"/>
                </a:lnTo>
                <a:lnTo>
                  <a:pt x="3706240" y="23390"/>
                </a:lnTo>
                <a:lnTo>
                  <a:pt x="3711706" y="20049"/>
                </a:lnTo>
                <a:lnTo>
                  <a:pt x="3717173" y="20049"/>
                </a:lnTo>
                <a:lnTo>
                  <a:pt x="3722639" y="20049"/>
                </a:lnTo>
                <a:lnTo>
                  <a:pt x="3728106" y="20049"/>
                </a:lnTo>
                <a:lnTo>
                  <a:pt x="3733572" y="20049"/>
                </a:lnTo>
                <a:lnTo>
                  <a:pt x="3739039" y="20049"/>
                </a:lnTo>
                <a:lnTo>
                  <a:pt x="3744505" y="23390"/>
                </a:lnTo>
                <a:lnTo>
                  <a:pt x="3749971" y="23390"/>
                </a:lnTo>
                <a:lnTo>
                  <a:pt x="3755438" y="26732"/>
                </a:lnTo>
                <a:lnTo>
                  <a:pt x="3760904" y="26732"/>
                </a:lnTo>
                <a:lnTo>
                  <a:pt x="3766371" y="30073"/>
                </a:lnTo>
                <a:lnTo>
                  <a:pt x="3771837" y="33415"/>
                </a:lnTo>
                <a:lnTo>
                  <a:pt x="3777304" y="33415"/>
                </a:lnTo>
                <a:lnTo>
                  <a:pt x="3782770" y="36756"/>
                </a:lnTo>
                <a:lnTo>
                  <a:pt x="3788236" y="40098"/>
                </a:lnTo>
                <a:lnTo>
                  <a:pt x="3793703" y="40098"/>
                </a:lnTo>
                <a:lnTo>
                  <a:pt x="3799169" y="43439"/>
                </a:lnTo>
                <a:lnTo>
                  <a:pt x="3804636" y="46781"/>
                </a:lnTo>
                <a:lnTo>
                  <a:pt x="3810102" y="46781"/>
                </a:lnTo>
                <a:lnTo>
                  <a:pt x="3815569" y="53464"/>
                </a:lnTo>
                <a:lnTo>
                  <a:pt x="3821035" y="56805"/>
                </a:lnTo>
                <a:lnTo>
                  <a:pt x="3826501" y="56805"/>
                </a:lnTo>
                <a:lnTo>
                  <a:pt x="3831968" y="63488"/>
                </a:lnTo>
                <a:lnTo>
                  <a:pt x="3837434" y="73513"/>
                </a:lnTo>
                <a:lnTo>
                  <a:pt x="3842901" y="80196"/>
                </a:lnTo>
                <a:lnTo>
                  <a:pt x="3848367" y="90221"/>
                </a:lnTo>
                <a:lnTo>
                  <a:pt x="3853834" y="103587"/>
                </a:lnTo>
                <a:lnTo>
                  <a:pt x="3859300" y="113611"/>
                </a:lnTo>
                <a:lnTo>
                  <a:pt x="3864766" y="123636"/>
                </a:lnTo>
                <a:lnTo>
                  <a:pt x="3870233" y="137002"/>
                </a:lnTo>
                <a:lnTo>
                  <a:pt x="3875699" y="147026"/>
                </a:lnTo>
                <a:lnTo>
                  <a:pt x="3881166" y="157051"/>
                </a:lnTo>
                <a:lnTo>
                  <a:pt x="3886632" y="170417"/>
                </a:lnTo>
                <a:lnTo>
                  <a:pt x="3892099" y="180441"/>
                </a:lnTo>
                <a:lnTo>
                  <a:pt x="3897565" y="187124"/>
                </a:lnTo>
                <a:lnTo>
                  <a:pt x="3903031" y="193807"/>
                </a:lnTo>
                <a:lnTo>
                  <a:pt x="3908498" y="203832"/>
                </a:lnTo>
                <a:lnTo>
                  <a:pt x="3913964" y="210515"/>
                </a:lnTo>
                <a:lnTo>
                  <a:pt x="3919431" y="213856"/>
                </a:lnTo>
                <a:lnTo>
                  <a:pt x="3924897" y="220539"/>
                </a:lnTo>
                <a:lnTo>
                  <a:pt x="3930364" y="223881"/>
                </a:lnTo>
                <a:lnTo>
                  <a:pt x="3935830" y="230564"/>
                </a:lnTo>
                <a:lnTo>
                  <a:pt x="3941296" y="240589"/>
                </a:lnTo>
                <a:lnTo>
                  <a:pt x="3946763" y="240589"/>
                </a:lnTo>
                <a:lnTo>
                  <a:pt x="3952229" y="230564"/>
                </a:lnTo>
                <a:lnTo>
                  <a:pt x="3957696" y="223881"/>
                </a:lnTo>
                <a:lnTo>
                  <a:pt x="3963162" y="213856"/>
                </a:lnTo>
                <a:lnTo>
                  <a:pt x="3968629" y="207173"/>
                </a:lnTo>
                <a:lnTo>
                  <a:pt x="3974095" y="197149"/>
                </a:lnTo>
                <a:lnTo>
                  <a:pt x="3979561" y="183783"/>
                </a:lnTo>
                <a:lnTo>
                  <a:pt x="3985028" y="170417"/>
                </a:lnTo>
                <a:lnTo>
                  <a:pt x="3990494" y="160392"/>
                </a:lnTo>
                <a:lnTo>
                  <a:pt x="3995961" y="147026"/>
                </a:lnTo>
                <a:lnTo>
                  <a:pt x="4001427" y="133660"/>
                </a:lnTo>
                <a:lnTo>
                  <a:pt x="4006894" y="123636"/>
                </a:lnTo>
                <a:lnTo>
                  <a:pt x="4012360" y="113611"/>
                </a:lnTo>
                <a:lnTo>
                  <a:pt x="4017827" y="103587"/>
                </a:lnTo>
                <a:lnTo>
                  <a:pt x="4023293" y="93562"/>
                </a:lnTo>
                <a:lnTo>
                  <a:pt x="4028759" y="86879"/>
                </a:lnTo>
                <a:lnTo>
                  <a:pt x="4034226" y="80196"/>
                </a:lnTo>
                <a:lnTo>
                  <a:pt x="4039692" y="76854"/>
                </a:lnTo>
                <a:lnTo>
                  <a:pt x="4045159" y="73513"/>
                </a:lnTo>
                <a:lnTo>
                  <a:pt x="4050625" y="73513"/>
                </a:lnTo>
                <a:lnTo>
                  <a:pt x="4056092" y="73513"/>
                </a:lnTo>
                <a:lnTo>
                  <a:pt x="4061558" y="73513"/>
                </a:lnTo>
                <a:lnTo>
                  <a:pt x="4067024" y="70171"/>
                </a:lnTo>
                <a:lnTo>
                  <a:pt x="4072491" y="70171"/>
                </a:lnTo>
                <a:lnTo>
                  <a:pt x="4077957" y="66830"/>
                </a:lnTo>
                <a:lnTo>
                  <a:pt x="4083424" y="63488"/>
                </a:lnTo>
                <a:lnTo>
                  <a:pt x="4088890" y="56805"/>
                </a:lnTo>
                <a:lnTo>
                  <a:pt x="4094357" y="50122"/>
                </a:lnTo>
                <a:lnTo>
                  <a:pt x="4099823" y="46781"/>
                </a:lnTo>
                <a:lnTo>
                  <a:pt x="4105289" y="40098"/>
                </a:lnTo>
                <a:lnTo>
                  <a:pt x="4110756" y="36756"/>
                </a:lnTo>
                <a:lnTo>
                  <a:pt x="4116222" y="30073"/>
                </a:lnTo>
                <a:lnTo>
                  <a:pt x="4121689" y="23390"/>
                </a:lnTo>
                <a:lnTo>
                  <a:pt x="4127155" y="16707"/>
                </a:lnTo>
                <a:lnTo>
                  <a:pt x="4132622" y="13366"/>
                </a:lnTo>
                <a:lnTo>
                  <a:pt x="4138088" y="10024"/>
                </a:lnTo>
                <a:lnTo>
                  <a:pt x="4143554" y="6683"/>
                </a:lnTo>
                <a:lnTo>
                  <a:pt x="4149021" y="3341"/>
                </a:lnTo>
                <a:lnTo>
                  <a:pt x="4154487" y="0"/>
                </a:lnTo>
                <a:lnTo>
                  <a:pt x="4159954" y="0"/>
                </a:lnTo>
                <a:lnTo>
                  <a:pt x="4165420" y="0"/>
                </a:lnTo>
                <a:lnTo>
                  <a:pt x="4170887" y="0"/>
                </a:lnTo>
                <a:lnTo>
                  <a:pt x="4176353" y="0"/>
                </a:lnTo>
                <a:lnTo>
                  <a:pt x="4181819" y="3341"/>
                </a:lnTo>
                <a:lnTo>
                  <a:pt x="4187286" y="3341"/>
                </a:lnTo>
                <a:lnTo>
                  <a:pt x="4192752" y="3341"/>
                </a:lnTo>
                <a:lnTo>
                  <a:pt x="4198219" y="3341"/>
                </a:lnTo>
                <a:lnTo>
                  <a:pt x="4203685" y="10024"/>
                </a:lnTo>
                <a:lnTo>
                  <a:pt x="4209152" y="13366"/>
                </a:lnTo>
                <a:lnTo>
                  <a:pt x="4214618" y="16707"/>
                </a:lnTo>
                <a:lnTo>
                  <a:pt x="4220084" y="30073"/>
                </a:lnTo>
                <a:lnTo>
                  <a:pt x="4225551" y="36756"/>
                </a:lnTo>
                <a:lnTo>
                  <a:pt x="4231017" y="40098"/>
                </a:lnTo>
                <a:lnTo>
                  <a:pt x="4236484" y="40098"/>
                </a:lnTo>
                <a:lnTo>
                  <a:pt x="4241950" y="43439"/>
                </a:lnTo>
                <a:lnTo>
                  <a:pt x="4247417" y="46781"/>
                </a:lnTo>
                <a:lnTo>
                  <a:pt x="4252883" y="50122"/>
                </a:lnTo>
                <a:lnTo>
                  <a:pt x="4258349" y="53464"/>
                </a:lnTo>
                <a:lnTo>
                  <a:pt x="4263816" y="86879"/>
                </a:lnTo>
                <a:lnTo>
                  <a:pt x="4269282" y="123636"/>
                </a:lnTo>
                <a:lnTo>
                  <a:pt x="4274749" y="133660"/>
                </a:lnTo>
                <a:lnTo>
                  <a:pt x="4280215" y="183783"/>
                </a:lnTo>
                <a:lnTo>
                  <a:pt x="4285682" y="297394"/>
                </a:lnTo>
                <a:lnTo>
                  <a:pt x="4291148" y="320785"/>
                </a:lnTo>
                <a:lnTo>
                  <a:pt x="4296615" y="337492"/>
                </a:lnTo>
                <a:lnTo>
                  <a:pt x="4302081" y="314102"/>
                </a:lnTo>
                <a:lnTo>
                  <a:pt x="4307547" y="314102"/>
                </a:lnTo>
                <a:lnTo>
                  <a:pt x="4313014" y="260638"/>
                </a:lnTo>
                <a:lnTo>
                  <a:pt x="4318480" y="220539"/>
                </a:lnTo>
                <a:lnTo>
                  <a:pt x="4323947" y="183783"/>
                </a:lnTo>
                <a:lnTo>
                  <a:pt x="4329413" y="157051"/>
                </a:lnTo>
                <a:lnTo>
                  <a:pt x="4334880" y="130319"/>
                </a:lnTo>
                <a:lnTo>
                  <a:pt x="4340346" y="103587"/>
                </a:lnTo>
                <a:lnTo>
                  <a:pt x="4345812" y="86879"/>
                </a:lnTo>
                <a:lnTo>
                  <a:pt x="4351279" y="93562"/>
                </a:lnTo>
                <a:lnTo>
                  <a:pt x="4356745" y="96904"/>
                </a:lnTo>
                <a:lnTo>
                  <a:pt x="4362212" y="100245"/>
                </a:lnTo>
                <a:lnTo>
                  <a:pt x="4367678" y="106928"/>
                </a:lnTo>
                <a:lnTo>
                  <a:pt x="4373145" y="110270"/>
                </a:lnTo>
                <a:lnTo>
                  <a:pt x="4378611" y="120294"/>
                </a:lnTo>
                <a:lnTo>
                  <a:pt x="4384077" y="126977"/>
                </a:lnTo>
                <a:lnTo>
                  <a:pt x="4389544" y="133660"/>
                </a:lnTo>
                <a:lnTo>
                  <a:pt x="4395010" y="137002"/>
                </a:lnTo>
                <a:lnTo>
                  <a:pt x="4400477" y="143685"/>
                </a:lnTo>
                <a:lnTo>
                  <a:pt x="4405943" y="147026"/>
                </a:lnTo>
                <a:lnTo>
                  <a:pt x="4411410" y="153709"/>
                </a:lnTo>
                <a:lnTo>
                  <a:pt x="4416876" y="167075"/>
                </a:lnTo>
                <a:lnTo>
                  <a:pt x="4422342" y="197149"/>
                </a:lnTo>
                <a:lnTo>
                  <a:pt x="4427809" y="220539"/>
                </a:lnTo>
                <a:lnTo>
                  <a:pt x="4433275" y="230564"/>
                </a:lnTo>
                <a:lnTo>
                  <a:pt x="4438742" y="233906"/>
                </a:lnTo>
                <a:lnTo>
                  <a:pt x="4444208" y="237247"/>
                </a:lnTo>
                <a:lnTo>
                  <a:pt x="4449675" y="220539"/>
                </a:lnTo>
                <a:lnTo>
                  <a:pt x="4455141" y="240589"/>
                </a:lnTo>
                <a:lnTo>
                  <a:pt x="4460607" y="267321"/>
                </a:lnTo>
                <a:lnTo>
                  <a:pt x="4466074" y="253955"/>
                </a:lnTo>
                <a:lnTo>
                  <a:pt x="4471540" y="243930"/>
                </a:lnTo>
              </a:path>
            </a:pathLst>
          </a:custGeom>
          <a:noFill/>
          <a:ln w="19050">
            <a:solidFill>
              <a:srgbClr val="F18A3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Freeform 11"/>
          <p:cNvSpPr/>
          <p:nvPr/>
        </p:nvSpPr>
        <p:spPr>
          <a:xfrm>
            <a:off x="5679638" y="3725807"/>
            <a:ext cx="1333810" cy="467812"/>
          </a:xfrm>
          <a:custGeom>
            <a:avLst/>
            <a:gdLst/>
            <a:ahLst/>
            <a:cxnLst/>
            <a:rect l="l" t="t" r="r" b="b"/>
            <a:pathLst>
              <a:path w="1333810" h="467812">
                <a:moveTo>
                  <a:pt x="0" y="200491"/>
                </a:moveTo>
                <a:lnTo>
                  <a:pt x="5467" y="190466"/>
                </a:lnTo>
                <a:lnTo>
                  <a:pt x="10933" y="180442"/>
                </a:lnTo>
                <a:lnTo>
                  <a:pt x="16400" y="167076"/>
                </a:lnTo>
                <a:lnTo>
                  <a:pt x="21866" y="160393"/>
                </a:lnTo>
                <a:lnTo>
                  <a:pt x="27332" y="150368"/>
                </a:lnTo>
                <a:lnTo>
                  <a:pt x="32799" y="137002"/>
                </a:lnTo>
                <a:lnTo>
                  <a:pt x="38265" y="123636"/>
                </a:lnTo>
                <a:lnTo>
                  <a:pt x="43732" y="110270"/>
                </a:lnTo>
                <a:lnTo>
                  <a:pt x="49198" y="86879"/>
                </a:lnTo>
                <a:lnTo>
                  <a:pt x="54665" y="73513"/>
                </a:lnTo>
                <a:lnTo>
                  <a:pt x="60131" y="66830"/>
                </a:lnTo>
                <a:lnTo>
                  <a:pt x="65597" y="60147"/>
                </a:lnTo>
                <a:lnTo>
                  <a:pt x="71064" y="56806"/>
                </a:lnTo>
                <a:lnTo>
                  <a:pt x="76530" y="46781"/>
                </a:lnTo>
                <a:lnTo>
                  <a:pt x="81997" y="33415"/>
                </a:lnTo>
                <a:lnTo>
                  <a:pt x="87463" y="26732"/>
                </a:lnTo>
                <a:lnTo>
                  <a:pt x="92930" y="30074"/>
                </a:lnTo>
                <a:lnTo>
                  <a:pt x="98396" y="43440"/>
                </a:lnTo>
                <a:lnTo>
                  <a:pt x="103862" y="56806"/>
                </a:lnTo>
                <a:lnTo>
                  <a:pt x="109329" y="70172"/>
                </a:lnTo>
                <a:lnTo>
                  <a:pt x="114795" y="86879"/>
                </a:lnTo>
                <a:lnTo>
                  <a:pt x="120262" y="103587"/>
                </a:lnTo>
                <a:lnTo>
                  <a:pt x="125728" y="123636"/>
                </a:lnTo>
                <a:lnTo>
                  <a:pt x="131195" y="147026"/>
                </a:lnTo>
                <a:lnTo>
                  <a:pt x="136661" y="177100"/>
                </a:lnTo>
                <a:lnTo>
                  <a:pt x="142127" y="200491"/>
                </a:lnTo>
                <a:lnTo>
                  <a:pt x="147594" y="220540"/>
                </a:lnTo>
                <a:lnTo>
                  <a:pt x="153060" y="237247"/>
                </a:lnTo>
                <a:lnTo>
                  <a:pt x="158527" y="250613"/>
                </a:lnTo>
                <a:lnTo>
                  <a:pt x="163993" y="260638"/>
                </a:lnTo>
                <a:lnTo>
                  <a:pt x="169460" y="277345"/>
                </a:lnTo>
                <a:lnTo>
                  <a:pt x="174926" y="280687"/>
                </a:lnTo>
                <a:lnTo>
                  <a:pt x="180392" y="277345"/>
                </a:lnTo>
                <a:lnTo>
                  <a:pt x="185859" y="274004"/>
                </a:lnTo>
                <a:lnTo>
                  <a:pt x="191325" y="270662"/>
                </a:lnTo>
                <a:lnTo>
                  <a:pt x="196792" y="263979"/>
                </a:lnTo>
                <a:lnTo>
                  <a:pt x="202258" y="260638"/>
                </a:lnTo>
                <a:lnTo>
                  <a:pt x="207725" y="253955"/>
                </a:lnTo>
                <a:lnTo>
                  <a:pt x="213191" y="250613"/>
                </a:lnTo>
                <a:lnTo>
                  <a:pt x="218658" y="247272"/>
                </a:lnTo>
                <a:lnTo>
                  <a:pt x="224124" y="247272"/>
                </a:lnTo>
                <a:lnTo>
                  <a:pt x="229590" y="250613"/>
                </a:lnTo>
                <a:lnTo>
                  <a:pt x="235057" y="250613"/>
                </a:lnTo>
                <a:lnTo>
                  <a:pt x="240523" y="253955"/>
                </a:lnTo>
                <a:lnTo>
                  <a:pt x="245990" y="253955"/>
                </a:lnTo>
                <a:lnTo>
                  <a:pt x="251456" y="257296"/>
                </a:lnTo>
                <a:lnTo>
                  <a:pt x="256923" y="257296"/>
                </a:lnTo>
                <a:lnTo>
                  <a:pt x="262389" y="250613"/>
                </a:lnTo>
                <a:lnTo>
                  <a:pt x="267855" y="237247"/>
                </a:lnTo>
                <a:lnTo>
                  <a:pt x="273322" y="227223"/>
                </a:lnTo>
                <a:lnTo>
                  <a:pt x="278788" y="220540"/>
                </a:lnTo>
                <a:lnTo>
                  <a:pt x="284255" y="210515"/>
                </a:lnTo>
                <a:lnTo>
                  <a:pt x="289721" y="203832"/>
                </a:lnTo>
                <a:lnTo>
                  <a:pt x="295188" y="190466"/>
                </a:lnTo>
                <a:lnTo>
                  <a:pt x="300654" y="177100"/>
                </a:lnTo>
                <a:lnTo>
                  <a:pt x="306120" y="163734"/>
                </a:lnTo>
                <a:lnTo>
                  <a:pt x="311587" y="157051"/>
                </a:lnTo>
                <a:lnTo>
                  <a:pt x="317053" y="150368"/>
                </a:lnTo>
                <a:lnTo>
                  <a:pt x="322520" y="147026"/>
                </a:lnTo>
                <a:lnTo>
                  <a:pt x="327986" y="143685"/>
                </a:lnTo>
                <a:lnTo>
                  <a:pt x="333453" y="150368"/>
                </a:lnTo>
                <a:lnTo>
                  <a:pt x="338919" y="157051"/>
                </a:lnTo>
                <a:lnTo>
                  <a:pt x="344385" y="167076"/>
                </a:lnTo>
                <a:lnTo>
                  <a:pt x="349852" y="180442"/>
                </a:lnTo>
                <a:lnTo>
                  <a:pt x="355318" y="190466"/>
                </a:lnTo>
                <a:lnTo>
                  <a:pt x="360785" y="203832"/>
                </a:lnTo>
                <a:lnTo>
                  <a:pt x="366251" y="220540"/>
                </a:lnTo>
                <a:lnTo>
                  <a:pt x="371718" y="230564"/>
                </a:lnTo>
                <a:lnTo>
                  <a:pt x="377184" y="243930"/>
                </a:lnTo>
                <a:lnTo>
                  <a:pt x="382650" y="253955"/>
                </a:lnTo>
                <a:lnTo>
                  <a:pt x="388117" y="263979"/>
                </a:lnTo>
                <a:lnTo>
                  <a:pt x="393583" y="274004"/>
                </a:lnTo>
                <a:lnTo>
                  <a:pt x="399050" y="263979"/>
                </a:lnTo>
                <a:lnTo>
                  <a:pt x="404516" y="253955"/>
                </a:lnTo>
                <a:lnTo>
                  <a:pt x="409983" y="243930"/>
                </a:lnTo>
                <a:lnTo>
                  <a:pt x="415449" y="233906"/>
                </a:lnTo>
                <a:lnTo>
                  <a:pt x="420915" y="220540"/>
                </a:lnTo>
                <a:lnTo>
                  <a:pt x="426382" y="210515"/>
                </a:lnTo>
                <a:lnTo>
                  <a:pt x="431848" y="197149"/>
                </a:lnTo>
                <a:lnTo>
                  <a:pt x="437315" y="183783"/>
                </a:lnTo>
                <a:lnTo>
                  <a:pt x="442781" y="173759"/>
                </a:lnTo>
                <a:lnTo>
                  <a:pt x="448248" y="163734"/>
                </a:lnTo>
                <a:lnTo>
                  <a:pt x="453714" y="153709"/>
                </a:lnTo>
                <a:lnTo>
                  <a:pt x="459180" y="147026"/>
                </a:lnTo>
                <a:lnTo>
                  <a:pt x="464647" y="137002"/>
                </a:lnTo>
                <a:lnTo>
                  <a:pt x="470113" y="126977"/>
                </a:lnTo>
                <a:lnTo>
                  <a:pt x="475580" y="120294"/>
                </a:lnTo>
                <a:lnTo>
                  <a:pt x="481046" y="113611"/>
                </a:lnTo>
                <a:lnTo>
                  <a:pt x="486513" y="106928"/>
                </a:lnTo>
                <a:lnTo>
                  <a:pt x="491979" y="100245"/>
                </a:lnTo>
                <a:lnTo>
                  <a:pt x="497446" y="90221"/>
                </a:lnTo>
                <a:lnTo>
                  <a:pt x="502912" y="80196"/>
                </a:lnTo>
                <a:lnTo>
                  <a:pt x="508378" y="73513"/>
                </a:lnTo>
                <a:lnTo>
                  <a:pt x="513845" y="73513"/>
                </a:lnTo>
                <a:lnTo>
                  <a:pt x="519311" y="70172"/>
                </a:lnTo>
                <a:lnTo>
                  <a:pt x="524778" y="66830"/>
                </a:lnTo>
                <a:lnTo>
                  <a:pt x="530244" y="66830"/>
                </a:lnTo>
                <a:lnTo>
                  <a:pt x="535711" y="70172"/>
                </a:lnTo>
                <a:lnTo>
                  <a:pt x="541177" y="70172"/>
                </a:lnTo>
                <a:lnTo>
                  <a:pt x="546643" y="66830"/>
                </a:lnTo>
                <a:lnTo>
                  <a:pt x="552110" y="66830"/>
                </a:lnTo>
                <a:lnTo>
                  <a:pt x="557576" y="66830"/>
                </a:lnTo>
                <a:lnTo>
                  <a:pt x="563043" y="66830"/>
                </a:lnTo>
                <a:lnTo>
                  <a:pt x="568509" y="70172"/>
                </a:lnTo>
                <a:lnTo>
                  <a:pt x="573976" y="73513"/>
                </a:lnTo>
                <a:lnTo>
                  <a:pt x="579442" y="76855"/>
                </a:lnTo>
                <a:lnTo>
                  <a:pt x="584908" y="80196"/>
                </a:lnTo>
                <a:lnTo>
                  <a:pt x="590375" y="86879"/>
                </a:lnTo>
                <a:lnTo>
                  <a:pt x="595841" y="90221"/>
                </a:lnTo>
                <a:lnTo>
                  <a:pt x="601308" y="93562"/>
                </a:lnTo>
                <a:lnTo>
                  <a:pt x="606774" y="96904"/>
                </a:lnTo>
                <a:lnTo>
                  <a:pt x="612241" y="83538"/>
                </a:lnTo>
                <a:lnTo>
                  <a:pt x="617707" y="66830"/>
                </a:lnTo>
                <a:lnTo>
                  <a:pt x="623173" y="60147"/>
                </a:lnTo>
                <a:lnTo>
                  <a:pt x="628640" y="56806"/>
                </a:lnTo>
                <a:lnTo>
                  <a:pt x="634106" y="50123"/>
                </a:lnTo>
                <a:lnTo>
                  <a:pt x="639573" y="36757"/>
                </a:lnTo>
                <a:lnTo>
                  <a:pt x="645039" y="23391"/>
                </a:lnTo>
                <a:lnTo>
                  <a:pt x="650506" y="6683"/>
                </a:lnTo>
                <a:lnTo>
                  <a:pt x="655972" y="3341"/>
                </a:lnTo>
                <a:lnTo>
                  <a:pt x="661438" y="0"/>
                </a:lnTo>
                <a:lnTo>
                  <a:pt x="666905" y="0"/>
                </a:lnTo>
                <a:lnTo>
                  <a:pt x="672371" y="0"/>
                </a:lnTo>
                <a:lnTo>
                  <a:pt x="677838" y="0"/>
                </a:lnTo>
                <a:lnTo>
                  <a:pt x="683304" y="0"/>
                </a:lnTo>
                <a:lnTo>
                  <a:pt x="688771" y="3341"/>
                </a:lnTo>
                <a:lnTo>
                  <a:pt x="694237" y="6683"/>
                </a:lnTo>
                <a:lnTo>
                  <a:pt x="699703" y="10025"/>
                </a:lnTo>
                <a:lnTo>
                  <a:pt x="705170" y="13366"/>
                </a:lnTo>
                <a:lnTo>
                  <a:pt x="710636" y="16708"/>
                </a:lnTo>
                <a:lnTo>
                  <a:pt x="716103" y="23391"/>
                </a:lnTo>
                <a:lnTo>
                  <a:pt x="721569" y="26732"/>
                </a:lnTo>
                <a:lnTo>
                  <a:pt x="727036" y="30074"/>
                </a:lnTo>
                <a:lnTo>
                  <a:pt x="732502" y="36757"/>
                </a:lnTo>
                <a:lnTo>
                  <a:pt x="737968" y="40098"/>
                </a:lnTo>
                <a:lnTo>
                  <a:pt x="743435" y="46781"/>
                </a:lnTo>
                <a:lnTo>
                  <a:pt x="748901" y="50123"/>
                </a:lnTo>
                <a:lnTo>
                  <a:pt x="754368" y="56806"/>
                </a:lnTo>
                <a:lnTo>
                  <a:pt x="759834" y="63489"/>
                </a:lnTo>
                <a:lnTo>
                  <a:pt x="765301" y="73513"/>
                </a:lnTo>
                <a:lnTo>
                  <a:pt x="770767" y="86879"/>
                </a:lnTo>
                <a:lnTo>
                  <a:pt x="776234" y="96904"/>
                </a:lnTo>
                <a:lnTo>
                  <a:pt x="781700" y="106928"/>
                </a:lnTo>
                <a:lnTo>
                  <a:pt x="787166" y="123636"/>
                </a:lnTo>
                <a:lnTo>
                  <a:pt x="792633" y="140343"/>
                </a:lnTo>
                <a:lnTo>
                  <a:pt x="798099" y="160393"/>
                </a:lnTo>
                <a:lnTo>
                  <a:pt x="803566" y="187125"/>
                </a:lnTo>
                <a:lnTo>
                  <a:pt x="809032" y="207174"/>
                </a:lnTo>
                <a:lnTo>
                  <a:pt x="814499" y="227223"/>
                </a:lnTo>
                <a:lnTo>
                  <a:pt x="819965" y="247272"/>
                </a:lnTo>
                <a:lnTo>
                  <a:pt x="825431" y="260638"/>
                </a:lnTo>
                <a:lnTo>
                  <a:pt x="830898" y="277345"/>
                </a:lnTo>
                <a:lnTo>
                  <a:pt x="836364" y="294053"/>
                </a:lnTo>
                <a:lnTo>
                  <a:pt x="841831" y="310761"/>
                </a:lnTo>
                <a:lnTo>
                  <a:pt x="847297" y="320785"/>
                </a:lnTo>
                <a:lnTo>
                  <a:pt x="852764" y="327468"/>
                </a:lnTo>
                <a:lnTo>
                  <a:pt x="858230" y="320785"/>
                </a:lnTo>
                <a:lnTo>
                  <a:pt x="863696" y="310761"/>
                </a:lnTo>
                <a:lnTo>
                  <a:pt x="869163" y="300736"/>
                </a:lnTo>
                <a:lnTo>
                  <a:pt x="874629" y="284028"/>
                </a:lnTo>
                <a:lnTo>
                  <a:pt x="880096" y="280687"/>
                </a:lnTo>
                <a:lnTo>
                  <a:pt x="885562" y="277345"/>
                </a:lnTo>
                <a:lnTo>
                  <a:pt x="891029" y="267321"/>
                </a:lnTo>
                <a:lnTo>
                  <a:pt x="896495" y="280687"/>
                </a:lnTo>
                <a:lnTo>
                  <a:pt x="901961" y="297394"/>
                </a:lnTo>
                <a:lnTo>
                  <a:pt x="907428" y="314102"/>
                </a:lnTo>
                <a:lnTo>
                  <a:pt x="912894" y="270662"/>
                </a:lnTo>
                <a:lnTo>
                  <a:pt x="918361" y="274004"/>
                </a:lnTo>
                <a:lnTo>
                  <a:pt x="923827" y="374249"/>
                </a:lnTo>
                <a:lnTo>
                  <a:pt x="929294" y="380932"/>
                </a:lnTo>
                <a:lnTo>
                  <a:pt x="934760" y="400981"/>
                </a:lnTo>
                <a:lnTo>
                  <a:pt x="940226" y="414347"/>
                </a:lnTo>
                <a:lnTo>
                  <a:pt x="945693" y="424372"/>
                </a:lnTo>
                <a:lnTo>
                  <a:pt x="951159" y="437738"/>
                </a:lnTo>
                <a:lnTo>
                  <a:pt x="956626" y="447762"/>
                </a:lnTo>
                <a:lnTo>
                  <a:pt x="962092" y="457787"/>
                </a:lnTo>
                <a:lnTo>
                  <a:pt x="967559" y="461129"/>
                </a:lnTo>
                <a:lnTo>
                  <a:pt x="973025" y="467812"/>
                </a:lnTo>
                <a:lnTo>
                  <a:pt x="978491" y="444421"/>
                </a:lnTo>
                <a:lnTo>
                  <a:pt x="983958" y="434396"/>
                </a:lnTo>
                <a:lnTo>
                  <a:pt x="989424" y="431055"/>
                </a:lnTo>
                <a:lnTo>
                  <a:pt x="994891" y="411006"/>
                </a:lnTo>
                <a:lnTo>
                  <a:pt x="1000357" y="407664"/>
                </a:lnTo>
                <a:lnTo>
                  <a:pt x="1005824" y="400981"/>
                </a:lnTo>
                <a:lnTo>
                  <a:pt x="1011290" y="350859"/>
                </a:lnTo>
                <a:lnTo>
                  <a:pt x="1016756" y="320785"/>
                </a:lnTo>
                <a:lnTo>
                  <a:pt x="1022223" y="280687"/>
                </a:lnTo>
                <a:lnTo>
                  <a:pt x="1027689" y="253955"/>
                </a:lnTo>
                <a:lnTo>
                  <a:pt x="1033156" y="230564"/>
                </a:lnTo>
                <a:lnTo>
                  <a:pt x="1038622" y="213857"/>
                </a:lnTo>
                <a:lnTo>
                  <a:pt x="1044089" y="203832"/>
                </a:lnTo>
                <a:lnTo>
                  <a:pt x="1049555" y="187125"/>
                </a:lnTo>
                <a:lnTo>
                  <a:pt x="1055022" y="177100"/>
                </a:lnTo>
                <a:lnTo>
                  <a:pt x="1060488" y="170417"/>
                </a:lnTo>
                <a:lnTo>
                  <a:pt x="1065954" y="160393"/>
                </a:lnTo>
                <a:lnTo>
                  <a:pt x="1071421" y="153709"/>
                </a:lnTo>
                <a:lnTo>
                  <a:pt x="1076887" y="147026"/>
                </a:lnTo>
                <a:lnTo>
                  <a:pt x="1082354" y="133660"/>
                </a:lnTo>
                <a:lnTo>
                  <a:pt x="1087820" y="126977"/>
                </a:lnTo>
                <a:lnTo>
                  <a:pt x="1093287" y="120294"/>
                </a:lnTo>
                <a:lnTo>
                  <a:pt x="1098753" y="113611"/>
                </a:lnTo>
                <a:lnTo>
                  <a:pt x="1104219" y="110270"/>
                </a:lnTo>
                <a:lnTo>
                  <a:pt x="1109686" y="103587"/>
                </a:lnTo>
                <a:lnTo>
                  <a:pt x="1115152" y="100245"/>
                </a:lnTo>
                <a:lnTo>
                  <a:pt x="1120619" y="96904"/>
                </a:lnTo>
                <a:lnTo>
                  <a:pt x="1126085" y="90221"/>
                </a:lnTo>
                <a:lnTo>
                  <a:pt x="1131552" y="86879"/>
                </a:lnTo>
                <a:lnTo>
                  <a:pt x="1137018" y="83538"/>
                </a:lnTo>
                <a:lnTo>
                  <a:pt x="1142484" y="80196"/>
                </a:lnTo>
                <a:lnTo>
                  <a:pt x="1147951" y="76855"/>
                </a:lnTo>
                <a:lnTo>
                  <a:pt x="1153417" y="76855"/>
                </a:lnTo>
                <a:lnTo>
                  <a:pt x="1158884" y="73513"/>
                </a:lnTo>
                <a:lnTo>
                  <a:pt x="1164350" y="73513"/>
                </a:lnTo>
                <a:lnTo>
                  <a:pt x="1169817" y="76855"/>
                </a:lnTo>
                <a:lnTo>
                  <a:pt x="1175283" y="76855"/>
                </a:lnTo>
                <a:lnTo>
                  <a:pt x="1180749" y="76855"/>
                </a:lnTo>
                <a:lnTo>
                  <a:pt x="1186216" y="76855"/>
                </a:lnTo>
                <a:lnTo>
                  <a:pt x="1191682" y="73513"/>
                </a:lnTo>
                <a:lnTo>
                  <a:pt x="1197149" y="70172"/>
                </a:lnTo>
                <a:lnTo>
                  <a:pt x="1202615" y="66830"/>
                </a:lnTo>
                <a:lnTo>
                  <a:pt x="1208082" y="63489"/>
                </a:lnTo>
                <a:lnTo>
                  <a:pt x="1213548" y="60147"/>
                </a:lnTo>
                <a:lnTo>
                  <a:pt x="1219014" y="53464"/>
                </a:lnTo>
                <a:lnTo>
                  <a:pt x="1224481" y="50123"/>
                </a:lnTo>
                <a:lnTo>
                  <a:pt x="1229947" y="46781"/>
                </a:lnTo>
                <a:lnTo>
                  <a:pt x="1235414" y="46781"/>
                </a:lnTo>
                <a:lnTo>
                  <a:pt x="1240880" y="50123"/>
                </a:lnTo>
                <a:lnTo>
                  <a:pt x="1246347" y="50123"/>
                </a:lnTo>
                <a:lnTo>
                  <a:pt x="1251813" y="56806"/>
                </a:lnTo>
                <a:lnTo>
                  <a:pt x="1257279" y="60147"/>
                </a:lnTo>
                <a:lnTo>
                  <a:pt x="1262746" y="66830"/>
                </a:lnTo>
                <a:lnTo>
                  <a:pt x="1268212" y="76855"/>
                </a:lnTo>
                <a:lnTo>
                  <a:pt x="1273679" y="83538"/>
                </a:lnTo>
                <a:lnTo>
                  <a:pt x="1279145" y="86879"/>
                </a:lnTo>
                <a:lnTo>
                  <a:pt x="1284612" y="90221"/>
                </a:lnTo>
                <a:lnTo>
                  <a:pt x="1290078" y="100245"/>
                </a:lnTo>
                <a:lnTo>
                  <a:pt x="1295544" y="106928"/>
                </a:lnTo>
                <a:lnTo>
                  <a:pt x="1301011" y="110270"/>
                </a:lnTo>
                <a:lnTo>
                  <a:pt x="1306477" y="110270"/>
                </a:lnTo>
                <a:lnTo>
                  <a:pt x="1311944" y="110270"/>
                </a:lnTo>
                <a:lnTo>
                  <a:pt x="1317410" y="113611"/>
                </a:lnTo>
                <a:lnTo>
                  <a:pt x="1322877" y="120294"/>
                </a:lnTo>
                <a:lnTo>
                  <a:pt x="1328343" y="123636"/>
                </a:lnTo>
                <a:lnTo>
                  <a:pt x="1333810" y="126977"/>
                </a:lnTo>
              </a:path>
            </a:pathLst>
          </a:custGeom>
          <a:noFill/>
          <a:ln w="19050">
            <a:solidFill>
              <a:srgbClr val="F18A3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Freeform 12"/>
          <p:cNvSpPr/>
          <p:nvPr/>
        </p:nvSpPr>
        <p:spPr>
          <a:xfrm>
            <a:off x="1005840" y="2636474"/>
            <a:ext cx="6007608" cy="898867"/>
          </a:xfrm>
          <a:custGeom>
            <a:avLst/>
            <a:gdLst/>
            <a:ahLst/>
            <a:cxnLst/>
            <a:rect l="l" t="t" r="r" b="b"/>
            <a:pathLst>
              <a:path w="6007608" h="898867">
                <a:moveTo>
                  <a:pt x="0" y="33415"/>
                </a:moveTo>
                <a:lnTo>
                  <a:pt x="5466" y="30074"/>
                </a:lnTo>
                <a:lnTo>
                  <a:pt x="10932" y="30074"/>
                </a:lnTo>
                <a:lnTo>
                  <a:pt x="16399" y="30074"/>
                </a:lnTo>
                <a:lnTo>
                  <a:pt x="21865" y="30074"/>
                </a:lnTo>
                <a:lnTo>
                  <a:pt x="27332" y="30074"/>
                </a:lnTo>
                <a:lnTo>
                  <a:pt x="32798" y="30074"/>
                </a:lnTo>
                <a:lnTo>
                  <a:pt x="38265" y="30074"/>
                </a:lnTo>
                <a:lnTo>
                  <a:pt x="43731" y="30074"/>
                </a:lnTo>
                <a:lnTo>
                  <a:pt x="49197" y="30074"/>
                </a:lnTo>
                <a:lnTo>
                  <a:pt x="54664" y="30074"/>
                </a:lnTo>
                <a:lnTo>
                  <a:pt x="60130" y="30074"/>
                </a:lnTo>
                <a:lnTo>
                  <a:pt x="65597" y="30074"/>
                </a:lnTo>
                <a:lnTo>
                  <a:pt x="71063" y="26732"/>
                </a:lnTo>
                <a:lnTo>
                  <a:pt x="76530" y="26732"/>
                </a:lnTo>
                <a:lnTo>
                  <a:pt x="81996" y="26732"/>
                </a:lnTo>
                <a:lnTo>
                  <a:pt x="87462" y="26732"/>
                </a:lnTo>
                <a:lnTo>
                  <a:pt x="92929" y="26732"/>
                </a:lnTo>
                <a:lnTo>
                  <a:pt x="98395" y="26732"/>
                </a:lnTo>
                <a:lnTo>
                  <a:pt x="103862" y="26732"/>
                </a:lnTo>
                <a:lnTo>
                  <a:pt x="109328" y="26732"/>
                </a:lnTo>
                <a:lnTo>
                  <a:pt x="114795" y="23391"/>
                </a:lnTo>
                <a:lnTo>
                  <a:pt x="120261" y="23391"/>
                </a:lnTo>
                <a:lnTo>
                  <a:pt x="125727" y="23391"/>
                </a:lnTo>
                <a:lnTo>
                  <a:pt x="131194" y="23391"/>
                </a:lnTo>
                <a:lnTo>
                  <a:pt x="136660" y="26732"/>
                </a:lnTo>
                <a:lnTo>
                  <a:pt x="142127" y="23391"/>
                </a:lnTo>
                <a:lnTo>
                  <a:pt x="147593" y="23391"/>
                </a:lnTo>
                <a:lnTo>
                  <a:pt x="153060" y="20049"/>
                </a:lnTo>
                <a:lnTo>
                  <a:pt x="158526" y="16708"/>
                </a:lnTo>
                <a:lnTo>
                  <a:pt x="163992" y="16708"/>
                </a:lnTo>
                <a:lnTo>
                  <a:pt x="169459" y="13366"/>
                </a:lnTo>
                <a:lnTo>
                  <a:pt x="174925" y="16708"/>
                </a:lnTo>
                <a:lnTo>
                  <a:pt x="180392" y="16708"/>
                </a:lnTo>
                <a:lnTo>
                  <a:pt x="185858" y="16708"/>
                </a:lnTo>
                <a:lnTo>
                  <a:pt x="191325" y="16708"/>
                </a:lnTo>
                <a:lnTo>
                  <a:pt x="196791" y="16708"/>
                </a:lnTo>
                <a:lnTo>
                  <a:pt x="202257" y="16708"/>
                </a:lnTo>
                <a:lnTo>
                  <a:pt x="207724" y="13366"/>
                </a:lnTo>
                <a:lnTo>
                  <a:pt x="213190" y="13366"/>
                </a:lnTo>
                <a:lnTo>
                  <a:pt x="218657" y="10025"/>
                </a:lnTo>
                <a:lnTo>
                  <a:pt x="224123" y="6683"/>
                </a:lnTo>
                <a:lnTo>
                  <a:pt x="229590" y="3342"/>
                </a:lnTo>
                <a:lnTo>
                  <a:pt x="235056" y="3342"/>
                </a:lnTo>
                <a:lnTo>
                  <a:pt x="240522" y="3342"/>
                </a:lnTo>
                <a:lnTo>
                  <a:pt x="245989" y="6683"/>
                </a:lnTo>
                <a:lnTo>
                  <a:pt x="251455" y="6683"/>
                </a:lnTo>
                <a:lnTo>
                  <a:pt x="256922" y="10025"/>
                </a:lnTo>
                <a:lnTo>
                  <a:pt x="262388" y="13366"/>
                </a:lnTo>
                <a:lnTo>
                  <a:pt x="267855" y="10025"/>
                </a:lnTo>
                <a:lnTo>
                  <a:pt x="273321" y="10025"/>
                </a:lnTo>
                <a:lnTo>
                  <a:pt x="278787" y="10025"/>
                </a:lnTo>
                <a:lnTo>
                  <a:pt x="284254" y="13366"/>
                </a:lnTo>
                <a:lnTo>
                  <a:pt x="289720" y="13366"/>
                </a:lnTo>
                <a:lnTo>
                  <a:pt x="295187" y="10025"/>
                </a:lnTo>
                <a:lnTo>
                  <a:pt x="300653" y="10025"/>
                </a:lnTo>
                <a:lnTo>
                  <a:pt x="306120" y="10025"/>
                </a:lnTo>
                <a:lnTo>
                  <a:pt x="311586" y="13366"/>
                </a:lnTo>
                <a:lnTo>
                  <a:pt x="317053" y="16708"/>
                </a:lnTo>
                <a:lnTo>
                  <a:pt x="322519" y="13366"/>
                </a:lnTo>
                <a:lnTo>
                  <a:pt x="327985" y="13366"/>
                </a:lnTo>
                <a:lnTo>
                  <a:pt x="333452" y="13366"/>
                </a:lnTo>
                <a:lnTo>
                  <a:pt x="338918" y="16708"/>
                </a:lnTo>
                <a:lnTo>
                  <a:pt x="344385" y="20049"/>
                </a:lnTo>
                <a:lnTo>
                  <a:pt x="349851" y="20049"/>
                </a:lnTo>
                <a:lnTo>
                  <a:pt x="355318" y="26732"/>
                </a:lnTo>
                <a:lnTo>
                  <a:pt x="360784" y="23391"/>
                </a:lnTo>
                <a:lnTo>
                  <a:pt x="366250" y="23391"/>
                </a:lnTo>
                <a:lnTo>
                  <a:pt x="371717" y="23391"/>
                </a:lnTo>
                <a:lnTo>
                  <a:pt x="377183" y="23391"/>
                </a:lnTo>
                <a:lnTo>
                  <a:pt x="382650" y="20049"/>
                </a:lnTo>
                <a:lnTo>
                  <a:pt x="388116" y="20049"/>
                </a:lnTo>
                <a:lnTo>
                  <a:pt x="393583" y="16708"/>
                </a:lnTo>
                <a:lnTo>
                  <a:pt x="399049" y="10025"/>
                </a:lnTo>
                <a:lnTo>
                  <a:pt x="404515" y="6683"/>
                </a:lnTo>
                <a:lnTo>
                  <a:pt x="409982" y="3342"/>
                </a:lnTo>
                <a:lnTo>
                  <a:pt x="415448" y="0"/>
                </a:lnTo>
                <a:lnTo>
                  <a:pt x="420915" y="0"/>
                </a:lnTo>
                <a:lnTo>
                  <a:pt x="426381" y="0"/>
                </a:lnTo>
                <a:lnTo>
                  <a:pt x="431848" y="0"/>
                </a:lnTo>
                <a:lnTo>
                  <a:pt x="437314" y="3342"/>
                </a:lnTo>
                <a:lnTo>
                  <a:pt x="442780" y="6683"/>
                </a:lnTo>
                <a:lnTo>
                  <a:pt x="448247" y="10025"/>
                </a:lnTo>
                <a:lnTo>
                  <a:pt x="453713" y="13366"/>
                </a:lnTo>
                <a:lnTo>
                  <a:pt x="459180" y="13366"/>
                </a:lnTo>
                <a:lnTo>
                  <a:pt x="464646" y="16708"/>
                </a:lnTo>
                <a:lnTo>
                  <a:pt x="470113" y="13366"/>
                </a:lnTo>
                <a:lnTo>
                  <a:pt x="475579" y="13366"/>
                </a:lnTo>
                <a:lnTo>
                  <a:pt x="481045" y="13366"/>
                </a:lnTo>
                <a:lnTo>
                  <a:pt x="486512" y="13366"/>
                </a:lnTo>
                <a:lnTo>
                  <a:pt x="491978" y="16708"/>
                </a:lnTo>
                <a:lnTo>
                  <a:pt x="497445" y="20049"/>
                </a:lnTo>
                <a:lnTo>
                  <a:pt x="502911" y="16708"/>
                </a:lnTo>
                <a:lnTo>
                  <a:pt x="508378" y="13366"/>
                </a:lnTo>
                <a:lnTo>
                  <a:pt x="513844" y="13366"/>
                </a:lnTo>
                <a:lnTo>
                  <a:pt x="519310" y="13366"/>
                </a:lnTo>
                <a:lnTo>
                  <a:pt x="524777" y="13366"/>
                </a:lnTo>
                <a:lnTo>
                  <a:pt x="530243" y="13366"/>
                </a:lnTo>
                <a:lnTo>
                  <a:pt x="535710" y="10025"/>
                </a:lnTo>
                <a:lnTo>
                  <a:pt x="541176" y="10025"/>
                </a:lnTo>
                <a:lnTo>
                  <a:pt x="546643" y="13366"/>
                </a:lnTo>
                <a:lnTo>
                  <a:pt x="552109" y="13366"/>
                </a:lnTo>
                <a:lnTo>
                  <a:pt x="557575" y="16708"/>
                </a:lnTo>
                <a:lnTo>
                  <a:pt x="563042" y="20049"/>
                </a:lnTo>
                <a:lnTo>
                  <a:pt x="568508" y="20049"/>
                </a:lnTo>
                <a:lnTo>
                  <a:pt x="573975" y="13366"/>
                </a:lnTo>
                <a:lnTo>
                  <a:pt x="579441" y="10025"/>
                </a:lnTo>
                <a:lnTo>
                  <a:pt x="584908" y="13366"/>
                </a:lnTo>
                <a:lnTo>
                  <a:pt x="590374" y="13366"/>
                </a:lnTo>
                <a:lnTo>
                  <a:pt x="595841" y="16708"/>
                </a:lnTo>
                <a:lnTo>
                  <a:pt x="601307" y="20049"/>
                </a:lnTo>
                <a:lnTo>
                  <a:pt x="606773" y="20049"/>
                </a:lnTo>
                <a:lnTo>
                  <a:pt x="612240" y="20049"/>
                </a:lnTo>
                <a:lnTo>
                  <a:pt x="617706" y="20049"/>
                </a:lnTo>
                <a:lnTo>
                  <a:pt x="623173" y="20049"/>
                </a:lnTo>
                <a:lnTo>
                  <a:pt x="628639" y="23391"/>
                </a:lnTo>
                <a:lnTo>
                  <a:pt x="634106" y="23391"/>
                </a:lnTo>
                <a:lnTo>
                  <a:pt x="639572" y="23391"/>
                </a:lnTo>
                <a:lnTo>
                  <a:pt x="645038" y="26732"/>
                </a:lnTo>
                <a:lnTo>
                  <a:pt x="650505" y="30074"/>
                </a:lnTo>
                <a:lnTo>
                  <a:pt x="655971" y="30074"/>
                </a:lnTo>
                <a:lnTo>
                  <a:pt x="661438" y="33415"/>
                </a:lnTo>
                <a:lnTo>
                  <a:pt x="666904" y="36757"/>
                </a:lnTo>
                <a:lnTo>
                  <a:pt x="672371" y="33415"/>
                </a:lnTo>
                <a:lnTo>
                  <a:pt x="677837" y="33415"/>
                </a:lnTo>
                <a:lnTo>
                  <a:pt x="683303" y="33415"/>
                </a:lnTo>
                <a:lnTo>
                  <a:pt x="688770" y="36757"/>
                </a:lnTo>
                <a:lnTo>
                  <a:pt x="694236" y="36757"/>
                </a:lnTo>
                <a:lnTo>
                  <a:pt x="699703" y="40098"/>
                </a:lnTo>
                <a:lnTo>
                  <a:pt x="705169" y="40098"/>
                </a:lnTo>
                <a:lnTo>
                  <a:pt x="710636" y="36757"/>
                </a:lnTo>
                <a:lnTo>
                  <a:pt x="716102" y="36757"/>
                </a:lnTo>
                <a:lnTo>
                  <a:pt x="721568" y="36757"/>
                </a:lnTo>
                <a:lnTo>
                  <a:pt x="727035" y="40098"/>
                </a:lnTo>
                <a:lnTo>
                  <a:pt x="732501" y="40098"/>
                </a:lnTo>
                <a:lnTo>
                  <a:pt x="737968" y="43440"/>
                </a:lnTo>
                <a:lnTo>
                  <a:pt x="743434" y="46782"/>
                </a:lnTo>
                <a:lnTo>
                  <a:pt x="748901" y="43440"/>
                </a:lnTo>
                <a:lnTo>
                  <a:pt x="754367" y="46782"/>
                </a:lnTo>
                <a:lnTo>
                  <a:pt x="759833" y="50123"/>
                </a:lnTo>
                <a:lnTo>
                  <a:pt x="765300" y="50123"/>
                </a:lnTo>
                <a:lnTo>
                  <a:pt x="770766" y="53465"/>
                </a:lnTo>
                <a:lnTo>
                  <a:pt x="776233" y="53465"/>
                </a:lnTo>
                <a:lnTo>
                  <a:pt x="781699" y="53465"/>
                </a:lnTo>
                <a:lnTo>
                  <a:pt x="787166" y="53465"/>
                </a:lnTo>
                <a:lnTo>
                  <a:pt x="792632" y="53465"/>
                </a:lnTo>
                <a:lnTo>
                  <a:pt x="798098" y="56806"/>
                </a:lnTo>
                <a:lnTo>
                  <a:pt x="803565" y="56806"/>
                </a:lnTo>
                <a:lnTo>
                  <a:pt x="809031" y="60148"/>
                </a:lnTo>
                <a:lnTo>
                  <a:pt x="814498" y="60148"/>
                </a:lnTo>
                <a:lnTo>
                  <a:pt x="819964" y="60148"/>
                </a:lnTo>
                <a:lnTo>
                  <a:pt x="825431" y="60148"/>
                </a:lnTo>
                <a:lnTo>
                  <a:pt x="830897" y="60148"/>
                </a:lnTo>
                <a:lnTo>
                  <a:pt x="836363" y="60148"/>
                </a:lnTo>
                <a:lnTo>
                  <a:pt x="841830" y="60148"/>
                </a:lnTo>
                <a:lnTo>
                  <a:pt x="847296" y="63489"/>
                </a:lnTo>
                <a:lnTo>
                  <a:pt x="852763" y="63489"/>
                </a:lnTo>
                <a:lnTo>
                  <a:pt x="858229" y="63489"/>
                </a:lnTo>
                <a:lnTo>
                  <a:pt x="863696" y="63489"/>
                </a:lnTo>
                <a:lnTo>
                  <a:pt x="869162" y="66831"/>
                </a:lnTo>
                <a:lnTo>
                  <a:pt x="874629" y="66831"/>
                </a:lnTo>
                <a:lnTo>
                  <a:pt x="880095" y="66831"/>
                </a:lnTo>
                <a:lnTo>
                  <a:pt x="885561" y="66831"/>
                </a:lnTo>
                <a:lnTo>
                  <a:pt x="891028" y="66831"/>
                </a:lnTo>
                <a:lnTo>
                  <a:pt x="896494" y="70172"/>
                </a:lnTo>
                <a:lnTo>
                  <a:pt x="901961" y="70172"/>
                </a:lnTo>
                <a:lnTo>
                  <a:pt x="907427" y="70172"/>
                </a:lnTo>
                <a:lnTo>
                  <a:pt x="912894" y="70172"/>
                </a:lnTo>
                <a:lnTo>
                  <a:pt x="918360" y="70172"/>
                </a:lnTo>
                <a:lnTo>
                  <a:pt x="923826" y="70172"/>
                </a:lnTo>
                <a:lnTo>
                  <a:pt x="929293" y="70172"/>
                </a:lnTo>
                <a:lnTo>
                  <a:pt x="934759" y="70172"/>
                </a:lnTo>
                <a:lnTo>
                  <a:pt x="940226" y="70172"/>
                </a:lnTo>
                <a:lnTo>
                  <a:pt x="945692" y="70172"/>
                </a:lnTo>
                <a:lnTo>
                  <a:pt x="951159" y="73514"/>
                </a:lnTo>
                <a:lnTo>
                  <a:pt x="956625" y="73514"/>
                </a:lnTo>
                <a:lnTo>
                  <a:pt x="962091" y="73514"/>
                </a:lnTo>
                <a:lnTo>
                  <a:pt x="967558" y="73514"/>
                </a:lnTo>
                <a:lnTo>
                  <a:pt x="973024" y="73514"/>
                </a:lnTo>
                <a:lnTo>
                  <a:pt x="978491" y="76855"/>
                </a:lnTo>
                <a:lnTo>
                  <a:pt x="983957" y="76855"/>
                </a:lnTo>
                <a:lnTo>
                  <a:pt x="989424" y="76855"/>
                </a:lnTo>
                <a:lnTo>
                  <a:pt x="994890" y="73514"/>
                </a:lnTo>
                <a:lnTo>
                  <a:pt x="1000356" y="73514"/>
                </a:lnTo>
                <a:lnTo>
                  <a:pt x="1005823" y="73514"/>
                </a:lnTo>
                <a:lnTo>
                  <a:pt x="1011289" y="73514"/>
                </a:lnTo>
                <a:lnTo>
                  <a:pt x="1016756" y="76855"/>
                </a:lnTo>
                <a:lnTo>
                  <a:pt x="1022222" y="76855"/>
                </a:lnTo>
                <a:lnTo>
                  <a:pt x="1027689" y="76855"/>
                </a:lnTo>
                <a:lnTo>
                  <a:pt x="1033155" y="76855"/>
                </a:lnTo>
                <a:lnTo>
                  <a:pt x="1038621" y="76855"/>
                </a:lnTo>
                <a:lnTo>
                  <a:pt x="1044088" y="76855"/>
                </a:lnTo>
                <a:lnTo>
                  <a:pt x="1049554" y="76855"/>
                </a:lnTo>
                <a:lnTo>
                  <a:pt x="1055021" y="76855"/>
                </a:lnTo>
                <a:lnTo>
                  <a:pt x="1060487" y="76855"/>
                </a:lnTo>
                <a:lnTo>
                  <a:pt x="1065954" y="76855"/>
                </a:lnTo>
                <a:lnTo>
                  <a:pt x="1071420" y="76855"/>
                </a:lnTo>
                <a:lnTo>
                  <a:pt x="1076886" y="76855"/>
                </a:lnTo>
                <a:lnTo>
                  <a:pt x="1082353" y="76855"/>
                </a:lnTo>
                <a:lnTo>
                  <a:pt x="1087819" y="76855"/>
                </a:lnTo>
                <a:lnTo>
                  <a:pt x="1093286" y="76855"/>
                </a:lnTo>
                <a:lnTo>
                  <a:pt x="1098752" y="76855"/>
                </a:lnTo>
                <a:lnTo>
                  <a:pt x="1104219" y="76855"/>
                </a:lnTo>
                <a:lnTo>
                  <a:pt x="1109685" y="80197"/>
                </a:lnTo>
                <a:lnTo>
                  <a:pt x="1115151" y="80197"/>
                </a:lnTo>
                <a:lnTo>
                  <a:pt x="1120618" y="76855"/>
                </a:lnTo>
                <a:lnTo>
                  <a:pt x="1126084" y="76855"/>
                </a:lnTo>
                <a:lnTo>
                  <a:pt x="1131551" y="80197"/>
                </a:lnTo>
                <a:lnTo>
                  <a:pt x="1137017" y="76855"/>
                </a:lnTo>
                <a:lnTo>
                  <a:pt x="1142484" y="76855"/>
                </a:lnTo>
                <a:lnTo>
                  <a:pt x="1147950" y="76855"/>
                </a:lnTo>
                <a:lnTo>
                  <a:pt x="1153417" y="76855"/>
                </a:lnTo>
                <a:lnTo>
                  <a:pt x="1158883" y="76855"/>
                </a:lnTo>
                <a:lnTo>
                  <a:pt x="1164349" y="76855"/>
                </a:lnTo>
                <a:lnTo>
                  <a:pt x="1169816" y="76855"/>
                </a:lnTo>
                <a:lnTo>
                  <a:pt x="1175282" y="76855"/>
                </a:lnTo>
                <a:lnTo>
                  <a:pt x="1180749" y="76855"/>
                </a:lnTo>
                <a:lnTo>
                  <a:pt x="1186215" y="76855"/>
                </a:lnTo>
                <a:lnTo>
                  <a:pt x="1191682" y="80197"/>
                </a:lnTo>
                <a:lnTo>
                  <a:pt x="1197148" y="76855"/>
                </a:lnTo>
                <a:lnTo>
                  <a:pt x="1202614" y="76855"/>
                </a:lnTo>
                <a:lnTo>
                  <a:pt x="1208081" y="76855"/>
                </a:lnTo>
                <a:lnTo>
                  <a:pt x="1213547" y="76855"/>
                </a:lnTo>
                <a:lnTo>
                  <a:pt x="1219014" y="76855"/>
                </a:lnTo>
                <a:lnTo>
                  <a:pt x="1224480" y="76855"/>
                </a:lnTo>
                <a:lnTo>
                  <a:pt x="1229947" y="76855"/>
                </a:lnTo>
                <a:lnTo>
                  <a:pt x="1235413" y="76855"/>
                </a:lnTo>
                <a:lnTo>
                  <a:pt x="1240879" y="76855"/>
                </a:lnTo>
                <a:lnTo>
                  <a:pt x="1246346" y="76855"/>
                </a:lnTo>
                <a:lnTo>
                  <a:pt x="1251812" y="73514"/>
                </a:lnTo>
                <a:lnTo>
                  <a:pt x="1257279" y="73514"/>
                </a:lnTo>
                <a:lnTo>
                  <a:pt x="1262745" y="73514"/>
                </a:lnTo>
                <a:lnTo>
                  <a:pt x="1268212" y="73514"/>
                </a:lnTo>
                <a:lnTo>
                  <a:pt x="1273678" y="70172"/>
                </a:lnTo>
                <a:lnTo>
                  <a:pt x="1279144" y="70172"/>
                </a:lnTo>
                <a:lnTo>
                  <a:pt x="1284611" y="70172"/>
                </a:lnTo>
                <a:lnTo>
                  <a:pt x="1290077" y="73514"/>
                </a:lnTo>
                <a:lnTo>
                  <a:pt x="1295544" y="70172"/>
                </a:lnTo>
                <a:lnTo>
                  <a:pt x="1301010" y="70172"/>
                </a:lnTo>
                <a:lnTo>
                  <a:pt x="1306477" y="70172"/>
                </a:lnTo>
                <a:lnTo>
                  <a:pt x="1311943" y="70172"/>
                </a:lnTo>
                <a:lnTo>
                  <a:pt x="1317409" y="70172"/>
                </a:lnTo>
                <a:lnTo>
                  <a:pt x="1322876" y="70172"/>
                </a:lnTo>
                <a:lnTo>
                  <a:pt x="1328342" y="70172"/>
                </a:lnTo>
                <a:lnTo>
                  <a:pt x="1333809" y="70172"/>
                </a:lnTo>
                <a:lnTo>
                  <a:pt x="1339275" y="66831"/>
                </a:lnTo>
                <a:lnTo>
                  <a:pt x="1344742" y="66831"/>
                </a:lnTo>
                <a:lnTo>
                  <a:pt x="1350208" y="66831"/>
                </a:lnTo>
                <a:lnTo>
                  <a:pt x="1355674" y="66831"/>
                </a:lnTo>
                <a:lnTo>
                  <a:pt x="1361141" y="66831"/>
                </a:lnTo>
                <a:lnTo>
                  <a:pt x="1366607" y="66831"/>
                </a:lnTo>
                <a:lnTo>
                  <a:pt x="1372074" y="66831"/>
                </a:lnTo>
                <a:lnTo>
                  <a:pt x="1377540" y="66831"/>
                </a:lnTo>
                <a:lnTo>
                  <a:pt x="1383007" y="66831"/>
                </a:lnTo>
                <a:lnTo>
                  <a:pt x="1388473" y="63489"/>
                </a:lnTo>
                <a:lnTo>
                  <a:pt x="1393939" y="63489"/>
                </a:lnTo>
                <a:lnTo>
                  <a:pt x="1399406" y="63489"/>
                </a:lnTo>
                <a:lnTo>
                  <a:pt x="1404872" y="63489"/>
                </a:lnTo>
                <a:lnTo>
                  <a:pt x="1410339" y="60148"/>
                </a:lnTo>
                <a:lnTo>
                  <a:pt x="1415805" y="60148"/>
                </a:lnTo>
                <a:lnTo>
                  <a:pt x="1421272" y="60148"/>
                </a:lnTo>
                <a:lnTo>
                  <a:pt x="1426738" y="60148"/>
                </a:lnTo>
                <a:lnTo>
                  <a:pt x="1432205" y="60148"/>
                </a:lnTo>
                <a:lnTo>
                  <a:pt x="1437671" y="60148"/>
                </a:lnTo>
                <a:lnTo>
                  <a:pt x="1443137" y="60148"/>
                </a:lnTo>
                <a:lnTo>
                  <a:pt x="1448604" y="60148"/>
                </a:lnTo>
                <a:lnTo>
                  <a:pt x="1454070" y="60148"/>
                </a:lnTo>
                <a:lnTo>
                  <a:pt x="1459537" y="56806"/>
                </a:lnTo>
                <a:lnTo>
                  <a:pt x="1465003" y="56806"/>
                </a:lnTo>
                <a:lnTo>
                  <a:pt x="1470470" y="56806"/>
                </a:lnTo>
                <a:lnTo>
                  <a:pt x="1475936" y="56806"/>
                </a:lnTo>
                <a:lnTo>
                  <a:pt x="1481402" y="56806"/>
                </a:lnTo>
                <a:lnTo>
                  <a:pt x="1486869" y="56806"/>
                </a:lnTo>
                <a:lnTo>
                  <a:pt x="1492335" y="56806"/>
                </a:lnTo>
                <a:lnTo>
                  <a:pt x="1497802" y="56806"/>
                </a:lnTo>
                <a:lnTo>
                  <a:pt x="1503268" y="56806"/>
                </a:lnTo>
                <a:lnTo>
                  <a:pt x="1508735" y="56806"/>
                </a:lnTo>
                <a:lnTo>
                  <a:pt x="1514201" y="56806"/>
                </a:lnTo>
                <a:lnTo>
                  <a:pt x="1519667" y="56806"/>
                </a:lnTo>
                <a:lnTo>
                  <a:pt x="1525134" y="56806"/>
                </a:lnTo>
                <a:lnTo>
                  <a:pt x="1530600" y="56806"/>
                </a:lnTo>
                <a:lnTo>
                  <a:pt x="1536067" y="56806"/>
                </a:lnTo>
                <a:lnTo>
                  <a:pt x="1541533" y="56806"/>
                </a:lnTo>
                <a:lnTo>
                  <a:pt x="1547000" y="56806"/>
                </a:lnTo>
                <a:lnTo>
                  <a:pt x="1552466" y="56806"/>
                </a:lnTo>
                <a:lnTo>
                  <a:pt x="1557932" y="56806"/>
                </a:lnTo>
                <a:lnTo>
                  <a:pt x="1563399" y="56806"/>
                </a:lnTo>
                <a:lnTo>
                  <a:pt x="1568865" y="56806"/>
                </a:lnTo>
                <a:lnTo>
                  <a:pt x="1574332" y="56806"/>
                </a:lnTo>
                <a:lnTo>
                  <a:pt x="1579798" y="56806"/>
                </a:lnTo>
                <a:lnTo>
                  <a:pt x="1585265" y="56806"/>
                </a:lnTo>
                <a:lnTo>
                  <a:pt x="1590731" y="56806"/>
                </a:lnTo>
                <a:lnTo>
                  <a:pt x="1596197" y="56806"/>
                </a:lnTo>
                <a:lnTo>
                  <a:pt x="1601664" y="56806"/>
                </a:lnTo>
                <a:lnTo>
                  <a:pt x="1607130" y="56806"/>
                </a:lnTo>
                <a:lnTo>
                  <a:pt x="1612597" y="56806"/>
                </a:lnTo>
                <a:lnTo>
                  <a:pt x="1618063" y="56806"/>
                </a:lnTo>
                <a:lnTo>
                  <a:pt x="1623530" y="56806"/>
                </a:lnTo>
                <a:lnTo>
                  <a:pt x="1628996" y="56806"/>
                </a:lnTo>
                <a:lnTo>
                  <a:pt x="1634462" y="56806"/>
                </a:lnTo>
                <a:lnTo>
                  <a:pt x="1639929" y="56806"/>
                </a:lnTo>
                <a:lnTo>
                  <a:pt x="1645395" y="56806"/>
                </a:lnTo>
                <a:lnTo>
                  <a:pt x="1650862" y="56806"/>
                </a:lnTo>
                <a:lnTo>
                  <a:pt x="1656328" y="56806"/>
                </a:lnTo>
                <a:lnTo>
                  <a:pt x="1661795" y="60148"/>
                </a:lnTo>
                <a:lnTo>
                  <a:pt x="1667261" y="60148"/>
                </a:lnTo>
                <a:lnTo>
                  <a:pt x="1672727" y="63489"/>
                </a:lnTo>
                <a:lnTo>
                  <a:pt x="1678194" y="70172"/>
                </a:lnTo>
                <a:lnTo>
                  <a:pt x="1683660" y="73514"/>
                </a:lnTo>
                <a:lnTo>
                  <a:pt x="1689127" y="83538"/>
                </a:lnTo>
                <a:lnTo>
                  <a:pt x="1694593" y="90221"/>
                </a:lnTo>
                <a:lnTo>
                  <a:pt x="1700060" y="96904"/>
                </a:lnTo>
                <a:lnTo>
                  <a:pt x="1705526" y="103587"/>
                </a:lnTo>
                <a:lnTo>
                  <a:pt x="1710992" y="110270"/>
                </a:lnTo>
                <a:lnTo>
                  <a:pt x="1716459" y="116953"/>
                </a:lnTo>
                <a:lnTo>
                  <a:pt x="1721925" y="123636"/>
                </a:lnTo>
                <a:lnTo>
                  <a:pt x="1727392" y="130319"/>
                </a:lnTo>
                <a:lnTo>
                  <a:pt x="1732858" y="126978"/>
                </a:lnTo>
                <a:lnTo>
                  <a:pt x="1738325" y="123636"/>
                </a:lnTo>
                <a:lnTo>
                  <a:pt x="1743791" y="120295"/>
                </a:lnTo>
                <a:lnTo>
                  <a:pt x="1749258" y="120295"/>
                </a:lnTo>
                <a:lnTo>
                  <a:pt x="1754724" y="116953"/>
                </a:lnTo>
                <a:lnTo>
                  <a:pt x="1760190" y="120295"/>
                </a:lnTo>
                <a:lnTo>
                  <a:pt x="1765657" y="123636"/>
                </a:lnTo>
                <a:lnTo>
                  <a:pt x="1771123" y="126978"/>
                </a:lnTo>
                <a:lnTo>
                  <a:pt x="1776590" y="133661"/>
                </a:lnTo>
                <a:lnTo>
                  <a:pt x="1782056" y="140344"/>
                </a:lnTo>
                <a:lnTo>
                  <a:pt x="1787523" y="143685"/>
                </a:lnTo>
                <a:lnTo>
                  <a:pt x="1792989" y="153710"/>
                </a:lnTo>
                <a:lnTo>
                  <a:pt x="1798455" y="157051"/>
                </a:lnTo>
                <a:lnTo>
                  <a:pt x="1803922" y="163734"/>
                </a:lnTo>
                <a:lnTo>
                  <a:pt x="1809388" y="167076"/>
                </a:lnTo>
                <a:lnTo>
                  <a:pt x="1814855" y="170417"/>
                </a:lnTo>
                <a:lnTo>
                  <a:pt x="1820321" y="160393"/>
                </a:lnTo>
                <a:lnTo>
                  <a:pt x="1825788" y="150368"/>
                </a:lnTo>
                <a:lnTo>
                  <a:pt x="1831254" y="140344"/>
                </a:lnTo>
                <a:lnTo>
                  <a:pt x="1836720" y="137002"/>
                </a:lnTo>
                <a:lnTo>
                  <a:pt x="1842187" y="130319"/>
                </a:lnTo>
                <a:lnTo>
                  <a:pt x="1847653" y="120295"/>
                </a:lnTo>
                <a:lnTo>
                  <a:pt x="1853120" y="106929"/>
                </a:lnTo>
                <a:lnTo>
                  <a:pt x="1858586" y="96904"/>
                </a:lnTo>
                <a:lnTo>
                  <a:pt x="1864053" y="90221"/>
                </a:lnTo>
                <a:lnTo>
                  <a:pt x="1869519" y="86880"/>
                </a:lnTo>
                <a:lnTo>
                  <a:pt x="1874985" y="83538"/>
                </a:lnTo>
                <a:lnTo>
                  <a:pt x="1880452" y="83538"/>
                </a:lnTo>
                <a:lnTo>
                  <a:pt x="1885918" y="83538"/>
                </a:lnTo>
                <a:lnTo>
                  <a:pt x="1891385" y="86880"/>
                </a:lnTo>
                <a:lnTo>
                  <a:pt x="1896851" y="86880"/>
                </a:lnTo>
                <a:lnTo>
                  <a:pt x="1902318" y="86880"/>
                </a:lnTo>
                <a:lnTo>
                  <a:pt x="1907784" y="86880"/>
                </a:lnTo>
                <a:lnTo>
                  <a:pt x="1913250" y="90221"/>
                </a:lnTo>
                <a:lnTo>
                  <a:pt x="1918717" y="90221"/>
                </a:lnTo>
                <a:lnTo>
                  <a:pt x="1924183" y="86880"/>
                </a:lnTo>
                <a:lnTo>
                  <a:pt x="1929650" y="80197"/>
                </a:lnTo>
                <a:lnTo>
                  <a:pt x="1935116" y="76855"/>
                </a:lnTo>
                <a:lnTo>
                  <a:pt x="1940583" y="73514"/>
                </a:lnTo>
                <a:lnTo>
                  <a:pt x="1946049" y="73514"/>
                </a:lnTo>
                <a:lnTo>
                  <a:pt x="1951515" y="70172"/>
                </a:lnTo>
                <a:lnTo>
                  <a:pt x="1956982" y="70172"/>
                </a:lnTo>
                <a:lnTo>
                  <a:pt x="1962448" y="70172"/>
                </a:lnTo>
                <a:lnTo>
                  <a:pt x="1967915" y="70172"/>
                </a:lnTo>
                <a:lnTo>
                  <a:pt x="1973381" y="70172"/>
                </a:lnTo>
                <a:lnTo>
                  <a:pt x="1978848" y="66831"/>
                </a:lnTo>
                <a:lnTo>
                  <a:pt x="1984314" y="66831"/>
                </a:lnTo>
                <a:lnTo>
                  <a:pt x="1989780" y="63489"/>
                </a:lnTo>
                <a:lnTo>
                  <a:pt x="1995247" y="60148"/>
                </a:lnTo>
                <a:lnTo>
                  <a:pt x="2000713" y="60148"/>
                </a:lnTo>
                <a:lnTo>
                  <a:pt x="2006180" y="60148"/>
                </a:lnTo>
                <a:lnTo>
                  <a:pt x="2011646" y="60148"/>
                </a:lnTo>
                <a:lnTo>
                  <a:pt x="2017113" y="56806"/>
                </a:lnTo>
                <a:lnTo>
                  <a:pt x="2022579" y="56806"/>
                </a:lnTo>
                <a:lnTo>
                  <a:pt x="2028046" y="56806"/>
                </a:lnTo>
                <a:lnTo>
                  <a:pt x="2033512" y="56806"/>
                </a:lnTo>
                <a:lnTo>
                  <a:pt x="2038978" y="56806"/>
                </a:lnTo>
                <a:lnTo>
                  <a:pt x="2044445" y="56806"/>
                </a:lnTo>
                <a:lnTo>
                  <a:pt x="2049911" y="56806"/>
                </a:lnTo>
                <a:lnTo>
                  <a:pt x="2055378" y="56806"/>
                </a:lnTo>
                <a:lnTo>
                  <a:pt x="2060844" y="56806"/>
                </a:lnTo>
                <a:lnTo>
                  <a:pt x="2066311" y="56806"/>
                </a:lnTo>
                <a:lnTo>
                  <a:pt x="2071777" y="56806"/>
                </a:lnTo>
                <a:lnTo>
                  <a:pt x="2077243" y="53465"/>
                </a:lnTo>
                <a:lnTo>
                  <a:pt x="2082710" y="53465"/>
                </a:lnTo>
                <a:lnTo>
                  <a:pt x="2088176" y="53465"/>
                </a:lnTo>
                <a:lnTo>
                  <a:pt x="2093643" y="53465"/>
                </a:lnTo>
                <a:lnTo>
                  <a:pt x="2099109" y="53465"/>
                </a:lnTo>
                <a:lnTo>
                  <a:pt x="2104576" y="53465"/>
                </a:lnTo>
                <a:lnTo>
                  <a:pt x="2110042" y="53465"/>
                </a:lnTo>
                <a:lnTo>
                  <a:pt x="2115508" y="53465"/>
                </a:lnTo>
                <a:lnTo>
                  <a:pt x="2120975" y="53465"/>
                </a:lnTo>
                <a:lnTo>
                  <a:pt x="2126441" y="53465"/>
                </a:lnTo>
                <a:lnTo>
                  <a:pt x="2131908" y="53465"/>
                </a:lnTo>
                <a:lnTo>
                  <a:pt x="2137374" y="53465"/>
                </a:lnTo>
                <a:lnTo>
                  <a:pt x="2142841" y="53465"/>
                </a:lnTo>
                <a:lnTo>
                  <a:pt x="2148307" y="53465"/>
                </a:lnTo>
                <a:lnTo>
                  <a:pt x="2153773" y="53465"/>
                </a:lnTo>
                <a:lnTo>
                  <a:pt x="2159240" y="53465"/>
                </a:lnTo>
                <a:lnTo>
                  <a:pt x="2164706" y="53465"/>
                </a:lnTo>
                <a:lnTo>
                  <a:pt x="2170173" y="53465"/>
                </a:lnTo>
                <a:lnTo>
                  <a:pt x="2175639" y="53465"/>
                </a:lnTo>
                <a:lnTo>
                  <a:pt x="2181106" y="53465"/>
                </a:lnTo>
                <a:lnTo>
                  <a:pt x="2186572" y="50123"/>
                </a:lnTo>
                <a:lnTo>
                  <a:pt x="2192038" y="50123"/>
                </a:lnTo>
                <a:lnTo>
                  <a:pt x="2197505" y="53465"/>
                </a:lnTo>
                <a:lnTo>
                  <a:pt x="2202971" y="50123"/>
                </a:lnTo>
                <a:lnTo>
                  <a:pt x="2208438" y="53465"/>
                </a:lnTo>
                <a:lnTo>
                  <a:pt x="2213904" y="53465"/>
                </a:lnTo>
                <a:lnTo>
                  <a:pt x="2219371" y="50123"/>
                </a:lnTo>
                <a:lnTo>
                  <a:pt x="2224837" y="53465"/>
                </a:lnTo>
                <a:lnTo>
                  <a:pt x="2230303" y="53465"/>
                </a:lnTo>
                <a:lnTo>
                  <a:pt x="2235770" y="53465"/>
                </a:lnTo>
                <a:lnTo>
                  <a:pt x="2241236" y="53465"/>
                </a:lnTo>
                <a:lnTo>
                  <a:pt x="2246703" y="53465"/>
                </a:lnTo>
                <a:lnTo>
                  <a:pt x="2252169" y="50123"/>
                </a:lnTo>
                <a:lnTo>
                  <a:pt x="2257636" y="50123"/>
                </a:lnTo>
                <a:lnTo>
                  <a:pt x="2263102" y="50123"/>
                </a:lnTo>
                <a:lnTo>
                  <a:pt x="2268568" y="50123"/>
                </a:lnTo>
                <a:lnTo>
                  <a:pt x="2274035" y="50123"/>
                </a:lnTo>
                <a:lnTo>
                  <a:pt x="2279501" y="50123"/>
                </a:lnTo>
                <a:lnTo>
                  <a:pt x="2284968" y="50123"/>
                </a:lnTo>
                <a:lnTo>
                  <a:pt x="2290434" y="50123"/>
                </a:lnTo>
                <a:lnTo>
                  <a:pt x="2295901" y="50123"/>
                </a:lnTo>
                <a:lnTo>
                  <a:pt x="2301367" y="50123"/>
                </a:lnTo>
                <a:lnTo>
                  <a:pt x="2306834" y="46782"/>
                </a:lnTo>
                <a:lnTo>
                  <a:pt x="2312300" y="50123"/>
                </a:lnTo>
                <a:lnTo>
                  <a:pt x="2317766" y="46782"/>
                </a:lnTo>
                <a:lnTo>
                  <a:pt x="2323233" y="46782"/>
                </a:lnTo>
                <a:lnTo>
                  <a:pt x="2328699" y="46782"/>
                </a:lnTo>
                <a:lnTo>
                  <a:pt x="2334166" y="46782"/>
                </a:lnTo>
                <a:lnTo>
                  <a:pt x="2339632" y="46782"/>
                </a:lnTo>
                <a:lnTo>
                  <a:pt x="2345099" y="46782"/>
                </a:lnTo>
                <a:lnTo>
                  <a:pt x="2350565" y="46782"/>
                </a:lnTo>
                <a:lnTo>
                  <a:pt x="2356031" y="46782"/>
                </a:lnTo>
                <a:lnTo>
                  <a:pt x="2361498" y="46782"/>
                </a:lnTo>
                <a:lnTo>
                  <a:pt x="2366964" y="46782"/>
                </a:lnTo>
                <a:lnTo>
                  <a:pt x="2372431" y="43440"/>
                </a:lnTo>
                <a:lnTo>
                  <a:pt x="2377897" y="43440"/>
                </a:lnTo>
                <a:lnTo>
                  <a:pt x="2383364" y="46782"/>
                </a:lnTo>
                <a:lnTo>
                  <a:pt x="2388830" y="43440"/>
                </a:lnTo>
                <a:lnTo>
                  <a:pt x="2394296" y="43440"/>
                </a:lnTo>
                <a:lnTo>
                  <a:pt x="2399763" y="43440"/>
                </a:lnTo>
                <a:lnTo>
                  <a:pt x="2405229" y="43440"/>
                </a:lnTo>
                <a:lnTo>
                  <a:pt x="2410696" y="43440"/>
                </a:lnTo>
                <a:lnTo>
                  <a:pt x="2416162" y="43440"/>
                </a:lnTo>
                <a:lnTo>
                  <a:pt x="2421629" y="43440"/>
                </a:lnTo>
                <a:lnTo>
                  <a:pt x="2427095" y="43440"/>
                </a:lnTo>
                <a:lnTo>
                  <a:pt x="2432561" y="43440"/>
                </a:lnTo>
                <a:lnTo>
                  <a:pt x="2438028" y="43440"/>
                </a:lnTo>
                <a:lnTo>
                  <a:pt x="2443494" y="43440"/>
                </a:lnTo>
                <a:lnTo>
                  <a:pt x="2448961" y="43440"/>
                </a:lnTo>
                <a:lnTo>
                  <a:pt x="2454427" y="43440"/>
                </a:lnTo>
                <a:lnTo>
                  <a:pt x="2459894" y="43440"/>
                </a:lnTo>
                <a:lnTo>
                  <a:pt x="2465360" y="43440"/>
                </a:lnTo>
                <a:lnTo>
                  <a:pt x="2470826" y="43440"/>
                </a:lnTo>
                <a:lnTo>
                  <a:pt x="2476293" y="43440"/>
                </a:lnTo>
                <a:lnTo>
                  <a:pt x="2481759" y="43440"/>
                </a:lnTo>
                <a:lnTo>
                  <a:pt x="2487226" y="43440"/>
                </a:lnTo>
                <a:lnTo>
                  <a:pt x="2492692" y="43440"/>
                </a:lnTo>
                <a:lnTo>
                  <a:pt x="2498159" y="43440"/>
                </a:lnTo>
                <a:lnTo>
                  <a:pt x="2503625" y="43440"/>
                </a:lnTo>
                <a:lnTo>
                  <a:pt x="2509091" y="43440"/>
                </a:lnTo>
                <a:lnTo>
                  <a:pt x="2514558" y="43440"/>
                </a:lnTo>
                <a:lnTo>
                  <a:pt x="2520024" y="43440"/>
                </a:lnTo>
                <a:lnTo>
                  <a:pt x="2525491" y="43440"/>
                </a:lnTo>
                <a:lnTo>
                  <a:pt x="2530957" y="43440"/>
                </a:lnTo>
                <a:lnTo>
                  <a:pt x="2536424" y="43440"/>
                </a:lnTo>
                <a:lnTo>
                  <a:pt x="2541890" y="43440"/>
                </a:lnTo>
                <a:lnTo>
                  <a:pt x="2547356" y="40098"/>
                </a:lnTo>
                <a:lnTo>
                  <a:pt x="2552823" y="40098"/>
                </a:lnTo>
                <a:lnTo>
                  <a:pt x="2558289" y="40098"/>
                </a:lnTo>
                <a:lnTo>
                  <a:pt x="2563756" y="40098"/>
                </a:lnTo>
                <a:lnTo>
                  <a:pt x="2569222" y="43440"/>
                </a:lnTo>
                <a:lnTo>
                  <a:pt x="2574689" y="43440"/>
                </a:lnTo>
                <a:lnTo>
                  <a:pt x="2580155" y="43440"/>
                </a:lnTo>
                <a:lnTo>
                  <a:pt x="2585622" y="43440"/>
                </a:lnTo>
                <a:lnTo>
                  <a:pt x="2591088" y="40098"/>
                </a:lnTo>
                <a:lnTo>
                  <a:pt x="2596554" y="40098"/>
                </a:lnTo>
                <a:lnTo>
                  <a:pt x="2602021" y="40098"/>
                </a:lnTo>
                <a:lnTo>
                  <a:pt x="2607487" y="40098"/>
                </a:lnTo>
                <a:lnTo>
                  <a:pt x="2612954" y="40098"/>
                </a:lnTo>
                <a:lnTo>
                  <a:pt x="2618420" y="40098"/>
                </a:lnTo>
                <a:lnTo>
                  <a:pt x="2623887" y="40098"/>
                </a:lnTo>
                <a:lnTo>
                  <a:pt x="2629353" y="40098"/>
                </a:lnTo>
                <a:lnTo>
                  <a:pt x="2634819" y="40098"/>
                </a:lnTo>
                <a:lnTo>
                  <a:pt x="2640286" y="40098"/>
                </a:lnTo>
                <a:lnTo>
                  <a:pt x="2645752" y="40098"/>
                </a:lnTo>
                <a:lnTo>
                  <a:pt x="2651219" y="40098"/>
                </a:lnTo>
                <a:lnTo>
                  <a:pt x="2656685" y="40098"/>
                </a:lnTo>
                <a:lnTo>
                  <a:pt x="2662152" y="40098"/>
                </a:lnTo>
                <a:lnTo>
                  <a:pt x="2667618" y="40098"/>
                </a:lnTo>
                <a:lnTo>
                  <a:pt x="2673084" y="40098"/>
                </a:lnTo>
                <a:lnTo>
                  <a:pt x="2678551" y="40098"/>
                </a:lnTo>
                <a:lnTo>
                  <a:pt x="2684017" y="40098"/>
                </a:lnTo>
                <a:lnTo>
                  <a:pt x="2689484" y="40098"/>
                </a:lnTo>
                <a:lnTo>
                  <a:pt x="2694950" y="40098"/>
                </a:lnTo>
                <a:lnTo>
                  <a:pt x="2700417" y="40098"/>
                </a:lnTo>
                <a:lnTo>
                  <a:pt x="2705883" y="40098"/>
                </a:lnTo>
                <a:lnTo>
                  <a:pt x="2711349" y="40098"/>
                </a:lnTo>
                <a:lnTo>
                  <a:pt x="2716816" y="40098"/>
                </a:lnTo>
                <a:lnTo>
                  <a:pt x="2722282" y="40098"/>
                </a:lnTo>
                <a:lnTo>
                  <a:pt x="2727749" y="43440"/>
                </a:lnTo>
                <a:lnTo>
                  <a:pt x="2733215" y="43440"/>
                </a:lnTo>
                <a:lnTo>
                  <a:pt x="2738682" y="43440"/>
                </a:lnTo>
                <a:lnTo>
                  <a:pt x="2744148" y="43440"/>
                </a:lnTo>
                <a:lnTo>
                  <a:pt x="2749614" y="43440"/>
                </a:lnTo>
                <a:lnTo>
                  <a:pt x="2755081" y="43440"/>
                </a:lnTo>
                <a:lnTo>
                  <a:pt x="2760547" y="43440"/>
                </a:lnTo>
                <a:lnTo>
                  <a:pt x="2766014" y="43440"/>
                </a:lnTo>
                <a:lnTo>
                  <a:pt x="2771480" y="43440"/>
                </a:lnTo>
                <a:lnTo>
                  <a:pt x="2776947" y="43440"/>
                </a:lnTo>
                <a:lnTo>
                  <a:pt x="2782413" y="43440"/>
                </a:lnTo>
                <a:lnTo>
                  <a:pt x="2787879" y="43440"/>
                </a:lnTo>
                <a:lnTo>
                  <a:pt x="2793346" y="46782"/>
                </a:lnTo>
                <a:lnTo>
                  <a:pt x="2798812" y="46782"/>
                </a:lnTo>
                <a:lnTo>
                  <a:pt x="2804279" y="43440"/>
                </a:lnTo>
                <a:lnTo>
                  <a:pt x="2809745" y="43440"/>
                </a:lnTo>
                <a:lnTo>
                  <a:pt x="2815212" y="40098"/>
                </a:lnTo>
                <a:lnTo>
                  <a:pt x="2820678" y="40098"/>
                </a:lnTo>
                <a:lnTo>
                  <a:pt x="2826144" y="40098"/>
                </a:lnTo>
                <a:lnTo>
                  <a:pt x="2831611" y="40098"/>
                </a:lnTo>
                <a:lnTo>
                  <a:pt x="2837077" y="40098"/>
                </a:lnTo>
                <a:lnTo>
                  <a:pt x="2842544" y="36757"/>
                </a:lnTo>
                <a:lnTo>
                  <a:pt x="2848010" y="40098"/>
                </a:lnTo>
                <a:lnTo>
                  <a:pt x="2853477" y="40098"/>
                </a:lnTo>
                <a:lnTo>
                  <a:pt x="2858943" y="40098"/>
                </a:lnTo>
                <a:lnTo>
                  <a:pt x="2864410" y="40098"/>
                </a:lnTo>
                <a:lnTo>
                  <a:pt x="2869876" y="36757"/>
                </a:lnTo>
                <a:lnTo>
                  <a:pt x="2875342" y="36757"/>
                </a:lnTo>
                <a:lnTo>
                  <a:pt x="2880809" y="36757"/>
                </a:lnTo>
                <a:lnTo>
                  <a:pt x="2886275" y="36757"/>
                </a:lnTo>
                <a:lnTo>
                  <a:pt x="2891742" y="36757"/>
                </a:lnTo>
                <a:lnTo>
                  <a:pt x="2897208" y="36757"/>
                </a:lnTo>
                <a:lnTo>
                  <a:pt x="2902675" y="36757"/>
                </a:lnTo>
                <a:lnTo>
                  <a:pt x="2908141" y="36757"/>
                </a:lnTo>
                <a:lnTo>
                  <a:pt x="2913607" y="33415"/>
                </a:lnTo>
                <a:lnTo>
                  <a:pt x="2919074" y="33415"/>
                </a:lnTo>
                <a:lnTo>
                  <a:pt x="2924540" y="33415"/>
                </a:lnTo>
                <a:lnTo>
                  <a:pt x="2930007" y="33415"/>
                </a:lnTo>
                <a:lnTo>
                  <a:pt x="2935473" y="33415"/>
                </a:lnTo>
                <a:lnTo>
                  <a:pt x="2940940" y="30074"/>
                </a:lnTo>
                <a:lnTo>
                  <a:pt x="2946406" y="30074"/>
                </a:lnTo>
                <a:lnTo>
                  <a:pt x="2951872" y="30074"/>
                </a:lnTo>
                <a:lnTo>
                  <a:pt x="2957339" y="30074"/>
                </a:lnTo>
                <a:lnTo>
                  <a:pt x="2962805" y="30074"/>
                </a:lnTo>
                <a:lnTo>
                  <a:pt x="2968272" y="30074"/>
                </a:lnTo>
                <a:lnTo>
                  <a:pt x="2973738" y="26732"/>
                </a:lnTo>
                <a:lnTo>
                  <a:pt x="2979205" y="26732"/>
                </a:lnTo>
                <a:lnTo>
                  <a:pt x="2984671" y="26732"/>
                </a:lnTo>
                <a:lnTo>
                  <a:pt x="2990137" y="26732"/>
                </a:lnTo>
                <a:lnTo>
                  <a:pt x="2995604" y="23391"/>
                </a:lnTo>
                <a:lnTo>
                  <a:pt x="3001070" y="23391"/>
                </a:lnTo>
                <a:lnTo>
                  <a:pt x="3006537" y="23391"/>
                </a:lnTo>
                <a:lnTo>
                  <a:pt x="3012003" y="26732"/>
                </a:lnTo>
                <a:lnTo>
                  <a:pt x="3017470" y="26732"/>
                </a:lnTo>
                <a:lnTo>
                  <a:pt x="3022936" y="26732"/>
                </a:lnTo>
                <a:lnTo>
                  <a:pt x="3028402" y="26732"/>
                </a:lnTo>
                <a:lnTo>
                  <a:pt x="3033869" y="23391"/>
                </a:lnTo>
                <a:lnTo>
                  <a:pt x="3039335" y="23391"/>
                </a:lnTo>
                <a:lnTo>
                  <a:pt x="3044802" y="20049"/>
                </a:lnTo>
                <a:lnTo>
                  <a:pt x="3050268" y="20049"/>
                </a:lnTo>
                <a:lnTo>
                  <a:pt x="3055735" y="20049"/>
                </a:lnTo>
                <a:lnTo>
                  <a:pt x="3061201" y="16708"/>
                </a:lnTo>
                <a:lnTo>
                  <a:pt x="3066667" y="13366"/>
                </a:lnTo>
                <a:lnTo>
                  <a:pt x="3072134" y="13366"/>
                </a:lnTo>
                <a:lnTo>
                  <a:pt x="3077600" y="13366"/>
                </a:lnTo>
                <a:lnTo>
                  <a:pt x="3083067" y="13366"/>
                </a:lnTo>
                <a:lnTo>
                  <a:pt x="3088533" y="13366"/>
                </a:lnTo>
                <a:lnTo>
                  <a:pt x="3094000" y="16708"/>
                </a:lnTo>
                <a:lnTo>
                  <a:pt x="3099466" y="16708"/>
                </a:lnTo>
                <a:lnTo>
                  <a:pt x="3104932" y="16708"/>
                </a:lnTo>
                <a:lnTo>
                  <a:pt x="3110399" y="20049"/>
                </a:lnTo>
                <a:lnTo>
                  <a:pt x="3115865" y="23391"/>
                </a:lnTo>
                <a:lnTo>
                  <a:pt x="3121332" y="23391"/>
                </a:lnTo>
                <a:lnTo>
                  <a:pt x="3126798" y="23391"/>
                </a:lnTo>
                <a:lnTo>
                  <a:pt x="3132265" y="23391"/>
                </a:lnTo>
                <a:lnTo>
                  <a:pt x="3137731" y="26732"/>
                </a:lnTo>
                <a:lnTo>
                  <a:pt x="3143197" y="26732"/>
                </a:lnTo>
                <a:lnTo>
                  <a:pt x="3148664" y="30074"/>
                </a:lnTo>
                <a:lnTo>
                  <a:pt x="3154130" y="30074"/>
                </a:lnTo>
                <a:lnTo>
                  <a:pt x="3159597" y="30074"/>
                </a:lnTo>
                <a:lnTo>
                  <a:pt x="3165063" y="30074"/>
                </a:lnTo>
                <a:lnTo>
                  <a:pt x="3170530" y="26732"/>
                </a:lnTo>
                <a:lnTo>
                  <a:pt x="3175996" y="26732"/>
                </a:lnTo>
                <a:lnTo>
                  <a:pt x="3181463" y="26732"/>
                </a:lnTo>
                <a:lnTo>
                  <a:pt x="3186929" y="26732"/>
                </a:lnTo>
                <a:lnTo>
                  <a:pt x="3192395" y="30074"/>
                </a:lnTo>
                <a:lnTo>
                  <a:pt x="3197862" y="26732"/>
                </a:lnTo>
                <a:lnTo>
                  <a:pt x="3203328" y="26732"/>
                </a:lnTo>
                <a:lnTo>
                  <a:pt x="3208795" y="26732"/>
                </a:lnTo>
                <a:lnTo>
                  <a:pt x="3214261" y="26732"/>
                </a:lnTo>
                <a:lnTo>
                  <a:pt x="3219728" y="26732"/>
                </a:lnTo>
                <a:lnTo>
                  <a:pt x="3225194" y="26732"/>
                </a:lnTo>
                <a:lnTo>
                  <a:pt x="3230660" y="23391"/>
                </a:lnTo>
                <a:lnTo>
                  <a:pt x="3236127" y="23391"/>
                </a:lnTo>
                <a:lnTo>
                  <a:pt x="3241593" y="26732"/>
                </a:lnTo>
                <a:lnTo>
                  <a:pt x="3247060" y="26732"/>
                </a:lnTo>
                <a:lnTo>
                  <a:pt x="3252526" y="26732"/>
                </a:lnTo>
                <a:lnTo>
                  <a:pt x="3257993" y="23391"/>
                </a:lnTo>
                <a:lnTo>
                  <a:pt x="3263459" y="23391"/>
                </a:lnTo>
                <a:lnTo>
                  <a:pt x="3268925" y="20049"/>
                </a:lnTo>
                <a:lnTo>
                  <a:pt x="3274392" y="16708"/>
                </a:lnTo>
                <a:lnTo>
                  <a:pt x="3279858" y="16708"/>
                </a:lnTo>
                <a:lnTo>
                  <a:pt x="3285325" y="16708"/>
                </a:lnTo>
                <a:lnTo>
                  <a:pt x="3290791" y="16708"/>
                </a:lnTo>
                <a:lnTo>
                  <a:pt x="3296258" y="20049"/>
                </a:lnTo>
                <a:lnTo>
                  <a:pt x="3301724" y="20049"/>
                </a:lnTo>
                <a:lnTo>
                  <a:pt x="3307190" y="20049"/>
                </a:lnTo>
                <a:lnTo>
                  <a:pt x="3312657" y="20049"/>
                </a:lnTo>
                <a:lnTo>
                  <a:pt x="3318123" y="20049"/>
                </a:lnTo>
                <a:lnTo>
                  <a:pt x="3323590" y="16708"/>
                </a:lnTo>
                <a:lnTo>
                  <a:pt x="3329056" y="16708"/>
                </a:lnTo>
                <a:lnTo>
                  <a:pt x="3334523" y="20049"/>
                </a:lnTo>
                <a:lnTo>
                  <a:pt x="3339989" y="23391"/>
                </a:lnTo>
                <a:lnTo>
                  <a:pt x="3345455" y="23391"/>
                </a:lnTo>
                <a:lnTo>
                  <a:pt x="3350922" y="26732"/>
                </a:lnTo>
                <a:lnTo>
                  <a:pt x="3356388" y="23391"/>
                </a:lnTo>
                <a:lnTo>
                  <a:pt x="3361855" y="23391"/>
                </a:lnTo>
                <a:lnTo>
                  <a:pt x="3367321" y="20049"/>
                </a:lnTo>
                <a:lnTo>
                  <a:pt x="3372788" y="20049"/>
                </a:lnTo>
                <a:lnTo>
                  <a:pt x="3378254" y="20049"/>
                </a:lnTo>
                <a:lnTo>
                  <a:pt x="3383720" y="20049"/>
                </a:lnTo>
                <a:lnTo>
                  <a:pt x="3389187" y="23391"/>
                </a:lnTo>
                <a:lnTo>
                  <a:pt x="3394653" y="23391"/>
                </a:lnTo>
                <a:lnTo>
                  <a:pt x="3400120" y="23391"/>
                </a:lnTo>
                <a:lnTo>
                  <a:pt x="3405586" y="20049"/>
                </a:lnTo>
                <a:lnTo>
                  <a:pt x="3411053" y="20049"/>
                </a:lnTo>
                <a:lnTo>
                  <a:pt x="3416519" y="23391"/>
                </a:lnTo>
                <a:lnTo>
                  <a:pt x="3421985" y="23391"/>
                </a:lnTo>
                <a:lnTo>
                  <a:pt x="3427452" y="23391"/>
                </a:lnTo>
                <a:lnTo>
                  <a:pt x="3432918" y="23391"/>
                </a:lnTo>
                <a:lnTo>
                  <a:pt x="3438385" y="23391"/>
                </a:lnTo>
                <a:lnTo>
                  <a:pt x="3443851" y="23391"/>
                </a:lnTo>
                <a:lnTo>
                  <a:pt x="3449318" y="26732"/>
                </a:lnTo>
                <a:lnTo>
                  <a:pt x="3454784" y="26732"/>
                </a:lnTo>
                <a:lnTo>
                  <a:pt x="3460251" y="26732"/>
                </a:lnTo>
                <a:lnTo>
                  <a:pt x="3465717" y="26732"/>
                </a:lnTo>
                <a:lnTo>
                  <a:pt x="3471183" y="26732"/>
                </a:lnTo>
                <a:lnTo>
                  <a:pt x="3476650" y="26732"/>
                </a:lnTo>
                <a:lnTo>
                  <a:pt x="3482116" y="26732"/>
                </a:lnTo>
                <a:lnTo>
                  <a:pt x="3487583" y="30074"/>
                </a:lnTo>
                <a:lnTo>
                  <a:pt x="3493049" y="26732"/>
                </a:lnTo>
                <a:lnTo>
                  <a:pt x="3498516" y="30074"/>
                </a:lnTo>
                <a:lnTo>
                  <a:pt x="3503982" y="26732"/>
                </a:lnTo>
                <a:lnTo>
                  <a:pt x="3509448" y="26732"/>
                </a:lnTo>
                <a:lnTo>
                  <a:pt x="3514915" y="26732"/>
                </a:lnTo>
                <a:lnTo>
                  <a:pt x="3520381" y="30074"/>
                </a:lnTo>
                <a:lnTo>
                  <a:pt x="3525848" y="30074"/>
                </a:lnTo>
                <a:lnTo>
                  <a:pt x="3531314" y="30074"/>
                </a:lnTo>
                <a:lnTo>
                  <a:pt x="3536781" y="30074"/>
                </a:lnTo>
                <a:lnTo>
                  <a:pt x="3542247" y="30074"/>
                </a:lnTo>
                <a:lnTo>
                  <a:pt x="3547713" y="30074"/>
                </a:lnTo>
                <a:lnTo>
                  <a:pt x="3553180" y="30074"/>
                </a:lnTo>
                <a:lnTo>
                  <a:pt x="3558646" y="30074"/>
                </a:lnTo>
                <a:lnTo>
                  <a:pt x="3564113" y="30074"/>
                </a:lnTo>
                <a:lnTo>
                  <a:pt x="3569579" y="33415"/>
                </a:lnTo>
                <a:lnTo>
                  <a:pt x="3575046" y="33415"/>
                </a:lnTo>
                <a:lnTo>
                  <a:pt x="3580512" y="30074"/>
                </a:lnTo>
                <a:lnTo>
                  <a:pt x="3585978" y="30074"/>
                </a:lnTo>
                <a:lnTo>
                  <a:pt x="3591445" y="33415"/>
                </a:lnTo>
                <a:lnTo>
                  <a:pt x="3596911" y="33415"/>
                </a:lnTo>
                <a:lnTo>
                  <a:pt x="3602378" y="33415"/>
                </a:lnTo>
                <a:lnTo>
                  <a:pt x="3607844" y="33415"/>
                </a:lnTo>
                <a:lnTo>
                  <a:pt x="3613311" y="33415"/>
                </a:lnTo>
                <a:lnTo>
                  <a:pt x="3618777" y="33415"/>
                </a:lnTo>
                <a:lnTo>
                  <a:pt x="3624243" y="33415"/>
                </a:lnTo>
                <a:lnTo>
                  <a:pt x="3629710" y="33415"/>
                </a:lnTo>
                <a:lnTo>
                  <a:pt x="3635176" y="36757"/>
                </a:lnTo>
                <a:lnTo>
                  <a:pt x="3640643" y="36757"/>
                </a:lnTo>
                <a:lnTo>
                  <a:pt x="3646109" y="36757"/>
                </a:lnTo>
                <a:lnTo>
                  <a:pt x="3651576" y="36757"/>
                </a:lnTo>
                <a:lnTo>
                  <a:pt x="3657042" y="36757"/>
                </a:lnTo>
                <a:lnTo>
                  <a:pt x="3662508" y="40098"/>
                </a:lnTo>
                <a:lnTo>
                  <a:pt x="3667975" y="36757"/>
                </a:lnTo>
                <a:lnTo>
                  <a:pt x="3673441" y="36757"/>
                </a:lnTo>
                <a:lnTo>
                  <a:pt x="3678908" y="40098"/>
                </a:lnTo>
                <a:lnTo>
                  <a:pt x="3684374" y="40098"/>
                </a:lnTo>
                <a:lnTo>
                  <a:pt x="3689841" y="43440"/>
                </a:lnTo>
                <a:lnTo>
                  <a:pt x="3695307" y="43440"/>
                </a:lnTo>
                <a:lnTo>
                  <a:pt x="3700773" y="43440"/>
                </a:lnTo>
                <a:lnTo>
                  <a:pt x="3706240" y="43440"/>
                </a:lnTo>
                <a:lnTo>
                  <a:pt x="3711706" y="43440"/>
                </a:lnTo>
                <a:lnTo>
                  <a:pt x="3717173" y="43440"/>
                </a:lnTo>
                <a:lnTo>
                  <a:pt x="3722639" y="43440"/>
                </a:lnTo>
                <a:lnTo>
                  <a:pt x="3728106" y="43440"/>
                </a:lnTo>
                <a:lnTo>
                  <a:pt x="3733572" y="46782"/>
                </a:lnTo>
                <a:lnTo>
                  <a:pt x="3739039" y="46782"/>
                </a:lnTo>
                <a:lnTo>
                  <a:pt x="3744505" y="46782"/>
                </a:lnTo>
                <a:lnTo>
                  <a:pt x="3749971" y="50123"/>
                </a:lnTo>
                <a:lnTo>
                  <a:pt x="3755438" y="50123"/>
                </a:lnTo>
                <a:lnTo>
                  <a:pt x="3760904" y="53465"/>
                </a:lnTo>
                <a:lnTo>
                  <a:pt x="3766371" y="56806"/>
                </a:lnTo>
                <a:lnTo>
                  <a:pt x="3771837" y="60148"/>
                </a:lnTo>
                <a:lnTo>
                  <a:pt x="3777304" y="60148"/>
                </a:lnTo>
                <a:lnTo>
                  <a:pt x="3782770" y="63489"/>
                </a:lnTo>
                <a:lnTo>
                  <a:pt x="3788236" y="63489"/>
                </a:lnTo>
                <a:lnTo>
                  <a:pt x="3793703" y="63489"/>
                </a:lnTo>
                <a:lnTo>
                  <a:pt x="3799169" y="63489"/>
                </a:lnTo>
                <a:lnTo>
                  <a:pt x="3804636" y="63489"/>
                </a:lnTo>
                <a:lnTo>
                  <a:pt x="3810102" y="63489"/>
                </a:lnTo>
                <a:lnTo>
                  <a:pt x="3815569" y="63489"/>
                </a:lnTo>
                <a:lnTo>
                  <a:pt x="3821035" y="63489"/>
                </a:lnTo>
                <a:lnTo>
                  <a:pt x="3826501" y="66831"/>
                </a:lnTo>
                <a:lnTo>
                  <a:pt x="3831968" y="73514"/>
                </a:lnTo>
                <a:lnTo>
                  <a:pt x="3837434" y="76855"/>
                </a:lnTo>
                <a:lnTo>
                  <a:pt x="3842901" y="86880"/>
                </a:lnTo>
                <a:lnTo>
                  <a:pt x="3848367" y="113612"/>
                </a:lnTo>
                <a:lnTo>
                  <a:pt x="3853834" y="153710"/>
                </a:lnTo>
                <a:lnTo>
                  <a:pt x="3859300" y="180442"/>
                </a:lnTo>
                <a:lnTo>
                  <a:pt x="3864766" y="200491"/>
                </a:lnTo>
                <a:lnTo>
                  <a:pt x="3870233" y="217199"/>
                </a:lnTo>
                <a:lnTo>
                  <a:pt x="3875699" y="227223"/>
                </a:lnTo>
                <a:lnTo>
                  <a:pt x="3881166" y="253955"/>
                </a:lnTo>
                <a:lnTo>
                  <a:pt x="3886632" y="290712"/>
                </a:lnTo>
                <a:lnTo>
                  <a:pt x="3892099" y="284029"/>
                </a:lnTo>
                <a:lnTo>
                  <a:pt x="3897565" y="267321"/>
                </a:lnTo>
                <a:lnTo>
                  <a:pt x="3903031" y="257297"/>
                </a:lnTo>
                <a:lnTo>
                  <a:pt x="3908498" y="240589"/>
                </a:lnTo>
                <a:lnTo>
                  <a:pt x="3913964" y="223882"/>
                </a:lnTo>
                <a:lnTo>
                  <a:pt x="3919431" y="203833"/>
                </a:lnTo>
                <a:lnTo>
                  <a:pt x="3924897" y="180442"/>
                </a:lnTo>
                <a:lnTo>
                  <a:pt x="3930364" y="163734"/>
                </a:lnTo>
                <a:lnTo>
                  <a:pt x="3935830" y="153710"/>
                </a:lnTo>
                <a:lnTo>
                  <a:pt x="3941296" y="147027"/>
                </a:lnTo>
                <a:lnTo>
                  <a:pt x="3946763" y="140344"/>
                </a:lnTo>
                <a:lnTo>
                  <a:pt x="3952229" y="133661"/>
                </a:lnTo>
                <a:lnTo>
                  <a:pt x="3957696" y="126978"/>
                </a:lnTo>
                <a:lnTo>
                  <a:pt x="3963162" y="126978"/>
                </a:lnTo>
                <a:lnTo>
                  <a:pt x="3968629" y="120295"/>
                </a:lnTo>
                <a:lnTo>
                  <a:pt x="3974095" y="113612"/>
                </a:lnTo>
                <a:lnTo>
                  <a:pt x="3979561" y="113612"/>
                </a:lnTo>
                <a:lnTo>
                  <a:pt x="3985028" y="110270"/>
                </a:lnTo>
                <a:lnTo>
                  <a:pt x="3990494" y="106929"/>
                </a:lnTo>
                <a:lnTo>
                  <a:pt x="3995961" y="103587"/>
                </a:lnTo>
                <a:lnTo>
                  <a:pt x="4001427" y="103587"/>
                </a:lnTo>
                <a:lnTo>
                  <a:pt x="4006894" y="100246"/>
                </a:lnTo>
                <a:lnTo>
                  <a:pt x="4012360" y="96904"/>
                </a:lnTo>
                <a:lnTo>
                  <a:pt x="4017827" y="93563"/>
                </a:lnTo>
                <a:lnTo>
                  <a:pt x="4023293" y="93563"/>
                </a:lnTo>
                <a:lnTo>
                  <a:pt x="4028759" y="90221"/>
                </a:lnTo>
                <a:lnTo>
                  <a:pt x="4034226" y="90221"/>
                </a:lnTo>
                <a:lnTo>
                  <a:pt x="4039692" y="90221"/>
                </a:lnTo>
                <a:lnTo>
                  <a:pt x="4045159" y="86880"/>
                </a:lnTo>
                <a:lnTo>
                  <a:pt x="4050625" y="86880"/>
                </a:lnTo>
                <a:lnTo>
                  <a:pt x="4056092" y="86880"/>
                </a:lnTo>
                <a:lnTo>
                  <a:pt x="4061558" y="83538"/>
                </a:lnTo>
                <a:lnTo>
                  <a:pt x="4067024" y="80197"/>
                </a:lnTo>
                <a:lnTo>
                  <a:pt x="4072491" y="83538"/>
                </a:lnTo>
                <a:lnTo>
                  <a:pt x="4077957" y="83538"/>
                </a:lnTo>
                <a:lnTo>
                  <a:pt x="4083424" y="83538"/>
                </a:lnTo>
                <a:lnTo>
                  <a:pt x="4088890" y="86880"/>
                </a:lnTo>
                <a:lnTo>
                  <a:pt x="4094357" y="86880"/>
                </a:lnTo>
                <a:lnTo>
                  <a:pt x="4099823" y="86880"/>
                </a:lnTo>
                <a:lnTo>
                  <a:pt x="4105289" y="86880"/>
                </a:lnTo>
                <a:lnTo>
                  <a:pt x="4110756" y="86880"/>
                </a:lnTo>
                <a:lnTo>
                  <a:pt x="4116222" y="83538"/>
                </a:lnTo>
                <a:lnTo>
                  <a:pt x="4121689" y="83538"/>
                </a:lnTo>
                <a:lnTo>
                  <a:pt x="4127155" y="83538"/>
                </a:lnTo>
                <a:lnTo>
                  <a:pt x="4132622" y="83538"/>
                </a:lnTo>
                <a:lnTo>
                  <a:pt x="4138088" y="83538"/>
                </a:lnTo>
                <a:lnTo>
                  <a:pt x="4143554" y="83538"/>
                </a:lnTo>
                <a:lnTo>
                  <a:pt x="4149021" y="83538"/>
                </a:lnTo>
                <a:lnTo>
                  <a:pt x="4154487" y="86880"/>
                </a:lnTo>
                <a:lnTo>
                  <a:pt x="4159954" y="83538"/>
                </a:lnTo>
                <a:lnTo>
                  <a:pt x="4165420" y="86880"/>
                </a:lnTo>
                <a:lnTo>
                  <a:pt x="4170887" y="86880"/>
                </a:lnTo>
                <a:lnTo>
                  <a:pt x="4176353" y="86880"/>
                </a:lnTo>
                <a:lnTo>
                  <a:pt x="4181819" y="86880"/>
                </a:lnTo>
                <a:lnTo>
                  <a:pt x="4187286" y="90221"/>
                </a:lnTo>
                <a:lnTo>
                  <a:pt x="4192752" y="90221"/>
                </a:lnTo>
                <a:lnTo>
                  <a:pt x="4198219" y="90221"/>
                </a:lnTo>
                <a:lnTo>
                  <a:pt x="4203685" y="86880"/>
                </a:lnTo>
                <a:lnTo>
                  <a:pt x="4209152" y="86880"/>
                </a:lnTo>
                <a:lnTo>
                  <a:pt x="4214618" y="90221"/>
                </a:lnTo>
                <a:lnTo>
                  <a:pt x="4220084" y="90221"/>
                </a:lnTo>
                <a:lnTo>
                  <a:pt x="4225551" y="93563"/>
                </a:lnTo>
                <a:lnTo>
                  <a:pt x="4231017" y="100246"/>
                </a:lnTo>
                <a:lnTo>
                  <a:pt x="4236484" y="103587"/>
                </a:lnTo>
                <a:lnTo>
                  <a:pt x="4241950" y="106929"/>
                </a:lnTo>
                <a:lnTo>
                  <a:pt x="4247417" y="120295"/>
                </a:lnTo>
                <a:lnTo>
                  <a:pt x="4252883" y="140344"/>
                </a:lnTo>
                <a:lnTo>
                  <a:pt x="4258349" y="173759"/>
                </a:lnTo>
                <a:lnTo>
                  <a:pt x="4263816" y="220540"/>
                </a:lnTo>
                <a:lnTo>
                  <a:pt x="4269282" y="230565"/>
                </a:lnTo>
                <a:lnTo>
                  <a:pt x="4274749" y="240589"/>
                </a:lnTo>
                <a:lnTo>
                  <a:pt x="4280215" y="263980"/>
                </a:lnTo>
                <a:lnTo>
                  <a:pt x="4285682" y="287370"/>
                </a:lnTo>
                <a:lnTo>
                  <a:pt x="4291148" y="314102"/>
                </a:lnTo>
                <a:lnTo>
                  <a:pt x="4296615" y="320785"/>
                </a:lnTo>
                <a:lnTo>
                  <a:pt x="4302081" y="304078"/>
                </a:lnTo>
                <a:lnTo>
                  <a:pt x="4307547" y="287370"/>
                </a:lnTo>
                <a:lnTo>
                  <a:pt x="4313014" y="274004"/>
                </a:lnTo>
                <a:lnTo>
                  <a:pt x="4318480" y="247272"/>
                </a:lnTo>
                <a:lnTo>
                  <a:pt x="4323947" y="217199"/>
                </a:lnTo>
                <a:lnTo>
                  <a:pt x="4329413" y="197150"/>
                </a:lnTo>
                <a:lnTo>
                  <a:pt x="4334880" y="183783"/>
                </a:lnTo>
                <a:lnTo>
                  <a:pt x="4340346" y="167076"/>
                </a:lnTo>
                <a:lnTo>
                  <a:pt x="4345812" y="173759"/>
                </a:lnTo>
                <a:lnTo>
                  <a:pt x="4351279" y="177100"/>
                </a:lnTo>
                <a:lnTo>
                  <a:pt x="4356745" y="180442"/>
                </a:lnTo>
                <a:lnTo>
                  <a:pt x="4362212" y="183783"/>
                </a:lnTo>
                <a:lnTo>
                  <a:pt x="4367678" y="190466"/>
                </a:lnTo>
                <a:lnTo>
                  <a:pt x="4373145" y="187125"/>
                </a:lnTo>
                <a:lnTo>
                  <a:pt x="4378611" y="183783"/>
                </a:lnTo>
                <a:lnTo>
                  <a:pt x="4384077" y="180442"/>
                </a:lnTo>
                <a:lnTo>
                  <a:pt x="4389544" y="170417"/>
                </a:lnTo>
                <a:lnTo>
                  <a:pt x="4395010" y="173759"/>
                </a:lnTo>
                <a:lnTo>
                  <a:pt x="4400477" y="173759"/>
                </a:lnTo>
                <a:lnTo>
                  <a:pt x="4405943" y="177100"/>
                </a:lnTo>
                <a:lnTo>
                  <a:pt x="4411410" y="180442"/>
                </a:lnTo>
                <a:lnTo>
                  <a:pt x="4416876" y="183783"/>
                </a:lnTo>
                <a:lnTo>
                  <a:pt x="4422342" y="203833"/>
                </a:lnTo>
                <a:lnTo>
                  <a:pt x="4427809" y="227223"/>
                </a:lnTo>
                <a:lnTo>
                  <a:pt x="4433275" y="237248"/>
                </a:lnTo>
                <a:lnTo>
                  <a:pt x="4438742" y="243931"/>
                </a:lnTo>
                <a:lnTo>
                  <a:pt x="4444208" y="250614"/>
                </a:lnTo>
                <a:lnTo>
                  <a:pt x="4449675" y="257297"/>
                </a:lnTo>
                <a:lnTo>
                  <a:pt x="4455141" y="274004"/>
                </a:lnTo>
                <a:lnTo>
                  <a:pt x="4460607" y="294053"/>
                </a:lnTo>
                <a:lnTo>
                  <a:pt x="4466074" y="284029"/>
                </a:lnTo>
                <a:lnTo>
                  <a:pt x="4471540" y="274004"/>
                </a:lnTo>
                <a:lnTo>
                  <a:pt x="4477007" y="267321"/>
                </a:lnTo>
                <a:lnTo>
                  <a:pt x="4482473" y="260638"/>
                </a:lnTo>
                <a:lnTo>
                  <a:pt x="4487940" y="247272"/>
                </a:lnTo>
                <a:lnTo>
                  <a:pt x="4493406" y="230565"/>
                </a:lnTo>
                <a:lnTo>
                  <a:pt x="4498872" y="217199"/>
                </a:lnTo>
                <a:lnTo>
                  <a:pt x="4504339" y="203833"/>
                </a:lnTo>
                <a:lnTo>
                  <a:pt x="4509805" y="197150"/>
                </a:lnTo>
                <a:lnTo>
                  <a:pt x="4515272" y="190466"/>
                </a:lnTo>
                <a:lnTo>
                  <a:pt x="4520738" y="183783"/>
                </a:lnTo>
                <a:lnTo>
                  <a:pt x="4526205" y="180442"/>
                </a:lnTo>
                <a:lnTo>
                  <a:pt x="4531671" y="190466"/>
                </a:lnTo>
                <a:lnTo>
                  <a:pt x="4537137" y="207174"/>
                </a:lnTo>
                <a:lnTo>
                  <a:pt x="4542604" y="233906"/>
                </a:lnTo>
                <a:lnTo>
                  <a:pt x="4548070" y="274004"/>
                </a:lnTo>
                <a:lnTo>
                  <a:pt x="4553537" y="314102"/>
                </a:lnTo>
                <a:lnTo>
                  <a:pt x="4559003" y="344176"/>
                </a:lnTo>
                <a:lnTo>
                  <a:pt x="4564470" y="364225"/>
                </a:lnTo>
                <a:lnTo>
                  <a:pt x="4569936" y="384274"/>
                </a:lnTo>
                <a:lnTo>
                  <a:pt x="4575402" y="411006"/>
                </a:lnTo>
                <a:lnTo>
                  <a:pt x="4580869" y="447763"/>
                </a:lnTo>
                <a:lnTo>
                  <a:pt x="4586335" y="481178"/>
                </a:lnTo>
                <a:lnTo>
                  <a:pt x="4591802" y="491202"/>
                </a:lnTo>
                <a:lnTo>
                  <a:pt x="4597268" y="477836"/>
                </a:lnTo>
                <a:lnTo>
                  <a:pt x="4602735" y="457787"/>
                </a:lnTo>
                <a:lnTo>
                  <a:pt x="4608201" y="434397"/>
                </a:lnTo>
                <a:lnTo>
                  <a:pt x="4613668" y="407665"/>
                </a:lnTo>
                <a:lnTo>
                  <a:pt x="4619134" y="377591"/>
                </a:lnTo>
                <a:lnTo>
                  <a:pt x="4624600" y="357542"/>
                </a:lnTo>
                <a:lnTo>
                  <a:pt x="4630067" y="337493"/>
                </a:lnTo>
                <a:lnTo>
                  <a:pt x="4635533" y="320785"/>
                </a:lnTo>
                <a:lnTo>
                  <a:pt x="4641000" y="304078"/>
                </a:lnTo>
                <a:lnTo>
                  <a:pt x="4646466" y="280687"/>
                </a:lnTo>
                <a:lnTo>
                  <a:pt x="4651933" y="253955"/>
                </a:lnTo>
                <a:lnTo>
                  <a:pt x="4657399" y="243931"/>
                </a:lnTo>
                <a:lnTo>
                  <a:pt x="4662865" y="243931"/>
                </a:lnTo>
                <a:lnTo>
                  <a:pt x="4668332" y="247272"/>
                </a:lnTo>
                <a:lnTo>
                  <a:pt x="4673798" y="247272"/>
                </a:lnTo>
                <a:lnTo>
                  <a:pt x="4679265" y="237248"/>
                </a:lnTo>
                <a:lnTo>
                  <a:pt x="4684731" y="230565"/>
                </a:lnTo>
                <a:lnTo>
                  <a:pt x="4690198" y="223882"/>
                </a:lnTo>
                <a:lnTo>
                  <a:pt x="4695664" y="217199"/>
                </a:lnTo>
                <a:lnTo>
                  <a:pt x="4701130" y="210516"/>
                </a:lnTo>
                <a:lnTo>
                  <a:pt x="4706597" y="200491"/>
                </a:lnTo>
                <a:lnTo>
                  <a:pt x="4712063" y="190466"/>
                </a:lnTo>
                <a:lnTo>
                  <a:pt x="4717530" y="180442"/>
                </a:lnTo>
                <a:lnTo>
                  <a:pt x="4722996" y="170417"/>
                </a:lnTo>
                <a:lnTo>
                  <a:pt x="4728463" y="160393"/>
                </a:lnTo>
                <a:lnTo>
                  <a:pt x="4733929" y="157051"/>
                </a:lnTo>
                <a:lnTo>
                  <a:pt x="4739395" y="150368"/>
                </a:lnTo>
                <a:lnTo>
                  <a:pt x="4744862" y="147027"/>
                </a:lnTo>
                <a:lnTo>
                  <a:pt x="4750328" y="143685"/>
                </a:lnTo>
                <a:lnTo>
                  <a:pt x="4755795" y="137002"/>
                </a:lnTo>
                <a:lnTo>
                  <a:pt x="4761261" y="133661"/>
                </a:lnTo>
                <a:lnTo>
                  <a:pt x="4766728" y="137002"/>
                </a:lnTo>
                <a:lnTo>
                  <a:pt x="4772194" y="143685"/>
                </a:lnTo>
                <a:lnTo>
                  <a:pt x="4777660" y="153710"/>
                </a:lnTo>
                <a:lnTo>
                  <a:pt x="4783127" y="163734"/>
                </a:lnTo>
                <a:lnTo>
                  <a:pt x="4788593" y="173759"/>
                </a:lnTo>
                <a:lnTo>
                  <a:pt x="4794060" y="183783"/>
                </a:lnTo>
                <a:lnTo>
                  <a:pt x="4799526" y="197150"/>
                </a:lnTo>
                <a:lnTo>
                  <a:pt x="4804993" y="213857"/>
                </a:lnTo>
                <a:lnTo>
                  <a:pt x="4810459" y="233906"/>
                </a:lnTo>
                <a:lnTo>
                  <a:pt x="4815925" y="257297"/>
                </a:lnTo>
                <a:lnTo>
                  <a:pt x="4821392" y="280687"/>
                </a:lnTo>
                <a:lnTo>
                  <a:pt x="4826858" y="297395"/>
                </a:lnTo>
                <a:lnTo>
                  <a:pt x="4832325" y="317444"/>
                </a:lnTo>
                <a:lnTo>
                  <a:pt x="4837791" y="334151"/>
                </a:lnTo>
                <a:lnTo>
                  <a:pt x="4843258" y="350859"/>
                </a:lnTo>
                <a:lnTo>
                  <a:pt x="4848724" y="367567"/>
                </a:lnTo>
                <a:lnTo>
                  <a:pt x="4854190" y="380933"/>
                </a:lnTo>
                <a:lnTo>
                  <a:pt x="4859657" y="380933"/>
                </a:lnTo>
                <a:lnTo>
                  <a:pt x="4865123" y="374250"/>
                </a:lnTo>
                <a:lnTo>
                  <a:pt x="4870590" y="367567"/>
                </a:lnTo>
                <a:lnTo>
                  <a:pt x="4876056" y="360884"/>
                </a:lnTo>
                <a:lnTo>
                  <a:pt x="4881523" y="350859"/>
                </a:lnTo>
                <a:lnTo>
                  <a:pt x="4886989" y="340834"/>
                </a:lnTo>
                <a:lnTo>
                  <a:pt x="4892456" y="330810"/>
                </a:lnTo>
                <a:lnTo>
                  <a:pt x="4897922" y="324127"/>
                </a:lnTo>
                <a:lnTo>
                  <a:pt x="4903388" y="320785"/>
                </a:lnTo>
                <a:lnTo>
                  <a:pt x="4908855" y="317444"/>
                </a:lnTo>
                <a:lnTo>
                  <a:pt x="4914321" y="320785"/>
                </a:lnTo>
                <a:lnTo>
                  <a:pt x="4919788" y="320785"/>
                </a:lnTo>
                <a:lnTo>
                  <a:pt x="4925254" y="324127"/>
                </a:lnTo>
                <a:lnTo>
                  <a:pt x="4930721" y="324127"/>
                </a:lnTo>
                <a:lnTo>
                  <a:pt x="4936187" y="320785"/>
                </a:lnTo>
                <a:lnTo>
                  <a:pt x="4941653" y="317444"/>
                </a:lnTo>
                <a:lnTo>
                  <a:pt x="4947120" y="314102"/>
                </a:lnTo>
                <a:lnTo>
                  <a:pt x="4952586" y="310761"/>
                </a:lnTo>
                <a:lnTo>
                  <a:pt x="4958053" y="307419"/>
                </a:lnTo>
                <a:lnTo>
                  <a:pt x="4963519" y="307419"/>
                </a:lnTo>
                <a:lnTo>
                  <a:pt x="4968986" y="304078"/>
                </a:lnTo>
                <a:lnTo>
                  <a:pt x="4974452" y="300736"/>
                </a:lnTo>
                <a:lnTo>
                  <a:pt x="4979918" y="294053"/>
                </a:lnTo>
                <a:lnTo>
                  <a:pt x="4985385" y="287370"/>
                </a:lnTo>
                <a:lnTo>
                  <a:pt x="4990851" y="284029"/>
                </a:lnTo>
                <a:lnTo>
                  <a:pt x="4996318" y="277346"/>
                </a:lnTo>
                <a:lnTo>
                  <a:pt x="5001784" y="274004"/>
                </a:lnTo>
                <a:lnTo>
                  <a:pt x="5007251" y="270663"/>
                </a:lnTo>
                <a:lnTo>
                  <a:pt x="5012717" y="263980"/>
                </a:lnTo>
                <a:lnTo>
                  <a:pt x="5018183" y="270663"/>
                </a:lnTo>
                <a:lnTo>
                  <a:pt x="5023650" y="284029"/>
                </a:lnTo>
                <a:lnTo>
                  <a:pt x="5029116" y="294053"/>
                </a:lnTo>
                <a:lnTo>
                  <a:pt x="5034583" y="310761"/>
                </a:lnTo>
                <a:lnTo>
                  <a:pt x="5040049" y="324127"/>
                </a:lnTo>
                <a:lnTo>
                  <a:pt x="5045516" y="340834"/>
                </a:lnTo>
                <a:lnTo>
                  <a:pt x="5050982" y="350859"/>
                </a:lnTo>
                <a:lnTo>
                  <a:pt x="5056448" y="364225"/>
                </a:lnTo>
                <a:lnTo>
                  <a:pt x="5061915" y="377591"/>
                </a:lnTo>
                <a:lnTo>
                  <a:pt x="5067381" y="390957"/>
                </a:lnTo>
                <a:lnTo>
                  <a:pt x="5072848" y="397640"/>
                </a:lnTo>
                <a:lnTo>
                  <a:pt x="5078314" y="387616"/>
                </a:lnTo>
                <a:lnTo>
                  <a:pt x="5083781" y="377591"/>
                </a:lnTo>
                <a:lnTo>
                  <a:pt x="5089247" y="370908"/>
                </a:lnTo>
                <a:lnTo>
                  <a:pt x="5094713" y="360884"/>
                </a:lnTo>
                <a:lnTo>
                  <a:pt x="5100180" y="354201"/>
                </a:lnTo>
                <a:lnTo>
                  <a:pt x="5105646" y="340834"/>
                </a:lnTo>
                <a:lnTo>
                  <a:pt x="5111113" y="330810"/>
                </a:lnTo>
                <a:lnTo>
                  <a:pt x="5116579" y="320785"/>
                </a:lnTo>
                <a:lnTo>
                  <a:pt x="5122046" y="314102"/>
                </a:lnTo>
                <a:lnTo>
                  <a:pt x="5127512" y="304078"/>
                </a:lnTo>
                <a:lnTo>
                  <a:pt x="5132978" y="297395"/>
                </a:lnTo>
                <a:lnTo>
                  <a:pt x="5138445" y="290712"/>
                </a:lnTo>
                <a:lnTo>
                  <a:pt x="5143911" y="284029"/>
                </a:lnTo>
                <a:lnTo>
                  <a:pt x="5149378" y="277346"/>
                </a:lnTo>
                <a:lnTo>
                  <a:pt x="5154844" y="274004"/>
                </a:lnTo>
                <a:lnTo>
                  <a:pt x="5160311" y="267321"/>
                </a:lnTo>
                <a:lnTo>
                  <a:pt x="5165777" y="260638"/>
                </a:lnTo>
                <a:lnTo>
                  <a:pt x="5171244" y="253955"/>
                </a:lnTo>
                <a:lnTo>
                  <a:pt x="5176710" y="247272"/>
                </a:lnTo>
                <a:lnTo>
                  <a:pt x="5182176" y="243931"/>
                </a:lnTo>
                <a:lnTo>
                  <a:pt x="5187643" y="240589"/>
                </a:lnTo>
                <a:lnTo>
                  <a:pt x="5193109" y="243931"/>
                </a:lnTo>
                <a:lnTo>
                  <a:pt x="5198576" y="250614"/>
                </a:lnTo>
                <a:lnTo>
                  <a:pt x="5204042" y="253955"/>
                </a:lnTo>
                <a:lnTo>
                  <a:pt x="5209509" y="253955"/>
                </a:lnTo>
                <a:lnTo>
                  <a:pt x="5214975" y="257297"/>
                </a:lnTo>
                <a:lnTo>
                  <a:pt x="5220441" y="257297"/>
                </a:lnTo>
                <a:lnTo>
                  <a:pt x="5225908" y="253955"/>
                </a:lnTo>
                <a:lnTo>
                  <a:pt x="5231374" y="253955"/>
                </a:lnTo>
                <a:lnTo>
                  <a:pt x="5236841" y="253955"/>
                </a:lnTo>
                <a:lnTo>
                  <a:pt x="5242307" y="253955"/>
                </a:lnTo>
                <a:lnTo>
                  <a:pt x="5247774" y="253955"/>
                </a:lnTo>
                <a:lnTo>
                  <a:pt x="5253240" y="253955"/>
                </a:lnTo>
                <a:lnTo>
                  <a:pt x="5258706" y="257297"/>
                </a:lnTo>
                <a:lnTo>
                  <a:pt x="5264173" y="260638"/>
                </a:lnTo>
                <a:lnTo>
                  <a:pt x="5269639" y="267321"/>
                </a:lnTo>
                <a:lnTo>
                  <a:pt x="5275106" y="270663"/>
                </a:lnTo>
                <a:lnTo>
                  <a:pt x="5280572" y="274004"/>
                </a:lnTo>
                <a:lnTo>
                  <a:pt x="5286039" y="277346"/>
                </a:lnTo>
                <a:lnTo>
                  <a:pt x="5291505" y="284029"/>
                </a:lnTo>
                <a:lnTo>
                  <a:pt x="5296971" y="280687"/>
                </a:lnTo>
                <a:lnTo>
                  <a:pt x="5302438" y="280687"/>
                </a:lnTo>
                <a:lnTo>
                  <a:pt x="5307904" y="277346"/>
                </a:lnTo>
                <a:lnTo>
                  <a:pt x="5313371" y="280687"/>
                </a:lnTo>
                <a:lnTo>
                  <a:pt x="5318837" y="287370"/>
                </a:lnTo>
                <a:lnTo>
                  <a:pt x="5324304" y="287370"/>
                </a:lnTo>
                <a:lnTo>
                  <a:pt x="5329770" y="290712"/>
                </a:lnTo>
                <a:lnTo>
                  <a:pt x="5335236" y="297395"/>
                </a:lnTo>
                <a:lnTo>
                  <a:pt x="5340703" y="297395"/>
                </a:lnTo>
                <a:lnTo>
                  <a:pt x="5346169" y="290712"/>
                </a:lnTo>
                <a:lnTo>
                  <a:pt x="5351636" y="287370"/>
                </a:lnTo>
                <a:lnTo>
                  <a:pt x="5357102" y="280687"/>
                </a:lnTo>
                <a:lnTo>
                  <a:pt x="5362569" y="274004"/>
                </a:lnTo>
                <a:lnTo>
                  <a:pt x="5368035" y="267321"/>
                </a:lnTo>
                <a:lnTo>
                  <a:pt x="5373501" y="260638"/>
                </a:lnTo>
                <a:lnTo>
                  <a:pt x="5378968" y="253955"/>
                </a:lnTo>
                <a:lnTo>
                  <a:pt x="5384434" y="250614"/>
                </a:lnTo>
                <a:lnTo>
                  <a:pt x="5389901" y="250614"/>
                </a:lnTo>
                <a:lnTo>
                  <a:pt x="5395367" y="250614"/>
                </a:lnTo>
                <a:lnTo>
                  <a:pt x="5400834" y="250614"/>
                </a:lnTo>
                <a:lnTo>
                  <a:pt x="5406300" y="253955"/>
                </a:lnTo>
                <a:lnTo>
                  <a:pt x="5411766" y="253955"/>
                </a:lnTo>
                <a:lnTo>
                  <a:pt x="5417233" y="253955"/>
                </a:lnTo>
                <a:lnTo>
                  <a:pt x="5422699" y="257297"/>
                </a:lnTo>
                <a:lnTo>
                  <a:pt x="5428166" y="257297"/>
                </a:lnTo>
                <a:lnTo>
                  <a:pt x="5433632" y="257297"/>
                </a:lnTo>
                <a:lnTo>
                  <a:pt x="5439099" y="263980"/>
                </a:lnTo>
                <a:lnTo>
                  <a:pt x="5444565" y="270663"/>
                </a:lnTo>
                <a:lnTo>
                  <a:pt x="5450032" y="277346"/>
                </a:lnTo>
                <a:lnTo>
                  <a:pt x="5455498" y="284029"/>
                </a:lnTo>
                <a:lnTo>
                  <a:pt x="5460964" y="290712"/>
                </a:lnTo>
                <a:lnTo>
                  <a:pt x="5466431" y="307419"/>
                </a:lnTo>
                <a:lnTo>
                  <a:pt x="5471897" y="324127"/>
                </a:lnTo>
                <a:lnTo>
                  <a:pt x="5477364" y="347518"/>
                </a:lnTo>
                <a:lnTo>
                  <a:pt x="5482830" y="370908"/>
                </a:lnTo>
                <a:lnTo>
                  <a:pt x="5488297" y="390957"/>
                </a:lnTo>
                <a:lnTo>
                  <a:pt x="5493763" y="414348"/>
                </a:lnTo>
                <a:lnTo>
                  <a:pt x="5499229" y="434397"/>
                </a:lnTo>
                <a:lnTo>
                  <a:pt x="5504696" y="454446"/>
                </a:lnTo>
                <a:lnTo>
                  <a:pt x="5510162" y="477836"/>
                </a:lnTo>
                <a:lnTo>
                  <a:pt x="5515629" y="497886"/>
                </a:lnTo>
                <a:lnTo>
                  <a:pt x="5521095" y="517935"/>
                </a:lnTo>
                <a:lnTo>
                  <a:pt x="5526562" y="534642"/>
                </a:lnTo>
                <a:lnTo>
                  <a:pt x="5532028" y="544667"/>
                </a:lnTo>
                <a:lnTo>
                  <a:pt x="5537494" y="548008"/>
                </a:lnTo>
                <a:lnTo>
                  <a:pt x="5542961" y="537984"/>
                </a:lnTo>
                <a:lnTo>
                  <a:pt x="5548427" y="527959"/>
                </a:lnTo>
                <a:lnTo>
                  <a:pt x="5553894" y="524618"/>
                </a:lnTo>
                <a:lnTo>
                  <a:pt x="5559360" y="521276"/>
                </a:lnTo>
                <a:lnTo>
                  <a:pt x="5564827" y="517935"/>
                </a:lnTo>
                <a:lnTo>
                  <a:pt x="5570293" y="527959"/>
                </a:lnTo>
                <a:lnTo>
                  <a:pt x="5575759" y="551350"/>
                </a:lnTo>
                <a:lnTo>
                  <a:pt x="5581226" y="574740"/>
                </a:lnTo>
                <a:lnTo>
                  <a:pt x="5586692" y="601472"/>
                </a:lnTo>
                <a:lnTo>
                  <a:pt x="5592159" y="634887"/>
                </a:lnTo>
                <a:lnTo>
                  <a:pt x="5597625" y="658278"/>
                </a:lnTo>
                <a:lnTo>
                  <a:pt x="5603092" y="674986"/>
                </a:lnTo>
                <a:lnTo>
                  <a:pt x="5608558" y="698376"/>
                </a:lnTo>
                <a:lnTo>
                  <a:pt x="5614024" y="721767"/>
                </a:lnTo>
                <a:lnTo>
                  <a:pt x="5619491" y="748499"/>
                </a:lnTo>
                <a:lnTo>
                  <a:pt x="5624957" y="791938"/>
                </a:lnTo>
                <a:lnTo>
                  <a:pt x="5630424" y="825354"/>
                </a:lnTo>
                <a:lnTo>
                  <a:pt x="5635890" y="845403"/>
                </a:lnTo>
                <a:lnTo>
                  <a:pt x="5641357" y="858769"/>
                </a:lnTo>
                <a:lnTo>
                  <a:pt x="5646823" y="865452"/>
                </a:lnTo>
                <a:lnTo>
                  <a:pt x="5652289" y="878818"/>
                </a:lnTo>
                <a:lnTo>
                  <a:pt x="5657756" y="898867"/>
                </a:lnTo>
                <a:lnTo>
                  <a:pt x="5663222" y="862110"/>
                </a:lnTo>
                <a:lnTo>
                  <a:pt x="5668689" y="828695"/>
                </a:lnTo>
                <a:lnTo>
                  <a:pt x="5674155" y="801963"/>
                </a:lnTo>
                <a:lnTo>
                  <a:pt x="5679622" y="781914"/>
                </a:lnTo>
                <a:lnTo>
                  <a:pt x="5685088" y="748499"/>
                </a:lnTo>
                <a:lnTo>
                  <a:pt x="5690554" y="705059"/>
                </a:lnTo>
                <a:lnTo>
                  <a:pt x="5696021" y="648254"/>
                </a:lnTo>
                <a:lnTo>
                  <a:pt x="5701487" y="604814"/>
                </a:lnTo>
                <a:lnTo>
                  <a:pt x="5706954" y="571399"/>
                </a:lnTo>
                <a:lnTo>
                  <a:pt x="5712420" y="548008"/>
                </a:lnTo>
                <a:lnTo>
                  <a:pt x="5717887" y="517935"/>
                </a:lnTo>
                <a:lnTo>
                  <a:pt x="5723353" y="497886"/>
                </a:lnTo>
                <a:lnTo>
                  <a:pt x="5728820" y="481178"/>
                </a:lnTo>
                <a:lnTo>
                  <a:pt x="5734286" y="467812"/>
                </a:lnTo>
                <a:lnTo>
                  <a:pt x="5739752" y="454446"/>
                </a:lnTo>
                <a:lnTo>
                  <a:pt x="5745219" y="444421"/>
                </a:lnTo>
                <a:lnTo>
                  <a:pt x="5750685" y="431055"/>
                </a:lnTo>
                <a:lnTo>
                  <a:pt x="5756152" y="424372"/>
                </a:lnTo>
                <a:lnTo>
                  <a:pt x="5761618" y="411006"/>
                </a:lnTo>
                <a:lnTo>
                  <a:pt x="5767085" y="400982"/>
                </a:lnTo>
                <a:lnTo>
                  <a:pt x="5772551" y="390957"/>
                </a:lnTo>
                <a:lnTo>
                  <a:pt x="5778017" y="387616"/>
                </a:lnTo>
                <a:lnTo>
                  <a:pt x="5783484" y="380933"/>
                </a:lnTo>
                <a:lnTo>
                  <a:pt x="5788950" y="374250"/>
                </a:lnTo>
                <a:lnTo>
                  <a:pt x="5794417" y="370908"/>
                </a:lnTo>
                <a:lnTo>
                  <a:pt x="5799883" y="367567"/>
                </a:lnTo>
                <a:lnTo>
                  <a:pt x="5805350" y="354201"/>
                </a:lnTo>
                <a:lnTo>
                  <a:pt x="5810816" y="354201"/>
                </a:lnTo>
                <a:lnTo>
                  <a:pt x="5816282" y="350859"/>
                </a:lnTo>
                <a:lnTo>
                  <a:pt x="5821749" y="347518"/>
                </a:lnTo>
                <a:lnTo>
                  <a:pt x="5827215" y="354201"/>
                </a:lnTo>
                <a:lnTo>
                  <a:pt x="5832682" y="357542"/>
                </a:lnTo>
                <a:lnTo>
                  <a:pt x="5838148" y="367567"/>
                </a:lnTo>
                <a:lnTo>
                  <a:pt x="5843615" y="374250"/>
                </a:lnTo>
                <a:lnTo>
                  <a:pt x="5849081" y="377591"/>
                </a:lnTo>
                <a:lnTo>
                  <a:pt x="5854547" y="387616"/>
                </a:lnTo>
                <a:lnTo>
                  <a:pt x="5860014" y="397640"/>
                </a:lnTo>
                <a:lnTo>
                  <a:pt x="5865480" y="400982"/>
                </a:lnTo>
                <a:lnTo>
                  <a:pt x="5870947" y="394299"/>
                </a:lnTo>
                <a:lnTo>
                  <a:pt x="5876413" y="394299"/>
                </a:lnTo>
                <a:lnTo>
                  <a:pt x="5881880" y="397640"/>
                </a:lnTo>
                <a:lnTo>
                  <a:pt x="5887346" y="400982"/>
                </a:lnTo>
                <a:lnTo>
                  <a:pt x="5892812" y="404323"/>
                </a:lnTo>
                <a:lnTo>
                  <a:pt x="5898279" y="417689"/>
                </a:lnTo>
                <a:lnTo>
                  <a:pt x="5903745" y="424372"/>
                </a:lnTo>
                <a:lnTo>
                  <a:pt x="5909212" y="434397"/>
                </a:lnTo>
                <a:lnTo>
                  <a:pt x="5914678" y="441080"/>
                </a:lnTo>
                <a:lnTo>
                  <a:pt x="5920145" y="444421"/>
                </a:lnTo>
                <a:lnTo>
                  <a:pt x="5925611" y="437738"/>
                </a:lnTo>
                <a:lnTo>
                  <a:pt x="5931077" y="437738"/>
                </a:lnTo>
                <a:lnTo>
                  <a:pt x="5936544" y="441080"/>
                </a:lnTo>
                <a:lnTo>
                  <a:pt x="5942010" y="447763"/>
                </a:lnTo>
                <a:lnTo>
                  <a:pt x="5947477" y="451104"/>
                </a:lnTo>
                <a:lnTo>
                  <a:pt x="5952943" y="454446"/>
                </a:lnTo>
                <a:lnTo>
                  <a:pt x="5958410" y="467812"/>
                </a:lnTo>
                <a:lnTo>
                  <a:pt x="5963876" y="471153"/>
                </a:lnTo>
                <a:lnTo>
                  <a:pt x="5969342" y="467812"/>
                </a:lnTo>
                <a:lnTo>
                  <a:pt x="5974809" y="464470"/>
                </a:lnTo>
                <a:lnTo>
                  <a:pt x="5980275" y="461129"/>
                </a:lnTo>
                <a:lnTo>
                  <a:pt x="5985742" y="464470"/>
                </a:lnTo>
                <a:lnTo>
                  <a:pt x="5991208" y="457787"/>
                </a:lnTo>
                <a:lnTo>
                  <a:pt x="5996675" y="454446"/>
                </a:lnTo>
                <a:lnTo>
                  <a:pt x="6002141" y="454446"/>
                </a:lnTo>
                <a:lnTo>
                  <a:pt x="6007608" y="451104"/>
                </a:lnTo>
              </a:path>
            </a:pathLst>
          </a:custGeom>
          <a:noFill/>
          <a:ln w="19050">
            <a:solidFill>
              <a:srgbClr val="7C159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4" name="Connector 13"/>
          <p:cNvCxnSpPr/>
          <p:nvPr/>
        </p:nvCxnSpPr>
        <p:spPr>
          <a:xfrm>
            <a:off x="1005840" y="2532888"/>
            <a:ext cx="0" cy="2706624"/>
          </a:xfrm>
          <a:prstGeom prst="line">
            <a:avLst/>
          </a:prstGeom>
          <a:ln w="15875">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5" name="Connector 14"/>
          <p:cNvCxnSpPr/>
          <p:nvPr/>
        </p:nvCxnSpPr>
        <p:spPr>
          <a:xfrm>
            <a:off x="1005840" y="5239512"/>
            <a:ext cx="6007608" cy="0"/>
          </a:xfrm>
          <a:prstGeom prst="line">
            <a:avLst/>
          </a:prstGeom>
          <a:ln w="15875">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a:off x="1005840" y="5239512"/>
            <a:ext cx="0" cy="54864"/>
          </a:xfrm>
          <a:prstGeom prst="line">
            <a:avLst/>
          </a:prstGeom>
          <a:ln w="1270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7" name="TextBox 16"/>
          <p:cNvSpPr txBox="1"/>
          <p:nvPr/>
        </p:nvSpPr>
        <p:spPr>
          <a:xfrm>
            <a:off x="777240" y="5330952"/>
            <a:ext cx="484632" cy="192024"/>
          </a:xfrm>
          <a:prstGeom prst="rect">
            <a:avLst/>
          </a:prstGeom>
          <a:noFill/>
          <a:effectLst/>
        </p:spPr>
        <p:txBody>
          <a:bodyPr wrap="square" lIns="22860" rIns="22860" tIns="0" bIns="0">
            <a:spAutoFit/>
          </a:bodyPr>
          <a:lstStyle/>
          <a:p>
            <a:pPr algn="ctr">
              <a:spcAft>
                <a:spcPts val="600"/>
              </a:spcAft>
              <a:defRPr sz="1000" b="0">
                <a:solidFill>
                  <a:srgbClr val="111111"/>
                </a:solidFill>
                <a:latin typeface="Microsoft YaHei"/>
              </a:defRPr>
            </a:pPr>
            <a:r>
              <a:t>4000</a:t>
            </a:r>
          </a:p>
        </p:txBody>
      </p:sp>
      <p:cxnSp>
        <p:nvCxnSpPr>
          <p:cNvPr id="18" name="Connector 17"/>
          <p:cNvCxnSpPr/>
          <p:nvPr/>
        </p:nvCxnSpPr>
        <p:spPr>
          <a:xfrm>
            <a:off x="1840837" y="5239512"/>
            <a:ext cx="0" cy="54864"/>
          </a:xfrm>
          <a:prstGeom prst="line">
            <a:avLst/>
          </a:prstGeom>
          <a:ln w="1270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9" name="TextBox 18"/>
          <p:cNvSpPr txBox="1"/>
          <p:nvPr/>
        </p:nvSpPr>
        <p:spPr>
          <a:xfrm>
            <a:off x="1612237" y="5330952"/>
            <a:ext cx="484632" cy="192024"/>
          </a:xfrm>
          <a:prstGeom prst="rect">
            <a:avLst/>
          </a:prstGeom>
          <a:noFill/>
          <a:effectLst/>
        </p:spPr>
        <p:txBody>
          <a:bodyPr wrap="square" lIns="22860" rIns="22860" tIns="0" bIns="0">
            <a:spAutoFit/>
          </a:bodyPr>
          <a:lstStyle/>
          <a:p>
            <a:pPr algn="ctr">
              <a:spcAft>
                <a:spcPts val="600"/>
              </a:spcAft>
              <a:defRPr sz="1000" b="0">
                <a:solidFill>
                  <a:srgbClr val="111111"/>
                </a:solidFill>
                <a:latin typeface="Microsoft YaHei"/>
              </a:defRPr>
            </a:pPr>
            <a:r>
              <a:t>3500</a:t>
            </a:r>
          </a:p>
        </p:txBody>
      </p:sp>
      <p:cxnSp>
        <p:nvCxnSpPr>
          <p:cNvPr id="20" name="Connector 19"/>
          <p:cNvCxnSpPr/>
          <p:nvPr/>
        </p:nvCxnSpPr>
        <p:spPr>
          <a:xfrm>
            <a:off x="2675834" y="5239512"/>
            <a:ext cx="0" cy="54864"/>
          </a:xfrm>
          <a:prstGeom prst="line">
            <a:avLst/>
          </a:prstGeom>
          <a:ln w="1270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1" name="TextBox 20"/>
          <p:cNvSpPr txBox="1"/>
          <p:nvPr/>
        </p:nvSpPr>
        <p:spPr>
          <a:xfrm>
            <a:off x="2447234" y="5330952"/>
            <a:ext cx="484632" cy="192024"/>
          </a:xfrm>
          <a:prstGeom prst="rect">
            <a:avLst/>
          </a:prstGeom>
          <a:noFill/>
          <a:effectLst/>
        </p:spPr>
        <p:txBody>
          <a:bodyPr wrap="square" lIns="22860" rIns="22860" tIns="0" bIns="0">
            <a:spAutoFit/>
          </a:bodyPr>
          <a:lstStyle/>
          <a:p>
            <a:pPr algn="ctr">
              <a:spcAft>
                <a:spcPts val="600"/>
              </a:spcAft>
              <a:defRPr sz="1000" b="0">
                <a:solidFill>
                  <a:srgbClr val="111111"/>
                </a:solidFill>
                <a:latin typeface="Microsoft YaHei"/>
              </a:defRPr>
            </a:pPr>
            <a:r>
              <a:t>3000</a:t>
            </a:r>
          </a:p>
        </p:txBody>
      </p:sp>
      <p:cxnSp>
        <p:nvCxnSpPr>
          <p:cNvPr id="22" name="Connector 21"/>
          <p:cNvCxnSpPr/>
          <p:nvPr/>
        </p:nvCxnSpPr>
        <p:spPr>
          <a:xfrm>
            <a:off x="3510832" y="5239512"/>
            <a:ext cx="0" cy="54864"/>
          </a:xfrm>
          <a:prstGeom prst="line">
            <a:avLst/>
          </a:prstGeom>
          <a:ln w="1270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3" name="TextBox 22"/>
          <p:cNvSpPr txBox="1"/>
          <p:nvPr/>
        </p:nvSpPr>
        <p:spPr>
          <a:xfrm>
            <a:off x="3282232" y="5330952"/>
            <a:ext cx="484632" cy="192024"/>
          </a:xfrm>
          <a:prstGeom prst="rect">
            <a:avLst/>
          </a:prstGeom>
          <a:noFill/>
          <a:effectLst/>
        </p:spPr>
        <p:txBody>
          <a:bodyPr wrap="square" lIns="22860" rIns="22860" tIns="0" bIns="0">
            <a:spAutoFit/>
          </a:bodyPr>
          <a:lstStyle/>
          <a:p>
            <a:pPr algn="ctr">
              <a:spcAft>
                <a:spcPts val="600"/>
              </a:spcAft>
              <a:defRPr sz="1000" b="0">
                <a:solidFill>
                  <a:srgbClr val="111111"/>
                </a:solidFill>
                <a:latin typeface="Microsoft YaHei"/>
              </a:defRPr>
            </a:pPr>
            <a:r>
              <a:t>2500</a:t>
            </a:r>
          </a:p>
        </p:txBody>
      </p:sp>
      <p:cxnSp>
        <p:nvCxnSpPr>
          <p:cNvPr id="24" name="Connector 23"/>
          <p:cNvCxnSpPr/>
          <p:nvPr/>
        </p:nvCxnSpPr>
        <p:spPr>
          <a:xfrm>
            <a:off x="4345829" y="5239512"/>
            <a:ext cx="0" cy="54864"/>
          </a:xfrm>
          <a:prstGeom prst="line">
            <a:avLst/>
          </a:prstGeom>
          <a:ln w="1270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5" name="TextBox 24"/>
          <p:cNvSpPr txBox="1"/>
          <p:nvPr/>
        </p:nvSpPr>
        <p:spPr>
          <a:xfrm>
            <a:off x="4117229" y="5330952"/>
            <a:ext cx="484632" cy="192024"/>
          </a:xfrm>
          <a:prstGeom prst="rect">
            <a:avLst/>
          </a:prstGeom>
          <a:noFill/>
          <a:effectLst/>
        </p:spPr>
        <p:txBody>
          <a:bodyPr wrap="square" lIns="22860" rIns="22860" tIns="0" bIns="0">
            <a:spAutoFit/>
          </a:bodyPr>
          <a:lstStyle/>
          <a:p>
            <a:pPr algn="ctr">
              <a:spcAft>
                <a:spcPts val="600"/>
              </a:spcAft>
              <a:defRPr sz="1000" b="0">
                <a:solidFill>
                  <a:srgbClr val="111111"/>
                </a:solidFill>
                <a:latin typeface="Microsoft YaHei"/>
              </a:defRPr>
            </a:pPr>
            <a:r>
              <a:t>2000</a:t>
            </a:r>
          </a:p>
        </p:txBody>
      </p:sp>
      <p:cxnSp>
        <p:nvCxnSpPr>
          <p:cNvPr id="26" name="Connector 25"/>
          <p:cNvCxnSpPr/>
          <p:nvPr/>
        </p:nvCxnSpPr>
        <p:spPr>
          <a:xfrm>
            <a:off x="5180826" y="5239512"/>
            <a:ext cx="0" cy="54864"/>
          </a:xfrm>
          <a:prstGeom prst="line">
            <a:avLst/>
          </a:prstGeom>
          <a:ln w="1270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7" name="TextBox 26"/>
          <p:cNvSpPr txBox="1"/>
          <p:nvPr/>
        </p:nvSpPr>
        <p:spPr>
          <a:xfrm>
            <a:off x="4952226" y="5330952"/>
            <a:ext cx="484632" cy="192024"/>
          </a:xfrm>
          <a:prstGeom prst="rect">
            <a:avLst/>
          </a:prstGeom>
          <a:noFill/>
          <a:effectLst/>
        </p:spPr>
        <p:txBody>
          <a:bodyPr wrap="square" lIns="22860" rIns="22860" tIns="0" bIns="0">
            <a:spAutoFit/>
          </a:bodyPr>
          <a:lstStyle/>
          <a:p>
            <a:pPr algn="ctr">
              <a:spcAft>
                <a:spcPts val="600"/>
              </a:spcAft>
              <a:defRPr sz="1000" b="0">
                <a:solidFill>
                  <a:srgbClr val="111111"/>
                </a:solidFill>
                <a:latin typeface="Microsoft YaHei"/>
              </a:defRPr>
            </a:pPr>
            <a:r>
              <a:t>1500</a:t>
            </a:r>
          </a:p>
        </p:txBody>
      </p:sp>
      <p:cxnSp>
        <p:nvCxnSpPr>
          <p:cNvPr id="28" name="Connector 27"/>
          <p:cNvCxnSpPr/>
          <p:nvPr/>
        </p:nvCxnSpPr>
        <p:spPr>
          <a:xfrm>
            <a:off x="6015824" y="5239512"/>
            <a:ext cx="0" cy="54864"/>
          </a:xfrm>
          <a:prstGeom prst="line">
            <a:avLst/>
          </a:prstGeom>
          <a:ln w="1270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5787224" y="5330952"/>
            <a:ext cx="484632" cy="192024"/>
          </a:xfrm>
          <a:prstGeom prst="rect">
            <a:avLst/>
          </a:prstGeom>
          <a:noFill/>
          <a:effectLst/>
        </p:spPr>
        <p:txBody>
          <a:bodyPr wrap="square" lIns="22860" rIns="22860" tIns="0" bIns="0">
            <a:spAutoFit/>
          </a:bodyPr>
          <a:lstStyle/>
          <a:p>
            <a:pPr algn="ctr">
              <a:spcAft>
                <a:spcPts val="600"/>
              </a:spcAft>
              <a:defRPr sz="1000" b="0">
                <a:solidFill>
                  <a:srgbClr val="111111"/>
                </a:solidFill>
                <a:latin typeface="Microsoft YaHei"/>
              </a:defRPr>
            </a:pPr>
            <a:r>
              <a:t>1000</a:t>
            </a:r>
          </a:p>
        </p:txBody>
      </p:sp>
      <p:cxnSp>
        <p:nvCxnSpPr>
          <p:cNvPr id="30" name="Connector 29"/>
          <p:cNvCxnSpPr/>
          <p:nvPr/>
        </p:nvCxnSpPr>
        <p:spPr>
          <a:xfrm>
            <a:off x="6850821" y="5239512"/>
            <a:ext cx="0" cy="54864"/>
          </a:xfrm>
          <a:prstGeom prst="line">
            <a:avLst/>
          </a:prstGeom>
          <a:ln w="1270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1" name="TextBox 30"/>
          <p:cNvSpPr txBox="1"/>
          <p:nvPr/>
        </p:nvSpPr>
        <p:spPr>
          <a:xfrm>
            <a:off x="6622221" y="5330952"/>
            <a:ext cx="484632" cy="192024"/>
          </a:xfrm>
          <a:prstGeom prst="rect">
            <a:avLst/>
          </a:prstGeom>
          <a:noFill/>
          <a:effectLst/>
        </p:spPr>
        <p:txBody>
          <a:bodyPr wrap="square" lIns="22860" rIns="22860" tIns="0" bIns="0">
            <a:spAutoFit/>
          </a:bodyPr>
          <a:lstStyle/>
          <a:p>
            <a:pPr algn="ctr">
              <a:spcAft>
                <a:spcPts val="600"/>
              </a:spcAft>
              <a:defRPr sz="1000" b="0">
                <a:solidFill>
                  <a:srgbClr val="111111"/>
                </a:solidFill>
                <a:latin typeface="Microsoft YaHei"/>
              </a:defRPr>
            </a:pPr>
            <a:r>
              <a:t>500</a:t>
            </a:r>
          </a:p>
        </p:txBody>
      </p:sp>
      <p:sp>
        <p:nvSpPr>
          <p:cNvPr id="32" name="TextBox 31"/>
          <p:cNvSpPr txBox="1"/>
          <p:nvPr/>
        </p:nvSpPr>
        <p:spPr>
          <a:xfrm>
            <a:off x="2350008" y="5586984"/>
            <a:ext cx="3383280" cy="201168"/>
          </a:xfrm>
          <a:prstGeom prst="rect">
            <a:avLst/>
          </a:prstGeom>
          <a:noFill/>
          <a:effectLst/>
        </p:spPr>
        <p:txBody>
          <a:bodyPr wrap="square" lIns="22860" rIns="22860" tIns="0" bIns="0">
            <a:spAutoFit/>
          </a:bodyPr>
          <a:lstStyle/>
          <a:p>
            <a:pPr algn="ctr">
              <a:spcAft>
                <a:spcPts val="600"/>
              </a:spcAft>
              <a:defRPr sz="1200" b="1">
                <a:solidFill>
                  <a:srgbClr val="111111"/>
                </a:solidFill>
                <a:latin typeface="Microsoft YaHei"/>
              </a:defRPr>
            </a:pPr>
            <a:r>
              <a:t>Wavenumber / cm⁻¹</a:t>
            </a:r>
          </a:p>
        </p:txBody>
      </p:sp>
      <p:sp>
        <p:nvSpPr>
          <p:cNvPr id="33" name="TextBox 32"/>
          <p:cNvSpPr txBox="1"/>
          <p:nvPr/>
        </p:nvSpPr>
        <p:spPr>
          <a:xfrm>
            <a:off x="1005840" y="2276856"/>
            <a:ext cx="3017520" cy="201168"/>
          </a:xfrm>
          <a:prstGeom prst="rect">
            <a:avLst/>
          </a:prstGeom>
          <a:noFill/>
          <a:effectLst/>
        </p:spPr>
        <p:txBody>
          <a:bodyPr wrap="square" lIns="22860" rIns="22860" tIns="0" bIns="0">
            <a:spAutoFit/>
          </a:bodyPr>
          <a:lstStyle/>
          <a:p>
            <a:pPr>
              <a:spcAft>
                <a:spcPts val="600"/>
              </a:spcAft>
              <a:defRPr sz="1100" b="1">
                <a:solidFill>
                  <a:srgbClr val="111111"/>
                </a:solidFill>
                <a:latin typeface="Microsoft YaHei"/>
              </a:defRPr>
            </a:pPr>
            <a:r>
              <a:t>Transmittance (%)</a:t>
            </a:r>
          </a:p>
        </p:txBody>
      </p:sp>
      <p:cxnSp>
        <p:nvCxnSpPr>
          <p:cNvPr id="34" name="Connector 33"/>
          <p:cNvCxnSpPr/>
          <p:nvPr/>
        </p:nvCxnSpPr>
        <p:spPr>
          <a:xfrm>
            <a:off x="4983480" y="2350008"/>
            <a:ext cx="310896" cy="0"/>
          </a:xfrm>
          <a:prstGeom prst="line">
            <a:avLst/>
          </a:prstGeom>
          <a:ln w="25400">
            <a:solidFill>
              <a:srgbClr val="F18A3C"/>
            </a:solidFill>
          </a:ln>
          <a:effectLst/>
        </p:spPr>
        <p:style>
          <a:lnRef idx="2">
            <a:schemeClr val="accent1"/>
          </a:lnRef>
          <a:fillRef idx="0">
            <a:schemeClr val="accent1"/>
          </a:fillRef>
          <a:effectRef idx="0">
            <a:schemeClr val="accent1"/>
          </a:effectRef>
          <a:fontRef idx="minor">
            <a:schemeClr val="tx1"/>
          </a:fontRef>
        </p:style>
      </p:cxnSp>
      <p:sp>
        <p:nvSpPr>
          <p:cNvPr id="35" name="TextBox 34"/>
          <p:cNvSpPr txBox="1"/>
          <p:nvPr/>
        </p:nvSpPr>
        <p:spPr>
          <a:xfrm>
            <a:off x="5358384" y="2231136"/>
            <a:ext cx="603504" cy="237744"/>
          </a:xfrm>
          <a:prstGeom prst="rect">
            <a:avLst/>
          </a:prstGeom>
          <a:noFill/>
          <a:effectLst/>
        </p:spPr>
        <p:txBody>
          <a:bodyPr wrap="square" lIns="22860" rIns="22860" tIns="0" bIns="0">
            <a:spAutoFit/>
          </a:bodyPr>
          <a:lstStyle/>
          <a:p>
            <a:pPr>
              <a:spcAft>
                <a:spcPts val="600"/>
              </a:spcAft>
              <a:defRPr sz="1200" b="1">
                <a:solidFill>
                  <a:srgbClr val="F18A3C"/>
                </a:solidFill>
                <a:latin typeface="Microsoft YaHei"/>
              </a:defRPr>
            </a:pPr>
            <a:r>
              <a:t>12 h</a:t>
            </a:r>
          </a:p>
        </p:txBody>
      </p:sp>
      <p:cxnSp>
        <p:nvCxnSpPr>
          <p:cNvPr id="36" name="Connector 35"/>
          <p:cNvCxnSpPr/>
          <p:nvPr/>
        </p:nvCxnSpPr>
        <p:spPr>
          <a:xfrm>
            <a:off x="5989320" y="2350008"/>
            <a:ext cx="310896" cy="0"/>
          </a:xfrm>
          <a:prstGeom prst="line">
            <a:avLst/>
          </a:prstGeom>
          <a:ln w="25400">
            <a:solidFill>
              <a:srgbClr val="7C159F"/>
            </a:solidFill>
          </a:ln>
          <a:effectLst/>
        </p:spPr>
        <p:style>
          <a:lnRef idx="2">
            <a:schemeClr val="accent1"/>
          </a:lnRef>
          <a:fillRef idx="0">
            <a:schemeClr val="accent1"/>
          </a:fillRef>
          <a:effectRef idx="0">
            <a:schemeClr val="accent1"/>
          </a:effectRef>
          <a:fontRef idx="minor">
            <a:schemeClr val="tx1"/>
          </a:fontRef>
        </p:style>
      </p:cxnSp>
      <p:sp>
        <p:nvSpPr>
          <p:cNvPr id="37" name="TextBox 36"/>
          <p:cNvSpPr txBox="1"/>
          <p:nvPr/>
        </p:nvSpPr>
        <p:spPr>
          <a:xfrm>
            <a:off x="6364224" y="2231136"/>
            <a:ext cx="603504" cy="237744"/>
          </a:xfrm>
          <a:prstGeom prst="rect">
            <a:avLst/>
          </a:prstGeom>
          <a:noFill/>
          <a:effectLst/>
        </p:spPr>
        <p:txBody>
          <a:bodyPr wrap="square" lIns="22860" rIns="22860" tIns="0" bIns="0">
            <a:spAutoFit/>
          </a:bodyPr>
          <a:lstStyle/>
          <a:p>
            <a:pPr>
              <a:spcAft>
                <a:spcPts val="600"/>
              </a:spcAft>
              <a:defRPr sz="1200" b="1">
                <a:solidFill>
                  <a:srgbClr val="7C159F"/>
                </a:solidFill>
                <a:latin typeface="Microsoft YaHei"/>
              </a:defRPr>
            </a:pPr>
            <a:r>
              <a:t>24 h</a:t>
            </a:r>
          </a:p>
        </p:txBody>
      </p:sp>
      <p:cxnSp>
        <p:nvCxnSpPr>
          <p:cNvPr id="38" name="Connector 37"/>
          <p:cNvCxnSpPr/>
          <p:nvPr/>
        </p:nvCxnSpPr>
        <p:spPr>
          <a:xfrm>
            <a:off x="1922500" y="4197096"/>
            <a:ext cx="0" cy="969264"/>
          </a:xfrm>
          <a:prstGeom prst="line">
            <a:avLst/>
          </a:prstGeom>
          <a:ln w="10160">
            <a:solidFill>
              <a:srgbClr val="9BA9BC"/>
            </a:solidFill>
            <a:prstDash val="dash"/>
          </a:ln>
          <a:effectLst/>
        </p:spPr>
        <p:style>
          <a:lnRef idx="2">
            <a:schemeClr val="accent1"/>
          </a:lnRef>
          <a:fillRef idx="0">
            <a:schemeClr val="accent1"/>
          </a:fillRef>
          <a:effectRef idx="0">
            <a:schemeClr val="accent1"/>
          </a:effectRef>
          <a:fontRef idx="minor">
            <a:schemeClr val="tx1"/>
          </a:fontRef>
        </p:style>
      </p:cxnSp>
      <p:sp>
        <p:nvSpPr>
          <p:cNvPr id="39" name="TextBox 38"/>
          <p:cNvSpPr txBox="1"/>
          <p:nvPr/>
        </p:nvSpPr>
        <p:spPr>
          <a:xfrm>
            <a:off x="1483588" y="3968496"/>
            <a:ext cx="1143000" cy="219456"/>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3451 cm⁻¹</a:t>
            </a:r>
          </a:p>
        </p:txBody>
      </p:sp>
      <p:cxnSp>
        <p:nvCxnSpPr>
          <p:cNvPr id="40" name="Connector 39"/>
          <p:cNvCxnSpPr/>
          <p:nvPr/>
        </p:nvCxnSpPr>
        <p:spPr>
          <a:xfrm>
            <a:off x="2820623" y="3547872"/>
            <a:ext cx="0" cy="1618488"/>
          </a:xfrm>
          <a:prstGeom prst="line">
            <a:avLst/>
          </a:prstGeom>
          <a:ln w="10160">
            <a:solidFill>
              <a:srgbClr val="9BA9BC"/>
            </a:solidFill>
            <a:prstDash val="dash"/>
          </a:ln>
          <a:effectLst/>
        </p:spPr>
        <p:style>
          <a:lnRef idx="2">
            <a:schemeClr val="accent1"/>
          </a:lnRef>
          <a:fillRef idx="0">
            <a:schemeClr val="accent1"/>
          </a:fillRef>
          <a:effectRef idx="0">
            <a:schemeClr val="accent1"/>
          </a:effectRef>
          <a:fontRef idx="minor">
            <a:schemeClr val="tx1"/>
          </a:fontRef>
        </p:style>
      </p:cxnSp>
      <p:sp>
        <p:nvSpPr>
          <p:cNvPr id="41" name="TextBox 40"/>
          <p:cNvSpPr txBox="1"/>
          <p:nvPr/>
        </p:nvSpPr>
        <p:spPr>
          <a:xfrm>
            <a:off x="2381711" y="3319272"/>
            <a:ext cx="1143000" cy="219456"/>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2913 cm⁻¹</a:t>
            </a:r>
          </a:p>
        </p:txBody>
      </p:sp>
      <p:cxnSp>
        <p:nvCxnSpPr>
          <p:cNvPr id="42" name="Connector 41"/>
          <p:cNvCxnSpPr/>
          <p:nvPr/>
        </p:nvCxnSpPr>
        <p:spPr>
          <a:xfrm>
            <a:off x="7543800" y="2523744"/>
            <a:ext cx="0" cy="539496"/>
          </a:xfrm>
          <a:prstGeom prst="line">
            <a:avLst/>
          </a:prstGeom>
          <a:ln w="33020">
            <a:solidFill>
              <a:srgbClr val="203864"/>
            </a:solidFill>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7708392" y="2505456"/>
            <a:ext cx="3630168" cy="320040"/>
          </a:xfrm>
          <a:prstGeom prst="rect">
            <a:avLst/>
          </a:prstGeom>
          <a:noFill/>
          <a:effectLst/>
        </p:spPr>
        <p:txBody>
          <a:bodyPr wrap="square" lIns="22860" rIns="22860" tIns="0" bIns="0">
            <a:spAutoFit/>
          </a:bodyPr>
          <a:lstStyle/>
          <a:p>
            <a:pPr>
              <a:spcAft>
                <a:spcPts val="600"/>
              </a:spcAft>
              <a:defRPr sz="1800" b="1">
                <a:solidFill>
                  <a:srgbClr val="203864"/>
                </a:solidFill>
                <a:latin typeface="Microsoft YaHei"/>
              </a:defRPr>
            </a:pPr>
            <a:r>
              <a:t>可讨论的变化</a:t>
            </a:r>
          </a:p>
        </p:txBody>
      </p:sp>
      <p:sp>
        <p:nvSpPr>
          <p:cNvPr id="44" name="TextBox 43"/>
          <p:cNvSpPr txBox="1"/>
          <p:nvPr/>
        </p:nvSpPr>
        <p:spPr>
          <a:xfrm>
            <a:off x="7708392" y="2907792"/>
            <a:ext cx="3630168" cy="594360"/>
          </a:xfrm>
          <a:prstGeom prst="rect">
            <a:avLst/>
          </a:prstGeom>
          <a:noFill/>
          <a:effectLst/>
        </p:spPr>
        <p:txBody>
          <a:bodyPr wrap="square" lIns="22860" rIns="22860" tIns="0" bIns="0">
            <a:spAutoFit/>
          </a:bodyPr>
          <a:lstStyle/>
          <a:p>
            <a:pPr>
              <a:spcAft>
                <a:spcPts val="600"/>
              </a:spcAft>
              <a:defRPr sz="1600" b="0">
                <a:solidFill>
                  <a:srgbClr val="111111"/>
                </a:solidFill>
                <a:latin typeface="Microsoft YaHei"/>
              </a:defRPr>
            </a:pPr>
            <a:r>
              <a:t>约 3451 cm⁻¹：O–H 区域</a:t>
            </a:r>
          </a:p>
          <a:p>
            <a:pPr>
              <a:spcAft>
                <a:spcPts val="600"/>
              </a:spcAft>
              <a:defRPr sz="1600" b="0">
                <a:solidFill>
                  <a:srgbClr val="111111"/>
                </a:solidFill>
                <a:latin typeface="Microsoft YaHei"/>
              </a:defRPr>
            </a:pPr>
            <a:r>
              <a:t>约 2913 cm⁻¹：C–H 区域</a:t>
            </a:r>
          </a:p>
          <a:p>
            <a:pPr>
              <a:spcAft>
                <a:spcPts val="600"/>
              </a:spcAft>
              <a:defRPr sz="1600" b="0">
                <a:solidFill>
                  <a:srgbClr val="111111"/>
                </a:solidFill>
                <a:latin typeface="Microsoft YaHei"/>
              </a:defRPr>
            </a:pPr>
            <a:r>
              <a:t>指纹区与整体谱形差异</a:t>
            </a:r>
          </a:p>
        </p:txBody>
      </p:sp>
      <p:cxnSp>
        <p:nvCxnSpPr>
          <p:cNvPr id="45" name="Connector 44"/>
          <p:cNvCxnSpPr/>
          <p:nvPr/>
        </p:nvCxnSpPr>
        <p:spPr>
          <a:xfrm>
            <a:off x="7543800" y="4251959"/>
            <a:ext cx="0" cy="539497"/>
          </a:xfrm>
          <a:prstGeom prst="line">
            <a:avLst/>
          </a:prstGeom>
          <a:ln w="33020">
            <a:solidFill>
              <a:srgbClr val="203864"/>
            </a:solidFill>
          </a:ln>
          <a:effectLst/>
        </p:spPr>
        <p:style>
          <a:lnRef idx="2">
            <a:schemeClr val="accent1"/>
          </a:lnRef>
          <a:fillRef idx="0">
            <a:schemeClr val="accent1"/>
          </a:fillRef>
          <a:effectRef idx="0">
            <a:schemeClr val="accent1"/>
          </a:effectRef>
          <a:fontRef idx="minor">
            <a:schemeClr val="tx1"/>
          </a:fontRef>
        </p:style>
      </p:cxnSp>
      <p:sp>
        <p:nvSpPr>
          <p:cNvPr id="46" name="TextBox 45"/>
          <p:cNvSpPr txBox="1"/>
          <p:nvPr/>
        </p:nvSpPr>
        <p:spPr>
          <a:xfrm>
            <a:off x="7708392" y="4233672"/>
            <a:ext cx="3630168" cy="320040"/>
          </a:xfrm>
          <a:prstGeom prst="rect">
            <a:avLst/>
          </a:prstGeom>
          <a:noFill/>
          <a:effectLst/>
        </p:spPr>
        <p:txBody>
          <a:bodyPr wrap="square" lIns="22860" rIns="22860" tIns="0" bIns="0">
            <a:spAutoFit/>
          </a:bodyPr>
          <a:lstStyle/>
          <a:p>
            <a:pPr>
              <a:spcAft>
                <a:spcPts val="600"/>
              </a:spcAft>
              <a:defRPr sz="1800" b="1">
                <a:solidFill>
                  <a:srgbClr val="203864"/>
                </a:solidFill>
                <a:latin typeface="Microsoft YaHei"/>
              </a:defRPr>
            </a:pPr>
            <a:r>
              <a:t>不能据此认定的结果</a:t>
            </a:r>
          </a:p>
        </p:txBody>
      </p:sp>
      <p:sp>
        <p:nvSpPr>
          <p:cNvPr id="47" name="TextBox 46"/>
          <p:cNvSpPr txBox="1"/>
          <p:nvPr/>
        </p:nvSpPr>
        <p:spPr>
          <a:xfrm>
            <a:off x="7708392" y="4636008"/>
            <a:ext cx="3630168" cy="594360"/>
          </a:xfrm>
          <a:prstGeom prst="rect">
            <a:avLst/>
          </a:prstGeom>
          <a:noFill/>
          <a:effectLst/>
        </p:spPr>
        <p:txBody>
          <a:bodyPr wrap="square" lIns="22860" rIns="22860" tIns="0" bIns="0">
            <a:spAutoFit/>
          </a:bodyPr>
          <a:lstStyle/>
          <a:p>
            <a:pPr>
              <a:spcAft>
                <a:spcPts val="600"/>
              </a:spcAft>
              <a:defRPr sz="1600" b="0">
                <a:solidFill>
                  <a:srgbClr val="111111"/>
                </a:solidFill>
                <a:latin typeface="Microsoft YaHei"/>
              </a:defRPr>
            </a:pPr>
            <a:r>
              <a:t>有效脱氯量、分子量下降</a:t>
            </a:r>
          </a:p>
          <a:p>
            <a:pPr>
              <a:spcAft>
                <a:spcPts val="600"/>
              </a:spcAft>
              <a:defRPr sz="1600" b="0">
                <a:solidFill>
                  <a:srgbClr val="111111"/>
                </a:solidFill>
                <a:latin typeface="Microsoft YaHei"/>
              </a:defRPr>
            </a:pPr>
            <a:r>
              <a:t>或真实 C–C 主链断裂</a:t>
            </a:r>
          </a:p>
        </p:txBody>
      </p:sp>
      <p:sp>
        <p:nvSpPr>
          <p:cNvPr id="48" name="Rectangle 47"/>
          <p:cNvSpPr/>
          <p:nvPr/>
        </p:nvSpPr>
        <p:spPr>
          <a:xfrm>
            <a:off x="594360" y="5907024"/>
            <a:ext cx="11018520" cy="411480"/>
          </a:xfrm>
          <a:prstGeom prst="rect">
            <a:avLst/>
          </a:prstGeom>
          <a:solidFill>
            <a:srgbClr val="EEF3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777240" y="5980176"/>
            <a:ext cx="10652760" cy="265176"/>
          </a:xfrm>
          <a:prstGeom prst="rect">
            <a:avLst/>
          </a:prstGeom>
          <a:noFill/>
          <a:effectLst/>
        </p:spPr>
        <p:txBody>
          <a:bodyPr wrap="square" lIns="22860" rIns="22860" tIns="0" bIns="0">
            <a:spAutoFit/>
          </a:bodyPr>
          <a:lstStyle/>
          <a:p>
            <a:pPr>
              <a:spcAft>
                <a:spcPts val="600"/>
              </a:spcAft>
              <a:defRPr sz="1600" b="1">
                <a:solidFill>
                  <a:srgbClr val="203864"/>
                </a:solidFill>
                <a:latin typeface="Microsoft YaHei"/>
              </a:defRPr>
            </a:pPr>
            <a:r>
              <a:t>补齐未反应 PVC、统一基线与归一化，并以 SEC/GPC 独立检验链长变化。</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384048" y="329184"/>
            <a:ext cx="50292" cy="320040"/>
          </a:xfrm>
          <a:prstGeom prst="rect">
            <a:avLst/>
          </a:prstGeom>
          <a:solidFill>
            <a:srgbClr val="20386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869680" y="246888"/>
            <a:ext cx="2880360" cy="356616"/>
          </a:xfrm>
          <a:prstGeom prst="rect">
            <a:avLst/>
          </a:prstGeom>
          <a:noFill/>
          <a:effectLst/>
        </p:spPr>
        <p:txBody>
          <a:bodyPr wrap="square" lIns="22860" rIns="22860" tIns="0" bIns="0">
            <a:spAutoFit/>
          </a:bodyPr>
          <a:lstStyle/>
          <a:p>
            <a:pPr algn="r">
              <a:spcAft>
                <a:spcPts val="600"/>
              </a:spcAft>
              <a:defRPr sz="2100" b="1">
                <a:solidFill>
                  <a:srgbClr val="159BB6"/>
                </a:solidFill>
                <a:latin typeface="Microsoft YaHei"/>
              </a:defRPr>
            </a:pPr>
            <a:r>
              <a:t>北京工业大学</a:t>
            </a:r>
          </a:p>
        </p:txBody>
      </p:sp>
      <p:sp>
        <p:nvSpPr>
          <p:cNvPr id="4" name="TextBox 3"/>
          <p:cNvSpPr txBox="1"/>
          <p:nvPr/>
        </p:nvSpPr>
        <p:spPr>
          <a:xfrm>
            <a:off x="8686800" y="621792"/>
            <a:ext cx="3063240" cy="182880"/>
          </a:xfrm>
          <a:prstGeom prst="rect">
            <a:avLst/>
          </a:prstGeom>
          <a:noFill/>
          <a:effectLst/>
        </p:spPr>
        <p:txBody>
          <a:bodyPr wrap="square" lIns="22860" rIns="22860" tIns="0" bIns="0">
            <a:spAutoFit/>
          </a:bodyPr>
          <a:lstStyle/>
          <a:p>
            <a:pPr algn="r">
              <a:spcAft>
                <a:spcPts val="600"/>
              </a:spcAft>
              <a:defRPr sz="770" b="1">
                <a:solidFill>
                  <a:srgbClr val="159BB6"/>
                </a:solidFill>
                <a:latin typeface="Microsoft YaHei"/>
              </a:defRPr>
            </a:pPr>
            <a:r>
              <a:t>BEIJING UNIVERSITY OF TECHNOLOGY</a:t>
            </a:r>
          </a:p>
        </p:txBody>
      </p:sp>
      <p:sp>
        <p:nvSpPr>
          <p:cNvPr id="5" name="TextBox 4"/>
          <p:cNvSpPr txBox="1"/>
          <p:nvPr/>
        </p:nvSpPr>
        <p:spPr>
          <a:xfrm>
            <a:off x="594360" y="914400"/>
            <a:ext cx="11109960" cy="594360"/>
          </a:xfrm>
          <a:prstGeom prst="rect">
            <a:avLst/>
          </a:prstGeom>
          <a:noFill/>
          <a:effectLst/>
        </p:spPr>
        <p:txBody>
          <a:bodyPr wrap="square" lIns="22860" rIns="22860" tIns="0" bIns="0">
            <a:spAutoFit/>
          </a:bodyPr>
          <a:lstStyle/>
          <a:p>
            <a:pPr>
              <a:spcAft>
                <a:spcPts val="600"/>
              </a:spcAft>
              <a:defRPr sz="2600" b="1">
                <a:solidFill>
                  <a:srgbClr val="203864"/>
                </a:solidFill>
                <a:latin typeface="Microsoft YaHei"/>
              </a:defRPr>
            </a:pPr>
            <a:r>
              <a:t>模型与 PVC 的可比性受结构、吸光和聚集态共同限制</a:t>
            </a:r>
          </a:p>
        </p:txBody>
      </p:sp>
      <p:cxnSp>
        <p:nvCxnSpPr>
          <p:cNvPr id="6" name="Connector 5"/>
          <p:cNvCxnSpPr/>
          <p:nvPr/>
        </p:nvCxnSpPr>
        <p:spPr>
          <a:xfrm>
            <a:off x="594360" y="1636776"/>
            <a:ext cx="11018520" cy="0"/>
          </a:xfrm>
          <a:prstGeom prst="line">
            <a:avLst/>
          </a:prstGeom>
          <a:ln w="25400">
            <a:solidFill>
              <a:srgbClr val="203864"/>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40080" y="1773936"/>
            <a:ext cx="10972800" cy="393192"/>
          </a:xfrm>
          <a:prstGeom prst="rect">
            <a:avLst/>
          </a:prstGeom>
          <a:noFill/>
          <a:effectLst/>
        </p:spPr>
        <p:txBody>
          <a:bodyPr wrap="square" lIns="22860" rIns="22860" tIns="0" bIns="0">
            <a:spAutoFit/>
          </a:bodyPr>
          <a:lstStyle/>
          <a:p>
            <a:pPr>
              <a:spcAft>
                <a:spcPts val="600"/>
              </a:spcAft>
              <a:defRPr sz="1300" b="0">
                <a:solidFill>
                  <a:srgbClr val="566273"/>
                </a:solidFill>
                <a:latin typeface="Microsoft YaHei"/>
              </a:defRPr>
            </a:pPr>
            <a:r>
              <a:t>局部键型相似不等于反应性相同；365 nm 的直接反应还取决于实际吸收与激发态过程</a:t>
            </a:r>
          </a:p>
        </p:txBody>
      </p:sp>
      <p:cxnSp>
        <p:nvCxnSpPr>
          <p:cNvPr id="8" name="Connector 7"/>
          <p:cNvCxnSpPr/>
          <p:nvPr/>
        </p:nvCxnSpPr>
        <p:spPr>
          <a:xfrm>
            <a:off x="594360" y="6446520"/>
            <a:ext cx="11018520" cy="0"/>
          </a:xfrm>
          <a:prstGeom prst="line">
            <a:avLst/>
          </a:prstGeom>
          <a:ln w="10160">
            <a:solidFill>
              <a:srgbClr val="CED7E3"/>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94360" y="6547104"/>
            <a:ext cx="10469880" cy="182880"/>
          </a:xfrm>
          <a:prstGeom prst="rect">
            <a:avLst/>
          </a:prstGeom>
          <a:noFill/>
          <a:effectLst/>
        </p:spPr>
        <p:txBody>
          <a:bodyPr wrap="square" lIns="22860" rIns="22860" tIns="0" bIns="0">
            <a:spAutoFit/>
          </a:bodyPr>
          <a:lstStyle/>
          <a:p>
            <a:pPr>
              <a:spcAft>
                <a:spcPts val="600"/>
              </a:spcAft>
              <a:defRPr sz="800" b="0">
                <a:solidFill>
                  <a:srgbClr val="566273"/>
                </a:solidFill>
                <a:latin typeface="Arial"/>
              </a:defRPr>
            </a:pPr>
            <a:r>
              <a:t>Huang &amp; Wang, J. Polym. Sci. 2024, 62, 969–997. Chen et al., Environ. Sci. Ecotechnol. 2024, 22, 100449.</a:t>
            </a:r>
          </a:p>
        </p:txBody>
      </p:sp>
      <p:sp>
        <p:nvSpPr>
          <p:cNvPr id="10" name="TextBox 9"/>
          <p:cNvSpPr txBox="1"/>
          <p:nvPr/>
        </p:nvSpPr>
        <p:spPr>
          <a:xfrm>
            <a:off x="11137392" y="6510528"/>
            <a:ext cx="438912" cy="237744"/>
          </a:xfrm>
          <a:prstGeom prst="rect">
            <a:avLst/>
          </a:prstGeom>
          <a:noFill/>
          <a:effectLst/>
        </p:spPr>
        <p:txBody>
          <a:bodyPr wrap="square" lIns="22860" rIns="22860" tIns="0" bIns="0">
            <a:spAutoFit/>
          </a:bodyPr>
          <a:lstStyle/>
          <a:p>
            <a:pPr algn="r">
              <a:spcAft>
                <a:spcPts val="600"/>
              </a:spcAft>
              <a:defRPr sz="1100" b="1">
                <a:solidFill>
                  <a:srgbClr val="203864"/>
                </a:solidFill>
                <a:latin typeface="Microsoft YaHei"/>
              </a:defRPr>
            </a:pPr>
            <a:r>
              <a:t>14</a:t>
            </a:r>
          </a:p>
        </p:txBody>
      </p:sp>
      <p:sp>
        <p:nvSpPr>
          <p:cNvPr id="11" name="TextBox 10"/>
          <p:cNvSpPr txBox="1"/>
          <p:nvPr/>
        </p:nvSpPr>
        <p:spPr>
          <a:xfrm>
            <a:off x="877824" y="2478024"/>
            <a:ext cx="4901184" cy="429768"/>
          </a:xfrm>
          <a:prstGeom prst="rect">
            <a:avLst/>
          </a:prstGeom>
          <a:noFill/>
          <a:effectLst/>
        </p:spPr>
        <p:txBody>
          <a:bodyPr wrap="square" lIns="22860" rIns="22860" tIns="0" bIns="0">
            <a:spAutoFit/>
          </a:bodyPr>
          <a:lstStyle/>
          <a:p>
            <a:pPr>
              <a:spcAft>
                <a:spcPts val="600"/>
              </a:spcAft>
              <a:defRPr sz="2400" b="1">
                <a:solidFill>
                  <a:srgbClr val="111111"/>
                </a:solidFill>
                <a:latin typeface="Microsoft YaHei"/>
              </a:defRPr>
            </a:pPr>
            <a:r>
              <a:t>CH₃–CH(Cl)–CH₂–CH₂–CH₃</a:t>
            </a:r>
          </a:p>
        </p:txBody>
      </p:sp>
      <p:sp>
        <p:nvSpPr>
          <p:cNvPr id="12" name="Freeform 11"/>
          <p:cNvSpPr/>
          <p:nvPr/>
        </p:nvSpPr>
        <p:spPr>
          <a:xfrm>
            <a:off x="6556248" y="2532888"/>
            <a:ext cx="3346704" cy="164592"/>
          </a:xfrm>
          <a:custGeom>
            <a:avLst/>
            <a:gdLst/>
            <a:ahLst/>
            <a:cxnLst/>
            <a:rect l="l" t="t" r="r" b="b"/>
            <a:pathLst>
              <a:path w="3346704" h="164592">
                <a:moveTo>
                  <a:pt x="0" y="0"/>
                </a:moveTo>
                <a:lnTo>
                  <a:pt x="557784" y="164592"/>
                </a:lnTo>
                <a:lnTo>
                  <a:pt x="1115568" y="0"/>
                </a:lnTo>
                <a:lnTo>
                  <a:pt x="1673352" y="164592"/>
                </a:lnTo>
                <a:lnTo>
                  <a:pt x="2231136" y="0"/>
                </a:lnTo>
                <a:lnTo>
                  <a:pt x="2788919" y="164592"/>
                </a:lnTo>
                <a:lnTo>
                  <a:pt x="3346704" y="0"/>
                </a:lnTo>
              </a:path>
            </a:pathLst>
          </a:custGeom>
          <a:noFill/>
          <a:ln w="2286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3" name="Connector 12"/>
          <p:cNvCxnSpPr/>
          <p:nvPr/>
        </p:nvCxnSpPr>
        <p:spPr>
          <a:xfrm>
            <a:off x="7114032" y="2697480"/>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6986016" y="3099816"/>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15" name="Connector 14"/>
          <p:cNvCxnSpPr/>
          <p:nvPr/>
        </p:nvCxnSpPr>
        <p:spPr>
          <a:xfrm>
            <a:off x="8229600" y="2697480"/>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8101583" y="3099816"/>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17" name="Connector 16"/>
          <p:cNvCxnSpPr/>
          <p:nvPr/>
        </p:nvCxnSpPr>
        <p:spPr>
          <a:xfrm>
            <a:off x="9345167" y="2697480"/>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9217151" y="3099816"/>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sp>
        <p:nvSpPr>
          <p:cNvPr id="19" name="TextBox 18"/>
          <p:cNvSpPr txBox="1"/>
          <p:nvPr/>
        </p:nvSpPr>
        <p:spPr>
          <a:xfrm>
            <a:off x="6309360" y="2505456"/>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20" name="TextBox 19"/>
          <p:cNvSpPr txBox="1"/>
          <p:nvPr/>
        </p:nvSpPr>
        <p:spPr>
          <a:xfrm>
            <a:off x="9948672" y="2505456"/>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graphicFrame>
        <p:nvGraphicFramePr>
          <p:cNvPr id="21" name="Table 20"/>
          <p:cNvGraphicFramePr>
            <a:graphicFrameLocks noGrp="1"/>
          </p:cNvGraphicFramePr>
          <p:nvPr/>
        </p:nvGraphicFramePr>
        <p:xfrm>
          <a:off x="749808" y="3474720"/>
          <a:ext cx="10698480" cy="2048256"/>
        </p:xfrm>
        <a:graphic>
          <a:graphicData uri="http://schemas.openxmlformats.org/drawingml/2006/table">
            <a:tbl>
              <a:tblPr firstRow="1" bandRow="1">
                <a:tableStyleId>{5C22544A-7EE6-4342-B048-85BDC9FD1C3A}</a:tableStyleId>
              </a:tblPr>
              <a:tblGrid>
                <a:gridCol w="1847088"/>
                <a:gridCol w="4251960"/>
                <a:gridCol w="4599432"/>
              </a:tblGrid>
              <a:tr h="409651">
                <a:tc>
                  <a:txBody>
                    <a:bodyPr/>
                    <a:lstStyle/>
                    <a:p>
                      <a:pPr>
                        <a:defRPr sz="1400" b="1">
                          <a:solidFill>
                            <a:srgbClr val="FFFFFF"/>
                          </a:solidFill>
                          <a:latin typeface="Microsoft YaHei"/>
                        </a:defRPr>
                      </a:pPr>
                      <a:r>
                        <a:t>比较维度</a:t>
                      </a:r>
                    </a:p>
                  </a:txBody>
                  <a:tcPr marL="91440" marR="64008" marT="64008" marB="45720">
                    <a:solidFill>
                      <a:srgbClr val="203864"/>
                    </a:solidFill>
                  </a:tcPr>
                </a:tc>
                <a:tc>
                  <a:txBody>
                    <a:bodyPr/>
                    <a:lstStyle/>
                    <a:p>
                      <a:pPr>
                        <a:defRPr sz="1400" b="1">
                          <a:solidFill>
                            <a:srgbClr val="FFFFFF"/>
                          </a:solidFill>
                          <a:latin typeface="Microsoft YaHei"/>
                        </a:defRPr>
                      </a:pPr>
                      <a:r>
                        <a:t>氯代烷烃模型</a:t>
                      </a:r>
                    </a:p>
                  </a:txBody>
                  <a:tcPr marL="91440" marR="64008" marT="64008" marB="45720">
                    <a:solidFill>
                      <a:srgbClr val="203864"/>
                    </a:solidFill>
                  </a:tcPr>
                </a:tc>
                <a:tc>
                  <a:txBody>
                    <a:bodyPr/>
                    <a:lstStyle/>
                    <a:p>
                      <a:pPr>
                        <a:defRPr sz="1400" b="1">
                          <a:solidFill>
                            <a:srgbClr val="FFFFFF"/>
                          </a:solidFill>
                          <a:latin typeface="Microsoft YaHei"/>
                        </a:defRPr>
                      </a:pPr>
                      <a:r>
                        <a:t>PVC 聚合物</a:t>
                      </a:r>
                    </a:p>
                  </a:txBody>
                  <a:tcPr marL="91440" marR="64008" marT="64008" marB="45720">
                    <a:solidFill>
                      <a:srgbClr val="203864"/>
                    </a:solidFill>
                  </a:tcPr>
                </a:tc>
              </a:tr>
              <a:tr h="409651">
                <a:tc>
                  <a:txBody>
                    <a:bodyPr/>
                    <a:lstStyle/>
                    <a:p>
                      <a:pPr>
                        <a:defRPr sz="1400" b="0">
                          <a:solidFill>
                            <a:srgbClr val="111111"/>
                          </a:solidFill>
                          <a:latin typeface="Microsoft YaHei"/>
                        </a:defRPr>
                      </a:pPr>
                      <a:r>
                        <a:t>结构与反应位点</a:t>
                      </a:r>
                    </a:p>
                  </a:txBody>
                  <a:tcPr marL="91440" marR="64008" marT="64008" marB="45720">
                    <a:solidFill>
                      <a:srgbClr val="FFFFFF"/>
                    </a:solidFill>
                  </a:tcPr>
                </a:tc>
                <a:tc>
                  <a:txBody>
                    <a:bodyPr/>
                    <a:lstStyle/>
                    <a:p>
                      <a:pPr>
                        <a:defRPr sz="1400" b="0">
                          <a:solidFill>
                            <a:srgbClr val="111111"/>
                          </a:solidFill>
                          <a:latin typeface="Microsoft YaHei"/>
                        </a:defRPr>
                      </a:pPr>
                      <a:r>
                        <a:t>局部二级含氯碳；产物较易识别</a:t>
                      </a:r>
                    </a:p>
                  </a:txBody>
                  <a:tcPr marL="91440" marR="64008" marT="64008" marB="45720">
                    <a:solidFill>
                      <a:srgbClr val="FFFFFF"/>
                    </a:solidFill>
                  </a:tcPr>
                </a:tc>
                <a:tc>
                  <a:txBody>
                    <a:bodyPr/>
                    <a:lstStyle/>
                    <a:p>
                      <a:pPr>
                        <a:defRPr sz="1400" b="0">
                          <a:solidFill>
                            <a:srgbClr val="111111"/>
                          </a:solidFill>
                          <a:latin typeface="Microsoft YaHei"/>
                        </a:defRPr>
                      </a:pPr>
                      <a:r>
                        <a:t>连续位点、缺陷、多烯及添加剂</a:t>
                      </a:r>
                    </a:p>
                  </a:txBody>
                  <a:tcPr marL="91440" marR="64008" marT="64008" marB="45720">
                    <a:solidFill>
                      <a:srgbClr val="FFFFFF"/>
                    </a:solidFill>
                  </a:tcPr>
                </a:tc>
              </a:tr>
              <a:tr h="409651">
                <a:tc>
                  <a:txBody>
                    <a:bodyPr/>
                    <a:lstStyle/>
                    <a:p>
                      <a:pPr>
                        <a:defRPr sz="1400" b="0">
                          <a:solidFill>
                            <a:srgbClr val="111111"/>
                          </a:solidFill>
                          <a:latin typeface="Microsoft YaHei"/>
                        </a:defRPr>
                      </a:pPr>
                      <a:r>
                        <a:t>相态与传质</a:t>
                      </a:r>
                    </a:p>
                  </a:txBody>
                  <a:tcPr marL="91440" marR="64008" marT="64008" marB="45720">
                    <a:solidFill>
                      <a:srgbClr val="EEF3FA"/>
                    </a:solidFill>
                  </a:tcPr>
                </a:tc>
                <a:tc>
                  <a:txBody>
                    <a:bodyPr/>
                    <a:lstStyle/>
                    <a:p>
                      <a:pPr>
                        <a:defRPr sz="1400" b="0">
                          <a:solidFill>
                            <a:srgbClr val="111111"/>
                          </a:solidFill>
                          <a:latin typeface="Microsoft YaHei"/>
                        </a:defRPr>
                      </a:pPr>
                      <a:r>
                        <a:t>以溶液局部环境为主</a:t>
                      </a:r>
                    </a:p>
                  </a:txBody>
                  <a:tcPr marL="91440" marR="64008" marT="64008" marB="45720">
                    <a:solidFill>
                      <a:srgbClr val="EEF3FA"/>
                    </a:solidFill>
                  </a:tcPr>
                </a:tc>
                <a:tc>
                  <a:txBody>
                    <a:bodyPr/>
                    <a:lstStyle/>
                    <a:p>
                      <a:pPr>
                        <a:defRPr sz="1400" b="0">
                          <a:solidFill>
                            <a:srgbClr val="111111"/>
                          </a:solidFill>
                          <a:latin typeface="Microsoft YaHei"/>
                        </a:defRPr>
                      </a:pPr>
                      <a:r>
                        <a:t>溶胀、界面及氧扩散影响可及性</a:t>
                      </a:r>
                    </a:p>
                  </a:txBody>
                  <a:tcPr marL="91440" marR="64008" marT="64008" marB="45720">
                    <a:solidFill>
                      <a:srgbClr val="EEF3FA"/>
                    </a:solidFill>
                  </a:tcPr>
                </a:tc>
              </a:tr>
              <a:tr h="409651">
                <a:tc>
                  <a:txBody>
                    <a:bodyPr/>
                    <a:lstStyle/>
                    <a:p>
                      <a:pPr>
                        <a:defRPr sz="1400" b="0">
                          <a:solidFill>
                            <a:srgbClr val="111111"/>
                          </a:solidFill>
                          <a:latin typeface="Microsoft YaHei"/>
                        </a:defRPr>
                      </a:pPr>
                      <a:r>
                        <a:t>后续自由基命运</a:t>
                      </a:r>
                    </a:p>
                  </a:txBody>
                  <a:tcPr marL="91440" marR="64008" marT="64008" marB="45720">
                    <a:solidFill>
                      <a:srgbClr val="FFFFFF"/>
                    </a:solidFill>
                  </a:tcPr>
                </a:tc>
                <a:tc>
                  <a:txBody>
                    <a:bodyPr/>
                    <a:lstStyle/>
                    <a:p>
                      <a:pPr>
                        <a:defRPr sz="1400" b="0">
                          <a:solidFill>
                            <a:srgbClr val="111111"/>
                          </a:solidFill>
                          <a:latin typeface="Microsoft YaHei"/>
                        </a:defRPr>
                      </a:pPr>
                      <a:r>
                        <a:t>局部取代、氧化与终止</a:t>
                      </a:r>
                    </a:p>
                  </a:txBody>
                  <a:tcPr marL="91440" marR="64008" marT="64008" marB="45720">
                    <a:solidFill>
                      <a:srgbClr val="FFFFFF"/>
                    </a:solidFill>
                  </a:tcPr>
                </a:tc>
                <a:tc>
                  <a:txBody>
                    <a:bodyPr/>
                    <a:lstStyle/>
                    <a:p>
                      <a:pPr>
                        <a:defRPr sz="1400" b="0">
                          <a:solidFill>
                            <a:srgbClr val="111111"/>
                          </a:solidFill>
                          <a:latin typeface="Microsoft YaHei"/>
                        </a:defRPr>
                      </a:pPr>
                      <a:r>
                        <a:t>氧化、连续脱氯、交联与裂解竞争</a:t>
                      </a:r>
                    </a:p>
                  </a:txBody>
                  <a:tcPr marL="91440" marR="64008" marT="64008" marB="45720">
                    <a:solidFill>
                      <a:srgbClr val="FFFFFF"/>
                    </a:solidFill>
                  </a:tcPr>
                </a:tc>
              </a:tr>
              <a:tr h="409652">
                <a:tc>
                  <a:txBody>
                    <a:bodyPr/>
                    <a:lstStyle/>
                    <a:p>
                      <a:pPr>
                        <a:defRPr sz="1400" b="0">
                          <a:solidFill>
                            <a:srgbClr val="111111"/>
                          </a:solidFill>
                          <a:latin typeface="Microsoft YaHei"/>
                        </a:defRPr>
                      </a:pPr>
                      <a:r>
                        <a:t>吸光与反应启动</a:t>
                      </a:r>
                    </a:p>
                  </a:txBody>
                  <a:tcPr marL="91440" marR="64008" marT="64008" marB="45720">
                    <a:solidFill>
                      <a:srgbClr val="EEF3FA"/>
                    </a:solidFill>
                  </a:tcPr>
                </a:tc>
                <a:tc>
                  <a:txBody>
                    <a:bodyPr/>
                    <a:lstStyle/>
                    <a:p>
                      <a:pPr>
                        <a:defRPr sz="1400" b="0">
                          <a:solidFill>
                            <a:srgbClr val="111111"/>
                          </a:solidFill>
                          <a:latin typeface="Microsoft YaHei"/>
                        </a:defRPr>
                      </a:pPr>
                      <a:r>
                        <a:t>AQ / 介质 / 底物共同决定有效激发</a:t>
                      </a:r>
                    </a:p>
                  </a:txBody>
                  <a:tcPr marL="91440" marR="64008" marT="64008" marB="45720">
                    <a:solidFill>
                      <a:srgbClr val="EEF3FA"/>
                    </a:solidFill>
                  </a:tcPr>
                </a:tc>
                <a:tc>
                  <a:txBody>
                    <a:bodyPr/>
                    <a:lstStyle/>
                    <a:p>
                      <a:pPr>
                        <a:defRPr sz="1400" b="0">
                          <a:solidFill>
                            <a:srgbClr val="111111"/>
                          </a:solidFill>
                          <a:latin typeface="Microsoft YaHei"/>
                        </a:defRPr>
                      </a:pPr>
                      <a:r>
                        <a:t>发色结构与反应生成物可能改变吸光</a:t>
                      </a:r>
                    </a:p>
                  </a:txBody>
                  <a:tcPr marL="91440" marR="64008" marT="64008" marB="45720">
                    <a:solidFill>
                      <a:srgbClr val="EEF3FA"/>
                    </a:solidFill>
                  </a:tcPr>
                </a:tc>
              </a:tr>
            </a:tbl>
          </a:graphicData>
        </a:graphic>
      </p:graphicFrame>
      <p:sp>
        <p:nvSpPr>
          <p:cNvPr id="22" name="Rectangle 21"/>
          <p:cNvSpPr/>
          <p:nvPr/>
        </p:nvSpPr>
        <p:spPr>
          <a:xfrm>
            <a:off x="594360" y="5907024"/>
            <a:ext cx="11018520" cy="411480"/>
          </a:xfrm>
          <a:prstGeom prst="rect">
            <a:avLst/>
          </a:prstGeom>
          <a:solidFill>
            <a:srgbClr val="EEF3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777240" y="5980176"/>
            <a:ext cx="10652760" cy="265176"/>
          </a:xfrm>
          <a:prstGeom prst="rect">
            <a:avLst/>
          </a:prstGeom>
          <a:noFill/>
          <a:effectLst/>
        </p:spPr>
        <p:txBody>
          <a:bodyPr wrap="square" lIns="22860" rIns="22860" tIns="0" bIns="0">
            <a:spAutoFit/>
          </a:bodyPr>
          <a:lstStyle/>
          <a:p>
            <a:pPr>
              <a:spcAft>
                <a:spcPts val="600"/>
              </a:spcAft>
              <a:defRPr sz="1600" b="1">
                <a:solidFill>
                  <a:srgbClr val="203864"/>
                </a:solidFill>
                <a:latin typeface="Microsoft YaHei"/>
              </a:defRPr>
            </a:pPr>
            <a:r>
              <a:t>不能仅凭键能推定 365 nm 直接光解；需联合吸收、有效光通量与产物证据。</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384048" y="329184"/>
            <a:ext cx="50292" cy="320040"/>
          </a:xfrm>
          <a:prstGeom prst="rect">
            <a:avLst/>
          </a:prstGeom>
          <a:solidFill>
            <a:srgbClr val="20386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869680" y="246888"/>
            <a:ext cx="2880360" cy="356616"/>
          </a:xfrm>
          <a:prstGeom prst="rect">
            <a:avLst/>
          </a:prstGeom>
          <a:noFill/>
          <a:effectLst/>
        </p:spPr>
        <p:txBody>
          <a:bodyPr wrap="square" lIns="22860" rIns="22860" tIns="0" bIns="0">
            <a:spAutoFit/>
          </a:bodyPr>
          <a:lstStyle/>
          <a:p>
            <a:pPr algn="r">
              <a:spcAft>
                <a:spcPts val="600"/>
              </a:spcAft>
              <a:defRPr sz="2100" b="1">
                <a:solidFill>
                  <a:srgbClr val="159BB6"/>
                </a:solidFill>
                <a:latin typeface="Microsoft YaHei"/>
              </a:defRPr>
            </a:pPr>
            <a:r>
              <a:t>北京工业大学</a:t>
            </a:r>
          </a:p>
        </p:txBody>
      </p:sp>
      <p:sp>
        <p:nvSpPr>
          <p:cNvPr id="4" name="TextBox 3"/>
          <p:cNvSpPr txBox="1"/>
          <p:nvPr/>
        </p:nvSpPr>
        <p:spPr>
          <a:xfrm>
            <a:off x="8686800" y="621792"/>
            <a:ext cx="3063240" cy="182880"/>
          </a:xfrm>
          <a:prstGeom prst="rect">
            <a:avLst/>
          </a:prstGeom>
          <a:noFill/>
          <a:effectLst/>
        </p:spPr>
        <p:txBody>
          <a:bodyPr wrap="square" lIns="22860" rIns="22860" tIns="0" bIns="0">
            <a:spAutoFit/>
          </a:bodyPr>
          <a:lstStyle/>
          <a:p>
            <a:pPr algn="r">
              <a:spcAft>
                <a:spcPts val="600"/>
              </a:spcAft>
              <a:defRPr sz="770" b="1">
                <a:solidFill>
                  <a:srgbClr val="159BB6"/>
                </a:solidFill>
                <a:latin typeface="Microsoft YaHei"/>
              </a:defRPr>
            </a:pPr>
            <a:r>
              <a:t>BEIJING UNIVERSITY OF TECHNOLOGY</a:t>
            </a:r>
          </a:p>
        </p:txBody>
      </p:sp>
      <p:sp>
        <p:nvSpPr>
          <p:cNvPr id="5" name="TextBox 4"/>
          <p:cNvSpPr txBox="1"/>
          <p:nvPr/>
        </p:nvSpPr>
        <p:spPr>
          <a:xfrm>
            <a:off x="594360" y="914400"/>
            <a:ext cx="11109960" cy="594360"/>
          </a:xfrm>
          <a:prstGeom prst="rect">
            <a:avLst/>
          </a:prstGeom>
          <a:noFill/>
          <a:effectLst/>
        </p:spPr>
        <p:txBody>
          <a:bodyPr wrap="square" lIns="22860" rIns="22860" tIns="0" bIns="0">
            <a:spAutoFit/>
          </a:bodyPr>
          <a:lstStyle/>
          <a:p>
            <a:pPr>
              <a:spcAft>
                <a:spcPts val="600"/>
              </a:spcAft>
              <a:defRPr sz="2600" b="1">
                <a:solidFill>
                  <a:srgbClr val="203864"/>
                </a:solidFill>
                <a:latin typeface="Microsoft YaHei"/>
              </a:defRPr>
            </a:pPr>
            <a:r>
              <a:t>工作假说连接 AQ 光化学、介质竞争与 PVC 氧化支路</a:t>
            </a:r>
          </a:p>
        </p:txBody>
      </p:sp>
      <p:cxnSp>
        <p:nvCxnSpPr>
          <p:cNvPr id="6" name="Connector 5"/>
          <p:cNvCxnSpPr/>
          <p:nvPr/>
        </p:nvCxnSpPr>
        <p:spPr>
          <a:xfrm>
            <a:off x="594360" y="1636776"/>
            <a:ext cx="11018520" cy="0"/>
          </a:xfrm>
          <a:prstGeom prst="line">
            <a:avLst/>
          </a:prstGeom>
          <a:ln w="25400">
            <a:solidFill>
              <a:srgbClr val="203864"/>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40080" y="1773936"/>
            <a:ext cx="10972800" cy="393192"/>
          </a:xfrm>
          <a:prstGeom prst="rect">
            <a:avLst/>
          </a:prstGeom>
          <a:noFill/>
          <a:effectLst/>
        </p:spPr>
        <p:txBody>
          <a:bodyPr wrap="square" lIns="22860" rIns="22860" tIns="0" bIns="0">
            <a:spAutoFit/>
          </a:bodyPr>
          <a:lstStyle/>
          <a:p>
            <a:pPr>
              <a:spcAft>
                <a:spcPts val="600"/>
              </a:spcAft>
              <a:defRPr sz="1300" b="0">
                <a:solidFill>
                  <a:srgbClr val="566273"/>
                </a:solidFill>
                <a:latin typeface="Microsoft YaHei"/>
              </a:defRPr>
            </a:pPr>
            <a:r>
              <a:t>实线：一般文献过程；虚线：本体系合理推测；“?”：关键证据缺口。R· 表示碳中心自由基。</a:t>
            </a:r>
          </a:p>
        </p:txBody>
      </p:sp>
      <p:cxnSp>
        <p:nvCxnSpPr>
          <p:cNvPr id="8" name="Connector 7"/>
          <p:cNvCxnSpPr/>
          <p:nvPr/>
        </p:nvCxnSpPr>
        <p:spPr>
          <a:xfrm>
            <a:off x="594360" y="6446520"/>
            <a:ext cx="11018520" cy="0"/>
          </a:xfrm>
          <a:prstGeom prst="line">
            <a:avLst/>
          </a:prstGeom>
          <a:ln w="10160">
            <a:solidFill>
              <a:srgbClr val="CED7E3"/>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94360" y="6547104"/>
            <a:ext cx="10469880" cy="182880"/>
          </a:xfrm>
          <a:prstGeom prst="rect">
            <a:avLst/>
          </a:prstGeom>
          <a:noFill/>
          <a:effectLst/>
        </p:spPr>
        <p:txBody>
          <a:bodyPr wrap="square" lIns="22860" rIns="22860" tIns="0" bIns="0">
            <a:spAutoFit/>
          </a:bodyPr>
          <a:lstStyle/>
          <a:p>
            <a:pPr>
              <a:spcAft>
                <a:spcPts val="600"/>
              </a:spcAft>
              <a:defRPr sz="800" b="0">
                <a:solidFill>
                  <a:srgbClr val="566273"/>
                </a:solidFill>
                <a:latin typeface="Arial"/>
              </a:defRPr>
            </a:pPr>
            <a:r>
              <a:t>Gardette et al., Macromolecules 1989, 22, 2576–2581. Chen et al., Environ. Sci. Ecotechnol. 2024, 22, 100449. Su et al., Angew. Chem. Int. Ed. 2026, e5578835.</a:t>
            </a:r>
          </a:p>
        </p:txBody>
      </p:sp>
      <p:sp>
        <p:nvSpPr>
          <p:cNvPr id="10" name="TextBox 9"/>
          <p:cNvSpPr txBox="1"/>
          <p:nvPr/>
        </p:nvSpPr>
        <p:spPr>
          <a:xfrm>
            <a:off x="11137392" y="6510528"/>
            <a:ext cx="438912" cy="237744"/>
          </a:xfrm>
          <a:prstGeom prst="rect">
            <a:avLst/>
          </a:prstGeom>
          <a:noFill/>
          <a:effectLst/>
        </p:spPr>
        <p:txBody>
          <a:bodyPr wrap="square" lIns="22860" rIns="22860" tIns="0" bIns="0">
            <a:spAutoFit/>
          </a:bodyPr>
          <a:lstStyle/>
          <a:p>
            <a:pPr algn="r">
              <a:spcAft>
                <a:spcPts val="600"/>
              </a:spcAft>
              <a:defRPr sz="1100" b="1">
                <a:solidFill>
                  <a:srgbClr val="203864"/>
                </a:solidFill>
                <a:latin typeface="Microsoft YaHei"/>
              </a:defRPr>
            </a:pPr>
            <a:r>
              <a:t>15</a:t>
            </a:r>
          </a:p>
        </p:txBody>
      </p:sp>
      <p:sp>
        <p:nvSpPr>
          <p:cNvPr id="11" name="TextBox 10"/>
          <p:cNvSpPr txBox="1"/>
          <p:nvPr/>
        </p:nvSpPr>
        <p:spPr>
          <a:xfrm>
            <a:off x="804672" y="2404872"/>
            <a:ext cx="2514600" cy="356616"/>
          </a:xfrm>
          <a:prstGeom prst="rect">
            <a:avLst/>
          </a:prstGeom>
          <a:noFill/>
          <a:effectLst/>
        </p:spPr>
        <p:txBody>
          <a:bodyPr wrap="square" lIns="22860" rIns="22860" tIns="0" bIns="0">
            <a:spAutoFit/>
          </a:bodyPr>
          <a:lstStyle/>
          <a:p>
            <a:pPr>
              <a:spcAft>
                <a:spcPts val="600"/>
              </a:spcAft>
              <a:defRPr sz="2200" b="1">
                <a:solidFill>
                  <a:srgbClr val="203864"/>
                </a:solidFill>
                <a:latin typeface="Microsoft YaHei"/>
              </a:defRPr>
            </a:pPr>
            <a:r>
              <a:t>AQ 小循环</a:t>
            </a:r>
          </a:p>
        </p:txBody>
      </p:sp>
      <p:sp>
        <p:nvSpPr>
          <p:cNvPr id="12" name="Freeform 11"/>
          <p:cNvSpPr/>
          <p:nvPr/>
        </p:nvSpPr>
        <p:spPr>
          <a:xfrm>
            <a:off x="2333080" y="3094624"/>
            <a:ext cx="482577" cy="574752"/>
          </a:xfrm>
          <a:custGeom>
            <a:avLst/>
            <a:gdLst/>
            <a:ahLst/>
            <a:cxnLst/>
            <a:rect l="l" t="t" r="r" b="b"/>
            <a:pathLst>
              <a:path w="482577" h="574752">
                <a:moveTo>
                  <a:pt x="0" y="0"/>
                </a:moveTo>
                <a:lnTo>
                  <a:pt x="16469" y="7477"/>
                </a:lnTo>
                <a:lnTo>
                  <a:pt x="32768" y="15279"/>
                </a:lnTo>
                <a:lnTo>
                  <a:pt x="48891" y="23404"/>
                </a:lnTo>
                <a:lnTo>
                  <a:pt x="64830" y="31849"/>
                </a:lnTo>
                <a:lnTo>
                  <a:pt x="80578" y="40609"/>
                </a:lnTo>
                <a:lnTo>
                  <a:pt x="96128" y="49681"/>
                </a:lnTo>
                <a:lnTo>
                  <a:pt x="111474" y="59061"/>
                </a:lnTo>
                <a:lnTo>
                  <a:pt x="126608" y="68744"/>
                </a:lnTo>
                <a:lnTo>
                  <a:pt x="141523" y="78726"/>
                </a:lnTo>
                <a:lnTo>
                  <a:pt x="156214" y="89004"/>
                </a:lnTo>
                <a:lnTo>
                  <a:pt x="170674" y="99571"/>
                </a:lnTo>
                <a:lnTo>
                  <a:pt x="184896" y="110424"/>
                </a:lnTo>
                <a:lnTo>
                  <a:pt x="198874" y="121558"/>
                </a:lnTo>
                <a:lnTo>
                  <a:pt x="212602" y="132968"/>
                </a:lnTo>
                <a:lnTo>
                  <a:pt x="226073" y="144649"/>
                </a:lnTo>
                <a:lnTo>
                  <a:pt x="239283" y="156595"/>
                </a:lnTo>
                <a:lnTo>
                  <a:pt x="252224" y="168802"/>
                </a:lnTo>
                <a:lnTo>
                  <a:pt x="264892" y="181264"/>
                </a:lnTo>
                <a:lnTo>
                  <a:pt x="277280" y="193976"/>
                </a:lnTo>
                <a:lnTo>
                  <a:pt x="289384" y="206931"/>
                </a:lnTo>
                <a:lnTo>
                  <a:pt x="301197" y="220125"/>
                </a:lnTo>
                <a:lnTo>
                  <a:pt x="312716" y="233551"/>
                </a:lnTo>
                <a:lnTo>
                  <a:pt x="323933" y="247203"/>
                </a:lnTo>
                <a:lnTo>
                  <a:pt x="334845" y="261076"/>
                </a:lnTo>
                <a:lnTo>
                  <a:pt x="345447" y="275163"/>
                </a:lnTo>
                <a:lnTo>
                  <a:pt x="355734" y="289458"/>
                </a:lnTo>
                <a:lnTo>
                  <a:pt x="365702" y="303955"/>
                </a:lnTo>
                <a:lnTo>
                  <a:pt x="375346" y="318647"/>
                </a:lnTo>
                <a:lnTo>
                  <a:pt x="384661" y="333528"/>
                </a:lnTo>
                <a:lnTo>
                  <a:pt x="393644" y="348591"/>
                </a:lnTo>
                <a:lnTo>
                  <a:pt x="402291" y="363829"/>
                </a:lnTo>
                <a:lnTo>
                  <a:pt x="410598" y="379237"/>
                </a:lnTo>
                <a:lnTo>
                  <a:pt x="418562" y="394806"/>
                </a:lnTo>
                <a:lnTo>
                  <a:pt x="426178" y="410531"/>
                </a:lnTo>
                <a:lnTo>
                  <a:pt x="433443" y="426404"/>
                </a:lnTo>
                <a:lnTo>
                  <a:pt x="440355" y="442418"/>
                </a:lnTo>
                <a:lnTo>
                  <a:pt x="446909" y="458566"/>
                </a:lnTo>
                <a:lnTo>
                  <a:pt x="453104" y="474841"/>
                </a:lnTo>
                <a:lnTo>
                  <a:pt x="458937" y="491236"/>
                </a:lnTo>
                <a:lnTo>
                  <a:pt x="464404" y="507744"/>
                </a:lnTo>
                <a:lnTo>
                  <a:pt x="469504" y="524357"/>
                </a:lnTo>
                <a:lnTo>
                  <a:pt x="474234" y="541067"/>
                </a:lnTo>
                <a:lnTo>
                  <a:pt x="478592" y="557868"/>
                </a:lnTo>
                <a:lnTo>
                  <a:pt x="482577" y="574752"/>
                </a:lnTo>
              </a:path>
            </a:pathLst>
          </a:custGeom>
          <a:noFill/>
          <a:ln w="20320">
            <a:solidFill>
              <a:srgbClr val="203864"/>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Freeform 12"/>
          <p:cNvSpPr/>
          <p:nvPr/>
        </p:nvSpPr>
        <p:spPr>
          <a:xfrm>
            <a:off x="2319283" y="4081090"/>
            <a:ext cx="477399" cy="511201"/>
          </a:xfrm>
          <a:custGeom>
            <a:avLst/>
            <a:gdLst/>
            <a:ahLst/>
            <a:cxnLst/>
            <a:rect l="l" t="t" r="r" b="b"/>
            <a:pathLst>
              <a:path w="477399" h="511201">
                <a:moveTo>
                  <a:pt x="477399" y="0"/>
                </a:moveTo>
                <a:lnTo>
                  <a:pt x="472306" y="15250"/>
                </a:lnTo>
                <a:lnTo>
                  <a:pt x="466901" y="30404"/>
                </a:lnTo>
                <a:lnTo>
                  <a:pt x="461186" y="45455"/>
                </a:lnTo>
                <a:lnTo>
                  <a:pt x="455164" y="60398"/>
                </a:lnTo>
                <a:lnTo>
                  <a:pt x="448836" y="75227"/>
                </a:lnTo>
                <a:lnTo>
                  <a:pt x="442205" y="89937"/>
                </a:lnTo>
                <a:lnTo>
                  <a:pt x="435274" y="104523"/>
                </a:lnTo>
                <a:lnTo>
                  <a:pt x="428044" y="118977"/>
                </a:lnTo>
                <a:lnTo>
                  <a:pt x="420520" y="133296"/>
                </a:lnTo>
                <a:lnTo>
                  <a:pt x="412703" y="147474"/>
                </a:lnTo>
                <a:lnTo>
                  <a:pt x="404596" y="161505"/>
                </a:lnTo>
                <a:lnTo>
                  <a:pt x="396204" y="175384"/>
                </a:lnTo>
                <a:lnTo>
                  <a:pt x="387528" y="189107"/>
                </a:lnTo>
                <a:lnTo>
                  <a:pt x="378572" y="202666"/>
                </a:lnTo>
                <a:lnTo>
                  <a:pt x="369340" y="216059"/>
                </a:lnTo>
                <a:lnTo>
                  <a:pt x="359835" y="229278"/>
                </a:lnTo>
                <a:lnTo>
                  <a:pt x="350060" y="242321"/>
                </a:lnTo>
                <a:lnTo>
                  <a:pt x="340020" y="255180"/>
                </a:lnTo>
                <a:lnTo>
                  <a:pt x="329718" y="267853"/>
                </a:lnTo>
                <a:lnTo>
                  <a:pt x="319158" y="280333"/>
                </a:lnTo>
                <a:lnTo>
                  <a:pt x="308344" y="292617"/>
                </a:lnTo>
                <a:lnTo>
                  <a:pt x="297279" y="304699"/>
                </a:lnTo>
                <a:lnTo>
                  <a:pt x="285969" y="316576"/>
                </a:lnTo>
                <a:lnTo>
                  <a:pt x="274418" y="328241"/>
                </a:lnTo>
                <a:lnTo>
                  <a:pt x="262629" y="339692"/>
                </a:lnTo>
                <a:lnTo>
                  <a:pt x="250608" y="350924"/>
                </a:lnTo>
                <a:lnTo>
                  <a:pt x="238358" y="361932"/>
                </a:lnTo>
                <a:lnTo>
                  <a:pt x="225885" y="372712"/>
                </a:lnTo>
                <a:lnTo>
                  <a:pt x="213194" y="383261"/>
                </a:lnTo>
                <a:lnTo>
                  <a:pt x="200288" y="393574"/>
                </a:lnTo>
                <a:lnTo>
                  <a:pt x="187173" y="403648"/>
                </a:lnTo>
                <a:lnTo>
                  <a:pt x="173854" y="413478"/>
                </a:lnTo>
                <a:lnTo>
                  <a:pt x="160335" y="423061"/>
                </a:lnTo>
                <a:lnTo>
                  <a:pt x="146623" y="432394"/>
                </a:lnTo>
                <a:lnTo>
                  <a:pt x="132722" y="441472"/>
                </a:lnTo>
                <a:lnTo>
                  <a:pt x="118637" y="450292"/>
                </a:lnTo>
                <a:lnTo>
                  <a:pt x="104374" y="458852"/>
                </a:lnTo>
                <a:lnTo>
                  <a:pt x="89938" y="467147"/>
                </a:lnTo>
                <a:lnTo>
                  <a:pt x="75334" y="475175"/>
                </a:lnTo>
                <a:lnTo>
                  <a:pt x="60569" y="482932"/>
                </a:lnTo>
                <a:lnTo>
                  <a:pt x="45647" y="490416"/>
                </a:lnTo>
                <a:lnTo>
                  <a:pt x="30575" y="497624"/>
                </a:lnTo>
                <a:lnTo>
                  <a:pt x="15357" y="504553"/>
                </a:lnTo>
                <a:lnTo>
                  <a:pt x="0" y="511201"/>
                </a:lnTo>
              </a:path>
            </a:pathLst>
          </a:custGeom>
          <a:noFill/>
          <a:ln w="20320">
            <a:solidFill>
              <a:srgbClr val="203864"/>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Freeform 13"/>
          <p:cNvSpPr/>
          <p:nvPr/>
        </p:nvSpPr>
        <p:spPr>
          <a:xfrm>
            <a:off x="1097304" y="3082941"/>
            <a:ext cx="529235" cy="1484169"/>
          </a:xfrm>
          <a:custGeom>
            <a:avLst/>
            <a:gdLst/>
            <a:ahLst/>
            <a:cxnLst/>
            <a:rect l="l" t="t" r="r" b="b"/>
            <a:pathLst>
              <a:path w="529235" h="1484169">
                <a:moveTo>
                  <a:pt x="460835" y="1484169"/>
                </a:moveTo>
                <a:lnTo>
                  <a:pt x="422139" y="1463457"/>
                </a:lnTo>
                <a:lnTo>
                  <a:pt x="384611" y="1440897"/>
                </a:lnTo>
                <a:lnTo>
                  <a:pt x="348351" y="1416547"/>
                </a:lnTo>
                <a:lnTo>
                  <a:pt x="313453" y="1390473"/>
                </a:lnTo>
                <a:lnTo>
                  <a:pt x="280008" y="1362742"/>
                </a:lnTo>
                <a:lnTo>
                  <a:pt x="248104" y="1333427"/>
                </a:lnTo>
                <a:lnTo>
                  <a:pt x="217824" y="1302604"/>
                </a:lnTo>
                <a:lnTo>
                  <a:pt x="189249" y="1270354"/>
                </a:lnTo>
                <a:lnTo>
                  <a:pt x="162452" y="1236762"/>
                </a:lnTo>
                <a:lnTo>
                  <a:pt x="137503" y="1201915"/>
                </a:lnTo>
                <a:lnTo>
                  <a:pt x="114469" y="1165905"/>
                </a:lnTo>
                <a:lnTo>
                  <a:pt x="93408" y="1128826"/>
                </a:lnTo>
                <a:lnTo>
                  <a:pt x="74378" y="1090775"/>
                </a:lnTo>
                <a:lnTo>
                  <a:pt x="57426" y="1051851"/>
                </a:lnTo>
                <a:lnTo>
                  <a:pt x="42598" y="1012158"/>
                </a:lnTo>
                <a:lnTo>
                  <a:pt x="29933" y="971797"/>
                </a:lnTo>
                <a:lnTo>
                  <a:pt x="19463" y="930876"/>
                </a:lnTo>
                <a:lnTo>
                  <a:pt x="11216" y="889501"/>
                </a:lnTo>
                <a:lnTo>
                  <a:pt x="5214" y="847781"/>
                </a:lnTo>
                <a:lnTo>
                  <a:pt x="1472" y="805824"/>
                </a:lnTo>
                <a:lnTo>
                  <a:pt x="0" y="763741"/>
                </a:lnTo>
                <a:lnTo>
                  <a:pt x="802" y="721641"/>
                </a:lnTo>
                <a:lnTo>
                  <a:pt x="3876" y="679636"/>
                </a:lnTo>
                <a:lnTo>
                  <a:pt x="9214" y="637835"/>
                </a:lnTo>
                <a:lnTo>
                  <a:pt x="16802" y="596347"/>
                </a:lnTo>
                <a:lnTo>
                  <a:pt x="26619" y="555281"/>
                </a:lnTo>
                <a:lnTo>
                  <a:pt x="38641" y="514744"/>
                </a:lnTo>
                <a:lnTo>
                  <a:pt x="52836" y="474843"/>
                </a:lnTo>
                <a:lnTo>
                  <a:pt x="69166" y="435682"/>
                </a:lnTo>
                <a:lnTo>
                  <a:pt x="87589" y="397363"/>
                </a:lnTo>
                <a:lnTo>
                  <a:pt x="108057" y="359988"/>
                </a:lnTo>
                <a:lnTo>
                  <a:pt x="130516" y="323653"/>
                </a:lnTo>
                <a:lnTo>
                  <a:pt x="154907" y="288454"/>
                </a:lnTo>
                <a:lnTo>
                  <a:pt x="181167" y="254483"/>
                </a:lnTo>
                <a:lnTo>
                  <a:pt x="209226" y="221829"/>
                </a:lnTo>
                <a:lnTo>
                  <a:pt x="239012" y="190577"/>
                </a:lnTo>
                <a:lnTo>
                  <a:pt x="270446" y="160809"/>
                </a:lnTo>
                <a:lnTo>
                  <a:pt x="303446" y="132604"/>
                </a:lnTo>
                <a:lnTo>
                  <a:pt x="337925" y="106034"/>
                </a:lnTo>
                <a:lnTo>
                  <a:pt x="373794" y="81170"/>
                </a:lnTo>
                <a:lnTo>
                  <a:pt x="410958" y="58076"/>
                </a:lnTo>
                <a:lnTo>
                  <a:pt x="449321" y="36814"/>
                </a:lnTo>
                <a:lnTo>
                  <a:pt x="488781" y="17438"/>
                </a:lnTo>
                <a:lnTo>
                  <a:pt x="529235" y="0"/>
                </a:lnTo>
              </a:path>
            </a:pathLst>
          </a:custGeom>
          <a:noFill/>
          <a:ln w="20320">
            <a:solidFill>
              <a:srgbClr val="203864"/>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1444752" y="2770632"/>
            <a:ext cx="1060704" cy="384048"/>
          </a:xfrm>
          <a:prstGeom prst="rect">
            <a:avLst/>
          </a:prstGeom>
          <a:noFill/>
          <a:effectLst/>
        </p:spPr>
        <p:txBody>
          <a:bodyPr wrap="square" lIns="22860" rIns="22860" tIns="0" bIns="0">
            <a:spAutoFit/>
          </a:bodyPr>
          <a:lstStyle/>
          <a:p>
            <a:pPr algn="ctr">
              <a:spcAft>
                <a:spcPts val="600"/>
              </a:spcAft>
              <a:defRPr sz="2500" b="1">
                <a:solidFill>
                  <a:srgbClr val="203864"/>
                </a:solidFill>
                <a:latin typeface="Microsoft YaHei"/>
              </a:defRPr>
            </a:pPr>
            <a:r>
              <a:t>AQ</a:t>
            </a:r>
          </a:p>
        </p:txBody>
      </p:sp>
      <p:sp>
        <p:nvSpPr>
          <p:cNvPr id="16" name="TextBox 15"/>
          <p:cNvSpPr txBox="1"/>
          <p:nvPr/>
        </p:nvSpPr>
        <p:spPr>
          <a:xfrm>
            <a:off x="2551176" y="3666744"/>
            <a:ext cx="914400" cy="393192"/>
          </a:xfrm>
          <a:prstGeom prst="rect">
            <a:avLst/>
          </a:prstGeom>
          <a:noFill/>
          <a:effectLst/>
        </p:spPr>
        <p:txBody>
          <a:bodyPr wrap="square" lIns="22860" rIns="22860" tIns="0" bIns="0">
            <a:spAutoFit/>
          </a:bodyPr>
          <a:lstStyle/>
          <a:p>
            <a:pPr>
              <a:spcAft>
                <a:spcPts val="600"/>
              </a:spcAft>
              <a:defRPr sz="2300" b="1">
                <a:solidFill>
                  <a:srgbClr val="203864"/>
                </a:solidFill>
                <a:latin typeface="Microsoft YaHei"/>
              </a:defRPr>
            </a:pPr>
            <a:r>
              <a:t>AQ*</a:t>
            </a:r>
          </a:p>
        </p:txBody>
      </p:sp>
      <p:sp>
        <p:nvSpPr>
          <p:cNvPr id="17" name="TextBox 16"/>
          <p:cNvSpPr txBox="1"/>
          <p:nvPr/>
        </p:nvSpPr>
        <p:spPr>
          <a:xfrm>
            <a:off x="941832" y="4709160"/>
            <a:ext cx="2194560" cy="393192"/>
          </a:xfrm>
          <a:prstGeom prst="rect">
            <a:avLst/>
          </a:prstGeom>
          <a:noFill/>
          <a:effectLst/>
        </p:spPr>
        <p:txBody>
          <a:bodyPr wrap="square" lIns="22860" rIns="22860" tIns="0" bIns="0">
            <a:spAutoFit/>
          </a:bodyPr>
          <a:lstStyle/>
          <a:p>
            <a:pPr algn="ctr">
              <a:spcAft>
                <a:spcPts val="600"/>
              </a:spcAft>
              <a:defRPr sz="1900" b="1">
                <a:solidFill>
                  <a:srgbClr val="203864"/>
                </a:solidFill>
                <a:latin typeface="Microsoft YaHei"/>
              </a:defRPr>
            </a:pPr>
            <a:r>
              <a:t>AQH· / AHQ</a:t>
            </a:r>
          </a:p>
        </p:txBody>
      </p:sp>
      <p:sp>
        <p:nvSpPr>
          <p:cNvPr id="18" name="TextBox 17"/>
          <p:cNvSpPr txBox="1"/>
          <p:nvPr/>
        </p:nvSpPr>
        <p:spPr>
          <a:xfrm>
            <a:off x="2633472" y="3182112"/>
            <a:ext cx="548640" cy="283464"/>
          </a:xfrm>
          <a:prstGeom prst="rect">
            <a:avLst/>
          </a:prstGeom>
          <a:noFill/>
          <a:effectLst/>
        </p:spPr>
        <p:txBody>
          <a:bodyPr wrap="square" lIns="22860" rIns="22860" tIns="0" bIns="0">
            <a:spAutoFit/>
          </a:bodyPr>
          <a:lstStyle/>
          <a:p>
            <a:pPr>
              <a:spcAft>
                <a:spcPts val="600"/>
              </a:spcAft>
              <a:defRPr sz="1800" b="1">
                <a:solidFill>
                  <a:srgbClr val="111111"/>
                </a:solidFill>
                <a:latin typeface="Microsoft YaHei"/>
              </a:defRPr>
            </a:pPr>
            <a:r>
              <a:t>hν</a:t>
            </a:r>
          </a:p>
        </p:txBody>
      </p:sp>
      <p:sp>
        <p:nvSpPr>
          <p:cNvPr id="19" name="TextBox 18"/>
          <p:cNvSpPr txBox="1"/>
          <p:nvPr/>
        </p:nvSpPr>
        <p:spPr>
          <a:xfrm>
            <a:off x="2770632" y="4334256"/>
            <a:ext cx="722376" cy="521207"/>
          </a:xfrm>
          <a:prstGeom prst="rect">
            <a:avLst/>
          </a:prstGeom>
          <a:noFill/>
          <a:effectLst/>
        </p:spPr>
        <p:txBody>
          <a:bodyPr wrap="square" lIns="22860" rIns="22860" tIns="0" bIns="0">
            <a:spAutoFit/>
          </a:bodyPr>
          <a:lstStyle/>
          <a:p>
            <a:pPr>
              <a:spcAft>
                <a:spcPts val="600"/>
              </a:spcAft>
              <a:defRPr sz="1100" b="0">
                <a:solidFill>
                  <a:srgbClr val="111111"/>
                </a:solidFill>
                <a:latin typeface="Microsoft YaHei"/>
              </a:defRPr>
            </a:pPr>
            <a:r>
              <a:t>R–H</a:t>
            </a:r>
          </a:p>
          <a:p>
            <a:pPr>
              <a:spcAft>
                <a:spcPts val="600"/>
              </a:spcAft>
              <a:defRPr sz="1100" b="0">
                <a:solidFill>
                  <a:srgbClr val="111111"/>
                </a:solidFill>
                <a:latin typeface="Microsoft YaHei"/>
              </a:defRPr>
            </a:pPr>
            <a:r>
              <a:t>HAT / ET</a:t>
            </a:r>
          </a:p>
        </p:txBody>
      </p:sp>
      <p:sp>
        <p:nvSpPr>
          <p:cNvPr id="20" name="TextBox 19"/>
          <p:cNvSpPr txBox="1"/>
          <p:nvPr/>
        </p:nvSpPr>
        <p:spPr>
          <a:xfrm>
            <a:off x="438912" y="3621024"/>
            <a:ext cx="502920" cy="292608"/>
          </a:xfrm>
          <a:prstGeom prst="rect">
            <a:avLst/>
          </a:prstGeom>
          <a:noFill/>
          <a:effectLst/>
        </p:spPr>
        <p:txBody>
          <a:bodyPr wrap="square" lIns="22860" rIns="22860" tIns="0" bIns="0">
            <a:spAutoFit/>
          </a:bodyPr>
          <a:lstStyle/>
          <a:p>
            <a:pPr>
              <a:spcAft>
                <a:spcPts val="600"/>
              </a:spcAft>
              <a:defRPr sz="1600" b="1">
                <a:solidFill>
                  <a:srgbClr val="111111"/>
                </a:solidFill>
                <a:latin typeface="Microsoft YaHei"/>
              </a:defRPr>
            </a:pPr>
            <a:r>
              <a:t>O₂</a:t>
            </a:r>
          </a:p>
        </p:txBody>
      </p:sp>
      <p:sp>
        <p:nvSpPr>
          <p:cNvPr id="21" name="TextBox 20"/>
          <p:cNvSpPr txBox="1"/>
          <p:nvPr/>
        </p:nvSpPr>
        <p:spPr>
          <a:xfrm>
            <a:off x="384048" y="4160520"/>
            <a:ext cx="658368" cy="502920"/>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再氧化</a:t>
            </a:r>
          </a:p>
          <a:p>
            <a:pPr>
              <a:spcAft>
                <a:spcPts val="600"/>
              </a:spcAft>
              <a:defRPr sz="1000" b="0">
                <a:solidFill>
                  <a:srgbClr val="566273"/>
                </a:solidFill>
                <a:latin typeface="Microsoft YaHei"/>
              </a:defRPr>
            </a:pPr>
            <a:r>
              <a:t>恢复 AQ</a:t>
            </a:r>
          </a:p>
        </p:txBody>
      </p:sp>
      <p:sp>
        <p:nvSpPr>
          <p:cNvPr id="22" name="TextBox 21"/>
          <p:cNvSpPr txBox="1"/>
          <p:nvPr/>
        </p:nvSpPr>
        <p:spPr>
          <a:xfrm>
            <a:off x="1362456" y="3657600"/>
            <a:ext cx="1143000" cy="594360"/>
          </a:xfrm>
          <a:prstGeom prst="rect">
            <a:avLst/>
          </a:prstGeom>
          <a:noFill/>
          <a:effectLst/>
        </p:spPr>
        <p:txBody>
          <a:bodyPr wrap="square" lIns="22860" rIns="22860" tIns="0" bIns="0">
            <a:spAutoFit/>
          </a:bodyPr>
          <a:lstStyle/>
          <a:p>
            <a:pPr algn="ctr">
              <a:spcAft>
                <a:spcPts val="600"/>
              </a:spcAft>
              <a:defRPr sz="1600" b="1">
                <a:solidFill>
                  <a:srgbClr val="111111"/>
                </a:solidFill>
                <a:latin typeface="Microsoft YaHei"/>
              </a:defRPr>
            </a:pPr>
            <a:r>
              <a:t>攫氢</a:t>
            </a:r>
          </a:p>
          <a:p>
            <a:pPr algn="ctr">
              <a:spcAft>
                <a:spcPts val="600"/>
              </a:spcAft>
              <a:defRPr sz="1600" b="1">
                <a:solidFill>
                  <a:srgbClr val="111111"/>
                </a:solidFill>
                <a:latin typeface="Microsoft YaHei"/>
              </a:defRPr>
            </a:pPr>
            <a:r>
              <a:t>再生</a:t>
            </a:r>
          </a:p>
        </p:txBody>
      </p:sp>
      <p:sp>
        <p:nvSpPr>
          <p:cNvPr id="23" name="TextBox 22"/>
          <p:cNvSpPr txBox="1"/>
          <p:nvPr/>
        </p:nvSpPr>
        <p:spPr>
          <a:xfrm>
            <a:off x="804672" y="5266944"/>
            <a:ext cx="2834640" cy="457200"/>
          </a:xfrm>
          <a:prstGeom prst="rect">
            <a:avLst/>
          </a:prstGeom>
          <a:noFill/>
          <a:effectLst/>
        </p:spPr>
        <p:txBody>
          <a:bodyPr wrap="square" lIns="22860" rIns="22860" tIns="0" bIns="0">
            <a:spAutoFit/>
          </a:bodyPr>
          <a:lstStyle/>
          <a:p>
            <a:pPr>
              <a:spcAft>
                <a:spcPts val="600"/>
              </a:spcAft>
              <a:defRPr sz="1100" b="0">
                <a:solidFill>
                  <a:srgbClr val="566273"/>
                </a:solidFill>
                <a:latin typeface="Microsoft YaHei"/>
              </a:defRPr>
            </a:pPr>
            <a:r>
              <a:t>AQ* + O₂ → ROS ?</a:t>
            </a:r>
          </a:p>
          <a:p>
            <a:pPr>
              <a:spcAft>
                <a:spcPts val="600"/>
              </a:spcAft>
              <a:defRPr sz="1100" b="0">
                <a:solidFill>
                  <a:srgbClr val="566273"/>
                </a:solidFill>
                <a:latin typeface="Microsoft YaHei"/>
              </a:defRPr>
            </a:pPr>
            <a:r>
              <a:t>AQ* + DCE / 模型 → 竞争转化 ?</a:t>
            </a:r>
          </a:p>
        </p:txBody>
      </p:sp>
      <p:cxnSp>
        <p:nvCxnSpPr>
          <p:cNvPr id="24" name="Connector 23"/>
          <p:cNvCxnSpPr/>
          <p:nvPr/>
        </p:nvCxnSpPr>
        <p:spPr>
          <a:xfrm>
            <a:off x="3749039" y="2395728"/>
            <a:ext cx="0" cy="3191256"/>
          </a:xfrm>
          <a:prstGeom prst="line">
            <a:avLst/>
          </a:prstGeom>
          <a:ln w="12700">
            <a:solidFill>
              <a:srgbClr val="D7DEE8"/>
            </a:solidFill>
          </a:ln>
          <a:effectLst/>
        </p:spPr>
        <p:style>
          <a:lnRef idx="2">
            <a:schemeClr val="accent1"/>
          </a:lnRef>
          <a:fillRef idx="0">
            <a:schemeClr val="accent1"/>
          </a:fillRef>
          <a:effectRef idx="0">
            <a:schemeClr val="accent1"/>
          </a:effectRef>
          <a:fontRef idx="minor">
            <a:schemeClr val="tx1"/>
          </a:fontRef>
        </p:style>
      </p:cxnSp>
      <p:sp>
        <p:nvSpPr>
          <p:cNvPr id="25" name="Freeform 24"/>
          <p:cNvSpPr/>
          <p:nvPr/>
        </p:nvSpPr>
        <p:spPr>
          <a:xfrm>
            <a:off x="4956048" y="2395728"/>
            <a:ext cx="5212080" cy="173736"/>
          </a:xfrm>
          <a:custGeom>
            <a:avLst/>
            <a:gdLst/>
            <a:ahLst/>
            <a:cxnLst/>
            <a:rect l="l" t="t" r="r" b="b"/>
            <a:pathLst>
              <a:path w="5212080" h="173736">
                <a:moveTo>
                  <a:pt x="0" y="0"/>
                </a:moveTo>
                <a:lnTo>
                  <a:pt x="521208" y="173736"/>
                </a:lnTo>
                <a:lnTo>
                  <a:pt x="1042416" y="0"/>
                </a:lnTo>
                <a:lnTo>
                  <a:pt x="1563624" y="173736"/>
                </a:lnTo>
                <a:lnTo>
                  <a:pt x="2084831" y="0"/>
                </a:lnTo>
                <a:lnTo>
                  <a:pt x="2606040" y="173736"/>
                </a:lnTo>
                <a:lnTo>
                  <a:pt x="3127248" y="0"/>
                </a:lnTo>
                <a:lnTo>
                  <a:pt x="3648456" y="173736"/>
                </a:lnTo>
                <a:lnTo>
                  <a:pt x="4169664" y="0"/>
                </a:lnTo>
                <a:lnTo>
                  <a:pt x="4690872" y="173736"/>
                </a:lnTo>
                <a:lnTo>
                  <a:pt x="5212080" y="0"/>
                </a:lnTo>
              </a:path>
            </a:pathLst>
          </a:custGeom>
          <a:noFill/>
          <a:ln w="2286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6" name="Connector 25"/>
          <p:cNvCxnSpPr/>
          <p:nvPr/>
        </p:nvCxnSpPr>
        <p:spPr>
          <a:xfrm>
            <a:off x="5477256" y="2569464"/>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7" name="TextBox 26"/>
          <p:cNvSpPr txBox="1"/>
          <p:nvPr/>
        </p:nvSpPr>
        <p:spPr>
          <a:xfrm>
            <a:off x="5349240" y="2971800"/>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28" name="Connector 27"/>
          <p:cNvCxnSpPr/>
          <p:nvPr/>
        </p:nvCxnSpPr>
        <p:spPr>
          <a:xfrm>
            <a:off x="6519672" y="2569464"/>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6391656" y="2971800"/>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30" name="Connector 29"/>
          <p:cNvCxnSpPr/>
          <p:nvPr/>
        </p:nvCxnSpPr>
        <p:spPr>
          <a:xfrm>
            <a:off x="7562088" y="2569464"/>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1" name="TextBox 30"/>
          <p:cNvSpPr txBox="1"/>
          <p:nvPr/>
        </p:nvSpPr>
        <p:spPr>
          <a:xfrm>
            <a:off x="7434071" y="2971800"/>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32" name="Connector 31"/>
          <p:cNvCxnSpPr/>
          <p:nvPr/>
        </p:nvCxnSpPr>
        <p:spPr>
          <a:xfrm>
            <a:off x="8604504" y="2569464"/>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3" name="TextBox 32"/>
          <p:cNvSpPr txBox="1"/>
          <p:nvPr/>
        </p:nvSpPr>
        <p:spPr>
          <a:xfrm>
            <a:off x="8476488" y="2971800"/>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34" name="Connector 33"/>
          <p:cNvCxnSpPr/>
          <p:nvPr/>
        </p:nvCxnSpPr>
        <p:spPr>
          <a:xfrm>
            <a:off x="9646920" y="2569464"/>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5" name="TextBox 34"/>
          <p:cNvSpPr txBox="1"/>
          <p:nvPr/>
        </p:nvSpPr>
        <p:spPr>
          <a:xfrm>
            <a:off x="9518904" y="2971800"/>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sp>
        <p:nvSpPr>
          <p:cNvPr id="36" name="TextBox 35"/>
          <p:cNvSpPr txBox="1"/>
          <p:nvPr/>
        </p:nvSpPr>
        <p:spPr>
          <a:xfrm>
            <a:off x="4709160" y="2368296"/>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37" name="TextBox 36"/>
          <p:cNvSpPr txBox="1"/>
          <p:nvPr/>
        </p:nvSpPr>
        <p:spPr>
          <a:xfrm>
            <a:off x="10213848" y="2368296"/>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38" name="TextBox 37"/>
          <p:cNvSpPr txBox="1"/>
          <p:nvPr/>
        </p:nvSpPr>
        <p:spPr>
          <a:xfrm>
            <a:off x="4453128" y="3364992"/>
            <a:ext cx="2286000" cy="301752"/>
          </a:xfrm>
          <a:prstGeom prst="rect">
            <a:avLst/>
          </a:prstGeom>
          <a:noFill/>
          <a:effectLst/>
        </p:spPr>
        <p:txBody>
          <a:bodyPr wrap="square" lIns="22860" rIns="22860" tIns="0" bIns="0">
            <a:spAutoFit/>
          </a:bodyPr>
          <a:lstStyle/>
          <a:p>
            <a:pPr>
              <a:spcAft>
                <a:spcPts val="600"/>
              </a:spcAft>
              <a:defRPr sz="1600" b="0">
                <a:solidFill>
                  <a:srgbClr val="203864"/>
                </a:solidFill>
                <a:latin typeface="Microsoft YaHei"/>
              </a:defRPr>
            </a:pPr>
            <a:r>
              <a:t>AQ* 攫氢 ?</a:t>
            </a:r>
          </a:p>
        </p:txBody>
      </p:sp>
      <p:sp>
        <p:nvSpPr>
          <p:cNvPr id="39" name="TextBox 38"/>
          <p:cNvSpPr txBox="1"/>
          <p:nvPr/>
        </p:nvSpPr>
        <p:spPr>
          <a:xfrm>
            <a:off x="9153144" y="3364992"/>
            <a:ext cx="2240280" cy="301752"/>
          </a:xfrm>
          <a:prstGeom prst="rect">
            <a:avLst/>
          </a:prstGeom>
          <a:noFill/>
          <a:effectLst/>
        </p:spPr>
        <p:txBody>
          <a:bodyPr wrap="square" lIns="22860" rIns="22860" tIns="0" bIns="0">
            <a:spAutoFit/>
          </a:bodyPr>
          <a:lstStyle/>
          <a:p>
            <a:pPr>
              <a:spcAft>
                <a:spcPts val="600"/>
              </a:spcAft>
              <a:defRPr sz="1600" b="0">
                <a:solidFill>
                  <a:srgbClr val="203864"/>
                </a:solidFill>
                <a:latin typeface="Microsoft YaHei"/>
              </a:defRPr>
            </a:pPr>
            <a:r>
              <a:t>C–Cl 活化 ?</a:t>
            </a:r>
          </a:p>
        </p:txBody>
      </p:sp>
      <p:cxnSp>
        <p:nvCxnSpPr>
          <p:cNvPr id="40" name="Connector 39"/>
          <p:cNvCxnSpPr/>
          <p:nvPr/>
        </p:nvCxnSpPr>
        <p:spPr>
          <a:xfrm flipH="1">
            <a:off x="5916168" y="3227832"/>
            <a:ext cx="484632" cy="521207"/>
          </a:xfrm>
          <a:prstGeom prst="line">
            <a:avLst/>
          </a:prstGeom>
          <a:ln w="17780">
            <a:solidFill>
              <a:srgbClr val="203864"/>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41" name="Connector 40"/>
          <p:cNvCxnSpPr/>
          <p:nvPr/>
        </p:nvCxnSpPr>
        <p:spPr>
          <a:xfrm>
            <a:off x="9902952" y="3227832"/>
            <a:ext cx="484632" cy="521207"/>
          </a:xfrm>
          <a:prstGeom prst="line">
            <a:avLst/>
          </a:prstGeom>
          <a:ln w="17780">
            <a:solidFill>
              <a:srgbClr val="203864"/>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sp>
        <p:nvSpPr>
          <p:cNvPr id="42" name="TextBox 41"/>
          <p:cNvSpPr txBox="1"/>
          <p:nvPr/>
        </p:nvSpPr>
        <p:spPr>
          <a:xfrm>
            <a:off x="5358384" y="3831336"/>
            <a:ext cx="1188720" cy="411480"/>
          </a:xfrm>
          <a:prstGeom prst="rect">
            <a:avLst/>
          </a:prstGeom>
          <a:noFill/>
          <a:effectLst/>
        </p:spPr>
        <p:txBody>
          <a:bodyPr wrap="square" lIns="22860" rIns="22860" tIns="0" bIns="0">
            <a:spAutoFit/>
          </a:bodyPr>
          <a:lstStyle/>
          <a:p>
            <a:pPr algn="ctr">
              <a:spcAft>
                <a:spcPts val="600"/>
              </a:spcAft>
              <a:defRPr sz="2900" b="1">
                <a:solidFill>
                  <a:srgbClr val="111111"/>
                </a:solidFill>
                <a:latin typeface="Microsoft YaHei"/>
              </a:defRPr>
            </a:pPr>
            <a:r>
              <a:t>R·</a:t>
            </a:r>
          </a:p>
        </p:txBody>
      </p:sp>
      <p:sp>
        <p:nvSpPr>
          <p:cNvPr id="43" name="TextBox 42"/>
          <p:cNvSpPr txBox="1"/>
          <p:nvPr/>
        </p:nvSpPr>
        <p:spPr>
          <a:xfrm>
            <a:off x="9976104" y="3831336"/>
            <a:ext cx="1371600" cy="411480"/>
          </a:xfrm>
          <a:prstGeom prst="rect">
            <a:avLst/>
          </a:prstGeom>
          <a:noFill/>
          <a:effectLst/>
        </p:spPr>
        <p:txBody>
          <a:bodyPr wrap="square" lIns="22860" rIns="22860" tIns="0" bIns="0">
            <a:spAutoFit/>
          </a:bodyPr>
          <a:lstStyle/>
          <a:p>
            <a:pPr algn="ctr">
              <a:spcAft>
                <a:spcPts val="600"/>
              </a:spcAft>
              <a:defRPr sz="2600" b="1">
                <a:solidFill>
                  <a:srgbClr val="A9262D"/>
                </a:solidFill>
                <a:latin typeface="Microsoft YaHei"/>
              </a:defRPr>
            </a:pPr>
            <a:r>
              <a:t>Cl· ?</a:t>
            </a:r>
          </a:p>
        </p:txBody>
      </p:sp>
      <p:cxnSp>
        <p:nvCxnSpPr>
          <p:cNvPr id="44" name="Connector 43"/>
          <p:cNvCxnSpPr/>
          <p:nvPr/>
        </p:nvCxnSpPr>
        <p:spPr>
          <a:xfrm flipH="1">
            <a:off x="6830568" y="4059936"/>
            <a:ext cx="2688336" cy="0"/>
          </a:xfrm>
          <a:prstGeom prst="line">
            <a:avLst/>
          </a:prstGeom>
          <a:ln w="17780">
            <a:solidFill>
              <a:srgbClr val="A9262D"/>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sp>
        <p:nvSpPr>
          <p:cNvPr id="45" name="TextBox 44"/>
          <p:cNvSpPr txBox="1"/>
          <p:nvPr/>
        </p:nvSpPr>
        <p:spPr>
          <a:xfrm>
            <a:off x="7406640" y="3675887"/>
            <a:ext cx="1508760" cy="274320"/>
          </a:xfrm>
          <a:prstGeom prst="rect">
            <a:avLst/>
          </a:prstGeom>
          <a:noFill/>
          <a:effectLst/>
        </p:spPr>
        <p:txBody>
          <a:bodyPr wrap="square" lIns="22860" rIns="22860" tIns="0" bIns="0">
            <a:spAutoFit/>
          </a:bodyPr>
          <a:lstStyle/>
          <a:p>
            <a:pPr algn="ctr">
              <a:spcAft>
                <a:spcPts val="600"/>
              </a:spcAft>
              <a:defRPr sz="1600" b="1">
                <a:solidFill>
                  <a:srgbClr val="A9262D"/>
                </a:solidFill>
                <a:latin typeface="Microsoft YaHei"/>
              </a:defRPr>
            </a:pPr>
            <a:r>
              <a:t>HAT ?</a:t>
            </a:r>
          </a:p>
        </p:txBody>
      </p:sp>
      <p:sp>
        <p:nvSpPr>
          <p:cNvPr id="46" name="TextBox 45"/>
          <p:cNvSpPr txBox="1"/>
          <p:nvPr/>
        </p:nvSpPr>
        <p:spPr>
          <a:xfrm>
            <a:off x="6949440" y="4242816"/>
            <a:ext cx="2697480" cy="237744"/>
          </a:xfrm>
          <a:prstGeom prst="rect">
            <a:avLst/>
          </a:prstGeom>
          <a:noFill/>
          <a:effectLst/>
        </p:spPr>
        <p:txBody>
          <a:bodyPr wrap="square" lIns="22860" rIns="22860" tIns="0" bIns="0">
            <a:spAutoFit/>
          </a:bodyPr>
          <a:lstStyle/>
          <a:p>
            <a:pPr algn="ctr">
              <a:spcAft>
                <a:spcPts val="600"/>
              </a:spcAft>
              <a:defRPr sz="1100" b="0">
                <a:solidFill>
                  <a:srgbClr val="566273"/>
                </a:solidFill>
                <a:latin typeface="Microsoft YaHei"/>
              </a:defRPr>
            </a:pPr>
            <a:r>
              <a:t>Cl· + R–H → HCl + R·</a:t>
            </a:r>
          </a:p>
        </p:txBody>
      </p:sp>
      <p:cxnSp>
        <p:nvCxnSpPr>
          <p:cNvPr id="47" name="Connector 46"/>
          <p:cNvCxnSpPr/>
          <p:nvPr/>
        </p:nvCxnSpPr>
        <p:spPr>
          <a:xfrm>
            <a:off x="5925312" y="4361688"/>
            <a:ext cx="0" cy="301752"/>
          </a:xfrm>
          <a:prstGeom prst="line">
            <a:avLst/>
          </a:prstGeom>
          <a:ln w="16510">
            <a:solidFill>
              <a:srgbClr val="20386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48" name="TextBox 47"/>
          <p:cNvSpPr txBox="1"/>
          <p:nvPr/>
        </p:nvSpPr>
        <p:spPr>
          <a:xfrm>
            <a:off x="6190488" y="4416552"/>
            <a:ext cx="822960" cy="265176"/>
          </a:xfrm>
          <a:prstGeom prst="rect">
            <a:avLst/>
          </a:prstGeom>
          <a:noFill/>
          <a:effectLst/>
        </p:spPr>
        <p:txBody>
          <a:bodyPr wrap="square" lIns="22860" rIns="22860" tIns="0" bIns="0">
            <a:spAutoFit/>
          </a:bodyPr>
          <a:lstStyle/>
          <a:p>
            <a:pPr>
              <a:spcAft>
                <a:spcPts val="600"/>
              </a:spcAft>
              <a:defRPr sz="1400" b="0">
                <a:solidFill>
                  <a:srgbClr val="111111"/>
                </a:solidFill>
                <a:latin typeface="Microsoft YaHei"/>
              </a:defRPr>
            </a:pPr>
            <a:r>
              <a:t>+ O₂</a:t>
            </a:r>
          </a:p>
        </p:txBody>
      </p:sp>
      <p:sp>
        <p:nvSpPr>
          <p:cNvPr id="49" name="TextBox 48"/>
          <p:cNvSpPr txBox="1"/>
          <p:nvPr/>
        </p:nvSpPr>
        <p:spPr>
          <a:xfrm>
            <a:off x="5084064" y="4791456"/>
            <a:ext cx="1691640" cy="393192"/>
          </a:xfrm>
          <a:prstGeom prst="rect">
            <a:avLst/>
          </a:prstGeom>
          <a:noFill/>
          <a:effectLst/>
        </p:spPr>
        <p:txBody>
          <a:bodyPr wrap="square" lIns="22860" rIns="22860" tIns="0" bIns="0">
            <a:spAutoFit/>
          </a:bodyPr>
          <a:lstStyle/>
          <a:p>
            <a:pPr algn="ctr">
              <a:spcAft>
                <a:spcPts val="600"/>
              </a:spcAft>
              <a:defRPr sz="2300" b="1">
                <a:solidFill>
                  <a:srgbClr val="111111"/>
                </a:solidFill>
                <a:latin typeface="Microsoft YaHei"/>
              </a:defRPr>
            </a:pPr>
            <a:r>
              <a:t>ROO·</a:t>
            </a:r>
          </a:p>
        </p:txBody>
      </p:sp>
      <p:cxnSp>
        <p:nvCxnSpPr>
          <p:cNvPr id="50" name="Connector 49"/>
          <p:cNvCxnSpPr/>
          <p:nvPr/>
        </p:nvCxnSpPr>
        <p:spPr>
          <a:xfrm>
            <a:off x="6839712" y="5001768"/>
            <a:ext cx="429768" cy="0"/>
          </a:xfrm>
          <a:prstGeom prst="line">
            <a:avLst/>
          </a:prstGeom>
          <a:ln w="16510">
            <a:solidFill>
              <a:srgbClr val="203864"/>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sp>
        <p:nvSpPr>
          <p:cNvPr id="51" name="TextBox 50"/>
          <p:cNvSpPr txBox="1"/>
          <p:nvPr/>
        </p:nvSpPr>
        <p:spPr>
          <a:xfrm>
            <a:off x="7351775" y="4791456"/>
            <a:ext cx="1828800" cy="393192"/>
          </a:xfrm>
          <a:prstGeom prst="rect">
            <a:avLst/>
          </a:prstGeom>
          <a:noFill/>
          <a:effectLst/>
        </p:spPr>
        <p:txBody>
          <a:bodyPr wrap="square" lIns="22860" rIns="22860" tIns="0" bIns="0">
            <a:spAutoFit/>
          </a:bodyPr>
          <a:lstStyle/>
          <a:p>
            <a:pPr algn="ctr">
              <a:spcAft>
                <a:spcPts val="600"/>
              </a:spcAft>
              <a:defRPr sz="2300" b="1">
                <a:solidFill>
                  <a:srgbClr val="111111"/>
                </a:solidFill>
                <a:latin typeface="Microsoft YaHei"/>
              </a:defRPr>
            </a:pPr>
            <a:r>
              <a:t>ROOH</a:t>
            </a:r>
          </a:p>
        </p:txBody>
      </p:sp>
      <p:cxnSp>
        <p:nvCxnSpPr>
          <p:cNvPr id="52" name="Connector 51"/>
          <p:cNvCxnSpPr/>
          <p:nvPr/>
        </p:nvCxnSpPr>
        <p:spPr>
          <a:xfrm>
            <a:off x="9226296" y="5001768"/>
            <a:ext cx="429768" cy="0"/>
          </a:xfrm>
          <a:prstGeom prst="line">
            <a:avLst/>
          </a:prstGeom>
          <a:ln w="16510">
            <a:solidFill>
              <a:srgbClr val="203864"/>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sp>
        <p:nvSpPr>
          <p:cNvPr id="53" name="TextBox 52"/>
          <p:cNvSpPr txBox="1"/>
          <p:nvPr/>
        </p:nvSpPr>
        <p:spPr>
          <a:xfrm>
            <a:off x="9784080" y="4791456"/>
            <a:ext cx="1645920" cy="393192"/>
          </a:xfrm>
          <a:prstGeom prst="rect">
            <a:avLst/>
          </a:prstGeom>
          <a:noFill/>
          <a:effectLst/>
        </p:spPr>
        <p:txBody>
          <a:bodyPr wrap="square" lIns="22860" rIns="22860" tIns="0" bIns="0">
            <a:spAutoFit/>
          </a:bodyPr>
          <a:lstStyle/>
          <a:p>
            <a:pPr algn="ctr">
              <a:spcAft>
                <a:spcPts val="600"/>
              </a:spcAft>
              <a:defRPr sz="2300" b="1">
                <a:solidFill>
                  <a:srgbClr val="111111"/>
                </a:solidFill>
                <a:latin typeface="Microsoft YaHei"/>
              </a:defRPr>
            </a:pPr>
            <a:r>
              <a:t>RO·</a:t>
            </a:r>
          </a:p>
        </p:txBody>
      </p:sp>
      <p:sp>
        <p:nvSpPr>
          <p:cNvPr id="54" name="TextBox 53"/>
          <p:cNvSpPr txBox="1"/>
          <p:nvPr/>
        </p:nvSpPr>
        <p:spPr>
          <a:xfrm>
            <a:off x="9299448" y="5266944"/>
            <a:ext cx="1920240" cy="228600"/>
          </a:xfrm>
          <a:prstGeom prst="rect">
            <a:avLst/>
          </a:prstGeom>
          <a:noFill/>
          <a:effectLst/>
        </p:spPr>
        <p:txBody>
          <a:bodyPr wrap="square" lIns="22860" rIns="22860" tIns="0" bIns="0">
            <a:spAutoFit/>
          </a:bodyPr>
          <a:lstStyle/>
          <a:p>
            <a:pPr algn="ctr">
              <a:spcAft>
                <a:spcPts val="600"/>
              </a:spcAft>
              <a:defRPr sz="1200" b="1">
                <a:solidFill>
                  <a:srgbClr val="203864"/>
                </a:solidFill>
                <a:latin typeface="Microsoft YaHei"/>
              </a:defRPr>
            </a:pPr>
            <a:r>
              <a:t>后续 β-裂解 ?</a:t>
            </a:r>
          </a:p>
        </p:txBody>
      </p:sp>
      <p:sp>
        <p:nvSpPr>
          <p:cNvPr id="55" name="TextBox 54"/>
          <p:cNvSpPr txBox="1"/>
          <p:nvPr/>
        </p:nvSpPr>
        <p:spPr>
          <a:xfrm>
            <a:off x="4389120" y="5522976"/>
            <a:ext cx="7132320" cy="283464"/>
          </a:xfrm>
          <a:prstGeom prst="rect">
            <a:avLst/>
          </a:prstGeom>
          <a:noFill/>
          <a:effectLst/>
        </p:spPr>
        <p:txBody>
          <a:bodyPr wrap="square" lIns="22860" rIns="22860" tIns="0" bIns="0">
            <a:spAutoFit/>
          </a:bodyPr>
          <a:lstStyle/>
          <a:p>
            <a:pPr algn="ctr">
              <a:spcAft>
                <a:spcPts val="600"/>
              </a:spcAft>
              <a:defRPr sz="1600" b="1">
                <a:solidFill>
                  <a:srgbClr val="111111"/>
                </a:solidFill>
                <a:latin typeface="Microsoft YaHei"/>
              </a:defRPr>
            </a:pPr>
            <a:r>
              <a:t>R¹–CH(O·)–CH₂–R² → R¹–CHO + ·CH₂–R²</a:t>
            </a:r>
          </a:p>
        </p:txBody>
      </p:sp>
      <p:sp>
        <p:nvSpPr>
          <p:cNvPr id="56" name="Rectangle 55"/>
          <p:cNvSpPr/>
          <p:nvPr/>
        </p:nvSpPr>
        <p:spPr>
          <a:xfrm>
            <a:off x="594360" y="5907024"/>
            <a:ext cx="11018520" cy="411480"/>
          </a:xfrm>
          <a:prstGeom prst="rect">
            <a:avLst/>
          </a:prstGeom>
          <a:solidFill>
            <a:srgbClr val="EEF3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TextBox 56"/>
          <p:cNvSpPr txBox="1"/>
          <p:nvPr/>
        </p:nvSpPr>
        <p:spPr>
          <a:xfrm>
            <a:off x="777240" y="5980176"/>
            <a:ext cx="10652760" cy="265176"/>
          </a:xfrm>
          <a:prstGeom prst="rect">
            <a:avLst/>
          </a:prstGeom>
          <a:noFill/>
          <a:effectLst/>
        </p:spPr>
        <p:txBody>
          <a:bodyPr wrap="square" lIns="22860" rIns="22860" tIns="0" bIns="0">
            <a:spAutoFit/>
          </a:bodyPr>
          <a:lstStyle/>
          <a:p>
            <a:pPr>
              <a:spcAft>
                <a:spcPts val="600"/>
              </a:spcAft>
              <a:defRPr sz="1600" b="1">
                <a:solidFill>
                  <a:srgbClr val="203864"/>
                </a:solidFill>
                <a:latin typeface="Microsoft YaHei"/>
              </a:defRPr>
            </a:pPr>
            <a:r>
              <a:t>工作假说不等于已证实循环；需区分供氢体、ROS、含氯物种与链裂解的实际贡献。</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384048" y="329184"/>
            <a:ext cx="50292" cy="320040"/>
          </a:xfrm>
          <a:prstGeom prst="rect">
            <a:avLst/>
          </a:prstGeom>
          <a:solidFill>
            <a:srgbClr val="20386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869680" y="246888"/>
            <a:ext cx="2880360" cy="356616"/>
          </a:xfrm>
          <a:prstGeom prst="rect">
            <a:avLst/>
          </a:prstGeom>
          <a:noFill/>
          <a:effectLst/>
        </p:spPr>
        <p:txBody>
          <a:bodyPr wrap="square" lIns="22860" rIns="22860" tIns="0" bIns="0">
            <a:spAutoFit/>
          </a:bodyPr>
          <a:lstStyle/>
          <a:p>
            <a:pPr algn="r">
              <a:spcAft>
                <a:spcPts val="600"/>
              </a:spcAft>
              <a:defRPr sz="2100" b="1">
                <a:solidFill>
                  <a:srgbClr val="159BB6"/>
                </a:solidFill>
                <a:latin typeface="Microsoft YaHei"/>
              </a:defRPr>
            </a:pPr>
            <a:r>
              <a:t>北京工业大学</a:t>
            </a:r>
          </a:p>
        </p:txBody>
      </p:sp>
      <p:sp>
        <p:nvSpPr>
          <p:cNvPr id="4" name="TextBox 3"/>
          <p:cNvSpPr txBox="1"/>
          <p:nvPr/>
        </p:nvSpPr>
        <p:spPr>
          <a:xfrm>
            <a:off x="8686800" y="621792"/>
            <a:ext cx="3063240" cy="182880"/>
          </a:xfrm>
          <a:prstGeom prst="rect">
            <a:avLst/>
          </a:prstGeom>
          <a:noFill/>
          <a:effectLst/>
        </p:spPr>
        <p:txBody>
          <a:bodyPr wrap="square" lIns="22860" rIns="22860" tIns="0" bIns="0">
            <a:spAutoFit/>
          </a:bodyPr>
          <a:lstStyle/>
          <a:p>
            <a:pPr algn="r">
              <a:spcAft>
                <a:spcPts val="600"/>
              </a:spcAft>
              <a:defRPr sz="770" b="1">
                <a:solidFill>
                  <a:srgbClr val="159BB6"/>
                </a:solidFill>
                <a:latin typeface="Microsoft YaHei"/>
              </a:defRPr>
            </a:pPr>
            <a:r>
              <a:t>BEIJING UNIVERSITY OF TECHNOLOGY</a:t>
            </a:r>
          </a:p>
        </p:txBody>
      </p:sp>
      <p:sp>
        <p:nvSpPr>
          <p:cNvPr id="5" name="TextBox 4"/>
          <p:cNvSpPr txBox="1"/>
          <p:nvPr/>
        </p:nvSpPr>
        <p:spPr>
          <a:xfrm>
            <a:off x="594360" y="914400"/>
            <a:ext cx="11109960" cy="594360"/>
          </a:xfrm>
          <a:prstGeom prst="rect">
            <a:avLst/>
          </a:prstGeom>
          <a:noFill/>
          <a:effectLst/>
        </p:spPr>
        <p:txBody>
          <a:bodyPr wrap="square" lIns="22860" rIns="22860" tIns="0" bIns="0">
            <a:spAutoFit/>
          </a:bodyPr>
          <a:lstStyle/>
          <a:p>
            <a:pPr>
              <a:spcAft>
                <a:spcPts val="600"/>
              </a:spcAft>
              <a:defRPr sz="2600" b="1">
                <a:solidFill>
                  <a:srgbClr val="203864"/>
                </a:solidFill>
                <a:latin typeface="Microsoft YaHei"/>
              </a:defRPr>
            </a:pPr>
            <a:r>
              <a:t>机制验证以竞争解释和独立测量的对应关系为核心</a:t>
            </a:r>
          </a:p>
        </p:txBody>
      </p:sp>
      <p:cxnSp>
        <p:nvCxnSpPr>
          <p:cNvPr id="6" name="Connector 5"/>
          <p:cNvCxnSpPr/>
          <p:nvPr/>
        </p:nvCxnSpPr>
        <p:spPr>
          <a:xfrm>
            <a:off x="594360" y="1636776"/>
            <a:ext cx="11018520" cy="0"/>
          </a:xfrm>
          <a:prstGeom prst="line">
            <a:avLst/>
          </a:prstGeom>
          <a:ln w="25400">
            <a:solidFill>
              <a:srgbClr val="203864"/>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40080" y="1773936"/>
            <a:ext cx="10972800" cy="393192"/>
          </a:xfrm>
          <a:prstGeom prst="rect">
            <a:avLst/>
          </a:prstGeom>
          <a:noFill/>
          <a:effectLst/>
        </p:spPr>
        <p:txBody>
          <a:bodyPr wrap="square" lIns="22860" rIns="22860" tIns="0" bIns="0">
            <a:spAutoFit/>
          </a:bodyPr>
          <a:lstStyle/>
          <a:p>
            <a:pPr>
              <a:spcAft>
                <a:spcPts val="600"/>
              </a:spcAft>
              <a:defRPr sz="1300" b="0">
                <a:solidFill>
                  <a:srgbClr val="566273"/>
                </a:solidFill>
                <a:latin typeface="Microsoft YaHei"/>
              </a:defRPr>
            </a:pPr>
            <a:r>
              <a:t>先确认必要条件与真实产物，再将物种识别、氯平衡和链长结果联合解释</a:t>
            </a:r>
          </a:p>
        </p:txBody>
      </p:sp>
      <p:cxnSp>
        <p:nvCxnSpPr>
          <p:cNvPr id="8" name="Connector 7"/>
          <p:cNvCxnSpPr/>
          <p:nvPr/>
        </p:nvCxnSpPr>
        <p:spPr>
          <a:xfrm>
            <a:off x="594360" y="6446520"/>
            <a:ext cx="11018520" cy="0"/>
          </a:xfrm>
          <a:prstGeom prst="line">
            <a:avLst/>
          </a:prstGeom>
          <a:ln w="10160">
            <a:solidFill>
              <a:srgbClr val="CED7E3"/>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94360" y="6547104"/>
            <a:ext cx="10469880" cy="182880"/>
          </a:xfrm>
          <a:prstGeom prst="rect">
            <a:avLst/>
          </a:prstGeom>
          <a:noFill/>
          <a:effectLst/>
        </p:spPr>
        <p:txBody>
          <a:bodyPr wrap="square" lIns="22860" rIns="22860" tIns="0" bIns="0">
            <a:spAutoFit/>
          </a:bodyPr>
          <a:lstStyle/>
          <a:p>
            <a:pPr>
              <a:spcAft>
                <a:spcPts val="600"/>
              </a:spcAft>
              <a:defRPr sz="800" b="0">
                <a:solidFill>
                  <a:srgbClr val="566273"/>
                </a:solidFill>
                <a:latin typeface="Arial"/>
              </a:defRPr>
            </a:pPr>
          </a:p>
        </p:txBody>
      </p:sp>
      <p:sp>
        <p:nvSpPr>
          <p:cNvPr id="10" name="TextBox 9"/>
          <p:cNvSpPr txBox="1"/>
          <p:nvPr/>
        </p:nvSpPr>
        <p:spPr>
          <a:xfrm>
            <a:off x="11137392" y="6510528"/>
            <a:ext cx="438912" cy="237744"/>
          </a:xfrm>
          <a:prstGeom prst="rect">
            <a:avLst/>
          </a:prstGeom>
          <a:noFill/>
          <a:effectLst/>
        </p:spPr>
        <p:txBody>
          <a:bodyPr wrap="square" lIns="22860" rIns="22860" tIns="0" bIns="0">
            <a:spAutoFit/>
          </a:bodyPr>
          <a:lstStyle/>
          <a:p>
            <a:pPr algn="r">
              <a:spcAft>
                <a:spcPts val="600"/>
              </a:spcAft>
              <a:defRPr sz="1100" b="1">
                <a:solidFill>
                  <a:srgbClr val="203864"/>
                </a:solidFill>
                <a:latin typeface="Microsoft YaHei"/>
              </a:defRPr>
            </a:pPr>
            <a:r>
              <a:t>16</a:t>
            </a:r>
          </a:p>
        </p:txBody>
      </p:sp>
      <p:graphicFrame>
        <p:nvGraphicFramePr>
          <p:cNvPr id="11" name="Table 10"/>
          <p:cNvGraphicFramePr>
            <a:graphicFrameLocks noGrp="1"/>
          </p:cNvGraphicFramePr>
          <p:nvPr/>
        </p:nvGraphicFramePr>
        <p:xfrm>
          <a:off x="731520" y="2395728"/>
          <a:ext cx="10725912" cy="3255264"/>
        </p:xfrm>
        <a:graphic>
          <a:graphicData uri="http://schemas.openxmlformats.org/drawingml/2006/table">
            <a:tbl>
              <a:tblPr firstRow="1" bandRow="1">
                <a:tableStyleId>{5C22544A-7EE6-4342-B048-85BDC9FD1C3A}</a:tableStyleId>
              </a:tblPr>
              <a:tblGrid>
                <a:gridCol w="3191256"/>
                <a:gridCol w="3090672"/>
                <a:gridCol w="4443984"/>
              </a:tblGrid>
              <a:tr h="465037">
                <a:tc>
                  <a:txBody>
                    <a:bodyPr/>
                    <a:lstStyle/>
                    <a:p>
                      <a:pPr>
                        <a:defRPr sz="1400" b="1">
                          <a:solidFill>
                            <a:srgbClr val="FFFFFF"/>
                          </a:solidFill>
                          <a:latin typeface="Microsoft YaHei"/>
                        </a:defRPr>
                      </a:pPr>
                      <a:r>
                        <a:t>实验 / 对照</a:t>
                      </a:r>
                    </a:p>
                  </a:txBody>
                  <a:tcPr marL="91440" marR="64008" marT="64008" marB="45720">
                    <a:solidFill>
                      <a:srgbClr val="203864"/>
                    </a:solidFill>
                  </a:tcPr>
                </a:tc>
                <a:tc>
                  <a:txBody>
                    <a:bodyPr/>
                    <a:lstStyle/>
                    <a:p>
                      <a:pPr>
                        <a:defRPr sz="1400" b="1">
                          <a:solidFill>
                            <a:srgbClr val="FFFFFF"/>
                          </a:solidFill>
                          <a:latin typeface="Microsoft YaHei"/>
                        </a:defRPr>
                      </a:pPr>
                      <a:r>
                        <a:t>对应的机制环节</a:t>
                      </a:r>
                    </a:p>
                  </a:txBody>
                  <a:tcPr marL="91440" marR="64008" marT="64008" marB="45720">
                    <a:solidFill>
                      <a:srgbClr val="203864"/>
                    </a:solidFill>
                  </a:tcPr>
                </a:tc>
                <a:tc>
                  <a:txBody>
                    <a:bodyPr/>
                    <a:lstStyle/>
                    <a:p>
                      <a:pPr>
                        <a:defRPr sz="1400" b="1">
                          <a:solidFill>
                            <a:srgbClr val="FFFFFF"/>
                          </a:solidFill>
                          <a:latin typeface="Microsoft YaHei"/>
                        </a:defRPr>
                      </a:pPr>
                      <a:r>
                        <a:t>判据与解释边界</a:t>
                      </a:r>
                    </a:p>
                  </a:txBody>
                  <a:tcPr marL="91440" marR="64008" marT="64008" marB="45720">
                    <a:solidFill>
                      <a:srgbClr val="203864"/>
                    </a:solidFill>
                  </a:tcPr>
                </a:tc>
              </a:tr>
              <a:tr h="465037">
                <a:tc>
                  <a:txBody>
                    <a:bodyPr/>
                    <a:lstStyle/>
                    <a:p>
                      <a:pPr>
                        <a:defRPr sz="1400" b="0">
                          <a:solidFill>
                            <a:srgbClr val="111111"/>
                          </a:solidFill>
                          <a:latin typeface="Microsoft YaHei"/>
                        </a:defRPr>
                      </a:pPr>
                      <a:r>
                        <a:t>光暗；有 / 无 EAQ；AQ / EAQ</a:t>
                      </a:r>
                    </a:p>
                  </a:txBody>
                  <a:tcPr marL="91440" marR="64008" marT="64008" marB="45720">
                    <a:solidFill>
                      <a:srgbClr val="FFFFFF"/>
                    </a:solidFill>
                  </a:tcPr>
                </a:tc>
                <a:tc>
                  <a:txBody>
                    <a:bodyPr/>
                    <a:lstStyle/>
                    <a:p>
                      <a:pPr>
                        <a:defRPr sz="1400" b="0">
                          <a:solidFill>
                            <a:srgbClr val="111111"/>
                          </a:solidFill>
                          <a:latin typeface="Microsoft YaHei"/>
                        </a:defRPr>
                      </a:pPr>
                      <a:r>
                        <a:t>光驱动及光敏组分贡献</a:t>
                      </a:r>
                    </a:p>
                  </a:txBody>
                  <a:tcPr marL="91440" marR="64008" marT="64008" marB="45720">
                    <a:solidFill>
                      <a:srgbClr val="FFFFFF"/>
                    </a:solidFill>
                  </a:tcPr>
                </a:tc>
                <a:tc>
                  <a:txBody>
                    <a:bodyPr/>
                    <a:lstStyle/>
                    <a:p>
                      <a:pPr>
                        <a:defRPr sz="1400" b="0">
                          <a:solidFill>
                            <a:srgbClr val="111111"/>
                          </a:solidFill>
                          <a:latin typeface="Microsoft YaHei"/>
                        </a:defRPr>
                      </a:pPr>
                      <a:r>
                        <a:t>同温同光通量；同步评估试剂稳定性</a:t>
                      </a:r>
                    </a:p>
                  </a:txBody>
                  <a:tcPr marL="91440" marR="64008" marT="64008" marB="45720">
                    <a:solidFill>
                      <a:srgbClr val="FFFFFF"/>
                    </a:solidFill>
                  </a:tcPr>
                </a:tc>
              </a:tr>
              <a:tr h="465037">
                <a:tc>
                  <a:txBody>
                    <a:bodyPr/>
                    <a:lstStyle/>
                    <a:p>
                      <a:pPr>
                        <a:defRPr sz="1400" b="0">
                          <a:solidFill>
                            <a:srgbClr val="111111"/>
                          </a:solidFill>
                          <a:latin typeface="Microsoft YaHei"/>
                        </a:defRPr>
                      </a:pPr>
                      <a:r>
                        <a:t>O₂ / N₂ / 空气；介质配对</a:t>
                      </a:r>
                    </a:p>
                  </a:txBody>
                  <a:tcPr marL="91440" marR="64008" marT="64008" marB="45720">
                    <a:solidFill>
                      <a:srgbClr val="EEF3FA"/>
                    </a:solidFill>
                  </a:tcPr>
                </a:tc>
                <a:tc>
                  <a:txBody>
                    <a:bodyPr/>
                    <a:lstStyle/>
                    <a:p>
                      <a:pPr>
                        <a:defRPr sz="1400" b="0">
                          <a:solidFill>
                            <a:srgbClr val="111111"/>
                          </a:solidFill>
                          <a:latin typeface="Microsoft YaHei"/>
                        </a:defRPr>
                      </a:pPr>
                      <a:r>
                        <a:t>氧与含氯溶剂参与</a:t>
                      </a:r>
                    </a:p>
                  </a:txBody>
                  <a:tcPr marL="91440" marR="64008" marT="64008" marB="45720">
                    <a:solidFill>
                      <a:srgbClr val="EEF3FA"/>
                    </a:solidFill>
                  </a:tcPr>
                </a:tc>
                <a:tc>
                  <a:txBody>
                    <a:bodyPr/>
                    <a:lstStyle/>
                    <a:p>
                      <a:pPr>
                        <a:defRPr sz="1400" b="0">
                          <a:solidFill>
                            <a:srgbClr val="111111"/>
                          </a:solidFill>
                          <a:latin typeface="Microsoft YaHei"/>
                        </a:defRPr>
                      </a:pPr>
                      <a:r>
                        <a:t>控制吸光、溶解性、传质与残余氧</a:t>
                      </a:r>
                    </a:p>
                  </a:txBody>
                  <a:tcPr marL="91440" marR="64008" marT="64008" marB="45720">
                    <a:solidFill>
                      <a:srgbClr val="EEF3FA"/>
                    </a:solidFill>
                  </a:tcPr>
                </a:tc>
              </a:tr>
              <a:tr h="465037">
                <a:tc>
                  <a:txBody>
                    <a:bodyPr/>
                    <a:lstStyle/>
                    <a:p>
                      <a:pPr>
                        <a:defRPr sz="1400" b="0">
                          <a:solidFill>
                            <a:srgbClr val="111111"/>
                          </a:solidFill>
                          <a:latin typeface="Microsoft YaHei"/>
                        </a:defRPr>
                      </a:pPr>
                      <a:r>
                        <a:t>波长 / UV–vis；必要时瞬态测量</a:t>
                      </a:r>
                    </a:p>
                  </a:txBody>
                  <a:tcPr marL="91440" marR="64008" marT="64008" marB="45720">
                    <a:solidFill>
                      <a:srgbClr val="FFFFFF"/>
                    </a:solidFill>
                  </a:tcPr>
                </a:tc>
                <a:tc>
                  <a:txBody>
                    <a:bodyPr/>
                    <a:lstStyle/>
                    <a:p>
                      <a:pPr>
                        <a:defRPr sz="1400" b="0">
                          <a:solidFill>
                            <a:srgbClr val="111111"/>
                          </a:solidFill>
                          <a:latin typeface="Microsoft YaHei"/>
                        </a:defRPr>
                      </a:pPr>
                      <a:r>
                        <a:t>实际吸光者与激发态过程</a:t>
                      </a:r>
                    </a:p>
                  </a:txBody>
                  <a:tcPr marL="91440" marR="64008" marT="64008" marB="45720">
                    <a:solidFill>
                      <a:srgbClr val="FFFFFF"/>
                    </a:solidFill>
                  </a:tcPr>
                </a:tc>
                <a:tc>
                  <a:txBody>
                    <a:bodyPr/>
                    <a:lstStyle/>
                    <a:p>
                      <a:pPr>
                        <a:defRPr sz="1400" b="0">
                          <a:solidFill>
                            <a:srgbClr val="111111"/>
                          </a:solidFill>
                          <a:latin typeface="Microsoft YaHei"/>
                        </a:defRPr>
                      </a:pPr>
                      <a:r>
                        <a:t>不能仅用灯功率或键能判断</a:t>
                      </a:r>
                    </a:p>
                  </a:txBody>
                  <a:tcPr marL="91440" marR="64008" marT="64008" marB="45720">
                    <a:solidFill>
                      <a:srgbClr val="FFFFFF"/>
                    </a:solidFill>
                  </a:tcPr>
                </a:tc>
              </a:tr>
              <a:tr h="465037">
                <a:tc>
                  <a:txBody>
                    <a:bodyPr/>
                    <a:lstStyle/>
                    <a:p>
                      <a:pPr>
                        <a:defRPr sz="1400" b="0">
                          <a:solidFill>
                            <a:srgbClr val="111111"/>
                          </a:solidFill>
                          <a:latin typeface="Microsoft YaHei"/>
                        </a:defRPr>
                      </a:pPr>
                      <a:r>
                        <a:t>捕获实验 + EPR 自旋捕获</a:t>
                      </a:r>
                    </a:p>
                  </a:txBody>
                  <a:tcPr marL="91440" marR="64008" marT="64008" marB="45720">
                    <a:solidFill>
                      <a:srgbClr val="EEF3FA"/>
                    </a:solidFill>
                  </a:tcPr>
                </a:tc>
                <a:tc>
                  <a:txBody>
                    <a:bodyPr/>
                    <a:lstStyle/>
                    <a:p>
                      <a:pPr>
                        <a:defRPr sz="1400" b="0">
                          <a:solidFill>
                            <a:srgbClr val="111111"/>
                          </a:solidFill>
                          <a:latin typeface="Microsoft YaHei"/>
                        </a:defRPr>
                      </a:pPr>
                      <a:r>
                        <a:t>Cl·、R· 与氧相关物种</a:t>
                      </a:r>
                    </a:p>
                  </a:txBody>
                  <a:tcPr marL="91440" marR="64008" marT="64008" marB="45720">
                    <a:solidFill>
                      <a:srgbClr val="EEF3FA"/>
                    </a:solidFill>
                  </a:tcPr>
                </a:tc>
                <a:tc>
                  <a:txBody>
                    <a:bodyPr/>
                    <a:lstStyle/>
                    <a:p>
                      <a:pPr>
                        <a:defRPr sz="1400" b="0">
                          <a:solidFill>
                            <a:srgbClr val="111111"/>
                          </a:solidFill>
                          <a:latin typeface="Microsoft YaHei"/>
                        </a:defRPr>
                      </a:pPr>
                      <a:r>
                        <a:t>空白、模拟及选择性；单一抑制非定论</a:t>
                      </a:r>
                    </a:p>
                  </a:txBody>
                  <a:tcPr marL="91440" marR="64008" marT="64008" marB="45720">
                    <a:solidFill>
                      <a:srgbClr val="EEF3FA"/>
                    </a:solidFill>
                  </a:tcPr>
                </a:tc>
              </a:tr>
              <a:tr h="465037">
                <a:tc>
                  <a:txBody>
                    <a:bodyPr/>
                    <a:lstStyle/>
                    <a:p>
                      <a:pPr>
                        <a:defRPr sz="1400" b="0">
                          <a:solidFill>
                            <a:srgbClr val="111111"/>
                          </a:solidFill>
                          <a:latin typeface="Microsoft YaHei"/>
                        </a:defRPr>
                      </a:pPr>
                      <a:r>
                        <a:t>GC-MS / 标准品 / NMR；氯分析</a:t>
                      </a:r>
                    </a:p>
                  </a:txBody>
                  <a:tcPr marL="91440" marR="64008" marT="64008" marB="45720">
                    <a:solidFill>
                      <a:srgbClr val="FFFFFF"/>
                    </a:solidFill>
                  </a:tcPr>
                </a:tc>
                <a:tc>
                  <a:txBody>
                    <a:bodyPr/>
                    <a:lstStyle/>
                    <a:p>
                      <a:pPr>
                        <a:defRPr sz="1400" b="0">
                          <a:solidFill>
                            <a:srgbClr val="111111"/>
                          </a:solidFill>
                          <a:latin typeface="Microsoft YaHei"/>
                        </a:defRPr>
                      </a:pPr>
                      <a:r>
                        <a:t>产物来源、结构与氯去向</a:t>
                      </a:r>
                    </a:p>
                  </a:txBody>
                  <a:tcPr marL="91440" marR="64008" marT="64008" marB="45720">
                    <a:solidFill>
                      <a:srgbClr val="FFFFFF"/>
                    </a:solidFill>
                  </a:tcPr>
                </a:tc>
                <a:tc>
                  <a:txBody>
                    <a:bodyPr/>
                    <a:lstStyle/>
                    <a:p>
                      <a:pPr>
                        <a:defRPr sz="1400" b="0">
                          <a:solidFill>
                            <a:srgbClr val="111111"/>
                          </a:solidFill>
                          <a:latin typeface="Microsoft YaHei"/>
                        </a:defRPr>
                      </a:pPr>
                      <a:r>
                        <a:t>内标、回收率与固液气相平衡</a:t>
                      </a:r>
                    </a:p>
                  </a:txBody>
                  <a:tcPr marL="91440" marR="64008" marT="64008" marB="45720">
                    <a:solidFill>
                      <a:srgbClr val="FFFFFF"/>
                    </a:solidFill>
                  </a:tcPr>
                </a:tc>
              </a:tr>
              <a:tr h="465042">
                <a:tc>
                  <a:txBody>
                    <a:bodyPr/>
                    <a:lstStyle/>
                    <a:p>
                      <a:pPr>
                        <a:defRPr sz="1400" b="0">
                          <a:solidFill>
                            <a:srgbClr val="111111"/>
                          </a:solidFill>
                          <a:latin typeface="Microsoft YaHei"/>
                        </a:defRPr>
                      </a:pPr>
                      <a:r>
                        <a:t>SEC/GPC + 凝胶；FTIR / XPS</a:t>
                      </a:r>
                    </a:p>
                  </a:txBody>
                  <a:tcPr marL="91440" marR="64008" marT="64008" marB="45720">
                    <a:solidFill>
                      <a:srgbClr val="EEF3FA"/>
                    </a:solidFill>
                  </a:tcPr>
                </a:tc>
                <a:tc>
                  <a:txBody>
                    <a:bodyPr/>
                    <a:lstStyle/>
                    <a:p>
                      <a:pPr>
                        <a:defRPr sz="1400" b="0">
                          <a:solidFill>
                            <a:srgbClr val="111111"/>
                          </a:solidFill>
                          <a:latin typeface="Microsoft YaHei"/>
                        </a:defRPr>
                      </a:pPr>
                      <a:r>
                        <a:t>链长变化及结构转化</a:t>
                      </a:r>
                    </a:p>
                  </a:txBody>
                  <a:tcPr marL="91440" marR="64008" marT="64008" marB="45720">
                    <a:solidFill>
                      <a:srgbClr val="EEF3FA"/>
                    </a:solidFill>
                  </a:tcPr>
                </a:tc>
                <a:tc>
                  <a:txBody>
                    <a:bodyPr/>
                    <a:lstStyle/>
                    <a:p>
                      <a:pPr>
                        <a:defRPr sz="1400" b="0">
                          <a:solidFill>
                            <a:srgbClr val="111111"/>
                          </a:solidFill>
                          <a:latin typeface="Microsoft YaHei"/>
                        </a:defRPr>
                      </a:pPr>
                      <a:r>
                        <a:t>可溶 / 不溶共同评价；官能团非断链证据</a:t>
                      </a:r>
                    </a:p>
                  </a:txBody>
                  <a:tcPr marL="91440" marR="64008" marT="64008" marB="45720">
                    <a:solidFill>
                      <a:srgbClr val="EEF3FA"/>
                    </a:solidFill>
                  </a:tcPr>
                </a:tc>
              </a:tr>
            </a:tbl>
          </a:graphicData>
        </a:graphic>
      </p:graphicFrame>
      <p:sp>
        <p:nvSpPr>
          <p:cNvPr id="12" name="Rectangle 11"/>
          <p:cNvSpPr/>
          <p:nvPr/>
        </p:nvSpPr>
        <p:spPr>
          <a:xfrm>
            <a:off x="594360" y="5907024"/>
            <a:ext cx="11018520" cy="411480"/>
          </a:xfrm>
          <a:prstGeom prst="rect">
            <a:avLst/>
          </a:prstGeom>
          <a:solidFill>
            <a:srgbClr val="EEF3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77240" y="5980176"/>
            <a:ext cx="10652760" cy="265176"/>
          </a:xfrm>
          <a:prstGeom prst="rect">
            <a:avLst/>
          </a:prstGeom>
          <a:noFill/>
          <a:effectLst/>
        </p:spPr>
        <p:txBody>
          <a:bodyPr wrap="square" lIns="22860" rIns="22860" tIns="0" bIns="0">
            <a:spAutoFit/>
          </a:bodyPr>
          <a:lstStyle/>
          <a:p>
            <a:pPr>
              <a:spcAft>
                <a:spcPts val="600"/>
              </a:spcAft>
              <a:defRPr sz="1600" b="1">
                <a:solidFill>
                  <a:srgbClr val="203864"/>
                </a:solidFill>
                <a:latin typeface="Microsoft YaHei"/>
              </a:defRPr>
            </a:pPr>
            <a:r>
              <a:t>每个机理箭头对应可观测量，并保留能否定该解释的对照。</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384048" y="329184"/>
            <a:ext cx="50292" cy="320040"/>
          </a:xfrm>
          <a:prstGeom prst="rect">
            <a:avLst/>
          </a:prstGeom>
          <a:solidFill>
            <a:srgbClr val="20386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869680" y="246888"/>
            <a:ext cx="2880360" cy="356616"/>
          </a:xfrm>
          <a:prstGeom prst="rect">
            <a:avLst/>
          </a:prstGeom>
          <a:noFill/>
          <a:effectLst/>
        </p:spPr>
        <p:txBody>
          <a:bodyPr wrap="square" lIns="22860" rIns="22860" tIns="0" bIns="0">
            <a:spAutoFit/>
          </a:bodyPr>
          <a:lstStyle/>
          <a:p>
            <a:pPr algn="r">
              <a:spcAft>
                <a:spcPts val="600"/>
              </a:spcAft>
              <a:defRPr sz="2100" b="1">
                <a:solidFill>
                  <a:srgbClr val="159BB6"/>
                </a:solidFill>
                <a:latin typeface="Microsoft YaHei"/>
              </a:defRPr>
            </a:pPr>
            <a:r>
              <a:t>北京工业大学</a:t>
            </a:r>
          </a:p>
        </p:txBody>
      </p:sp>
      <p:sp>
        <p:nvSpPr>
          <p:cNvPr id="4" name="TextBox 3"/>
          <p:cNvSpPr txBox="1"/>
          <p:nvPr/>
        </p:nvSpPr>
        <p:spPr>
          <a:xfrm>
            <a:off x="8686800" y="621792"/>
            <a:ext cx="3063240" cy="182880"/>
          </a:xfrm>
          <a:prstGeom prst="rect">
            <a:avLst/>
          </a:prstGeom>
          <a:noFill/>
          <a:effectLst/>
        </p:spPr>
        <p:txBody>
          <a:bodyPr wrap="square" lIns="22860" rIns="22860" tIns="0" bIns="0">
            <a:spAutoFit/>
          </a:bodyPr>
          <a:lstStyle/>
          <a:p>
            <a:pPr algn="r">
              <a:spcAft>
                <a:spcPts val="600"/>
              </a:spcAft>
              <a:defRPr sz="770" b="1">
                <a:solidFill>
                  <a:srgbClr val="159BB6"/>
                </a:solidFill>
                <a:latin typeface="Microsoft YaHei"/>
              </a:defRPr>
            </a:pPr>
            <a:r>
              <a:t>BEIJING UNIVERSITY OF TECHNOLOGY</a:t>
            </a:r>
          </a:p>
        </p:txBody>
      </p:sp>
      <p:sp>
        <p:nvSpPr>
          <p:cNvPr id="5" name="TextBox 4"/>
          <p:cNvSpPr txBox="1"/>
          <p:nvPr/>
        </p:nvSpPr>
        <p:spPr>
          <a:xfrm>
            <a:off x="594360" y="914400"/>
            <a:ext cx="11109960" cy="594360"/>
          </a:xfrm>
          <a:prstGeom prst="rect">
            <a:avLst/>
          </a:prstGeom>
          <a:noFill/>
          <a:effectLst/>
        </p:spPr>
        <p:txBody>
          <a:bodyPr wrap="square" lIns="22860" rIns="22860" tIns="0" bIns="0">
            <a:spAutoFit/>
          </a:bodyPr>
          <a:lstStyle/>
          <a:p>
            <a:pPr>
              <a:spcAft>
                <a:spcPts val="600"/>
              </a:spcAft>
              <a:defRPr sz="2600" b="1">
                <a:solidFill>
                  <a:srgbClr val="203864"/>
                </a:solidFill>
                <a:latin typeface="Microsoft YaHei"/>
              </a:defRPr>
            </a:pPr>
            <a:r>
              <a:t>下一阶段优先完成分析确认，再推进复杂底物与 PVC</a:t>
            </a:r>
          </a:p>
        </p:txBody>
      </p:sp>
      <p:cxnSp>
        <p:nvCxnSpPr>
          <p:cNvPr id="6" name="Connector 5"/>
          <p:cNvCxnSpPr/>
          <p:nvPr/>
        </p:nvCxnSpPr>
        <p:spPr>
          <a:xfrm>
            <a:off x="594360" y="1636776"/>
            <a:ext cx="11018520" cy="0"/>
          </a:xfrm>
          <a:prstGeom prst="line">
            <a:avLst/>
          </a:prstGeom>
          <a:ln w="25400">
            <a:solidFill>
              <a:srgbClr val="203864"/>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40080" y="1773936"/>
            <a:ext cx="10972800" cy="393192"/>
          </a:xfrm>
          <a:prstGeom prst="rect">
            <a:avLst/>
          </a:prstGeom>
          <a:noFill/>
          <a:effectLst/>
        </p:spPr>
        <p:txBody>
          <a:bodyPr wrap="square" lIns="22860" rIns="22860" tIns="0" bIns="0">
            <a:spAutoFit/>
          </a:bodyPr>
          <a:lstStyle/>
          <a:p>
            <a:pPr>
              <a:spcAft>
                <a:spcPts val="600"/>
              </a:spcAft>
              <a:defRPr sz="1300" b="0">
                <a:solidFill>
                  <a:srgbClr val="566273"/>
                </a:solidFill>
                <a:latin typeface="Microsoft YaHei"/>
              </a:defRPr>
            </a:pPr>
            <a:r>
              <a:t>以每阶段的通过判据推进，不预设已有体系能够实现完整催化或有效降解</a:t>
            </a:r>
          </a:p>
        </p:txBody>
      </p:sp>
      <p:cxnSp>
        <p:nvCxnSpPr>
          <p:cNvPr id="8" name="Connector 7"/>
          <p:cNvCxnSpPr/>
          <p:nvPr/>
        </p:nvCxnSpPr>
        <p:spPr>
          <a:xfrm>
            <a:off x="594360" y="6446520"/>
            <a:ext cx="11018520" cy="0"/>
          </a:xfrm>
          <a:prstGeom prst="line">
            <a:avLst/>
          </a:prstGeom>
          <a:ln w="10160">
            <a:solidFill>
              <a:srgbClr val="CED7E3"/>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94360" y="6547104"/>
            <a:ext cx="10469880" cy="182880"/>
          </a:xfrm>
          <a:prstGeom prst="rect">
            <a:avLst/>
          </a:prstGeom>
          <a:noFill/>
          <a:effectLst/>
        </p:spPr>
        <p:txBody>
          <a:bodyPr wrap="square" lIns="22860" rIns="22860" tIns="0" bIns="0">
            <a:spAutoFit/>
          </a:bodyPr>
          <a:lstStyle/>
          <a:p>
            <a:pPr>
              <a:spcAft>
                <a:spcPts val="600"/>
              </a:spcAft>
              <a:defRPr sz="800" b="0">
                <a:solidFill>
                  <a:srgbClr val="566273"/>
                </a:solidFill>
                <a:latin typeface="Arial"/>
              </a:defRPr>
            </a:pPr>
          </a:p>
        </p:txBody>
      </p:sp>
      <p:sp>
        <p:nvSpPr>
          <p:cNvPr id="10" name="TextBox 9"/>
          <p:cNvSpPr txBox="1"/>
          <p:nvPr/>
        </p:nvSpPr>
        <p:spPr>
          <a:xfrm>
            <a:off x="11137392" y="6510528"/>
            <a:ext cx="438912" cy="237744"/>
          </a:xfrm>
          <a:prstGeom prst="rect">
            <a:avLst/>
          </a:prstGeom>
          <a:noFill/>
          <a:effectLst/>
        </p:spPr>
        <p:txBody>
          <a:bodyPr wrap="square" lIns="22860" rIns="22860" tIns="0" bIns="0">
            <a:spAutoFit/>
          </a:bodyPr>
          <a:lstStyle/>
          <a:p>
            <a:pPr algn="r">
              <a:spcAft>
                <a:spcPts val="600"/>
              </a:spcAft>
              <a:defRPr sz="1100" b="1">
                <a:solidFill>
                  <a:srgbClr val="203864"/>
                </a:solidFill>
                <a:latin typeface="Microsoft YaHei"/>
              </a:defRPr>
            </a:pPr>
            <a:r>
              <a:t>17</a:t>
            </a:r>
          </a:p>
        </p:txBody>
      </p:sp>
      <p:sp>
        <p:nvSpPr>
          <p:cNvPr id="11" name="TextBox 10"/>
          <p:cNvSpPr txBox="1"/>
          <p:nvPr/>
        </p:nvSpPr>
        <p:spPr>
          <a:xfrm>
            <a:off x="868680" y="2331720"/>
            <a:ext cx="438912" cy="338328"/>
          </a:xfrm>
          <a:prstGeom prst="rect">
            <a:avLst/>
          </a:prstGeom>
          <a:noFill/>
          <a:effectLst/>
        </p:spPr>
        <p:txBody>
          <a:bodyPr wrap="square" lIns="22860" rIns="22860" tIns="0" bIns="0">
            <a:spAutoFit/>
          </a:bodyPr>
          <a:lstStyle/>
          <a:p>
            <a:pPr>
              <a:spcAft>
                <a:spcPts val="600"/>
              </a:spcAft>
              <a:defRPr sz="1800" b="1">
                <a:solidFill>
                  <a:srgbClr val="203864"/>
                </a:solidFill>
                <a:latin typeface="Microsoft YaHei"/>
              </a:defRPr>
            </a:pPr>
            <a:r>
              <a:t>1</a:t>
            </a:r>
          </a:p>
        </p:txBody>
      </p:sp>
      <p:sp>
        <p:nvSpPr>
          <p:cNvPr id="12" name="TextBox 11"/>
          <p:cNvSpPr txBox="1"/>
          <p:nvPr/>
        </p:nvSpPr>
        <p:spPr>
          <a:xfrm>
            <a:off x="1463040" y="2331720"/>
            <a:ext cx="2103120" cy="356616"/>
          </a:xfrm>
          <a:prstGeom prst="rect">
            <a:avLst/>
          </a:prstGeom>
          <a:noFill/>
          <a:effectLst/>
        </p:spPr>
        <p:txBody>
          <a:bodyPr wrap="square" lIns="22860" rIns="22860" tIns="0" bIns="0">
            <a:spAutoFit/>
          </a:bodyPr>
          <a:lstStyle/>
          <a:p>
            <a:pPr>
              <a:spcAft>
                <a:spcPts val="600"/>
              </a:spcAft>
              <a:defRPr sz="1800" b="1">
                <a:solidFill>
                  <a:srgbClr val="203864"/>
                </a:solidFill>
                <a:latin typeface="Microsoft YaHei"/>
              </a:defRPr>
            </a:pPr>
            <a:r>
              <a:t>确认模型反应</a:t>
            </a:r>
          </a:p>
        </p:txBody>
      </p:sp>
      <p:sp>
        <p:nvSpPr>
          <p:cNvPr id="13" name="TextBox 12"/>
          <p:cNvSpPr txBox="1"/>
          <p:nvPr/>
        </p:nvSpPr>
        <p:spPr>
          <a:xfrm>
            <a:off x="3749039" y="2331720"/>
            <a:ext cx="4206240" cy="585216"/>
          </a:xfrm>
          <a:prstGeom prst="rect">
            <a:avLst/>
          </a:prstGeom>
          <a:noFill/>
          <a:effectLst/>
        </p:spPr>
        <p:txBody>
          <a:bodyPr wrap="square" lIns="22860" rIns="22860" tIns="0" bIns="0">
            <a:spAutoFit/>
          </a:bodyPr>
          <a:lstStyle/>
          <a:p>
            <a:pPr>
              <a:spcAft>
                <a:spcPts val="600"/>
              </a:spcAft>
              <a:defRPr sz="1400" b="0">
                <a:solidFill>
                  <a:srgbClr val="111111"/>
                </a:solidFill>
                <a:latin typeface="Microsoft YaHei"/>
              </a:defRPr>
            </a:pPr>
            <a:r>
              <a:t>复核色谱、候选产物与转化率</a:t>
            </a:r>
          </a:p>
          <a:p>
            <a:pPr>
              <a:spcAft>
                <a:spcPts val="600"/>
              </a:spcAft>
              <a:defRPr sz="1400" b="0">
                <a:solidFill>
                  <a:srgbClr val="111111"/>
                </a:solidFill>
                <a:latin typeface="Microsoft YaHei"/>
              </a:defRPr>
            </a:pPr>
            <a:r>
              <a:t>完成无底物 DCE 空白</a:t>
            </a:r>
          </a:p>
        </p:txBody>
      </p:sp>
      <p:sp>
        <p:nvSpPr>
          <p:cNvPr id="14" name="TextBox 13"/>
          <p:cNvSpPr txBox="1"/>
          <p:nvPr/>
        </p:nvSpPr>
        <p:spPr>
          <a:xfrm>
            <a:off x="8266175" y="2414015"/>
            <a:ext cx="3154680" cy="420624"/>
          </a:xfrm>
          <a:prstGeom prst="rect">
            <a:avLst/>
          </a:prstGeom>
          <a:noFill/>
          <a:effectLst/>
        </p:spPr>
        <p:txBody>
          <a:bodyPr wrap="square" lIns="22860" rIns="22860" tIns="0" bIns="0">
            <a:spAutoFit/>
          </a:bodyPr>
          <a:lstStyle/>
          <a:p>
            <a:pPr>
              <a:spcAft>
                <a:spcPts val="600"/>
              </a:spcAft>
              <a:defRPr sz="1400" b="1">
                <a:solidFill>
                  <a:srgbClr val="111111"/>
                </a:solidFill>
                <a:latin typeface="Microsoft YaHei"/>
              </a:defRPr>
            </a:pPr>
            <a:r>
              <a:t>输出：可重复的消耗—产物对应</a:t>
            </a:r>
          </a:p>
        </p:txBody>
      </p:sp>
      <p:cxnSp>
        <p:nvCxnSpPr>
          <p:cNvPr id="15" name="Connector 14"/>
          <p:cNvCxnSpPr/>
          <p:nvPr/>
        </p:nvCxnSpPr>
        <p:spPr>
          <a:xfrm>
            <a:off x="868680" y="2871215"/>
            <a:ext cx="10469880" cy="0"/>
          </a:xfrm>
          <a:prstGeom prst="line">
            <a:avLst/>
          </a:prstGeom>
          <a:ln w="8255">
            <a:solidFill>
              <a:srgbClr val="D9E0EA"/>
            </a:solidFill>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868680" y="2990087"/>
            <a:ext cx="438912" cy="338328"/>
          </a:xfrm>
          <a:prstGeom prst="rect">
            <a:avLst/>
          </a:prstGeom>
          <a:noFill/>
          <a:effectLst/>
        </p:spPr>
        <p:txBody>
          <a:bodyPr wrap="square" lIns="22860" rIns="22860" tIns="0" bIns="0">
            <a:spAutoFit/>
          </a:bodyPr>
          <a:lstStyle/>
          <a:p>
            <a:pPr>
              <a:spcAft>
                <a:spcPts val="600"/>
              </a:spcAft>
              <a:defRPr sz="1800" b="1">
                <a:solidFill>
                  <a:srgbClr val="203864"/>
                </a:solidFill>
                <a:latin typeface="Microsoft YaHei"/>
              </a:defRPr>
            </a:pPr>
            <a:r>
              <a:t>2</a:t>
            </a:r>
          </a:p>
        </p:txBody>
      </p:sp>
      <p:sp>
        <p:nvSpPr>
          <p:cNvPr id="17" name="TextBox 16"/>
          <p:cNvSpPr txBox="1"/>
          <p:nvPr/>
        </p:nvSpPr>
        <p:spPr>
          <a:xfrm>
            <a:off x="1463040" y="2990087"/>
            <a:ext cx="2103120" cy="356616"/>
          </a:xfrm>
          <a:prstGeom prst="rect">
            <a:avLst/>
          </a:prstGeom>
          <a:noFill/>
          <a:effectLst/>
        </p:spPr>
        <p:txBody>
          <a:bodyPr wrap="square" lIns="22860" rIns="22860" tIns="0" bIns="0">
            <a:spAutoFit/>
          </a:bodyPr>
          <a:lstStyle/>
          <a:p>
            <a:pPr>
              <a:spcAft>
                <a:spcPts val="600"/>
              </a:spcAft>
              <a:defRPr sz="1800" b="1">
                <a:solidFill>
                  <a:srgbClr val="203864"/>
                </a:solidFill>
                <a:latin typeface="Microsoft YaHei"/>
              </a:defRPr>
            </a:pPr>
            <a:r>
              <a:t>优化模型底物</a:t>
            </a:r>
          </a:p>
        </p:txBody>
      </p:sp>
      <p:sp>
        <p:nvSpPr>
          <p:cNvPr id="18" name="TextBox 17"/>
          <p:cNvSpPr txBox="1"/>
          <p:nvPr/>
        </p:nvSpPr>
        <p:spPr>
          <a:xfrm>
            <a:off x="3749039" y="2990087"/>
            <a:ext cx="4206240" cy="585216"/>
          </a:xfrm>
          <a:prstGeom prst="rect">
            <a:avLst/>
          </a:prstGeom>
          <a:noFill/>
          <a:effectLst/>
        </p:spPr>
        <p:txBody>
          <a:bodyPr wrap="square" lIns="22860" rIns="22860" tIns="0" bIns="0">
            <a:spAutoFit/>
          </a:bodyPr>
          <a:lstStyle/>
          <a:p>
            <a:pPr>
              <a:spcAft>
                <a:spcPts val="600"/>
              </a:spcAft>
              <a:defRPr sz="1400" b="0">
                <a:solidFill>
                  <a:srgbClr val="111111"/>
                </a:solidFill>
                <a:latin typeface="Microsoft YaHei"/>
              </a:defRPr>
            </a:pPr>
            <a:r>
              <a:t>2-氯己烷等模型；配对介质</a:t>
            </a:r>
          </a:p>
          <a:p>
            <a:pPr>
              <a:spcAft>
                <a:spcPts val="600"/>
              </a:spcAft>
              <a:defRPr sz="1400" b="0">
                <a:solidFill>
                  <a:srgbClr val="111111"/>
                </a:solidFill>
                <a:latin typeface="Microsoft YaHei"/>
              </a:defRPr>
            </a:pPr>
            <a:r>
              <a:t>光照、浓度与气氛</a:t>
            </a:r>
          </a:p>
        </p:txBody>
      </p:sp>
      <p:sp>
        <p:nvSpPr>
          <p:cNvPr id="19" name="TextBox 18"/>
          <p:cNvSpPr txBox="1"/>
          <p:nvPr/>
        </p:nvSpPr>
        <p:spPr>
          <a:xfrm>
            <a:off x="8266175" y="3072383"/>
            <a:ext cx="3154680" cy="420624"/>
          </a:xfrm>
          <a:prstGeom prst="rect">
            <a:avLst/>
          </a:prstGeom>
          <a:noFill/>
          <a:effectLst/>
        </p:spPr>
        <p:txBody>
          <a:bodyPr wrap="square" lIns="22860" rIns="22860" tIns="0" bIns="0">
            <a:spAutoFit/>
          </a:bodyPr>
          <a:lstStyle/>
          <a:p>
            <a:pPr>
              <a:spcAft>
                <a:spcPts val="600"/>
              </a:spcAft>
              <a:defRPr sz="1400" b="1">
                <a:solidFill>
                  <a:srgbClr val="111111"/>
                </a:solidFill>
                <a:latin typeface="Microsoft YaHei"/>
              </a:defRPr>
            </a:pPr>
            <a:r>
              <a:t>输出：可复现的反应窗口</a:t>
            </a:r>
          </a:p>
        </p:txBody>
      </p:sp>
      <p:cxnSp>
        <p:nvCxnSpPr>
          <p:cNvPr id="20" name="Connector 19"/>
          <p:cNvCxnSpPr/>
          <p:nvPr/>
        </p:nvCxnSpPr>
        <p:spPr>
          <a:xfrm>
            <a:off x="868680" y="3529583"/>
            <a:ext cx="10469880" cy="0"/>
          </a:xfrm>
          <a:prstGeom prst="line">
            <a:avLst/>
          </a:prstGeom>
          <a:ln w="8255">
            <a:solidFill>
              <a:srgbClr val="D9E0EA"/>
            </a:solidFill>
          </a:ln>
          <a:effectLst/>
        </p:spPr>
        <p:style>
          <a:lnRef idx="2">
            <a:schemeClr val="accent1"/>
          </a:lnRef>
          <a:fillRef idx="0">
            <a:schemeClr val="accent1"/>
          </a:fillRef>
          <a:effectRef idx="0">
            <a:schemeClr val="accent1"/>
          </a:effectRef>
          <a:fontRef idx="minor">
            <a:schemeClr val="tx1"/>
          </a:fontRef>
        </p:style>
      </p:cxnSp>
      <p:sp>
        <p:nvSpPr>
          <p:cNvPr id="21" name="TextBox 20"/>
          <p:cNvSpPr txBox="1"/>
          <p:nvPr/>
        </p:nvSpPr>
        <p:spPr>
          <a:xfrm>
            <a:off x="868680" y="3648456"/>
            <a:ext cx="438912" cy="338328"/>
          </a:xfrm>
          <a:prstGeom prst="rect">
            <a:avLst/>
          </a:prstGeom>
          <a:noFill/>
          <a:effectLst/>
        </p:spPr>
        <p:txBody>
          <a:bodyPr wrap="square" lIns="22860" rIns="22860" tIns="0" bIns="0">
            <a:spAutoFit/>
          </a:bodyPr>
          <a:lstStyle/>
          <a:p>
            <a:pPr>
              <a:spcAft>
                <a:spcPts val="600"/>
              </a:spcAft>
              <a:defRPr sz="1800" b="1">
                <a:solidFill>
                  <a:srgbClr val="203864"/>
                </a:solidFill>
                <a:latin typeface="Microsoft YaHei"/>
              </a:defRPr>
            </a:pPr>
            <a:r>
              <a:t>3</a:t>
            </a:r>
          </a:p>
        </p:txBody>
      </p:sp>
      <p:sp>
        <p:nvSpPr>
          <p:cNvPr id="22" name="TextBox 21"/>
          <p:cNvSpPr txBox="1"/>
          <p:nvPr/>
        </p:nvSpPr>
        <p:spPr>
          <a:xfrm>
            <a:off x="1463040" y="3648456"/>
            <a:ext cx="2103120" cy="356616"/>
          </a:xfrm>
          <a:prstGeom prst="rect">
            <a:avLst/>
          </a:prstGeom>
          <a:noFill/>
          <a:effectLst/>
        </p:spPr>
        <p:txBody>
          <a:bodyPr wrap="square" lIns="22860" rIns="22860" tIns="0" bIns="0">
            <a:spAutoFit/>
          </a:bodyPr>
          <a:lstStyle/>
          <a:p>
            <a:pPr>
              <a:spcAft>
                <a:spcPts val="600"/>
              </a:spcAft>
              <a:defRPr sz="1800" b="1">
                <a:solidFill>
                  <a:srgbClr val="203864"/>
                </a:solidFill>
                <a:latin typeface="Microsoft YaHei"/>
              </a:defRPr>
            </a:pPr>
            <a:r>
              <a:t>扩展含氯结构</a:t>
            </a:r>
          </a:p>
        </p:txBody>
      </p:sp>
      <p:sp>
        <p:nvSpPr>
          <p:cNvPr id="23" name="TextBox 22"/>
          <p:cNvSpPr txBox="1"/>
          <p:nvPr/>
        </p:nvSpPr>
        <p:spPr>
          <a:xfrm>
            <a:off x="3749039" y="3648456"/>
            <a:ext cx="4206240" cy="585216"/>
          </a:xfrm>
          <a:prstGeom prst="rect">
            <a:avLst/>
          </a:prstGeom>
          <a:noFill/>
          <a:effectLst/>
        </p:spPr>
        <p:txBody>
          <a:bodyPr wrap="square" lIns="22860" rIns="22860" tIns="0" bIns="0">
            <a:spAutoFit/>
          </a:bodyPr>
          <a:lstStyle/>
          <a:p>
            <a:pPr>
              <a:spcAft>
                <a:spcPts val="600"/>
              </a:spcAft>
              <a:defRPr sz="1400" b="0">
                <a:solidFill>
                  <a:srgbClr val="111111"/>
                </a:solidFill>
                <a:latin typeface="Microsoft YaHei"/>
              </a:defRPr>
            </a:pPr>
            <a:r>
              <a:t>由简单氯代烷烃到氯代石蜡</a:t>
            </a:r>
          </a:p>
          <a:p>
            <a:pPr>
              <a:spcAft>
                <a:spcPts val="600"/>
              </a:spcAft>
              <a:defRPr sz="1400" b="0">
                <a:solidFill>
                  <a:srgbClr val="111111"/>
                </a:solidFill>
                <a:latin typeface="Microsoft YaHei"/>
              </a:defRPr>
            </a:pPr>
            <a:r>
              <a:t>检验连续位点与竞争反应</a:t>
            </a:r>
          </a:p>
        </p:txBody>
      </p:sp>
      <p:sp>
        <p:nvSpPr>
          <p:cNvPr id="24" name="TextBox 23"/>
          <p:cNvSpPr txBox="1"/>
          <p:nvPr/>
        </p:nvSpPr>
        <p:spPr>
          <a:xfrm>
            <a:off x="8266175" y="3730752"/>
            <a:ext cx="3154680" cy="420624"/>
          </a:xfrm>
          <a:prstGeom prst="rect">
            <a:avLst/>
          </a:prstGeom>
          <a:noFill/>
          <a:effectLst/>
        </p:spPr>
        <p:txBody>
          <a:bodyPr wrap="square" lIns="22860" rIns="22860" tIns="0" bIns="0">
            <a:spAutoFit/>
          </a:bodyPr>
          <a:lstStyle/>
          <a:p>
            <a:pPr>
              <a:spcAft>
                <a:spcPts val="600"/>
              </a:spcAft>
              <a:defRPr sz="1400" b="1">
                <a:solidFill>
                  <a:srgbClr val="111111"/>
                </a:solidFill>
                <a:latin typeface="Microsoft YaHei"/>
              </a:defRPr>
            </a:pPr>
            <a:r>
              <a:t>输出：模型结论的适用范围</a:t>
            </a:r>
          </a:p>
        </p:txBody>
      </p:sp>
      <p:cxnSp>
        <p:nvCxnSpPr>
          <p:cNvPr id="25" name="Connector 24"/>
          <p:cNvCxnSpPr/>
          <p:nvPr/>
        </p:nvCxnSpPr>
        <p:spPr>
          <a:xfrm>
            <a:off x="868680" y="4187952"/>
            <a:ext cx="10469880" cy="0"/>
          </a:xfrm>
          <a:prstGeom prst="line">
            <a:avLst/>
          </a:prstGeom>
          <a:ln w="8255">
            <a:solidFill>
              <a:srgbClr val="D9E0EA"/>
            </a:solidFill>
          </a:ln>
          <a:effectLst/>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868680" y="4306824"/>
            <a:ext cx="438912" cy="338328"/>
          </a:xfrm>
          <a:prstGeom prst="rect">
            <a:avLst/>
          </a:prstGeom>
          <a:noFill/>
          <a:effectLst/>
        </p:spPr>
        <p:txBody>
          <a:bodyPr wrap="square" lIns="22860" rIns="22860" tIns="0" bIns="0">
            <a:spAutoFit/>
          </a:bodyPr>
          <a:lstStyle/>
          <a:p>
            <a:pPr>
              <a:spcAft>
                <a:spcPts val="600"/>
              </a:spcAft>
              <a:defRPr sz="1800" b="1">
                <a:solidFill>
                  <a:srgbClr val="203864"/>
                </a:solidFill>
                <a:latin typeface="Microsoft YaHei"/>
              </a:defRPr>
            </a:pPr>
            <a:r>
              <a:t>4</a:t>
            </a:r>
          </a:p>
        </p:txBody>
      </p:sp>
      <p:sp>
        <p:nvSpPr>
          <p:cNvPr id="27" name="TextBox 26"/>
          <p:cNvSpPr txBox="1"/>
          <p:nvPr/>
        </p:nvSpPr>
        <p:spPr>
          <a:xfrm>
            <a:off x="1463040" y="4306824"/>
            <a:ext cx="2103120" cy="356616"/>
          </a:xfrm>
          <a:prstGeom prst="rect">
            <a:avLst/>
          </a:prstGeom>
          <a:noFill/>
          <a:effectLst/>
        </p:spPr>
        <p:txBody>
          <a:bodyPr wrap="square" lIns="22860" rIns="22860" tIns="0" bIns="0">
            <a:spAutoFit/>
          </a:bodyPr>
          <a:lstStyle/>
          <a:p>
            <a:pPr>
              <a:spcAft>
                <a:spcPts val="600"/>
              </a:spcAft>
              <a:defRPr sz="1800" b="1">
                <a:solidFill>
                  <a:srgbClr val="203864"/>
                </a:solidFill>
                <a:latin typeface="Microsoft YaHei"/>
              </a:defRPr>
            </a:pPr>
            <a:r>
              <a:t>进入 PVC 评价</a:t>
            </a:r>
          </a:p>
        </p:txBody>
      </p:sp>
      <p:sp>
        <p:nvSpPr>
          <p:cNvPr id="28" name="TextBox 27"/>
          <p:cNvSpPr txBox="1"/>
          <p:nvPr/>
        </p:nvSpPr>
        <p:spPr>
          <a:xfrm>
            <a:off x="3749039" y="4306824"/>
            <a:ext cx="4206240" cy="585216"/>
          </a:xfrm>
          <a:prstGeom prst="rect">
            <a:avLst/>
          </a:prstGeom>
          <a:noFill/>
          <a:effectLst/>
        </p:spPr>
        <p:txBody>
          <a:bodyPr wrap="square" lIns="22860" rIns="22860" tIns="0" bIns="0">
            <a:spAutoFit/>
          </a:bodyPr>
          <a:lstStyle/>
          <a:p>
            <a:pPr>
              <a:spcAft>
                <a:spcPts val="600"/>
              </a:spcAft>
              <a:defRPr sz="1400" b="0">
                <a:solidFill>
                  <a:srgbClr val="111111"/>
                </a:solidFill>
                <a:latin typeface="Microsoft YaHei"/>
              </a:defRPr>
            </a:pPr>
            <a:r>
              <a:t>统一制样与对照；氯平衡</a:t>
            </a:r>
          </a:p>
          <a:p>
            <a:pPr>
              <a:spcAft>
                <a:spcPts val="600"/>
              </a:spcAft>
              <a:defRPr sz="1400" b="0">
                <a:solidFill>
                  <a:srgbClr val="111111"/>
                </a:solidFill>
                <a:latin typeface="Microsoft YaHei"/>
              </a:defRPr>
            </a:pPr>
            <a:r>
              <a:t>SEC/GPC、凝胶及结构分析</a:t>
            </a:r>
          </a:p>
        </p:txBody>
      </p:sp>
      <p:sp>
        <p:nvSpPr>
          <p:cNvPr id="29" name="TextBox 28"/>
          <p:cNvSpPr txBox="1"/>
          <p:nvPr/>
        </p:nvSpPr>
        <p:spPr>
          <a:xfrm>
            <a:off x="8266175" y="4389120"/>
            <a:ext cx="3154680" cy="420624"/>
          </a:xfrm>
          <a:prstGeom prst="rect">
            <a:avLst/>
          </a:prstGeom>
          <a:noFill/>
          <a:effectLst/>
        </p:spPr>
        <p:txBody>
          <a:bodyPr wrap="square" lIns="22860" rIns="22860" tIns="0" bIns="0">
            <a:spAutoFit/>
          </a:bodyPr>
          <a:lstStyle/>
          <a:p>
            <a:pPr>
              <a:spcAft>
                <a:spcPts val="600"/>
              </a:spcAft>
              <a:defRPr sz="1400" b="1">
                <a:solidFill>
                  <a:srgbClr val="111111"/>
                </a:solidFill>
                <a:latin typeface="Microsoft YaHei"/>
              </a:defRPr>
            </a:pPr>
            <a:r>
              <a:t>输出：氯与链长的联合结果</a:t>
            </a:r>
          </a:p>
        </p:txBody>
      </p:sp>
      <p:cxnSp>
        <p:nvCxnSpPr>
          <p:cNvPr id="30" name="Connector 29"/>
          <p:cNvCxnSpPr/>
          <p:nvPr/>
        </p:nvCxnSpPr>
        <p:spPr>
          <a:xfrm>
            <a:off x="868680" y="4846320"/>
            <a:ext cx="10469880" cy="0"/>
          </a:xfrm>
          <a:prstGeom prst="line">
            <a:avLst/>
          </a:prstGeom>
          <a:ln w="8255">
            <a:solidFill>
              <a:srgbClr val="D9E0EA"/>
            </a:solidFill>
          </a:ln>
          <a:effectLst/>
        </p:spPr>
        <p:style>
          <a:lnRef idx="2">
            <a:schemeClr val="accent1"/>
          </a:lnRef>
          <a:fillRef idx="0">
            <a:schemeClr val="accent1"/>
          </a:fillRef>
          <a:effectRef idx="0">
            <a:schemeClr val="accent1"/>
          </a:effectRef>
          <a:fontRef idx="minor">
            <a:schemeClr val="tx1"/>
          </a:fontRef>
        </p:style>
      </p:cxnSp>
      <p:sp>
        <p:nvSpPr>
          <p:cNvPr id="31" name="TextBox 30"/>
          <p:cNvSpPr txBox="1"/>
          <p:nvPr/>
        </p:nvSpPr>
        <p:spPr>
          <a:xfrm>
            <a:off x="868680" y="4965192"/>
            <a:ext cx="438912" cy="338328"/>
          </a:xfrm>
          <a:prstGeom prst="rect">
            <a:avLst/>
          </a:prstGeom>
          <a:noFill/>
          <a:effectLst/>
        </p:spPr>
        <p:txBody>
          <a:bodyPr wrap="square" lIns="22860" rIns="22860" tIns="0" bIns="0">
            <a:spAutoFit/>
          </a:bodyPr>
          <a:lstStyle/>
          <a:p>
            <a:pPr>
              <a:spcAft>
                <a:spcPts val="600"/>
              </a:spcAft>
              <a:defRPr sz="1800" b="1">
                <a:solidFill>
                  <a:srgbClr val="203864"/>
                </a:solidFill>
                <a:latin typeface="Microsoft YaHei"/>
              </a:defRPr>
            </a:pPr>
            <a:r>
              <a:t>5</a:t>
            </a:r>
          </a:p>
        </p:txBody>
      </p:sp>
      <p:sp>
        <p:nvSpPr>
          <p:cNvPr id="32" name="TextBox 31"/>
          <p:cNvSpPr txBox="1"/>
          <p:nvPr/>
        </p:nvSpPr>
        <p:spPr>
          <a:xfrm>
            <a:off x="1463040" y="4965192"/>
            <a:ext cx="2103120" cy="356616"/>
          </a:xfrm>
          <a:prstGeom prst="rect">
            <a:avLst/>
          </a:prstGeom>
          <a:noFill/>
          <a:effectLst/>
        </p:spPr>
        <p:txBody>
          <a:bodyPr wrap="square" lIns="22860" rIns="22860" tIns="0" bIns="0">
            <a:spAutoFit/>
          </a:bodyPr>
          <a:lstStyle/>
          <a:p>
            <a:pPr>
              <a:spcAft>
                <a:spcPts val="600"/>
              </a:spcAft>
              <a:defRPr sz="1800" b="1">
                <a:solidFill>
                  <a:srgbClr val="203864"/>
                </a:solidFill>
                <a:latin typeface="Microsoft YaHei"/>
              </a:defRPr>
            </a:pPr>
            <a:r>
              <a:t>完善机制证据</a:t>
            </a:r>
          </a:p>
        </p:txBody>
      </p:sp>
      <p:sp>
        <p:nvSpPr>
          <p:cNvPr id="33" name="TextBox 32"/>
          <p:cNvSpPr txBox="1"/>
          <p:nvPr/>
        </p:nvSpPr>
        <p:spPr>
          <a:xfrm>
            <a:off x="3749039" y="4965192"/>
            <a:ext cx="4206240" cy="585216"/>
          </a:xfrm>
          <a:prstGeom prst="rect">
            <a:avLst/>
          </a:prstGeom>
          <a:noFill/>
          <a:effectLst/>
        </p:spPr>
        <p:txBody>
          <a:bodyPr wrap="square" lIns="22860" rIns="22860" tIns="0" bIns="0">
            <a:spAutoFit/>
          </a:bodyPr>
          <a:lstStyle/>
          <a:p>
            <a:pPr>
              <a:spcAft>
                <a:spcPts val="600"/>
              </a:spcAft>
              <a:defRPr sz="1400" b="0">
                <a:solidFill>
                  <a:srgbClr val="111111"/>
                </a:solidFill>
                <a:latin typeface="Microsoft YaHei"/>
              </a:defRPr>
            </a:pPr>
            <a:r>
              <a:t>EPR、产物与激发态分析</a:t>
            </a:r>
          </a:p>
          <a:p>
            <a:pPr>
              <a:spcAft>
                <a:spcPts val="600"/>
              </a:spcAft>
              <a:defRPr sz="1400" b="0">
                <a:solidFill>
                  <a:srgbClr val="111111"/>
                </a:solidFill>
                <a:latin typeface="Microsoft YaHei"/>
              </a:defRPr>
            </a:pPr>
            <a:r>
              <a:t>交叉检验关键反应步骤</a:t>
            </a:r>
          </a:p>
        </p:txBody>
      </p:sp>
      <p:sp>
        <p:nvSpPr>
          <p:cNvPr id="34" name="TextBox 33"/>
          <p:cNvSpPr txBox="1"/>
          <p:nvPr/>
        </p:nvSpPr>
        <p:spPr>
          <a:xfrm>
            <a:off x="8266175" y="5047488"/>
            <a:ext cx="3154680" cy="420624"/>
          </a:xfrm>
          <a:prstGeom prst="rect">
            <a:avLst/>
          </a:prstGeom>
          <a:noFill/>
          <a:effectLst/>
        </p:spPr>
        <p:txBody>
          <a:bodyPr wrap="square" lIns="22860" rIns="22860" tIns="0" bIns="0">
            <a:spAutoFit/>
          </a:bodyPr>
          <a:lstStyle/>
          <a:p>
            <a:pPr>
              <a:spcAft>
                <a:spcPts val="600"/>
              </a:spcAft>
              <a:defRPr sz="1400" b="1">
                <a:solidFill>
                  <a:srgbClr val="111111"/>
                </a:solidFill>
                <a:latin typeface="Microsoft YaHei"/>
              </a:defRPr>
            </a:pPr>
            <a:r>
              <a:t>输出：支持或否定候选路径</a:t>
            </a:r>
          </a:p>
        </p:txBody>
      </p:sp>
      <p:sp>
        <p:nvSpPr>
          <p:cNvPr id="35" name="Rectangle 34"/>
          <p:cNvSpPr/>
          <p:nvPr/>
        </p:nvSpPr>
        <p:spPr>
          <a:xfrm>
            <a:off x="594360" y="5907024"/>
            <a:ext cx="11018520" cy="411480"/>
          </a:xfrm>
          <a:prstGeom prst="rect">
            <a:avLst/>
          </a:prstGeom>
          <a:solidFill>
            <a:srgbClr val="EEF3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777240" y="5980176"/>
            <a:ext cx="10652760" cy="265176"/>
          </a:xfrm>
          <a:prstGeom prst="rect">
            <a:avLst/>
          </a:prstGeom>
          <a:noFill/>
          <a:effectLst/>
        </p:spPr>
        <p:txBody>
          <a:bodyPr wrap="square" lIns="22860" rIns="22860" tIns="0" bIns="0">
            <a:spAutoFit/>
          </a:bodyPr>
          <a:lstStyle/>
          <a:p>
            <a:pPr>
              <a:spcAft>
                <a:spcPts val="600"/>
              </a:spcAft>
              <a:defRPr sz="1600" b="1">
                <a:solidFill>
                  <a:srgbClr val="203864"/>
                </a:solidFill>
                <a:latin typeface="Microsoft YaHei"/>
              </a:defRPr>
            </a:pPr>
            <a:r>
              <a:t>近期核心任务：确认信号来源与分析可靠性，再建立 PVC 主链变化的独立证据。</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384048" y="329184"/>
            <a:ext cx="50292" cy="320040"/>
          </a:xfrm>
          <a:prstGeom prst="rect">
            <a:avLst/>
          </a:prstGeom>
          <a:solidFill>
            <a:srgbClr val="20386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869680" y="246888"/>
            <a:ext cx="2880360" cy="356616"/>
          </a:xfrm>
          <a:prstGeom prst="rect">
            <a:avLst/>
          </a:prstGeom>
          <a:noFill/>
          <a:effectLst/>
        </p:spPr>
        <p:txBody>
          <a:bodyPr wrap="square" lIns="22860" rIns="22860" tIns="0" bIns="0">
            <a:spAutoFit/>
          </a:bodyPr>
          <a:lstStyle/>
          <a:p>
            <a:pPr algn="r">
              <a:spcAft>
                <a:spcPts val="600"/>
              </a:spcAft>
              <a:defRPr sz="2100" b="1">
                <a:solidFill>
                  <a:srgbClr val="159BB6"/>
                </a:solidFill>
                <a:latin typeface="Microsoft YaHei"/>
              </a:defRPr>
            </a:pPr>
            <a:r>
              <a:t>北京工业大学</a:t>
            </a:r>
          </a:p>
        </p:txBody>
      </p:sp>
      <p:sp>
        <p:nvSpPr>
          <p:cNvPr id="4" name="TextBox 3"/>
          <p:cNvSpPr txBox="1"/>
          <p:nvPr/>
        </p:nvSpPr>
        <p:spPr>
          <a:xfrm>
            <a:off x="8686800" y="621792"/>
            <a:ext cx="3063240" cy="182880"/>
          </a:xfrm>
          <a:prstGeom prst="rect">
            <a:avLst/>
          </a:prstGeom>
          <a:noFill/>
          <a:effectLst/>
        </p:spPr>
        <p:txBody>
          <a:bodyPr wrap="square" lIns="22860" rIns="22860" tIns="0" bIns="0">
            <a:spAutoFit/>
          </a:bodyPr>
          <a:lstStyle/>
          <a:p>
            <a:pPr algn="r">
              <a:spcAft>
                <a:spcPts val="600"/>
              </a:spcAft>
              <a:defRPr sz="770" b="1">
                <a:solidFill>
                  <a:srgbClr val="159BB6"/>
                </a:solidFill>
                <a:latin typeface="Microsoft YaHei"/>
              </a:defRPr>
            </a:pPr>
            <a:r>
              <a:t>BEIJING UNIVERSITY OF TECHNOLOGY</a:t>
            </a:r>
          </a:p>
        </p:txBody>
      </p:sp>
      <p:sp>
        <p:nvSpPr>
          <p:cNvPr id="5" name="TextBox 4"/>
          <p:cNvSpPr txBox="1"/>
          <p:nvPr/>
        </p:nvSpPr>
        <p:spPr>
          <a:xfrm>
            <a:off x="594360" y="914400"/>
            <a:ext cx="11109960" cy="594360"/>
          </a:xfrm>
          <a:prstGeom prst="rect">
            <a:avLst/>
          </a:prstGeom>
          <a:noFill/>
          <a:effectLst/>
        </p:spPr>
        <p:txBody>
          <a:bodyPr wrap="square" lIns="22860" rIns="22860" tIns="0" bIns="0">
            <a:spAutoFit/>
          </a:bodyPr>
          <a:lstStyle/>
          <a:p>
            <a:pPr>
              <a:spcAft>
                <a:spcPts val="600"/>
              </a:spcAft>
              <a:defRPr sz="2600" b="1">
                <a:solidFill>
                  <a:srgbClr val="203864"/>
                </a:solidFill>
                <a:latin typeface="Microsoft YaHei"/>
              </a:defRPr>
            </a:pPr>
            <a:r>
              <a:t>阶段认识将文献可能性与本体系证据明确分开</a:t>
            </a:r>
          </a:p>
        </p:txBody>
      </p:sp>
      <p:cxnSp>
        <p:nvCxnSpPr>
          <p:cNvPr id="6" name="Connector 5"/>
          <p:cNvCxnSpPr/>
          <p:nvPr/>
        </p:nvCxnSpPr>
        <p:spPr>
          <a:xfrm>
            <a:off x="594360" y="1636776"/>
            <a:ext cx="11018520" cy="0"/>
          </a:xfrm>
          <a:prstGeom prst="line">
            <a:avLst/>
          </a:prstGeom>
          <a:ln w="25400">
            <a:solidFill>
              <a:srgbClr val="203864"/>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40080" y="1773936"/>
            <a:ext cx="10972800" cy="393192"/>
          </a:xfrm>
          <a:prstGeom prst="rect">
            <a:avLst/>
          </a:prstGeom>
          <a:noFill/>
          <a:effectLst/>
        </p:spPr>
        <p:txBody>
          <a:bodyPr wrap="square" lIns="22860" rIns="22860" tIns="0" bIns="0">
            <a:spAutoFit/>
          </a:bodyPr>
          <a:lstStyle/>
          <a:p>
            <a:pPr>
              <a:spcAft>
                <a:spcPts val="600"/>
              </a:spcAft>
              <a:defRPr sz="1300" b="0">
                <a:solidFill>
                  <a:srgbClr val="566273"/>
                </a:solidFill>
                <a:latin typeface="Microsoft YaHei"/>
              </a:defRPr>
            </a:pPr>
            <a:r>
              <a:t>已有结果用于提出与筛选假说，尚不足以确认 EAQ / DCE 体系实现 PVC 有效链裂解</a:t>
            </a:r>
          </a:p>
        </p:txBody>
      </p:sp>
      <p:cxnSp>
        <p:nvCxnSpPr>
          <p:cNvPr id="8" name="Connector 7"/>
          <p:cNvCxnSpPr/>
          <p:nvPr/>
        </p:nvCxnSpPr>
        <p:spPr>
          <a:xfrm>
            <a:off x="594360" y="6446520"/>
            <a:ext cx="11018520" cy="0"/>
          </a:xfrm>
          <a:prstGeom prst="line">
            <a:avLst/>
          </a:prstGeom>
          <a:ln w="10160">
            <a:solidFill>
              <a:srgbClr val="CED7E3"/>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94360" y="6547104"/>
            <a:ext cx="10469880" cy="182880"/>
          </a:xfrm>
          <a:prstGeom prst="rect">
            <a:avLst/>
          </a:prstGeom>
          <a:noFill/>
          <a:effectLst/>
        </p:spPr>
        <p:txBody>
          <a:bodyPr wrap="square" lIns="22860" rIns="22860" tIns="0" bIns="0">
            <a:spAutoFit/>
          </a:bodyPr>
          <a:lstStyle/>
          <a:p>
            <a:pPr>
              <a:spcAft>
                <a:spcPts val="600"/>
              </a:spcAft>
              <a:defRPr sz="800" b="0">
                <a:solidFill>
                  <a:srgbClr val="566273"/>
                </a:solidFill>
                <a:latin typeface="Arial"/>
              </a:defRPr>
            </a:pPr>
          </a:p>
        </p:txBody>
      </p:sp>
      <p:sp>
        <p:nvSpPr>
          <p:cNvPr id="10" name="TextBox 9"/>
          <p:cNvSpPr txBox="1"/>
          <p:nvPr/>
        </p:nvSpPr>
        <p:spPr>
          <a:xfrm>
            <a:off x="11137392" y="6510528"/>
            <a:ext cx="438912" cy="237744"/>
          </a:xfrm>
          <a:prstGeom prst="rect">
            <a:avLst/>
          </a:prstGeom>
          <a:noFill/>
          <a:effectLst/>
        </p:spPr>
        <p:txBody>
          <a:bodyPr wrap="square" lIns="22860" rIns="22860" tIns="0" bIns="0">
            <a:spAutoFit/>
          </a:bodyPr>
          <a:lstStyle/>
          <a:p>
            <a:pPr algn="r">
              <a:spcAft>
                <a:spcPts val="600"/>
              </a:spcAft>
              <a:defRPr sz="1100" b="1">
                <a:solidFill>
                  <a:srgbClr val="203864"/>
                </a:solidFill>
                <a:latin typeface="Microsoft YaHei"/>
              </a:defRPr>
            </a:pPr>
            <a:r>
              <a:t>18</a:t>
            </a:r>
          </a:p>
        </p:txBody>
      </p:sp>
      <p:cxnSp>
        <p:nvCxnSpPr>
          <p:cNvPr id="11" name="Connector 10"/>
          <p:cNvCxnSpPr/>
          <p:nvPr/>
        </p:nvCxnSpPr>
        <p:spPr>
          <a:xfrm>
            <a:off x="877824" y="2505456"/>
            <a:ext cx="0" cy="658368"/>
          </a:xfrm>
          <a:prstGeom prst="line">
            <a:avLst/>
          </a:prstGeom>
          <a:ln w="38100">
            <a:solidFill>
              <a:srgbClr val="203864"/>
            </a:solidFill>
          </a:ln>
          <a:effectLst/>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1078992" y="2505456"/>
            <a:ext cx="1828800" cy="365760"/>
          </a:xfrm>
          <a:prstGeom prst="rect">
            <a:avLst/>
          </a:prstGeom>
          <a:noFill/>
          <a:effectLst/>
        </p:spPr>
        <p:txBody>
          <a:bodyPr wrap="square" lIns="22860" rIns="22860" tIns="0" bIns="0">
            <a:spAutoFit/>
          </a:bodyPr>
          <a:lstStyle/>
          <a:p>
            <a:pPr>
              <a:spcAft>
                <a:spcPts val="600"/>
              </a:spcAft>
              <a:defRPr sz="2200" b="1">
                <a:solidFill>
                  <a:srgbClr val="203864"/>
                </a:solidFill>
                <a:latin typeface="Microsoft YaHei"/>
              </a:defRPr>
            </a:pPr>
            <a:r>
              <a:t>研究依据</a:t>
            </a:r>
          </a:p>
        </p:txBody>
      </p:sp>
      <p:sp>
        <p:nvSpPr>
          <p:cNvPr id="13" name="TextBox 12"/>
          <p:cNvSpPr txBox="1"/>
          <p:nvPr/>
        </p:nvSpPr>
        <p:spPr>
          <a:xfrm>
            <a:off x="3218688" y="2487168"/>
            <a:ext cx="8119872" cy="786384"/>
          </a:xfrm>
          <a:prstGeom prst="rect">
            <a:avLst/>
          </a:prstGeom>
          <a:noFill/>
          <a:effectLst/>
        </p:spPr>
        <p:txBody>
          <a:bodyPr wrap="square" lIns="22860" rIns="22860" tIns="0" bIns="0">
            <a:spAutoFit/>
          </a:bodyPr>
          <a:lstStyle/>
          <a:p>
            <a:pPr>
              <a:spcAft>
                <a:spcPts val="600"/>
              </a:spcAft>
              <a:defRPr sz="1900" b="0">
                <a:solidFill>
                  <a:srgbClr val="111111"/>
                </a:solidFill>
                <a:latin typeface="Microsoft YaHei"/>
              </a:defRPr>
            </a:pPr>
            <a:r>
              <a:t>PVC 光老化涉及自由基氧化；AQ 提供候选光敏入口，</a:t>
            </a:r>
          </a:p>
          <a:p>
            <a:pPr>
              <a:spcAft>
                <a:spcPts val="600"/>
              </a:spcAft>
              <a:defRPr sz="1900" b="0">
                <a:solidFill>
                  <a:srgbClr val="111111"/>
                </a:solidFill>
                <a:latin typeface="Microsoft YaHei"/>
              </a:defRPr>
            </a:pPr>
            <a:r>
              <a:t>含氯介质可能改变反应路径。</a:t>
            </a:r>
          </a:p>
        </p:txBody>
      </p:sp>
      <p:cxnSp>
        <p:nvCxnSpPr>
          <p:cNvPr id="14" name="Connector 13"/>
          <p:cNvCxnSpPr/>
          <p:nvPr/>
        </p:nvCxnSpPr>
        <p:spPr>
          <a:xfrm>
            <a:off x="877824" y="3538728"/>
            <a:ext cx="0" cy="658368"/>
          </a:xfrm>
          <a:prstGeom prst="line">
            <a:avLst/>
          </a:prstGeom>
          <a:ln w="38100">
            <a:solidFill>
              <a:srgbClr val="203864"/>
            </a:solidFill>
          </a:ln>
          <a:effectLst/>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1078992" y="3538728"/>
            <a:ext cx="1828800" cy="365760"/>
          </a:xfrm>
          <a:prstGeom prst="rect">
            <a:avLst/>
          </a:prstGeom>
          <a:noFill/>
          <a:effectLst/>
        </p:spPr>
        <p:txBody>
          <a:bodyPr wrap="square" lIns="22860" rIns="22860" tIns="0" bIns="0">
            <a:spAutoFit/>
          </a:bodyPr>
          <a:lstStyle/>
          <a:p>
            <a:pPr>
              <a:spcAft>
                <a:spcPts val="600"/>
              </a:spcAft>
              <a:defRPr sz="2200" b="1">
                <a:solidFill>
                  <a:srgbClr val="203864"/>
                </a:solidFill>
                <a:latin typeface="Microsoft YaHei"/>
              </a:defRPr>
            </a:pPr>
            <a:r>
              <a:t>当前线索</a:t>
            </a:r>
          </a:p>
        </p:txBody>
      </p:sp>
      <p:sp>
        <p:nvSpPr>
          <p:cNvPr id="16" name="TextBox 15"/>
          <p:cNvSpPr txBox="1"/>
          <p:nvPr/>
        </p:nvSpPr>
        <p:spPr>
          <a:xfrm>
            <a:off x="3218688" y="3520440"/>
            <a:ext cx="8119872" cy="786384"/>
          </a:xfrm>
          <a:prstGeom prst="rect">
            <a:avLst/>
          </a:prstGeom>
          <a:noFill/>
          <a:effectLst/>
        </p:spPr>
        <p:txBody>
          <a:bodyPr wrap="square" lIns="22860" rIns="22860" tIns="0" bIns="0">
            <a:spAutoFit/>
          </a:bodyPr>
          <a:lstStyle/>
          <a:p>
            <a:pPr>
              <a:spcAft>
                <a:spcPts val="600"/>
              </a:spcAft>
              <a:defRPr sz="1900" b="0">
                <a:solidFill>
                  <a:srgbClr val="111111"/>
                </a:solidFill>
                <a:latin typeface="Microsoft YaHei"/>
              </a:defRPr>
            </a:pPr>
            <a:r>
              <a:t>模型实验存在转化及溶剂相关候选信号；PVC 谱形改变，</a:t>
            </a:r>
          </a:p>
          <a:p>
            <a:pPr>
              <a:spcAft>
                <a:spcPts val="600"/>
              </a:spcAft>
              <a:defRPr sz="1900" b="0">
                <a:solidFill>
                  <a:srgbClr val="111111"/>
                </a:solidFill>
                <a:latin typeface="Microsoft YaHei"/>
              </a:defRPr>
            </a:pPr>
            <a:r>
              <a:t>但产物来源、Cl· 作用与真实链断裂尚待确认。</a:t>
            </a:r>
          </a:p>
        </p:txBody>
      </p:sp>
      <p:cxnSp>
        <p:nvCxnSpPr>
          <p:cNvPr id="17" name="Connector 16"/>
          <p:cNvCxnSpPr/>
          <p:nvPr/>
        </p:nvCxnSpPr>
        <p:spPr>
          <a:xfrm>
            <a:off x="877824" y="4572000"/>
            <a:ext cx="0" cy="658368"/>
          </a:xfrm>
          <a:prstGeom prst="line">
            <a:avLst/>
          </a:prstGeom>
          <a:ln w="38100">
            <a:solidFill>
              <a:srgbClr val="203864"/>
            </a:solidFill>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1078992" y="4572000"/>
            <a:ext cx="1828800" cy="365760"/>
          </a:xfrm>
          <a:prstGeom prst="rect">
            <a:avLst/>
          </a:prstGeom>
          <a:noFill/>
          <a:effectLst/>
        </p:spPr>
        <p:txBody>
          <a:bodyPr wrap="square" lIns="22860" rIns="22860" tIns="0" bIns="0">
            <a:spAutoFit/>
          </a:bodyPr>
          <a:lstStyle/>
          <a:p>
            <a:pPr>
              <a:spcAft>
                <a:spcPts val="600"/>
              </a:spcAft>
              <a:defRPr sz="2200" b="1">
                <a:solidFill>
                  <a:srgbClr val="203864"/>
                </a:solidFill>
                <a:latin typeface="Microsoft YaHei"/>
              </a:defRPr>
            </a:pPr>
            <a:r>
              <a:t>优先突破</a:t>
            </a:r>
          </a:p>
        </p:txBody>
      </p:sp>
      <p:sp>
        <p:nvSpPr>
          <p:cNvPr id="19" name="TextBox 18"/>
          <p:cNvSpPr txBox="1"/>
          <p:nvPr/>
        </p:nvSpPr>
        <p:spPr>
          <a:xfrm>
            <a:off x="3218688" y="4553712"/>
            <a:ext cx="8119872" cy="786384"/>
          </a:xfrm>
          <a:prstGeom prst="rect">
            <a:avLst/>
          </a:prstGeom>
          <a:noFill/>
          <a:effectLst/>
        </p:spPr>
        <p:txBody>
          <a:bodyPr wrap="square" lIns="22860" rIns="22860" tIns="0" bIns="0">
            <a:spAutoFit/>
          </a:bodyPr>
          <a:lstStyle/>
          <a:p>
            <a:pPr>
              <a:spcAft>
                <a:spcPts val="600"/>
              </a:spcAft>
              <a:defRPr sz="1900" b="0">
                <a:solidFill>
                  <a:srgbClr val="111111"/>
                </a:solidFill>
                <a:latin typeface="Microsoft YaHei"/>
              </a:defRPr>
            </a:pPr>
            <a:r>
              <a:t>以溶剂空白和产物定量澄清模型反应，再联合物种检测、</a:t>
            </a:r>
          </a:p>
          <a:p>
            <a:pPr>
              <a:spcAft>
                <a:spcPts val="600"/>
              </a:spcAft>
              <a:defRPr sz="1900" b="0">
                <a:solidFill>
                  <a:srgbClr val="111111"/>
                </a:solidFill>
                <a:latin typeface="Microsoft YaHei"/>
              </a:defRPr>
            </a:pPr>
            <a:r>
              <a:t>氯平衡与分子量测量检验聚合物转化。</a:t>
            </a:r>
          </a:p>
        </p:txBody>
      </p:sp>
      <p:sp>
        <p:nvSpPr>
          <p:cNvPr id="20" name="Rectangle 19"/>
          <p:cNvSpPr/>
          <p:nvPr/>
        </p:nvSpPr>
        <p:spPr>
          <a:xfrm>
            <a:off x="594360" y="5907024"/>
            <a:ext cx="11018520" cy="411480"/>
          </a:xfrm>
          <a:prstGeom prst="rect">
            <a:avLst/>
          </a:prstGeom>
          <a:solidFill>
            <a:srgbClr val="EEF3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777240" y="5980176"/>
            <a:ext cx="10652760" cy="265176"/>
          </a:xfrm>
          <a:prstGeom prst="rect">
            <a:avLst/>
          </a:prstGeom>
          <a:noFill/>
          <a:effectLst/>
        </p:spPr>
        <p:txBody>
          <a:bodyPr wrap="square" lIns="22860" rIns="22860" tIns="0" bIns="0">
            <a:spAutoFit/>
          </a:bodyPr>
          <a:lstStyle/>
          <a:p>
            <a:pPr>
              <a:spcAft>
                <a:spcPts val="600"/>
              </a:spcAft>
              <a:defRPr sz="1600" b="1">
                <a:solidFill>
                  <a:srgbClr val="203864"/>
                </a:solidFill>
                <a:latin typeface="Microsoft YaHei"/>
              </a:defRPr>
            </a:pPr>
            <a:r>
              <a:t>下一步最重要的是区分 AQ、介质、氧与 PVC 自身结构的贡献，形成可证伪的证据链。</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384048" y="329184"/>
            <a:ext cx="50292" cy="320040"/>
          </a:xfrm>
          <a:prstGeom prst="rect">
            <a:avLst/>
          </a:prstGeom>
          <a:solidFill>
            <a:srgbClr val="20386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869680" y="246888"/>
            <a:ext cx="2880360" cy="356616"/>
          </a:xfrm>
          <a:prstGeom prst="rect">
            <a:avLst/>
          </a:prstGeom>
          <a:noFill/>
          <a:effectLst/>
        </p:spPr>
        <p:txBody>
          <a:bodyPr wrap="square" lIns="22860" rIns="22860" tIns="0" bIns="0">
            <a:spAutoFit/>
          </a:bodyPr>
          <a:lstStyle/>
          <a:p>
            <a:pPr algn="r">
              <a:spcAft>
                <a:spcPts val="600"/>
              </a:spcAft>
              <a:defRPr sz="2100" b="1">
                <a:solidFill>
                  <a:srgbClr val="159BB6"/>
                </a:solidFill>
                <a:latin typeface="Microsoft YaHei"/>
              </a:defRPr>
            </a:pPr>
            <a:r>
              <a:t>北京工业大学</a:t>
            </a:r>
          </a:p>
        </p:txBody>
      </p:sp>
      <p:sp>
        <p:nvSpPr>
          <p:cNvPr id="4" name="TextBox 3"/>
          <p:cNvSpPr txBox="1"/>
          <p:nvPr/>
        </p:nvSpPr>
        <p:spPr>
          <a:xfrm>
            <a:off x="8686800" y="621792"/>
            <a:ext cx="3063240" cy="182880"/>
          </a:xfrm>
          <a:prstGeom prst="rect">
            <a:avLst/>
          </a:prstGeom>
          <a:noFill/>
          <a:effectLst/>
        </p:spPr>
        <p:txBody>
          <a:bodyPr wrap="square" lIns="22860" rIns="22860" tIns="0" bIns="0">
            <a:spAutoFit/>
          </a:bodyPr>
          <a:lstStyle/>
          <a:p>
            <a:pPr algn="r">
              <a:spcAft>
                <a:spcPts val="600"/>
              </a:spcAft>
              <a:defRPr sz="770" b="1">
                <a:solidFill>
                  <a:srgbClr val="159BB6"/>
                </a:solidFill>
                <a:latin typeface="Microsoft YaHei"/>
              </a:defRPr>
            </a:pPr>
            <a:r>
              <a:t>BEIJING UNIVERSITY OF TECHNOLOGY</a:t>
            </a:r>
          </a:p>
        </p:txBody>
      </p:sp>
      <p:sp>
        <p:nvSpPr>
          <p:cNvPr id="5" name="TextBox 4"/>
          <p:cNvSpPr txBox="1"/>
          <p:nvPr/>
        </p:nvSpPr>
        <p:spPr>
          <a:xfrm>
            <a:off x="594360" y="914400"/>
            <a:ext cx="11109960" cy="594360"/>
          </a:xfrm>
          <a:prstGeom prst="rect">
            <a:avLst/>
          </a:prstGeom>
          <a:noFill/>
          <a:effectLst/>
        </p:spPr>
        <p:txBody>
          <a:bodyPr wrap="square" lIns="22860" rIns="22860" tIns="0" bIns="0">
            <a:spAutoFit/>
          </a:bodyPr>
          <a:lstStyle/>
          <a:p>
            <a:pPr>
              <a:spcAft>
                <a:spcPts val="600"/>
              </a:spcAft>
              <a:defRPr sz="2600" b="1">
                <a:solidFill>
                  <a:srgbClr val="203864"/>
                </a:solidFill>
                <a:latin typeface="Microsoft YaHei"/>
              </a:defRPr>
            </a:pPr>
            <a:r>
              <a:t>核心文献及其在本汇报中的证据作用</a:t>
            </a:r>
          </a:p>
        </p:txBody>
      </p:sp>
      <p:cxnSp>
        <p:nvCxnSpPr>
          <p:cNvPr id="6" name="Connector 5"/>
          <p:cNvCxnSpPr/>
          <p:nvPr/>
        </p:nvCxnSpPr>
        <p:spPr>
          <a:xfrm>
            <a:off x="594360" y="1636776"/>
            <a:ext cx="11018520" cy="0"/>
          </a:xfrm>
          <a:prstGeom prst="line">
            <a:avLst/>
          </a:prstGeom>
          <a:ln w="25400">
            <a:solidFill>
              <a:srgbClr val="203864"/>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40080" y="1773936"/>
            <a:ext cx="10972800" cy="393192"/>
          </a:xfrm>
          <a:prstGeom prst="rect">
            <a:avLst/>
          </a:prstGeom>
          <a:noFill/>
          <a:effectLst/>
        </p:spPr>
        <p:txBody>
          <a:bodyPr wrap="square" lIns="22860" rIns="22860" tIns="0" bIns="0">
            <a:spAutoFit/>
          </a:bodyPr>
          <a:lstStyle/>
          <a:p>
            <a:pPr>
              <a:spcAft>
                <a:spcPts val="600"/>
              </a:spcAft>
              <a:defRPr sz="1300" b="0">
                <a:solidFill>
                  <a:srgbClr val="566273"/>
                </a:solidFill>
                <a:latin typeface="Microsoft YaHei"/>
              </a:defRPr>
            </a:pPr>
            <a:r>
              <a:t>前六篇已直接查阅上传全文；第七篇为综述追溯的原始研究，未取得原文与 DOI</a:t>
            </a:r>
          </a:p>
        </p:txBody>
      </p:sp>
      <p:cxnSp>
        <p:nvCxnSpPr>
          <p:cNvPr id="8" name="Connector 7"/>
          <p:cNvCxnSpPr/>
          <p:nvPr/>
        </p:nvCxnSpPr>
        <p:spPr>
          <a:xfrm>
            <a:off x="594360" y="6446520"/>
            <a:ext cx="11018520" cy="0"/>
          </a:xfrm>
          <a:prstGeom prst="line">
            <a:avLst/>
          </a:prstGeom>
          <a:ln w="10160">
            <a:solidFill>
              <a:srgbClr val="CED7E3"/>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94360" y="6547104"/>
            <a:ext cx="10469880" cy="182880"/>
          </a:xfrm>
          <a:prstGeom prst="rect">
            <a:avLst/>
          </a:prstGeom>
          <a:noFill/>
          <a:effectLst/>
        </p:spPr>
        <p:txBody>
          <a:bodyPr wrap="square" lIns="22860" rIns="22860" tIns="0" bIns="0">
            <a:spAutoFit/>
          </a:bodyPr>
          <a:lstStyle/>
          <a:p>
            <a:pPr>
              <a:spcAft>
                <a:spcPts val="600"/>
              </a:spcAft>
              <a:defRPr sz="800" b="0">
                <a:solidFill>
                  <a:srgbClr val="566273"/>
                </a:solidFill>
                <a:latin typeface="Arial"/>
              </a:defRPr>
            </a:pPr>
          </a:p>
        </p:txBody>
      </p:sp>
      <p:sp>
        <p:nvSpPr>
          <p:cNvPr id="10" name="TextBox 9"/>
          <p:cNvSpPr txBox="1"/>
          <p:nvPr/>
        </p:nvSpPr>
        <p:spPr>
          <a:xfrm>
            <a:off x="11137392" y="6510528"/>
            <a:ext cx="438912" cy="237744"/>
          </a:xfrm>
          <a:prstGeom prst="rect">
            <a:avLst/>
          </a:prstGeom>
          <a:noFill/>
          <a:effectLst/>
        </p:spPr>
        <p:txBody>
          <a:bodyPr wrap="square" lIns="22860" rIns="22860" tIns="0" bIns="0">
            <a:spAutoFit/>
          </a:bodyPr>
          <a:lstStyle/>
          <a:p>
            <a:pPr algn="r">
              <a:spcAft>
                <a:spcPts val="600"/>
              </a:spcAft>
              <a:defRPr sz="1100" b="1">
                <a:solidFill>
                  <a:srgbClr val="203864"/>
                </a:solidFill>
                <a:latin typeface="Microsoft YaHei"/>
              </a:defRPr>
            </a:pPr>
            <a:r>
              <a:t>19</a:t>
            </a:r>
          </a:p>
        </p:txBody>
      </p:sp>
      <p:sp>
        <p:nvSpPr>
          <p:cNvPr id="11" name="TextBox 10"/>
          <p:cNvSpPr txBox="1"/>
          <p:nvPr/>
        </p:nvSpPr>
        <p:spPr>
          <a:xfrm>
            <a:off x="713232" y="2176272"/>
            <a:ext cx="384048" cy="192024"/>
          </a:xfrm>
          <a:prstGeom prst="rect">
            <a:avLst/>
          </a:prstGeom>
          <a:noFill/>
          <a:effectLst/>
        </p:spPr>
        <p:txBody>
          <a:bodyPr wrap="square" lIns="22860" rIns="22860" tIns="0" bIns="0">
            <a:spAutoFit/>
          </a:bodyPr>
          <a:lstStyle/>
          <a:p>
            <a:pPr>
              <a:spcAft>
                <a:spcPts val="600"/>
              </a:spcAft>
              <a:defRPr sz="1000" b="1">
                <a:solidFill>
                  <a:srgbClr val="203864"/>
                </a:solidFill>
                <a:latin typeface="Microsoft YaHei"/>
              </a:defRPr>
            </a:pPr>
            <a:r>
              <a:t>[1]</a:t>
            </a:r>
          </a:p>
        </p:txBody>
      </p:sp>
      <p:sp>
        <p:nvSpPr>
          <p:cNvPr id="12" name="TextBox 11"/>
          <p:cNvSpPr txBox="1"/>
          <p:nvPr/>
        </p:nvSpPr>
        <p:spPr>
          <a:xfrm>
            <a:off x="1143000" y="2176272"/>
            <a:ext cx="9921240" cy="155448"/>
          </a:xfrm>
          <a:prstGeom prst="rect">
            <a:avLst/>
          </a:prstGeom>
          <a:noFill/>
          <a:effectLst/>
        </p:spPr>
        <p:txBody>
          <a:bodyPr wrap="square" lIns="22860" rIns="22860" tIns="0" bIns="0">
            <a:spAutoFit/>
          </a:bodyPr>
          <a:lstStyle/>
          <a:p>
            <a:pPr>
              <a:spcAft>
                <a:spcPts val="600"/>
              </a:spcAft>
              <a:defRPr sz="919" b="0">
                <a:solidFill>
                  <a:srgbClr val="566273"/>
                </a:solidFill>
                <a:latin typeface="Microsoft YaHei"/>
              </a:defRPr>
            </a:pPr>
            <a:r>
              <a:t>Xu, S.; Han, Z.; Yuan, K.; et al. Nat. Rev. Methods Primers 2023, 3, 44.</a:t>
            </a:r>
          </a:p>
        </p:txBody>
      </p:sp>
      <p:sp>
        <p:nvSpPr>
          <p:cNvPr id="13" name="TextBox 12"/>
          <p:cNvSpPr txBox="1"/>
          <p:nvPr/>
        </p:nvSpPr>
        <p:spPr>
          <a:xfrm>
            <a:off x="1143000" y="2340864"/>
            <a:ext cx="9921240" cy="164592"/>
          </a:xfrm>
          <a:prstGeom prst="rect">
            <a:avLst/>
          </a:prstGeom>
          <a:noFill/>
          <a:effectLst/>
        </p:spPr>
        <p:txBody>
          <a:bodyPr wrap="square" lIns="22860" rIns="22860" tIns="0" bIns="0">
            <a:spAutoFit/>
          </a:bodyPr>
          <a:lstStyle/>
          <a:p>
            <a:pPr>
              <a:spcAft>
                <a:spcPts val="600"/>
              </a:spcAft>
              <a:defRPr sz="930" b="1">
                <a:solidFill>
                  <a:srgbClr val="111111"/>
                </a:solidFill>
                <a:latin typeface="Microsoft YaHei"/>
              </a:defRPr>
            </a:pPr>
            <a:r>
              <a:t>Upcycling chlorinated waste plastics.</a:t>
            </a:r>
          </a:p>
        </p:txBody>
      </p:sp>
      <p:sp>
        <p:nvSpPr>
          <p:cNvPr id="14" name="TextBox 13"/>
          <p:cNvSpPr txBox="1"/>
          <p:nvPr/>
        </p:nvSpPr>
        <p:spPr>
          <a:xfrm>
            <a:off x="1143000" y="2514600"/>
            <a:ext cx="4709160" cy="146304"/>
          </a:xfrm>
          <a:prstGeom prst="rect">
            <a:avLst/>
          </a:prstGeom>
          <a:noFill/>
          <a:effectLst/>
        </p:spPr>
        <p:txBody>
          <a:bodyPr wrap="square" lIns="22860" rIns="22860" tIns="0" bIns="0">
            <a:spAutoFit/>
          </a:bodyPr>
          <a:lstStyle/>
          <a:p>
            <a:pPr>
              <a:spcAft>
                <a:spcPts val="600"/>
              </a:spcAft>
              <a:defRPr sz="900" b="0">
                <a:solidFill>
                  <a:srgbClr val="203864"/>
                </a:solidFill>
                <a:latin typeface="Microsoft YaHei"/>
              </a:defRPr>
            </a:pPr>
            <a:r>
              <a:rPr>
                <a:hlinkClick r:id="rId2"/>
              </a:rPr>
              <a:t>https://doi.org/10.1038/s43586-023-00227-w</a:t>
            </a:r>
          </a:p>
        </p:txBody>
      </p:sp>
      <p:sp>
        <p:nvSpPr>
          <p:cNvPr id="15" name="TextBox 14"/>
          <p:cNvSpPr txBox="1"/>
          <p:nvPr/>
        </p:nvSpPr>
        <p:spPr>
          <a:xfrm>
            <a:off x="5989320" y="2514600"/>
            <a:ext cx="5303520" cy="146304"/>
          </a:xfrm>
          <a:prstGeom prst="rect">
            <a:avLst/>
          </a:prstGeom>
          <a:noFill/>
          <a:effectLst/>
        </p:spPr>
        <p:txBody>
          <a:bodyPr wrap="square" lIns="22860" rIns="22860" tIns="0" bIns="0">
            <a:spAutoFit/>
          </a:bodyPr>
          <a:lstStyle/>
          <a:p>
            <a:pPr>
              <a:spcAft>
                <a:spcPts val="600"/>
              </a:spcAft>
              <a:defRPr sz="860" b="0">
                <a:solidFill>
                  <a:srgbClr val="566273"/>
                </a:solidFill>
                <a:latin typeface="Microsoft YaHei"/>
              </a:defRPr>
            </a:pPr>
            <a:r>
              <a:t>PVC 氯管理与升级利用框架</a:t>
            </a:r>
          </a:p>
        </p:txBody>
      </p:sp>
      <p:sp>
        <p:nvSpPr>
          <p:cNvPr id="16" name="TextBox 15"/>
          <p:cNvSpPr txBox="1"/>
          <p:nvPr/>
        </p:nvSpPr>
        <p:spPr>
          <a:xfrm>
            <a:off x="713232" y="2688336"/>
            <a:ext cx="384048" cy="192024"/>
          </a:xfrm>
          <a:prstGeom prst="rect">
            <a:avLst/>
          </a:prstGeom>
          <a:noFill/>
          <a:effectLst/>
        </p:spPr>
        <p:txBody>
          <a:bodyPr wrap="square" lIns="22860" rIns="22860" tIns="0" bIns="0">
            <a:spAutoFit/>
          </a:bodyPr>
          <a:lstStyle/>
          <a:p>
            <a:pPr>
              <a:spcAft>
                <a:spcPts val="600"/>
              </a:spcAft>
              <a:defRPr sz="1000" b="1">
                <a:solidFill>
                  <a:srgbClr val="203864"/>
                </a:solidFill>
                <a:latin typeface="Microsoft YaHei"/>
              </a:defRPr>
            </a:pPr>
            <a:r>
              <a:t>[2]</a:t>
            </a:r>
          </a:p>
        </p:txBody>
      </p:sp>
      <p:sp>
        <p:nvSpPr>
          <p:cNvPr id="17" name="TextBox 16"/>
          <p:cNvSpPr txBox="1"/>
          <p:nvPr/>
        </p:nvSpPr>
        <p:spPr>
          <a:xfrm>
            <a:off x="1143000" y="2688336"/>
            <a:ext cx="9921240" cy="155448"/>
          </a:xfrm>
          <a:prstGeom prst="rect">
            <a:avLst/>
          </a:prstGeom>
          <a:noFill/>
          <a:effectLst/>
        </p:spPr>
        <p:txBody>
          <a:bodyPr wrap="square" lIns="22860" rIns="22860" tIns="0" bIns="0">
            <a:spAutoFit/>
          </a:bodyPr>
          <a:lstStyle/>
          <a:p>
            <a:pPr>
              <a:spcAft>
                <a:spcPts val="600"/>
              </a:spcAft>
              <a:defRPr sz="919" b="0">
                <a:solidFill>
                  <a:srgbClr val="566273"/>
                </a:solidFill>
                <a:latin typeface="Microsoft YaHei"/>
              </a:defRPr>
            </a:pPr>
            <a:r>
              <a:t>Gardette, J.-L.; Gaumet, S.; Lemaire, J. Macromolecules 1989, 22, 2576–2581.</a:t>
            </a:r>
          </a:p>
        </p:txBody>
      </p:sp>
      <p:sp>
        <p:nvSpPr>
          <p:cNvPr id="18" name="TextBox 17"/>
          <p:cNvSpPr txBox="1"/>
          <p:nvPr/>
        </p:nvSpPr>
        <p:spPr>
          <a:xfrm>
            <a:off x="1143000" y="2852928"/>
            <a:ext cx="9921240" cy="164592"/>
          </a:xfrm>
          <a:prstGeom prst="rect">
            <a:avLst/>
          </a:prstGeom>
          <a:noFill/>
          <a:effectLst/>
        </p:spPr>
        <p:txBody>
          <a:bodyPr wrap="square" lIns="22860" rIns="22860" tIns="0" bIns="0">
            <a:spAutoFit/>
          </a:bodyPr>
          <a:lstStyle/>
          <a:p>
            <a:pPr>
              <a:spcAft>
                <a:spcPts val="600"/>
              </a:spcAft>
              <a:defRPr sz="930" b="1">
                <a:solidFill>
                  <a:srgbClr val="111111"/>
                </a:solidFill>
                <a:latin typeface="Microsoft YaHei"/>
              </a:defRPr>
            </a:pPr>
            <a:r>
              <a:t>Photooxidation of poly(vinyl chloride). 1. A reexamination of the mechanism.</a:t>
            </a:r>
          </a:p>
        </p:txBody>
      </p:sp>
      <p:sp>
        <p:nvSpPr>
          <p:cNvPr id="19" name="TextBox 18"/>
          <p:cNvSpPr txBox="1"/>
          <p:nvPr/>
        </p:nvSpPr>
        <p:spPr>
          <a:xfrm>
            <a:off x="1143000" y="3026664"/>
            <a:ext cx="4709160" cy="146304"/>
          </a:xfrm>
          <a:prstGeom prst="rect">
            <a:avLst/>
          </a:prstGeom>
          <a:noFill/>
          <a:effectLst/>
        </p:spPr>
        <p:txBody>
          <a:bodyPr wrap="square" lIns="22860" rIns="22860" tIns="0" bIns="0">
            <a:spAutoFit/>
          </a:bodyPr>
          <a:lstStyle/>
          <a:p>
            <a:pPr>
              <a:spcAft>
                <a:spcPts val="600"/>
              </a:spcAft>
              <a:defRPr sz="900" b="0">
                <a:solidFill>
                  <a:srgbClr val="203864"/>
                </a:solidFill>
                <a:latin typeface="Microsoft YaHei"/>
              </a:defRPr>
            </a:pPr>
            <a:r>
              <a:rPr>
                <a:hlinkClick r:id="rId3"/>
              </a:rPr>
              <a:t>https://doi.org/10.1021/ma00196a005</a:t>
            </a:r>
          </a:p>
        </p:txBody>
      </p:sp>
      <p:sp>
        <p:nvSpPr>
          <p:cNvPr id="20" name="TextBox 19"/>
          <p:cNvSpPr txBox="1"/>
          <p:nvPr/>
        </p:nvSpPr>
        <p:spPr>
          <a:xfrm>
            <a:off x="5989320" y="3026664"/>
            <a:ext cx="5303520" cy="146304"/>
          </a:xfrm>
          <a:prstGeom prst="rect">
            <a:avLst/>
          </a:prstGeom>
          <a:noFill/>
          <a:effectLst/>
        </p:spPr>
        <p:txBody>
          <a:bodyPr wrap="square" lIns="22860" rIns="22860" tIns="0" bIns="0">
            <a:spAutoFit/>
          </a:bodyPr>
          <a:lstStyle/>
          <a:p>
            <a:pPr>
              <a:spcAft>
                <a:spcPts val="600"/>
              </a:spcAft>
              <a:defRPr sz="860" b="0">
                <a:solidFill>
                  <a:srgbClr val="566273"/>
                </a:solidFill>
                <a:latin typeface="Microsoft YaHei"/>
              </a:defRPr>
            </a:pPr>
            <a:r>
              <a:t>光氧化产物鉴别与自由基网络</a:t>
            </a:r>
          </a:p>
        </p:txBody>
      </p:sp>
      <p:sp>
        <p:nvSpPr>
          <p:cNvPr id="21" name="TextBox 20"/>
          <p:cNvSpPr txBox="1"/>
          <p:nvPr/>
        </p:nvSpPr>
        <p:spPr>
          <a:xfrm>
            <a:off x="713232" y="3200400"/>
            <a:ext cx="384048" cy="192024"/>
          </a:xfrm>
          <a:prstGeom prst="rect">
            <a:avLst/>
          </a:prstGeom>
          <a:noFill/>
          <a:effectLst/>
        </p:spPr>
        <p:txBody>
          <a:bodyPr wrap="square" lIns="22860" rIns="22860" tIns="0" bIns="0">
            <a:spAutoFit/>
          </a:bodyPr>
          <a:lstStyle/>
          <a:p>
            <a:pPr>
              <a:spcAft>
                <a:spcPts val="600"/>
              </a:spcAft>
              <a:defRPr sz="1000" b="1">
                <a:solidFill>
                  <a:srgbClr val="203864"/>
                </a:solidFill>
                <a:latin typeface="Microsoft YaHei"/>
              </a:defRPr>
            </a:pPr>
            <a:r>
              <a:t>[3]</a:t>
            </a:r>
          </a:p>
        </p:txBody>
      </p:sp>
      <p:sp>
        <p:nvSpPr>
          <p:cNvPr id="22" name="TextBox 21"/>
          <p:cNvSpPr txBox="1"/>
          <p:nvPr/>
        </p:nvSpPr>
        <p:spPr>
          <a:xfrm>
            <a:off x="1143000" y="3200400"/>
            <a:ext cx="9921240" cy="155448"/>
          </a:xfrm>
          <a:prstGeom prst="rect">
            <a:avLst/>
          </a:prstGeom>
          <a:noFill/>
          <a:effectLst/>
        </p:spPr>
        <p:txBody>
          <a:bodyPr wrap="square" lIns="22860" rIns="22860" tIns="0" bIns="0">
            <a:spAutoFit/>
          </a:bodyPr>
          <a:lstStyle/>
          <a:p>
            <a:pPr>
              <a:spcAft>
                <a:spcPts val="600"/>
              </a:spcAft>
              <a:defRPr sz="919" b="0">
                <a:solidFill>
                  <a:srgbClr val="566273"/>
                </a:solidFill>
                <a:latin typeface="Microsoft YaHei"/>
              </a:defRPr>
            </a:pPr>
            <a:r>
              <a:t>Huang, Z.; Wang, H. J. Polym. Sci. 2024, 62, 969–997.</a:t>
            </a:r>
          </a:p>
        </p:txBody>
      </p:sp>
      <p:sp>
        <p:nvSpPr>
          <p:cNvPr id="23" name="TextBox 22"/>
          <p:cNvSpPr txBox="1"/>
          <p:nvPr/>
        </p:nvSpPr>
        <p:spPr>
          <a:xfrm>
            <a:off x="1143000" y="3364992"/>
            <a:ext cx="9921240" cy="164592"/>
          </a:xfrm>
          <a:prstGeom prst="rect">
            <a:avLst/>
          </a:prstGeom>
          <a:noFill/>
          <a:effectLst/>
        </p:spPr>
        <p:txBody>
          <a:bodyPr wrap="square" lIns="22860" rIns="22860" tIns="0" bIns="0">
            <a:spAutoFit/>
          </a:bodyPr>
          <a:lstStyle/>
          <a:p>
            <a:pPr>
              <a:spcAft>
                <a:spcPts val="600"/>
              </a:spcAft>
              <a:defRPr sz="930" b="1">
                <a:solidFill>
                  <a:srgbClr val="111111"/>
                </a:solidFill>
                <a:latin typeface="Microsoft YaHei"/>
              </a:defRPr>
            </a:pPr>
            <a:r>
              <a:t>A review on photochemical effects of common plastics and their related applications.</a:t>
            </a:r>
          </a:p>
        </p:txBody>
      </p:sp>
      <p:sp>
        <p:nvSpPr>
          <p:cNvPr id="24" name="TextBox 23"/>
          <p:cNvSpPr txBox="1"/>
          <p:nvPr/>
        </p:nvSpPr>
        <p:spPr>
          <a:xfrm>
            <a:off x="1143000" y="3538728"/>
            <a:ext cx="4709160" cy="146304"/>
          </a:xfrm>
          <a:prstGeom prst="rect">
            <a:avLst/>
          </a:prstGeom>
          <a:noFill/>
          <a:effectLst/>
        </p:spPr>
        <p:txBody>
          <a:bodyPr wrap="square" lIns="22860" rIns="22860" tIns="0" bIns="0">
            <a:spAutoFit/>
          </a:bodyPr>
          <a:lstStyle/>
          <a:p>
            <a:pPr>
              <a:spcAft>
                <a:spcPts val="600"/>
              </a:spcAft>
              <a:defRPr sz="900" b="0">
                <a:solidFill>
                  <a:srgbClr val="203864"/>
                </a:solidFill>
                <a:latin typeface="Microsoft YaHei"/>
              </a:defRPr>
            </a:pPr>
            <a:r>
              <a:rPr>
                <a:hlinkClick r:id="rId4"/>
              </a:rPr>
              <a:t>https://doi.org/10.1002/pol.20230322</a:t>
            </a:r>
          </a:p>
        </p:txBody>
      </p:sp>
      <p:sp>
        <p:nvSpPr>
          <p:cNvPr id="25" name="TextBox 24"/>
          <p:cNvSpPr txBox="1"/>
          <p:nvPr/>
        </p:nvSpPr>
        <p:spPr>
          <a:xfrm>
            <a:off x="5989320" y="3538728"/>
            <a:ext cx="5303520" cy="146304"/>
          </a:xfrm>
          <a:prstGeom prst="rect">
            <a:avLst/>
          </a:prstGeom>
          <a:noFill/>
          <a:effectLst/>
        </p:spPr>
        <p:txBody>
          <a:bodyPr wrap="square" lIns="22860" rIns="22860" tIns="0" bIns="0">
            <a:spAutoFit/>
          </a:bodyPr>
          <a:lstStyle/>
          <a:p>
            <a:pPr>
              <a:spcAft>
                <a:spcPts val="600"/>
              </a:spcAft>
              <a:defRPr sz="860" b="0">
                <a:solidFill>
                  <a:srgbClr val="566273"/>
                </a:solidFill>
                <a:latin typeface="Microsoft YaHei"/>
              </a:defRPr>
            </a:pPr>
            <a:r>
              <a:t>吸光、缺陷、相态与聚合物反应</a:t>
            </a:r>
          </a:p>
        </p:txBody>
      </p:sp>
      <p:sp>
        <p:nvSpPr>
          <p:cNvPr id="26" name="TextBox 25"/>
          <p:cNvSpPr txBox="1"/>
          <p:nvPr/>
        </p:nvSpPr>
        <p:spPr>
          <a:xfrm>
            <a:off x="713232" y="3712464"/>
            <a:ext cx="384048" cy="192024"/>
          </a:xfrm>
          <a:prstGeom prst="rect">
            <a:avLst/>
          </a:prstGeom>
          <a:noFill/>
          <a:effectLst/>
        </p:spPr>
        <p:txBody>
          <a:bodyPr wrap="square" lIns="22860" rIns="22860" tIns="0" bIns="0">
            <a:spAutoFit/>
          </a:bodyPr>
          <a:lstStyle/>
          <a:p>
            <a:pPr>
              <a:spcAft>
                <a:spcPts val="600"/>
              </a:spcAft>
              <a:defRPr sz="1000" b="1">
                <a:solidFill>
                  <a:srgbClr val="203864"/>
                </a:solidFill>
                <a:latin typeface="Microsoft YaHei"/>
              </a:defRPr>
            </a:pPr>
            <a:r>
              <a:t>[4]</a:t>
            </a:r>
          </a:p>
        </p:txBody>
      </p:sp>
      <p:sp>
        <p:nvSpPr>
          <p:cNvPr id="27" name="TextBox 26"/>
          <p:cNvSpPr txBox="1"/>
          <p:nvPr/>
        </p:nvSpPr>
        <p:spPr>
          <a:xfrm>
            <a:off x="1143000" y="3712464"/>
            <a:ext cx="9921240" cy="155448"/>
          </a:xfrm>
          <a:prstGeom prst="rect">
            <a:avLst/>
          </a:prstGeom>
          <a:noFill/>
          <a:effectLst/>
        </p:spPr>
        <p:txBody>
          <a:bodyPr wrap="square" lIns="22860" rIns="22860" tIns="0" bIns="0">
            <a:spAutoFit/>
          </a:bodyPr>
          <a:lstStyle/>
          <a:p>
            <a:pPr>
              <a:spcAft>
                <a:spcPts val="600"/>
              </a:spcAft>
              <a:defRPr sz="919" b="0">
                <a:solidFill>
                  <a:srgbClr val="566273"/>
                </a:solidFill>
                <a:latin typeface="Microsoft YaHei"/>
              </a:defRPr>
            </a:pPr>
            <a:r>
              <a:t>Chen, C.-X.; Yang, S.-S.; Pang, J.-W.; et al. Environ. Sci. Ecotechnol. 2024, 22, 100449.</a:t>
            </a:r>
          </a:p>
        </p:txBody>
      </p:sp>
      <p:sp>
        <p:nvSpPr>
          <p:cNvPr id="28" name="TextBox 27"/>
          <p:cNvSpPr txBox="1"/>
          <p:nvPr/>
        </p:nvSpPr>
        <p:spPr>
          <a:xfrm>
            <a:off x="1143000" y="3877056"/>
            <a:ext cx="9921240" cy="164592"/>
          </a:xfrm>
          <a:prstGeom prst="rect">
            <a:avLst/>
          </a:prstGeom>
          <a:noFill/>
          <a:effectLst/>
        </p:spPr>
        <p:txBody>
          <a:bodyPr wrap="square" lIns="22860" rIns="22860" tIns="0" bIns="0">
            <a:spAutoFit/>
          </a:bodyPr>
          <a:lstStyle/>
          <a:p>
            <a:pPr>
              <a:spcAft>
                <a:spcPts val="600"/>
              </a:spcAft>
              <a:defRPr sz="930" b="1">
                <a:solidFill>
                  <a:srgbClr val="111111"/>
                </a:solidFill>
                <a:latin typeface="Microsoft YaHei"/>
              </a:defRPr>
            </a:pPr>
            <a:r>
              <a:t>Anthraquinones-based photocatalysis: A comprehensive review.</a:t>
            </a:r>
          </a:p>
        </p:txBody>
      </p:sp>
      <p:sp>
        <p:nvSpPr>
          <p:cNvPr id="29" name="TextBox 28"/>
          <p:cNvSpPr txBox="1"/>
          <p:nvPr/>
        </p:nvSpPr>
        <p:spPr>
          <a:xfrm>
            <a:off x="1143000" y="4050792"/>
            <a:ext cx="4709160" cy="146304"/>
          </a:xfrm>
          <a:prstGeom prst="rect">
            <a:avLst/>
          </a:prstGeom>
          <a:noFill/>
          <a:effectLst/>
        </p:spPr>
        <p:txBody>
          <a:bodyPr wrap="square" lIns="22860" rIns="22860" tIns="0" bIns="0">
            <a:spAutoFit/>
          </a:bodyPr>
          <a:lstStyle/>
          <a:p>
            <a:pPr>
              <a:spcAft>
                <a:spcPts val="600"/>
              </a:spcAft>
              <a:defRPr sz="900" b="0">
                <a:solidFill>
                  <a:srgbClr val="203864"/>
                </a:solidFill>
                <a:latin typeface="Microsoft YaHei"/>
              </a:defRPr>
            </a:pPr>
            <a:r>
              <a:rPr>
                <a:hlinkClick r:id="rId5"/>
              </a:rPr>
              <a:t>https://doi.org/10.1016/j.ese.2024.100449</a:t>
            </a:r>
          </a:p>
        </p:txBody>
      </p:sp>
      <p:sp>
        <p:nvSpPr>
          <p:cNvPr id="30" name="TextBox 29"/>
          <p:cNvSpPr txBox="1"/>
          <p:nvPr/>
        </p:nvSpPr>
        <p:spPr>
          <a:xfrm>
            <a:off x="5989320" y="4050792"/>
            <a:ext cx="5303520" cy="146304"/>
          </a:xfrm>
          <a:prstGeom prst="rect">
            <a:avLst/>
          </a:prstGeom>
          <a:noFill/>
          <a:effectLst/>
        </p:spPr>
        <p:txBody>
          <a:bodyPr wrap="square" lIns="22860" rIns="22860" tIns="0" bIns="0">
            <a:spAutoFit/>
          </a:bodyPr>
          <a:lstStyle/>
          <a:p>
            <a:pPr>
              <a:spcAft>
                <a:spcPts val="600"/>
              </a:spcAft>
              <a:defRPr sz="860" b="0">
                <a:solidFill>
                  <a:srgbClr val="566273"/>
                </a:solidFill>
                <a:latin typeface="Microsoft YaHei"/>
              </a:defRPr>
            </a:pPr>
            <a:r>
              <a:t>AQ 激发态、ROS 与再生的一般过程</a:t>
            </a:r>
          </a:p>
        </p:txBody>
      </p:sp>
      <p:sp>
        <p:nvSpPr>
          <p:cNvPr id="31" name="TextBox 30"/>
          <p:cNvSpPr txBox="1"/>
          <p:nvPr/>
        </p:nvSpPr>
        <p:spPr>
          <a:xfrm>
            <a:off x="713232" y="4224528"/>
            <a:ext cx="384048" cy="192024"/>
          </a:xfrm>
          <a:prstGeom prst="rect">
            <a:avLst/>
          </a:prstGeom>
          <a:noFill/>
          <a:effectLst/>
        </p:spPr>
        <p:txBody>
          <a:bodyPr wrap="square" lIns="22860" rIns="22860" tIns="0" bIns="0">
            <a:spAutoFit/>
          </a:bodyPr>
          <a:lstStyle/>
          <a:p>
            <a:pPr>
              <a:spcAft>
                <a:spcPts val="600"/>
              </a:spcAft>
              <a:defRPr sz="1000" b="1">
                <a:solidFill>
                  <a:srgbClr val="203864"/>
                </a:solidFill>
                <a:latin typeface="Microsoft YaHei"/>
              </a:defRPr>
            </a:pPr>
            <a:r>
              <a:t>[5]</a:t>
            </a:r>
          </a:p>
        </p:txBody>
      </p:sp>
      <p:sp>
        <p:nvSpPr>
          <p:cNvPr id="32" name="TextBox 31"/>
          <p:cNvSpPr txBox="1"/>
          <p:nvPr/>
        </p:nvSpPr>
        <p:spPr>
          <a:xfrm>
            <a:off x="1143000" y="4224528"/>
            <a:ext cx="9921240" cy="155448"/>
          </a:xfrm>
          <a:prstGeom prst="rect">
            <a:avLst/>
          </a:prstGeom>
          <a:noFill/>
          <a:effectLst/>
        </p:spPr>
        <p:txBody>
          <a:bodyPr wrap="square" lIns="22860" rIns="22860" tIns="0" bIns="0">
            <a:spAutoFit/>
          </a:bodyPr>
          <a:lstStyle/>
          <a:p>
            <a:pPr>
              <a:spcAft>
                <a:spcPts val="600"/>
              </a:spcAft>
              <a:defRPr sz="919" b="0">
                <a:solidFill>
                  <a:srgbClr val="566273"/>
                </a:solidFill>
                <a:latin typeface="Microsoft YaHei"/>
              </a:defRPr>
            </a:pPr>
            <a:r>
              <a:t>Qin, J.; Dou, Y.; et al. Appl. Catal. B: Environ. 2024, 341, 123355.</a:t>
            </a:r>
          </a:p>
        </p:txBody>
      </p:sp>
      <p:sp>
        <p:nvSpPr>
          <p:cNvPr id="33" name="TextBox 32"/>
          <p:cNvSpPr txBox="1"/>
          <p:nvPr/>
        </p:nvSpPr>
        <p:spPr>
          <a:xfrm>
            <a:off x="1143000" y="4389120"/>
            <a:ext cx="9921240" cy="164592"/>
          </a:xfrm>
          <a:prstGeom prst="rect">
            <a:avLst/>
          </a:prstGeom>
          <a:noFill/>
          <a:effectLst/>
        </p:spPr>
        <p:txBody>
          <a:bodyPr wrap="square" lIns="22860" rIns="22860" tIns="0" bIns="0">
            <a:spAutoFit/>
          </a:bodyPr>
          <a:lstStyle/>
          <a:p>
            <a:pPr>
              <a:spcAft>
                <a:spcPts val="600"/>
              </a:spcAft>
              <a:defRPr sz="930" b="1">
                <a:solidFill>
                  <a:srgbClr val="111111"/>
                </a:solidFill>
                <a:latin typeface="Microsoft YaHei"/>
              </a:defRPr>
            </a:pPr>
            <a:r>
              <a:t>Encapsulation of carbon-nanodots into metal-organic frameworks for boosting photocatalytic upcycling of polyvinyl chloride plastic.</a:t>
            </a:r>
          </a:p>
        </p:txBody>
      </p:sp>
      <p:sp>
        <p:nvSpPr>
          <p:cNvPr id="34" name="TextBox 33"/>
          <p:cNvSpPr txBox="1"/>
          <p:nvPr/>
        </p:nvSpPr>
        <p:spPr>
          <a:xfrm>
            <a:off x="1143000" y="4562856"/>
            <a:ext cx="4709160" cy="146304"/>
          </a:xfrm>
          <a:prstGeom prst="rect">
            <a:avLst/>
          </a:prstGeom>
          <a:noFill/>
          <a:effectLst/>
        </p:spPr>
        <p:txBody>
          <a:bodyPr wrap="square" lIns="22860" rIns="22860" tIns="0" bIns="0">
            <a:spAutoFit/>
          </a:bodyPr>
          <a:lstStyle/>
          <a:p>
            <a:pPr>
              <a:spcAft>
                <a:spcPts val="600"/>
              </a:spcAft>
              <a:defRPr sz="900" b="0">
                <a:solidFill>
                  <a:srgbClr val="203864"/>
                </a:solidFill>
                <a:latin typeface="Microsoft YaHei"/>
              </a:defRPr>
            </a:pPr>
            <a:r>
              <a:rPr>
                <a:hlinkClick r:id="rId6"/>
              </a:rPr>
              <a:t>https://doi.org/10.1016/j.apcatb.2023.123355</a:t>
            </a:r>
          </a:p>
        </p:txBody>
      </p:sp>
      <p:sp>
        <p:nvSpPr>
          <p:cNvPr id="35" name="TextBox 34"/>
          <p:cNvSpPr txBox="1"/>
          <p:nvPr/>
        </p:nvSpPr>
        <p:spPr>
          <a:xfrm>
            <a:off x="5989320" y="4562856"/>
            <a:ext cx="5303520" cy="146304"/>
          </a:xfrm>
          <a:prstGeom prst="rect">
            <a:avLst/>
          </a:prstGeom>
          <a:noFill/>
          <a:effectLst/>
        </p:spPr>
        <p:txBody>
          <a:bodyPr wrap="square" lIns="22860" rIns="22860" tIns="0" bIns="0">
            <a:spAutoFit/>
          </a:bodyPr>
          <a:lstStyle/>
          <a:p>
            <a:pPr>
              <a:spcAft>
                <a:spcPts val="600"/>
              </a:spcAft>
              <a:defRPr sz="860" b="0">
                <a:solidFill>
                  <a:srgbClr val="566273"/>
                </a:solidFill>
                <a:latin typeface="Microsoft YaHei"/>
              </a:defRPr>
            </a:pPr>
            <a:r>
              <a:t>PVC 氯 / 物种 / 链长的联合评价</a:t>
            </a:r>
          </a:p>
        </p:txBody>
      </p:sp>
      <p:sp>
        <p:nvSpPr>
          <p:cNvPr id="36" name="TextBox 35"/>
          <p:cNvSpPr txBox="1"/>
          <p:nvPr/>
        </p:nvSpPr>
        <p:spPr>
          <a:xfrm>
            <a:off x="713232" y="4736592"/>
            <a:ext cx="384048" cy="192024"/>
          </a:xfrm>
          <a:prstGeom prst="rect">
            <a:avLst/>
          </a:prstGeom>
          <a:noFill/>
          <a:effectLst/>
        </p:spPr>
        <p:txBody>
          <a:bodyPr wrap="square" lIns="22860" rIns="22860" tIns="0" bIns="0">
            <a:spAutoFit/>
          </a:bodyPr>
          <a:lstStyle/>
          <a:p>
            <a:pPr>
              <a:spcAft>
                <a:spcPts val="600"/>
              </a:spcAft>
              <a:defRPr sz="1000" b="1">
                <a:solidFill>
                  <a:srgbClr val="203864"/>
                </a:solidFill>
                <a:latin typeface="Microsoft YaHei"/>
              </a:defRPr>
            </a:pPr>
            <a:r>
              <a:t>[6]</a:t>
            </a:r>
          </a:p>
        </p:txBody>
      </p:sp>
      <p:sp>
        <p:nvSpPr>
          <p:cNvPr id="37" name="TextBox 36"/>
          <p:cNvSpPr txBox="1"/>
          <p:nvPr/>
        </p:nvSpPr>
        <p:spPr>
          <a:xfrm>
            <a:off x="1143000" y="4736592"/>
            <a:ext cx="9921240" cy="155448"/>
          </a:xfrm>
          <a:prstGeom prst="rect">
            <a:avLst/>
          </a:prstGeom>
          <a:noFill/>
          <a:effectLst/>
        </p:spPr>
        <p:txBody>
          <a:bodyPr wrap="square" lIns="22860" rIns="22860" tIns="0" bIns="0">
            <a:spAutoFit/>
          </a:bodyPr>
          <a:lstStyle/>
          <a:p>
            <a:pPr>
              <a:spcAft>
                <a:spcPts val="600"/>
              </a:spcAft>
              <a:defRPr sz="919" b="0">
                <a:solidFill>
                  <a:srgbClr val="566273"/>
                </a:solidFill>
                <a:latin typeface="Microsoft YaHei"/>
              </a:defRPr>
            </a:pPr>
            <a:r>
              <a:t>Su, K.; Gao, T.; Liu, H.; et al. Angew. Chem. Int. Ed. 2026, e5578835.</a:t>
            </a:r>
          </a:p>
        </p:txBody>
      </p:sp>
      <p:sp>
        <p:nvSpPr>
          <p:cNvPr id="38" name="TextBox 37"/>
          <p:cNvSpPr txBox="1"/>
          <p:nvPr/>
        </p:nvSpPr>
        <p:spPr>
          <a:xfrm>
            <a:off x="1143000" y="4901183"/>
            <a:ext cx="9921240" cy="164592"/>
          </a:xfrm>
          <a:prstGeom prst="rect">
            <a:avLst/>
          </a:prstGeom>
          <a:noFill/>
          <a:effectLst/>
        </p:spPr>
        <p:txBody>
          <a:bodyPr wrap="square" lIns="22860" rIns="22860" tIns="0" bIns="0">
            <a:spAutoFit/>
          </a:bodyPr>
          <a:lstStyle/>
          <a:p>
            <a:pPr>
              <a:spcAft>
                <a:spcPts val="600"/>
              </a:spcAft>
              <a:defRPr sz="930" b="1">
                <a:solidFill>
                  <a:srgbClr val="111111"/>
                </a:solidFill>
                <a:latin typeface="Microsoft YaHei"/>
              </a:defRPr>
            </a:pPr>
            <a:r>
              <a:t>Photocracking of Polystyrene into Aromatic Products in CH₂Cl₂.</a:t>
            </a:r>
          </a:p>
        </p:txBody>
      </p:sp>
      <p:sp>
        <p:nvSpPr>
          <p:cNvPr id="39" name="TextBox 38"/>
          <p:cNvSpPr txBox="1"/>
          <p:nvPr/>
        </p:nvSpPr>
        <p:spPr>
          <a:xfrm>
            <a:off x="1143000" y="5074920"/>
            <a:ext cx="4709160" cy="146304"/>
          </a:xfrm>
          <a:prstGeom prst="rect">
            <a:avLst/>
          </a:prstGeom>
          <a:noFill/>
          <a:effectLst/>
        </p:spPr>
        <p:txBody>
          <a:bodyPr wrap="square" lIns="22860" rIns="22860" tIns="0" bIns="0">
            <a:spAutoFit/>
          </a:bodyPr>
          <a:lstStyle/>
          <a:p>
            <a:pPr>
              <a:spcAft>
                <a:spcPts val="600"/>
              </a:spcAft>
              <a:defRPr sz="900" b="0">
                <a:solidFill>
                  <a:srgbClr val="203864"/>
                </a:solidFill>
                <a:latin typeface="Microsoft YaHei"/>
              </a:defRPr>
            </a:pPr>
            <a:r>
              <a:rPr>
                <a:hlinkClick r:id="rId7"/>
              </a:rPr>
              <a:t>https://doi.org/10.1002/anie.5578835</a:t>
            </a:r>
          </a:p>
        </p:txBody>
      </p:sp>
      <p:sp>
        <p:nvSpPr>
          <p:cNvPr id="40" name="TextBox 39"/>
          <p:cNvSpPr txBox="1"/>
          <p:nvPr/>
        </p:nvSpPr>
        <p:spPr>
          <a:xfrm>
            <a:off x="5989320" y="5074920"/>
            <a:ext cx="5303520" cy="146304"/>
          </a:xfrm>
          <a:prstGeom prst="rect">
            <a:avLst/>
          </a:prstGeom>
          <a:noFill/>
          <a:effectLst/>
        </p:spPr>
        <p:txBody>
          <a:bodyPr wrap="square" lIns="22860" rIns="22860" tIns="0" bIns="0">
            <a:spAutoFit/>
          </a:bodyPr>
          <a:lstStyle/>
          <a:p>
            <a:pPr>
              <a:spcAft>
                <a:spcPts val="600"/>
              </a:spcAft>
              <a:defRPr sz="860" b="0">
                <a:solidFill>
                  <a:srgbClr val="566273"/>
                </a:solidFill>
                <a:latin typeface="Microsoft YaHei"/>
              </a:defRPr>
            </a:pPr>
            <a:r>
              <a:t>含氯介质、PBN-EPR 与链裂解证据</a:t>
            </a:r>
          </a:p>
        </p:txBody>
      </p:sp>
      <p:sp>
        <p:nvSpPr>
          <p:cNvPr id="41" name="TextBox 40"/>
          <p:cNvSpPr txBox="1"/>
          <p:nvPr/>
        </p:nvSpPr>
        <p:spPr>
          <a:xfrm>
            <a:off x="713232" y="5248656"/>
            <a:ext cx="384048" cy="192024"/>
          </a:xfrm>
          <a:prstGeom prst="rect">
            <a:avLst/>
          </a:prstGeom>
          <a:noFill/>
          <a:effectLst/>
        </p:spPr>
        <p:txBody>
          <a:bodyPr wrap="square" lIns="22860" rIns="22860" tIns="0" bIns="0">
            <a:spAutoFit/>
          </a:bodyPr>
          <a:lstStyle/>
          <a:p>
            <a:pPr>
              <a:spcAft>
                <a:spcPts val="600"/>
              </a:spcAft>
              <a:defRPr sz="1000" b="1">
                <a:solidFill>
                  <a:srgbClr val="203864"/>
                </a:solidFill>
                <a:latin typeface="Microsoft YaHei"/>
              </a:defRPr>
            </a:pPr>
            <a:r>
              <a:t>[7]</a:t>
            </a:r>
          </a:p>
        </p:txBody>
      </p:sp>
      <p:sp>
        <p:nvSpPr>
          <p:cNvPr id="42" name="TextBox 41"/>
          <p:cNvSpPr txBox="1"/>
          <p:nvPr/>
        </p:nvSpPr>
        <p:spPr>
          <a:xfrm>
            <a:off x="1143000" y="5248656"/>
            <a:ext cx="9921240" cy="155448"/>
          </a:xfrm>
          <a:prstGeom prst="rect">
            <a:avLst/>
          </a:prstGeom>
          <a:noFill/>
          <a:effectLst/>
        </p:spPr>
        <p:txBody>
          <a:bodyPr wrap="square" lIns="22860" rIns="22860" tIns="0" bIns="0">
            <a:spAutoFit/>
          </a:bodyPr>
          <a:lstStyle/>
          <a:p>
            <a:pPr>
              <a:spcAft>
                <a:spcPts val="600"/>
              </a:spcAft>
              <a:defRPr sz="919" b="0">
                <a:solidFill>
                  <a:srgbClr val="566273"/>
                </a:solidFill>
                <a:latin typeface="Microsoft YaHei"/>
              </a:defRPr>
            </a:pPr>
            <a:r>
              <a:t>Ren, M. G.; Mao, M.; Duan, X. Y.; Song, Q. H. J. Photochem. Photobiol. A: Chem. 2011, 217, 164–168.</a:t>
            </a:r>
          </a:p>
        </p:txBody>
      </p:sp>
      <p:sp>
        <p:nvSpPr>
          <p:cNvPr id="43" name="TextBox 42"/>
          <p:cNvSpPr txBox="1"/>
          <p:nvPr/>
        </p:nvSpPr>
        <p:spPr>
          <a:xfrm>
            <a:off x="1143000" y="5413248"/>
            <a:ext cx="9921240" cy="164592"/>
          </a:xfrm>
          <a:prstGeom prst="rect">
            <a:avLst/>
          </a:prstGeom>
          <a:noFill/>
          <a:effectLst/>
        </p:spPr>
        <p:txBody>
          <a:bodyPr wrap="square" lIns="22860" rIns="22860" tIns="0" bIns="0">
            <a:spAutoFit/>
          </a:bodyPr>
          <a:lstStyle/>
          <a:p>
            <a:pPr>
              <a:spcAft>
                <a:spcPts val="600"/>
              </a:spcAft>
              <a:defRPr sz="930" b="1">
                <a:solidFill>
                  <a:srgbClr val="111111"/>
                </a:solidFill>
                <a:latin typeface="Microsoft YaHei"/>
              </a:defRPr>
            </a:pPr>
            <a:r>
              <a:t>Hydrogen peroxide synthesis by direct photoreduction of 2-ethylanthraquinone in aerated solutions.</a:t>
            </a:r>
          </a:p>
        </p:txBody>
      </p:sp>
      <p:sp>
        <p:nvSpPr>
          <p:cNvPr id="44" name="TextBox 43"/>
          <p:cNvSpPr txBox="1"/>
          <p:nvPr/>
        </p:nvSpPr>
        <p:spPr>
          <a:xfrm>
            <a:off x="1143000" y="5586984"/>
            <a:ext cx="10058400" cy="146304"/>
          </a:xfrm>
          <a:prstGeom prst="rect">
            <a:avLst/>
          </a:prstGeom>
          <a:noFill/>
          <a:effectLst/>
        </p:spPr>
        <p:txBody>
          <a:bodyPr wrap="square" lIns="22860" rIns="22860" tIns="0" bIns="0">
            <a:spAutoFit/>
          </a:bodyPr>
          <a:lstStyle/>
          <a:p>
            <a:pPr>
              <a:spcAft>
                <a:spcPts val="600"/>
              </a:spcAft>
              <a:defRPr sz="900" b="0">
                <a:solidFill>
                  <a:srgbClr val="566273"/>
                </a:solidFill>
                <a:latin typeface="Microsoft YaHei"/>
              </a:defRPr>
            </a:pPr>
            <a:r>
              <a:rPr>
                <a:hlinkClick r:id="rId5"/>
              </a:rPr>
              <a:t>2-EAQ 原始先例；据文献[4]引文98，二次引用；DOI 未核实，不补写。</a:t>
            </a:r>
          </a:p>
        </p:txBody>
      </p:sp>
      <p:sp>
        <p:nvSpPr>
          <p:cNvPr id="45" name="Rectangle 44"/>
          <p:cNvSpPr/>
          <p:nvPr/>
        </p:nvSpPr>
        <p:spPr>
          <a:xfrm>
            <a:off x="594360" y="5907024"/>
            <a:ext cx="11018520" cy="411480"/>
          </a:xfrm>
          <a:prstGeom prst="rect">
            <a:avLst/>
          </a:prstGeom>
          <a:solidFill>
            <a:srgbClr val="EEF3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TextBox 45"/>
          <p:cNvSpPr txBox="1"/>
          <p:nvPr/>
        </p:nvSpPr>
        <p:spPr>
          <a:xfrm>
            <a:off x="777240" y="5980176"/>
            <a:ext cx="10652760" cy="265176"/>
          </a:xfrm>
          <a:prstGeom prst="rect">
            <a:avLst/>
          </a:prstGeom>
          <a:noFill/>
          <a:effectLst/>
        </p:spPr>
        <p:txBody>
          <a:bodyPr wrap="square" lIns="22860" rIns="22860" tIns="0" bIns="0">
            <a:spAutoFit/>
          </a:bodyPr>
          <a:lstStyle/>
          <a:p>
            <a:pPr>
              <a:spcAft>
                <a:spcPts val="600"/>
              </a:spcAft>
              <a:defRPr sz="1600" b="1">
                <a:solidFill>
                  <a:srgbClr val="203864"/>
                </a:solidFill>
                <a:latin typeface="Microsoft YaHei"/>
              </a:defRPr>
            </a:pPr>
            <a:r>
              <a:t>引用按原文支持范围使用；未读全文、缺少补充信息或未在线解析的部分均明确披露。</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384048" y="329184"/>
            <a:ext cx="50292" cy="320040"/>
          </a:xfrm>
          <a:prstGeom prst="rect">
            <a:avLst/>
          </a:prstGeom>
          <a:solidFill>
            <a:srgbClr val="20386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8869680" y="246888"/>
            <a:ext cx="2880360" cy="356616"/>
          </a:xfrm>
          <a:prstGeom prst="rect">
            <a:avLst/>
          </a:prstGeom>
          <a:noFill/>
          <a:effectLst/>
        </p:spPr>
        <p:txBody>
          <a:bodyPr wrap="square" lIns="22860" rIns="22860" tIns="0" bIns="0">
            <a:spAutoFit/>
          </a:bodyPr>
          <a:lstStyle/>
          <a:p>
            <a:pPr algn="r">
              <a:spcAft>
                <a:spcPts val="600"/>
              </a:spcAft>
              <a:defRPr sz="2100" b="1">
                <a:solidFill>
                  <a:srgbClr val="159BB6"/>
                </a:solidFill>
                <a:latin typeface="Microsoft YaHei"/>
              </a:defRPr>
            </a:pPr>
            <a:r>
              <a:t>北京工业大学</a:t>
            </a:r>
          </a:p>
        </p:txBody>
      </p:sp>
      <p:sp>
        <p:nvSpPr>
          <p:cNvPr id="4" name="TextBox 3"/>
          <p:cNvSpPr txBox="1"/>
          <p:nvPr/>
        </p:nvSpPr>
        <p:spPr>
          <a:xfrm>
            <a:off x="8686800" y="621792"/>
            <a:ext cx="3063240" cy="182880"/>
          </a:xfrm>
          <a:prstGeom prst="rect">
            <a:avLst/>
          </a:prstGeom>
          <a:noFill/>
          <a:effectLst/>
        </p:spPr>
        <p:txBody>
          <a:bodyPr wrap="square" lIns="22860" rIns="22860" tIns="0" bIns="0">
            <a:spAutoFit/>
          </a:bodyPr>
          <a:lstStyle/>
          <a:p>
            <a:pPr algn="r">
              <a:spcAft>
                <a:spcPts val="600"/>
              </a:spcAft>
              <a:defRPr sz="770" b="1">
                <a:solidFill>
                  <a:srgbClr val="159BB6"/>
                </a:solidFill>
                <a:latin typeface="Microsoft YaHei"/>
              </a:defRPr>
            </a:pPr>
            <a:r>
              <a:t>BEIJING UNIVERSITY OF TECHNOLOGY</a:t>
            </a:r>
          </a:p>
        </p:txBody>
      </p:sp>
      <p:sp>
        <p:nvSpPr>
          <p:cNvPr id="5" name="TextBox 4"/>
          <p:cNvSpPr txBox="1"/>
          <p:nvPr/>
        </p:nvSpPr>
        <p:spPr>
          <a:xfrm>
            <a:off x="594360" y="914400"/>
            <a:ext cx="11109960" cy="594360"/>
          </a:xfrm>
          <a:prstGeom prst="rect">
            <a:avLst/>
          </a:prstGeom>
          <a:noFill/>
          <a:effectLst/>
        </p:spPr>
        <p:txBody>
          <a:bodyPr wrap="square" lIns="22860" rIns="22860" tIns="0" bIns="0">
            <a:spAutoFit/>
          </a:bodyPr>
          <a:lstStyle/>
          <a:p>
            <a:pPr>
              <a:spcAft>
                <a:spcPts val="600"/>
              </a:spcAft>
              <a:defRPr sz="2600" b="1">
                <a:solidFill>
                  <a:srgbClr val="203864"/>
                </a:solidFill>
                <a:latin typeface="Microsoft YaHei"/>
              </a:defRPr>
            </a:pPr>
            <a:r>
              <a:t>感谢聆听，敬请批评指正</a:t>
            </a:r>
          </a:p>
        </p:txBody>
      </p:sp>
      <p:cxnSp>
        <p:nvCxnSpPr>
          <p:cNvPr id="6" name="Connector 5"/>
          <p:cNvCxnSpPr/>
          <p:nvPr/>
        </p:nvCxnSpPr>
        <p:spPr>
          <a:xfrm>
            <a:off x="594360" y="1636776"/>
            <a:ext cx="11018520" cy="0"/>
          </a:xfrm>
          <a:prstGeom prst="line">
            <a:avLst/>
          </a:prstGeom>
          <a:ln w="25400">
            <a:solidFill>
              <a:srgbClr val="203864"/>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40080" y="1773936"/>
            <a:ext cx="10972800" cy="393192"/>
          </a:xfrm>
          <a:prstGeom prst="rect">
            <a:avLst/>
          </a:prstGeom>
          <a:noFill/>
          <a:effectLst/>
        </p:spPr>
        <p:txBody>
          <a:bodyPr wrap="square" lIns="22860" rIns="22860" tIns="0" bIns="0">
            <a:spAutoFit/>
          </a:bodyPr>
          <a:lstStyle/>
          <a:p>
            <a:pPr>
              <a:spcAft>
                <a:spcPts val="600"/>
              </a:spcAft>
              <a:defRPr sz="1300" b="0">
                <a:solidFill>
                  <a:srgbClr val="566273"/>
                </a:solidFill>
                <a:latin typeface="Microsoft YaHei"/>
              </a:defRPr>
            </a:pPr>
            <a:r>
              <a:t>课题组工作汇报</a:t>
            </a:r>
          </a:p>
        </p:txBody>
      </p:sp>
      <p:cxnSp>
        <p:nvCxnSpPr>
          <p:cNvPr id="8" name="Connector 7"/>
          <p:cNvCxnSpPr/>
          <p:nvPr/>
        </p:nvCxnSpPr>
        <p:spPr>
          <a:xfrm>
            <a:off x="594360" y="6446520"/>
            <a:ext cx="11018520" cy="0"/>
          </a:xfrm>
          <a:prstGeom prst="line">
            <a:avLst/>
          </a:prstGeom>
          <a:ln w="10160">
            <a:solidFill>
              <a:srgbClr val="CED7E3"/>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94360" y="6547104"/>
            <a:ext cx="10469880" cy="182880"/>
          </a:xfrm>
          <a:prstGeom prst="rect">
            <a:avLst/>
          </a:prstGeom>
          <a:noFill/>
          <a:effectLst/>
        </p:spPr>
        <p:txBody>
          <a:bodyPr wrap="square" lIns="22860" rIns="22860" tIns="0" bIns="0">
            <a:spAutoFit/>
          </a:bodyPr>
          <a:lstStyle/>
          <a:p>
            <a:pPr>
              <a:spcAft>
                <a:spcPts val="600"/>
              </a:spcAft>
              <a:defRPr sz="800" b="0">
                <a:solidFill>
                  <a:srgbClr val="566273"/>
                </a:solidFill>
                <a:latin typeface="Arial"/>
              </a:defRPr>
            </a:pPr>
          </a:p>
        </p:txBody>
      </p:sp>
      <p:sp>
        <p:nvSpPr>
          <p:cNvPr id="10" name="TextBox 9"/>
          <p:cNvSpPr txBox="1"/>
          <p:nvPr/>
        </p:nvSpPr>
        <p:spPr>
          <a:xfrm>
            <a:off x="11137392" y="6510528"/>
            <a:ext cx="438912" cy="237744"/>
          </a:xfrm>
          <a:prstGeom prst="rect">
            <a:avLst/>
          </a:prstGeom>
          <a:noFill/>
          <a:effectLst/>
        </p:spPr>
        <p:txBody>
          <a:bodyPr wrap="square" lIns="22860" rIns="22860" tIns="0" bIns="0">
            <a:spAutoFit/>
          </a:bodyPr>
          <a:lstStyle/>
          <a:p>
            <a:pPr algn="r">
              <a:spcAft>
                <a:spcPts val="600"/>
              </a:spcAft>
              <a:defRPr sz="1100" b="1">
                <a:solidFill>
                  <a:srgbClr val="203864"/>
                </a:solidFill>
                <a:latin typeface="Microsoft YaHei"/>
              </a:defRPr>
            </a:pPr>
            <a:r>
              <a:t>20</a:t>
            </a:r>
          </a:p>
        </p:txBody>
      </p:sp>
      <p:sp>
        <p:nvSpPr>
          <p:cNvPr id="11" name="Freeform 10"/>
          <p:cNvSpPr/>
          <p:nvPr/>
        </p:nvSpPr>
        <p:spPr>
          <a:xfrm>
            <a:off x="1965960" y="2871216"/>
            <a:ext cx="6583680" cy="228600"/>
          </a:xfrm>
          <a:custGeom>
            <a:avLst/>
            <a:gdLst/>
            <a:ahLst/>
            <a:cxnLst/>
            <a:rect l="l" t="t" r="r" b="b"/>
            <a:pathLst>
              <a:path w="6583680" h="228600">
                <a:moveTo>
                  <a:pt x="0" y="0"/>
                </a:moveTo>
                <a:lnTo>
                  <a:pt x="658368" y="228600"/>
                </a:lnTo>
                <a:lnTo>
                  <a:pt x="1316736" y="0"/>
                </a:lnTo>
                <a:lnTo>
                  <a:pt x="1975104" y="228600"/>
                </a:lnTo>
                <a:lnTo>
                  <a:pt x="2633471" y="0"/>
                </a:lnTo>
                <a:lnTo>
                  <a:pt x="3291840" y="228600"/>
                </a:lnTo>
                <a:lnTo>
                  <a:pt x="3950208" y="0"/>
                </a:lnTo>
                <a:lnTo>
                  <a:pt x="4608576" y="228600"/>
                </a:lnTo>
                <a:lnTo>
                  <a:pt x="5266944" y="0"/>
                </a:lnTo>
                <a:lnTo>
                  <a:pt x="5925311" y="228600"/>
                </a:lnTo>
                <a:lnTo>
                  <a:pt x="6583680" y="0"/>
                </a:lnTo>
              </a:path>
            </a:pathLst>
          </a:custGeom>
          <a:noFill/>
          <a:ln w="2286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2624328" y="309981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2496312" y="350215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14" name="Connector 13"/>
          <p:cNvCxnSpPr/>
          <p:nvPr/>
        </p:nvCxnSpPr>
        <p:spPr>
          <a:xfrm>
            <a:off x="3941064" y="309981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3813048" y="350215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16" name="Connector 15"/>
          <p:cNvCxnSpPr/>
          <p:nvPr/>
        </p:nvCxnSpPr>
        <p:spPr>
          <a:xfrm>
            <a:off x="5257800" y="309981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7" name="TextBox 16"/>
          <p:cNvSpPr txBox="1"/>
          <p:nvPr/>
        </p:nvSpPr>
        <p:spPr>
          <a:xfrm>
            <a:off x="5129784" y="350215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18" name="Connector 17"/>
          <p:cNvCxnSpPr/>
          <p:nvPr/>
        </p:nvCxnSpPr>
        <p:spPr>
          <a:xfrm>
            <a:off x="6574536" y="309981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9" name="TextBox 18"/>
          <p:cNvSpPr txBox="1"/>
          <p:nvPr/>
        </p:nvSpPr>
        <p:spPr>
          <a:xfrm>
            <a:off x="6446520" y="350215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20" name="Connector 19"/>
          <p:cNvCxnSpPr/>
          <p:nvPr/>
        </p:nvCxnSpPr>
        <p:spPr>
          <a:xfrm>
            <a:off x="7891271" y="309981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1" name="TextBox 20"/>
          <p:cNvSpPr txBox="1"/>
          <p:nvPr/>
        </p:nvSpPr>
        <p:spPr>
          <a:xfrm>
            <a:off x="7763255" y="350215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sp>
        <p:nvSpPr>
          <p:cNvPr id="22" name="TextBox 21"/>
          <p:cNvSpPr txBox="1"/>
          <p:nvPr/>
        </p:nvSpPr>
        <p:spPr>
          <a:xfrm>
            <a:off x="1719072" y="2843784"/>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23" name="TextBox 22"/>
          <p:cNvSpPr txBox="1"/>
          <p:nvPr/>
        </p:nvSpPr>
        <p:spPr>
          <a:xfrm>
            <a:off x="8595360" y="2843784"/>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24" name="TextBox 23"/>
          <p:cNvSpPr txBox="1"/>
          <p:nvPr/>
        </p:nvSpPr>
        <p:spPr>
          <a:xfrm>
            <a:off x="1828800" y="4370832"/>
            <a:ext cx="8503920" cy="557784"/>
          </a:xfrm>
          <a:prstGeom prst="rect">
            <a:avLst/>
          </a:prstGeom>
          <a:noFill/>
          <a:effectLst/>
        </p:spPr>
        <p:txBody>
          <a:bodyPr wrap="square" lIns="22860" rIns="22860" tIns="0" bIns="0">
            <a:spAutoFit/>
          </a:bodyPr>
          <a:lstStyle/>
          <a:p>
            <a:pPr algn="ctr">
              <a:spcAft>
                <a:spcPts val="600"/>
              </a:spcAft>
              <a:defRPr sz="3600" b="1">
                <a:solidFill>
                  <a:srgbClr val="203864"/>
                </a:solidFill>
                <a:latin typeface="Microsoft YaHei"/>
              </a:defRPr>
            </a:pPr>
            <a:r>
              <a:t>THANK YOU</a:t>
            </a:r>
          </a:p>
        </p:txBody>
      </p:sp>
      <p:sp>
        <p:nvSpPr>
          <p:cNvPr id="25" name="TextBox 24"/>
          <p:cNvSpPr txBox="1"/>
          <p:nvPr/>
        </p:nvSpPr>
        <p:spPr>
          <a:xfrm>
            <a:off x="1828800" y="5212080"/>
            <a:ext cx="8503920" cy="310896"/>
          </a:xfrm>
          <a:prstGeom prst="rect">
            <a:avLst/>
          </a:prstGeom>
          <a:noFill/>
          <a:effectLst/>
        </p:spPr>
        <p:txBody>
          <a:bodyPr wrap="square" lIns="22860" rIns="22860" tIns="0" bIns="0">
            <a:spAutoFit/>
          </a:bodyPr>
          <a:lstStyle/>
          <a:p>
            <a:pPr algn="ctr">
              <a:spcAft>
                <a:spcPts val="600"/>
              </a:spcAft>
              <a:defRPr sz="1800" b="0">
                <a:solidFill>
                  <a:srgbClr val="566273"/>
                </a:solidFill>
                <a:latin typeface="Microsoft YaHei"/>
              </a:defRPr>
            </a:pPr>
            <a:r>
              <a:t>佟可心  ·  北京工业大学</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