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依据用户提供的第二张图片重建，所有结构、弯箭、自由基点、表格和文字均为PowerPoint原生对象。按用户原图恢复Nu、负电荷、离去基团标记与相同位置的C=C。七条弯箭与三条反应箭头各为独立单一原生形状；弯箭使用真正三次贝塞尔路径，鱼钩箭头单边钩与曲线在同一路径中，不再由分离线段拼接。第一行为亲核取代示意：亲核试剂Nu以孤对电子进攻碳，C–Cl键电子对转移给氯，生成Cl负离子，不画成游离氯自由基。第二行为均裂：从C–Cl键分别向碳和氯使用单电子鱼钩箭头，得到碳中心自由基和Cl自由基；该图只说明路径定义，不代表本体系或所有PVC位点在365纳米下都发生此步。第三行为碱促进消除示意，B负离子取邻位H，C–H键电子形成C=C，C–Cl键电子对给氯，产物为HB和Cl负离子；名称脱HCl表示净消除，不将其等同于碱条件直接释放游离HCl。热消除的具体机制可能不同。右侧414、332、328千焦每摩尔精确保留用户图数值，但原始出处和适用结构未提供，因此标注示意参考值及来源待核，不能当作PVC各位点实测BDE，也不能用4千焦差异普遍排序或推定365纳米必然光解。文献Xu2023和Huang2024支持路径区分与吸光/激发态的必要性，不冒充这组BDE数值的原始出处。下一页接早期PVC光老化的文献认识，以区分路径可能性与本体系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85448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PVC 的 C–Cl 键转化路径及键能分析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C–Cl 可经取代、均裂或消除转化；仅均裂可直接产生 Cl·，具体活化取决于结构、吸光与反应条件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机制分类参照 Xu et al., Nat. Rev. Methods Primers 2023, 3, 44；键能数值沿用用户图，原始出处待核。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44168"/>
            <a:ext cx="7461504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" y="1371600"/>
            <a:ext cx="7406640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421892"/>
            <a:ext cx="7168896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PVC 中 C–Cl 键的三种主要转化路径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344168"/>
            <a:ext cx="3877056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9288" y="1371600"/>
            <a:ext cx="3822192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21892"/>
            <a:ext cx="3584448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相关化学键的示意键能对比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1856231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040" y="1926640"/>
            <a:ext cx="224942" cy="224942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1952243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1929384"/>
            <a:ext cx="1956816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063584"/>
                </a:solidFill>
                <a:latin typeface="Microsoft YaHei"/>
              </a:defRPr>
            </a:pPr>
            <a:r>
              <a:t>异裂 / 亲核取代脱氯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340863"/>
            <a:ext cx="1856231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80" b="0">
                <a:solidFill>
                  <a:srgbClr val="111111"/>
                </a:solidFill>
                <a:latin typeface="Microsoft YaHei"/>
              </a:defRPr>
            </a:pPr>
            <a:r>
              <a:t>亲核试剂参与，C–Cl 极性断裂；氯以 Cl⁻ 形式离去。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039112"/>
            <a:ext cx="1673352" cy="8778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生成 Cl⁻ 等含氯副产物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主链可保留或官能化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非 Cl· 直接生成路径</a:t>
            </a:r>
          </a:p>
        </p:txBody>
      </p:sp>
      <p:grpSp>
        <p:nvGrpSpPr>
          <p:cNvPr id="21" name="Path1_Substrate"/>
          <p:cNvGrpSpPr/>
          <p:nvPr/>
        </p:nvGrpSpPr>
        <p:grpSpPr>
          <a:xfrm>
            <a:off x="2820923" y="2189988"/>
            <a:ext cx="1234440" cy="617220"/>
            <a:chOff x="2820923" y="2189988"/>
            <a:chExt cx="1234440" cy="617220"/>
          </a:xfrm>
        </p:grpSpPr>
        <p:sp>
          <p:nvSpPr>
            <p:cNvPr id="19" name="Path1_Substrate_Bonds"/>
            <p:cNvSpPr/>
            <p:nvPr/>
          </p:nvSpPr>
          <p:spPr>
            <a:xfrm>
              <a:off x="2820923" y="2189988"/>
              <a:ext cx="1234440" cy="374904"/>
            </a:xfrm>
            <a:custGeom>
              <a:avLst/>
              <a:gdLst/>
              <a:ahLst/>
              <a:cxnLst/>
              <a:rect l="0" t="0" r="r" b="b"/>
              <a:pathLst>
                <a:path w="1234440" h="374904" fill="none" stroke="1" extrusionOk="0">
                  <a:moveTo>
                    <a:pt x="123444" y="150876"/>
                  </a:moveTo>
                  <a:lnTo>
                    <a:pt x="361188" y="13716"/>
                  </a:lnTo>
                  <a:lnTo>
                    <a:pt x="617220" y="169164"/>
                  </a:lnTo>
                  <a:lnTo>
                    <a:pt x="873252" y="13716"/>
                  </a:lnTo>
                  <a:lnTo>
                    <a:pt x="1110996" y="150876"/>
                  </a:lnTo>
                  <a:moveTo>
                    <a:pt x="13716" y="77723"/>
                  </a:moveTo>
                  <a:lnTo>
                    <a:pt x="68580" y="109728"/>
                  </a:lnTo>
                  <a:moveTo>
                    <a:pt x="1165860" y="109728"/>
                  </a:moveTo>
                  <a:lnTo>
                    <a:pt x="1220724" y="77723"/>
                  </a:lnTo>
                  <a:moveTo>
                    <a:pt x="617220" y="169164"/>
                  </a:moveTo>
                  <a:lnTo>
                    <a:pt x="617220" y="361188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10127" y="2578608"/>
              <a:ext cx="402336" cy="228600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/>
                </a:defRPr>
              </a:pPr>
              <a:r>
                <a:t>Cl</a:t>
              </a:r>
            </a:p>
          </p:txBody>
        </p:sp>
      </p:grpSp>
      <p:grpSp>
        <p:nvGrpSpPr>
          <p:cNvPr id="24" name="Path1_SubstitutedProduct"/>
          <p:cNvGrpSpPr/>
          <p:nvPr/>
        </p:nvGrpSpPr>
        <p:grpSpPr>
          <a:xfrm>
            <a:off x="4448556" y="2189988"/>
            <a:ext cx="1234439" cy="617220"/>
            <a:chOff x="4448556" y="2189988"/>
            <a:chExt cx="1234439" cy="617220"/>
          </a:xfrm>
        </p:grpSpPr>
        <p:sp>
          <p:nvSpPr>
            <p:cNvPr id="22" name="Path1_SubstitutedProduct_Bonds"/>
            <p:cNvSpPr/>
            <p:nvPr/>
          </p:nvSpPr>
          <p:spPr>
            <a:xfrm>
              <a:off x="4448556" y="2189988"/>
              <a:ext cx="1234439" cy="374904"/>
            </a:xfrm>
            <a:custGeom>
              <a:avLst/>
              <a:gdLst/>
              <a:ahLst/>
              <a:cxnLst/>
              <a:rect l="0" t="0" r="r" b="b"/>
              <a:pathLst>
                <a:path w="1234439" h="374904" fill="none" stroke="1" extrusionOk="0">
                  <a:moveTo>
                    <a:pt x="123443" y="150876"/>
                  </a:moveTo>
                  <a:lnTo>
                    <a:pt x="361187" y="13716"/>
                  </a:lnTo>
                  <a:lnTo>
                    <a:pt x="617219" y="169164"/>
                  </a:lnTo>
                  <a:lnTo>
                    <a:pt x="873252" y="13716"/>
                  </a:lnTo>
                  <a:lnTo>
                    <a:pt x="1110995" y="150876"/>
                  </a:lnTo>
                  <a:moveTo>
                    <a:pt x="13715" y="77723"/>
                  </a:moveTo>
                  <a:lnTo>
                    <a:pt x="68580" y="109728"/>
                  </a:lnTo>
                  <a:moveTo>
                    <a:pt x="1165859" y="109728"/>
                  </a:moveTo>
                  <a:lnTo>
                    <a:pt x="1220724" y="77723"/>
                  </a:lnTo>
                  <a:moveTo>
                    <a:pt x="617219" y="169164"/>
                  </a:moveTo>
                  <a:lnTo>
                    <a:pt x="617219" y="361188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37760" y="2578608"/>
              <a:ext cx="402336" cy="228600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C00000"/>
                  </a:solidFill>
                  <a:latin typeface="Arial"/>
                </a:defRPr>
              </a:pPr>
              <a:r>
                <a:t>Nu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962656" y="1879091"/>
            <a:ext cx="502920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C00000"/>
                </a:solidFill>
                <a:latin typeface="Arial"/>
              </a:defRPr>
            </a:pPr>
            <a:r>
              <a:t>Nu</a:t>
            </a:r>
          </a:p>
        </p:txBody>
      </p:sp>
      <p:sp>
        <p:nvSpPr>
          <p:cNvPr id="26" name="Path1_NucleophileAttack"/>
          <p:cNvSpPr/>
          <p:nvPr/>
        </p:nvSpPr>
        <p:spPr>
          <a:xfrm>
            <a:off x="3223260" y="1988819"/>
            <a:ext cx="292608" cy="329183"/>
          </a:xfrm>
          <a:custGeom>
            <a:avLst/>
            <a:gdLst/>
            <a:ahLst/>
            <a:cxnLst/>
            <a:rect l="0" t="0" r="r" b="b"/>
            <a:pathLst>
              <a:path w="292608" h="329183" fill="none" stroke="1" extrusionOk="0">
                <a:moveTo>
                  <a:pt x="13716" y="22859"/>
                </a:moveTo>
                <a:cubicBezTo>
                  <a:pt x="224028" y="13716"/>
                  <a:pt x="278892" y="150876"/>
                  <a:pt x="214883" y="315467"/>
                </a:cubicBezTo>
              </a:path>
            </a:pathLst>
          </a:custGeom>
          <a:noFill/>
          <a:ln w="16510">
            <a:solidFill>
              <a:srgbClr val="C0000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th1_BondPairToChlorine"/>
          <p:cNvSpPr/>
          <p:nvPr/>
        </p:nvSpPr>
        <p:spPr>
          <a:xfrm>
            <a:off x="3442715" y="2427732"/>
            <a:ext cx="274319" cy="274320"/>
          </a:xfrm>
          <a:custGeom>
            <a:avLst/>
            <a:gdLst/>
            <a:ahLst/>
            <a:cxnLst/>
            <a:rect l="0" t="0" r="r" b="b"/>
            <a:pathLst>
              <a:path w="274319" h="274320" fill="none" stroke="1" extrusionOk="0">
                <a:moveTo>
                  <a:pt x="13716" y="32004"/>
                </a:moveTo>
                <a:cubicBezTo>
                  <a:pt x="242316" y="13716"/>
                  <a:pt x="260604" y="196595"/>
                  <a:pt x="86868" y="260604"/>
                </a:cubicBezTo>
              </a:path>
            </a:pathLst>
          </a:custGeom>
          <a:noFill/>
          <a:ln w="1651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th1_ReactionArrow"/>
          <p:cNvSpPr/>
          <p:nvPr/>
        </p:nvSpPr>
        <p:spPr>
          <a:xfrm>
            <a:off x="4082796" y="2345436"/>
            <a:ext cx="448055" cy="27432"/>
          </a:xfrm>
          <a:custGeom>
            <a:avLst/>
            <a:gdLst/>
            <a:ahLst/>
            <a:cxnLst/>
            <a:rect l="0" t="0" r="r" b="b"/>
            <a:pathLst>
              <a:path w="448055" h="27432" fill="none" stroke="1" extrusionOk="0">
                <a:moveTo>
                  <a:pt x="13715" y="13716"/>
                </a:moveTo>
                <a:lnTo>
                  <a:pt x="434339" y="13716"/>
                </a:lnTo>
              </a:path>
            </a:pathLst>
          </a:custGeom>
          <a:noFill/>
          <a:ln w="2159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LeavingGroup_Label"/>
          <p:cNvGrpSpPr/>
          <p:nvPr/>
        </p:nvGrpSpPr>
        <p:grpSpPr>
          <a:xfrm>
            <a:off x="4050791" y="2550261"/>
            <a:ext cx="566928" cy="247802"/>
            <a:chOff x="4050791" y="2550261"/>
            <a:chExt cx="566928" cy="247802"/>
          </a:xfrm>
        </p:grpSpPr>
        <p:sp>
          <p:nvSpPr>
            <p:cNvPr id="29" name="TextBox 28"/>
            <p:cNvSpPr txBox="1"/>
            <p:nvPr/>
          </p:nvSpPr>
          <p:spPr>
            <a:xfrm>
              <a:off x="4050791" y="2569463"/>
              <a:ext cx="566928" cy="228600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20" b="0">
                  <a:solidFill>
                    <a:srgbClr val="063584"/>
                  </a:solidFill>
                  <a:latin typeface="Arial"/>
                </a:defRPr>
              </a:pPr>
              <a:r>
                <a:t>-Cl</a:t>
              </a:r>
            </a:p>
          </p:txBody>
        </p:sp>
        <p:sp>
          <p:nvSpPr>
            <p:cNvPr id="30" name="CircledNegativeCharge"/>
            <p:cNvSpPr/>
            <p:nvPr/>
          </p:nvSpPr>
          <p:spPr>
            <a:xfrm>
              <a:off x="4311396" y="2550261"/>
              <a:ext cx="137159" cy="137160"/>
            </a:xfrm>
            <a:custGeom>
              <a:avLst/>
              <a:gdLst/>
              <a:ahLst/>
              <a:cxnLst/>
              <a:rect l="0" t="0" r="r" b="b"/>
              <a:pathLst>
                <a:path w="137159" h="137160" fill="none" stroke="1" extrusionOk="0">
                  <a:moveTo>
                    <a:pt x="123443" y="68580"/>
                  </a:moveTo>
                  <a:cubicBezTo>
                    <a:pt x="123443" y="98880"/>
                    <a:pt x="98880" y="123444"/>
                    <a:pt x="68579" y="123444"/>
                  </a:cubicBezTo>
                  <a:cubicBezTo>
                    <a:pt x="38279" y="123444"/>
                    <a:pt x="13715" y="98880"/>
                    <a:pt x="13715" y="68580"/>
                  </a:cubicBezTo>
                  <a:cubicBezTo>
                    <a:pt x="13715" y="38279"/>
                    <a:pt x="38279" y="13716"/>
                    <a:pt x="68579" y="13716"/>
                  </a:cubicBezTo>
                  <a:cubicBezTo>
                    <a:pt x="98880" y="13716"/>
                    <a:pt x="123443" y="38279"/>
                    <a:pt x="123443" y="68580"/>
                  </a:cubicBezTo>
                  <a:moveTo>
                    <a:pt x="40233" y="68580"/>
                  </a:moveTo>
                  <a:lnTo>
                    <a:pt x="96926" y="68580"/>
                  </a:lnTo>
                </a:path>
              </a:pathLst>
            </a:custGeom>
            <a:noFill/>
            <a:ln w="12700">
              <a:solidFill>
                <a:srgbClr val="0635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438912" y="3163824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5040" y="3234232"/>
            <a:ext cx="224942" cy="224942"/>
          </a:xfrm>
          <a:prstGeom prst="ellipse">
            <a:avLst/>
          </a:prstGeom>
          <a:solidFill>
            <a:srgbClr val="C00000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" y="3259836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3236976"/>
            <a:ext cx="1956816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C00000"/>
                </a:solidFill>
                <a:latin typeface="Microsoft YaHei"/>
              </a:defRPr>
            </a:pPr>
            <a:r>
              <a:t>C–Cl 键均裂脱氯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3648456"/>
            <a:ext cx="1856231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80" b="0">
                <a:solidFill>
                  <a:srgbClr val="111111"/>
                </a:solidFill>
                <a:latin typeface="Microsoft YaHei"/>
              </a:defRPr>
            </a:pPr>
            <a:r>
              <a:t>适当引发下发生均裂，生成碳自由基与 Cl·。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346704"/>
            <a:ext cx="1673352" cy="8778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C00000"/>
                </a:solidFill>
                <a:latin typeface="Microsoft YaHei"/>
              </a:defRPr>
            </a:pPr>
            <a:r>
              <a:t>• 可进入自由基链过程</a:t>
            </a:r>
          </a:p>
          <a:p>
            <a:pPr>
              <a:spcAft>
                <a:spcPts val="600"/>
              </a:spcAft>
              <a:defRPr sz="1080" b="0">
                <a:solidFill>
                  <a:srgbClr val="C00000"/>
                </a:solidFill>
                <a:latin typeface="Microsoft YaHei"/>
              </a:defRPr>
            </a:pPr>
            <a:r>
              <a:t>• 与氧化、断链可能关联</a:t>
            </a:r>
          </a:p>
          <a:p>
            <a:pPr>
              <a:spcAft>
                <a:spcPts val="600"/>
              </a:spcAft>
              <a:defRPr sz="1080" b="0">
                <a:solidFill>
                  <a:srgbClr val="C00000"/>
                </a:solidFill>
                <a:latin typeface="Microsoft YaHei"/>
              </a:defRPr>
            </a:pPr>
            <a:r>
              <a:t>• 本体系需直接物种证据</a:t>
            </a:r>
          </a:p>
        </p:txBody>
      </p:sp>
      <p:grpSp>
        <p:nvGrpSpPr>
          <p:cNvPr id="40" name="Path2_Substrate"/>
          <p:cNvGrpSpPr/>
          <p:nvPr/>
        </p:nvGrpSpPr>
        <p:grpSpPr>
          <a:xfrm>
            <a:off x="2820923" y="3497579"/>
            <a:ext cx="1234440" cy="617221"/>
            <a:chOff x="2820923" y="3497579"/>
            <a:chExt cx="1234440" cy="617221"/>
          </a:xfrm>
        </p:grpSpPr>
        <p:sp>
          <p:nvSpPr>
            <p:cNvPr id="38" name="Path2_Substrate_Bonds"/>
            <p:cNvSpPr/>
            <p:nvPr/>
          </p:nvSpPr>
          <p:spPr>
            <a:xfrm>
              <a:off x="2820923" y="3497579"/>
              <a:ext cx="1234440" cy="374903"/>
            </a:xfrm>
            <a:custGeom>
              <a:avLst/>
              <a:gdLst/>
              <a:ahLst/>
              <a:cxnLst/>
              <a:rect l="0" t="0" r="r" b="b"/>
              <a:pathLst>
                <a:path w="1234440" h="374903" fill="none" stroke="1" extrusionOk="0">
                  <a:moveTo>
                    <a:pt x="123444" y="150876"/>
                  </a:moveTo>
                  <a:lnTo>
                    <a:pt x="361188" y="13716"/>
                  </a:lnTo>
                  <a:lnTo>
                    <a:pt x="617220" y="169164"/>
                  </a:lnTo>
                  <a:lnTo>
                    <a:pt x="873252" y="13716"/>
                  </a:lnTo>
                  <a:lnTo>
                    <a:pt x="1110996" y="150876"/>
                  </a:lnTo>
                  <a:moveTo>
                    <a:pt x="13716" y="77723"/>
                  </a:moveTo>
                  <a:lnTo>
                    <a:pt x="68580" y="109728"/>
                  </a:lnTo>
                  <a:moveTo>
                    <a:pt x="1165860" y="109728"/>
                  </a:moveTo>
                  <a:lnTo>
                    <a:pt x="1220724" y="77723"/>
                  </a:lnTo>
                  <a:moveTo>
                    <a:pt x="617220" y="169164"/>
                  </a:moveTo>
                  <a:lnTo>
                    <a:pt x="617220" y="361188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10127" y="3886200"/>
              <a:ext cx="402336" cy="228600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/>
                </a:defRPr>
              </a:pPr>
              <a:r>
                <a:t>Cl</a:t>
              </a:r>
            </a:p>
          </p:txBody>
        </p:sp>
      </p:grpSp>
      <p:grpSp>
        <p:nvGrpSpPr>
          <p:cNvPr id="43" name="Path2_CarbonRadicalProduct"/>
          <p:cNvGrpSpPr/>
          <p:nvPr/>
        </p:nvGrpSpPr>
        <p:grpSpPr>
          <a:xfrm>
            <a:off x="4448556" y="3497579"/>
            <a:ext cx="1234439" cy="346558"/>
            <a:chOff x="4448556" y="3497579"/>
            <a:chExt cx="1234439" cy="346558"/>
          </a:xfrm>
        </p:grpSpPr>
        <p:sp>
          <p:nvSpPr>
            <p:cNvPr id="41" name="Path2_CarbonRadicalProduct_Bonds"/>
            <p:cNvSpPr/>
            <p:nvPr/>
          </p:nvSpPr>
          <p:spPr>
            <a:xfrm>
              <a:off x="4448556" y="3497579"/>
              <a:ext cx="1234439" cy="182879"/>
            </a:xfrm>
            <a:custGeom>
              <a:avLst/>
              <a:gdLst/>
              <a:ahLst/>
              <a:cxnLst/>
              <a:rect l="0" t="0" r="r" b="b"/>
              <a:pathLst>
                <a:path w="1234439" h="182879" fill="none" stroke="1" extrusionOk="0">
                  <a:moveTo>
                    <a:pt x="123443" y="150876"/>
                  </a:moveTo>
                  <a:lnTo>
                    <a:pt x="361187" y="13716"/>
                  </a:lnTo>
                  <a:lnTo>
                    <a:pt x="617219" y="169164"/>
                  </a:lnTo>
                  <a:lnTo>
                    <a:pt x="873252" y="13716"/>
                  </a:lnTo>
                  <a:lnTo>
                    <a:pt x="1110995" y="150876"/>
                  </a:lnTo>
                  <a:moveTo>
                    <a:pt x="13715" y="77723"/>
                  </a:moveTo>
                  <a:lnTo>
                    <a:pt x="68580" y="109728"/>
                  </a:lnTo>
                  <a:moveTo>
                    <a:pt x="1165859" y="109728"/>
                  </a:moveTo>
                  <a:lnTo>
                    <a:pt x="1220724" y="77723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Path2_CarbonRadicalProduct_CarbonRadical"/>
            <p:cNvSpPr/>
            <p:nvPr/>
          </p:nvSpPr>
          <p:spPr>
            <a:xfrm>
              <a:off x="5045659" y="3803904"/>
              <a:ext cx="40233" cy="40233"/>
            </a:xfrm>
            <a:prstGeom prst="ellipse">
              <a:avLst/>
            </a:prstGeom>
            <a:solidFill>
              <a:srgbClr val="0635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4" name="Path2_OneElectronToCarbon"/>
          <p:cNvSpPr/>
          <p:nvPr/>
        </p:nvSpPr>
        <p:spPr>
          <a:xfrm>
            <a:off x="3159252" y="3579875"/>
            <a:ext cx="274320" cy="210311"/>
          </a:xfrm>
          <a:custGeom>
            <a:avLst/>
            <a:gdLst/>
            <a:ahLst/>
            <a:cxnLst/>
            <a:rect l="0" t="0" r="r" b="b"/>
            <a:pathLst>
              <a:path w="274320" h="210311" fill="none" stroke="1" extrusionOk="0">
                <a:moveTo>
                  <a:pt x="260604" y="196596"/>
                </a:moveTo>
                <a:cubicBezTo>
                  <a:pt x="22859" y="187452"/>
                  <a:pt x="13716" y="13716"/>
                  <a:pt x="242316" y="68580"/>
                </a:cubicBezTo>
                <a:lnTo>
                  <a:pt x="167093" y="88141"/>
                </a:lnTo>
              </a:path>
            </a:pathLst>
          </a:custGeom>
          <a:noFill/>
          <a:ln w="1651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th2_OneElectronToChlorine"/>
          <p:cNvSpPr/>
          <p:nvPr/>
        </p:nvSpPr>
        <p:spPr>
          <a:xfrm>
            <a:off x="3451860" y="3735324"/>
            <a:ext cx="265175" cy="274319"/>
          </a:xfrm>
          <a:custGeom>
            <a:avLst/>
            <a:gdLst/>
            <a:ahLst/>
            <a:cxnLst/>
            <a:rect l="0" t="0" r="r" b="b"/>
            <a:pathLst>
              <a:path w="265175" h="274319" fill="none" stroke="1" extrusionOk="0">
                <a:moveTo>
                  <a:pt x="13716" y="41147"/>
                </a:moveTo>
                <a:cubicBezTo>
                  <a:pt x="224027" y="13715"/>
                  <a:pt x="251459" y="196595"/>
                  <a:pt x="77723" y="260604"/>
                </a:cubicBezTo>
                <a:lnTo>
                  <a:pt x="129431" y="202574"/>
                </a:lnTo>
              </a:path>
            </a:pathLst>
          </a:custGeom>
          <a:noFill/>
          <a:ln w="1651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th2_ReactionArrow"/>
          <p:cNvSpPr/>
          <p:nvPr/>
        </p:nvSpPr>
        <p:spPr>
          <a:xfrm>
            <a:off x="4082796" y="3653027"/>
            <a:ext cx="448055" cy="27432"/>
          </a:xfrm>
          <a:custGeom>
            <a:avLst/>
            <a:gdLst/>
            <a:ahLst/>
            <a:cxnLst/>
            <a:rect l="0" t="0" r="r" b="b"/>
            <a:pathLst>
              <a:path w="448055" h="27432" fill="none" stroke="1" extrusionOk="0">
                <a:moveTo>
                  <a:pt x="13715" y="13716"/>
                </a:moveTo>
                <a:lnTo>
                  <a:pt x="434339" y="13716"/>
                </a:lnTo>
              </a:path>
            </a:pathLst>
          </a:custGeom>
          <a:noFill/>
          <a:ln w="2159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9" name="LeavingGroup_Label"/>
          <p:cNvGrpSpPr/>
          <p:nvPr/>
        </p:nvGrpSpPr>
        <p:grpSpPr>
          <a:xfrm>
            <a:off x="4050791" y="3877056"/>
            <a:ext cx="566928" cy="228600"/>
            <a:chOff x="4050791" y="3877056"/>
            <a:chExt cx="566928" cy="228600"/>
          </a:xfrm>
        </p:grpSpPr>
        <p:sp>
          <p:nvSpPr>
            <p:cNvPr id="47" name="TextBox 46"/>
            <p:cNvSpPr txBox="1"/>
            <p:nvPr/>
          </p:nvSpPr>
          <p:spPr>
            <a:xfrm>
              <a:off x="4050791" y="3877056"/>
              <a:ext cx="566928" cy="228600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20" b="0">
                  <a:solidFill>
                    <a:srgbClr val="063584"/>
                  </a:solidFill>
                  <a:latin typeface="Arial"/>
                </a:defRPr>
              </a:pPr>
              <a:r>
                <a:t>-Cl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4334255" y="3935577"/>
              <a:ext cx="30175" cy="30175"/>
            </a:xfrm>
            <a:prstGeom prst="ellipse">
              <a:avLst/>
            </a:prstGeom>
            <a:solidFill>
              <a:srgbClr val="0635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438912" y="4471416"/>
            <a:ext cx="7223760" cy="11704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5040" y="4541824"/>
            <a:ext cx="224942" cy="224942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" y="4567428"/>
            <a:ext cx="192024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" y="4544568"/>
            <a:ext cx="1956816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80" b="1">
                <a:solidFill>
                  <a:srgbClr val="063584"/>
                </a:solidFill>
                <a:latin typeface="Microsoft YaHei"/>
              </a:defRPr>
            </a:pPr>
            <a:r>
              <a:t>脱 HCl（消除）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" y="4956048"/>
            <a:ext cx="1856231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80" b="0">
                <a:solidFill>
                  <a:srgbClr val="111111"/>
                </a:solidFill>
                <a:latin typeface="Microsoft YaHei"/>
              </a:defRPr>
            </a:pPr>
            <a:r>
              <a:t>消除涉及邻位 C–H 与 C–Cl，形成不饱和结构。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4654296"/>
            <a:ext cx="1673352" cy="8778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生成 C=C 不饱和结构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可逐步形成共轭多烯</a:t>
            </a:r>
          </a:p>
          <a:p>
            <a:pPr>
              <a:spcAft>
                <a:spcPts val="600"/>
              </a:spcAft>
              <a:defRPr sz="1080" b="0">
                <a:solidFill>
                  <a:srgbClr val="063584"/>
                </a:solidFill>
                <a:latin typeface="Microsoft YaHei"/>
              </a:defRPr>
            </a:pPr>
            <a:r>
              <a:t>• 改变后续吸光与反应</a:t>
            </a:r>
          </a:p>
        </p:txBody>
      </p:sp>
      <p:grpSp>
        <p:nvGrpSpPr>
          <p:cNvPr id="59" name="Path3_BetaH_Substrate"/>
          <p:cNvGrpSpPr/>
          <p:nvPr/>
        </p:nvGrpSpPr>
        <p:grpSpPr>
          <a:xfrm>
            <a:off x="2820923" y="4485131"/>
            <a:ext cx="1234440" cy="937261"/>
            <a:chOff x="2820923" y="4485131"/>
            <a:chExt cx="1234440" cy="937261"/>
          </a:xfrm>
        </p:grpSpPr>
        <p:sp>
          <p:nvSpPr>
            <p:cNvPr id="56" name="Path3_BetaH_Substrate_Bonds"/>
            <p:cNvSpPr/>
            <p:nvPr/>
          </p:nvSpPr>
          <p:spPr>
            <a:xfrm>
              <a:off x="2820923" y="4640580"/>
              <a:ext cx="1234440" cy="539495"/>
            </a:xfrm>
            <a:custGeom>
              <a:avLst/>
              <a:gdLst/>
              <a:ahLst/>
              <a:cxnLst/>
              <a:rect l="0" t="0" r="r" b="b"/>
              <a:pathLst>
                <a:path w="1234440" h="539495" fill="none" stroke="1" extrusionOk="0">
                  <a:moveTo>
                    <a:pt x="123444" y="315467"/>
                  </a:moveTo>
                  <a:lnTo>
                    <a:pt x="361188" y="178307"/>
                  </a:lnTo>
                  <a:lnTo>
                    <a:pt x="617220" y="333755"/>
                  </a:lnTo>
                  <a:lnTo>
                    <a:pt x="873252" y="178307"/>
                  </a:lnTo>
                  <a:lnTo>
                    <a:pt x="1110996" y="315467"/>
                  </a:lnTo>
                  <a:moveTo>
                    <a:pt x="13716" y="242315"/>
                  </a:moveTo>
                  <a:lnTo>
                    <a:pt x="68580" y="274319"/>
                  </a:lnTo>
                  <a:moveTo>
                    <a:pt x="1165860" y="274319"/>
                  </a:moveTo>
                  <a:lnTo>
                    <a:pt x="1220724" y="242315"/>
                  </a:lnTo>
                  <a:moveTo>
                    <a:pt x="617220" y="333755"/>
                  </a:moveTo>
                  <a:lnTo>
                    <a:pt x="617220" y="525779"/>
                  </a:lnTo>
                  <a:moveTo>
                    <a:pt x="361188" y="178307"/>
                  </a:moveTo>
                  <a:lnTo>
                    <a:pt x="361188" y="13715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310127" y="5193792"/>
              <a:ext cx="402336" cy="228600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/>
                </a:defRPr>
              </a:pPr>
              <a:r>
                <a:t>Cl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90672" y="4485131"/>
              <a:ext cx="256032" cy="237744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50" b="0">
                  <a:solidFill>
                    <a:srgbClr val="063584"/>
                  </a:solidFill>
                  <a:latin typeface="Arial"/>
                </a:defRPr>
              </a:pPr>
              <a:r>
                <a:t>H</a:t>
              </a:r>
            </a:p>
          </p:txBody>
        </p:sp>
      </p:grpSp>
      <p:grpSp>
        <p:nvGrpSpPr>
          <p:cNvPr id="61" name="Path3_AlkeneProduct"/>
          <p:cNvGrpSpPr/>
          <p:nvPr/>
        </p:nvGrpSpPr>
        <p:grpSpPr>
          <a:xfrm>
            <a:off x="4448556" y="4791354"/>
            <a:ext cx="1234439" cy="196697"/>
            <a:chOff x="4448556" y="4791354"/>
            <a:chExt cx="1234439" cy="196697"/>
          </a:xfrm>
        </p:grpSpPr>
        <p:sp>
          <p:nvSpPr>
            <p:cNvPr id="60" name="Path3_AlkeneProduct_Bonds"/>
            <p:cNvSpPr/>
            <p:nvPr/>
          </p:nvSpPr>
          <p:spPr>
            <a:xfrm>
              <a:off x="4448556" y="4791354"/>
              <a:ext cx="1234439" cy="196697"/>
            </a:xfrm>
            <a:custGeom>
              <a:avLst/>
              <a:gdLst/>
              <a:ahLst/>
              <a:cxnLst/>
              <a:rect l="0" t="0" r="r" b="b"/>
              <a:pathLst>
                <a:path w="1234439" h="196697" fill="none" stroke="1" extrusionOk="0">
                  <a:moveTo>
                    <a:pt x="123443" y="164693"/>
                  </a:moveTo>
                  <a:lnTo>
                    <a:pt x="361187" y="27533"/>
                  </a:lnTo>
                  <a:lnTo>
                    <a:pt x="617219" y="182981"/>
                  </a:lnTo>
                  <a:lnTo>
                    <a:pt x="873252" y="27533"/>
                  </a:lnTo>
                  <a:lnTo>
                    <a:pt x="1110995" y="164693"/>
                  </a:lnTo>
                  <a:moveTo>
                    <a:pt x="13715" y="91541"/>
                  </a:moveTo>
                  <a:lnTo>
                    <a:pt x="68580" y="123545"/>
                  </a:lnTo>
                  <a:moveTo>
                    <a:pt x="1165859" y="123545"/>
                  </a:moveTo>
                  <a:lnTo>
                    <a:pt x="1220724" y="91541"/>
                  </a:lnTo>
                  <a:moveTo>
                    <a:pt x="417715" y="13715"/>
                  </a:moveTo>
                  <a:lnTo>
                    <a:pt x="603402" y="126454"/>
                  </a:lnTo>
                </a:path>
              </a:pathLst>
            </a:custGeom>
            <a:noFill/>
            <a:ln w="19050">
              <a:solidFill>
                <a:srgbClr val="5662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2798064" y="4485131"/>
            <a:ext cx="27432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C00000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63" name="CircledNegativeCharge"/>
          <p:cNvSpPr/>
          <p:nvPr/>
        </p:nvSpPr>
        <p:spPr>
          <a:xfrm>
            <a:off x="2930652" y="4443984"/>
            <a:ext cx="137160" cy="137159"/>
          </a:xfrm>
          <a:custGeom>
            <a:avLst/>
            <a:gdLst/>
            <a:ahLst/>
            <a:cxnLst/>
            <a:rect l="0" t="0" r="r" b="b"/>
            <a:pathLst>
              <a:path w="137160" h="137159" fill="none" stroke="1" extrusionOk="0">
                <a:moveTo>
                  <a:pt x="123444" y="68579"/>
                </a:moveTo>
                <a:cubicBezTo>
                  <a:pt x="123444" y="98880"/>
                  <a:pt x="98880" y="123443"/>
                  <a:pt x="68580" y="123443"/>
                </a:cubicBezTo>
                <a:cubicBezTo>
                  <a:pt x="38279" y="123443"/>
                  <a:pt x="13716" y="98880"/>
                  <a:pt x="13716" y="68579"/>
                </a:cubicBezTo>
                <a:cubicBezTo>
                  <a:pt x="13716" y="38279"/>
                  <a:pt x="38279" y="13715"/>
                  <a:pt x="68580" y="13715"/>
                </a:cubicBezTo>
                <a:cubicBezTo>
                  <a:pt x="98880" y="13715"/>
                  <a:pt x="123444" y="38279"/>
                  <a:pt x="123444" y="68579"/>
                </a:cubicBezTo>
                <a:moveTo>
                  <a:pt x="40233" y="68579"/>
                </a:moveTo>
                <a:lnTo>
                  <a:pt x="96926" y="68579"/>
                </a:lnTo>
              </a:path>
            </a:pathLst>
          </a:cu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th3_BaseToBetaHydrogen"/>
          <p:cNvSpPr/>
          <p:nvPr/>
        </p:nvSpPr>
        <p:spPr>
          <a:xfrm>
            <a:off x="2976372" y="4631436"/>
            <a:ext cx="210312" cy="146303"/>
          </a:xfrm>
          <a:custGeom>
            <a:avLst/>
            <a:gdLst/>
            <a:ahLst/>
            <a:cxnLst/>
            <a:rect l="0" t="0" r="r" b="b"/>
            <a:pathLst>
              <a:path w="210312" h="146303" fill="none" stroke="1" extrusionOk="0">
                <a:moveTo>
                  <a:pt x="13716" y="13715"/>
                </a:moveTo>
                <a:cubicBezTo>
                  <a:pt x="41147" y="132587"/>
                  <a:pt x="169164" y="123443"/>
                  <a:pt x="196596" y="22859"/>
                </a:cubicBezTo>
              </a:path>
            </a:pathLst>
          </a:custGeom>
          <a:noFill/>
          <a:ln w="16510">
            <a:solidFill>
              <a:srgbClr val="C0000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th3_CHBondPairToCCBond"/>
          <p:cNvSpPr/>
          <p:nvPr/>
        </p:nvSpPr>
        <p:spPr>
          <a:xfrm>
            <a:off x="3168396" y="4686300"/>
            <a:ext cx="274320" cy="219455"/>
          </a:xfrm>
          <a:custGeom>
            <a:avLst/>
            <a:gdLst/>
            <a:ahLst/>
            <a:cxnLst/>
            <a:rect l="0" t="0" r="r" b="b"/>
            <a:pathLst>
              <a:path w="274320" h="219455" fill="none" stroke="1" extrusionOk="0">
                <a:moveTo>
                  <a:pt x="13716" y="32004"/>
                </a:moveTo>
                <a:cubicBezTo>
                  <a:pt x="169164" y="13715"/>
                  <a:pt x="260604" y="68579"/>
                  <a:pt x="160020" y="205739"/>
                </a:cubicBezTo>
              </a:path>
            </a:pathLst>
          </a:custGeom>
          <a:noFill/>
          <a:ln w="1651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th3_CClPairToChlorine"/>
          <p:cNvSpPr/>
          <p:nvPr/>
        </p:nvSpPr>
        <p:spPr>
          <a:xfrm>
            <a:off x="3442715" y="5042916"/>
            <a:ext cx="274319" cy="274319"/>
          </a:xfrm>
          <a:custGeom>
            <a:avLst/>
            <a:gdLst/>
            <a:ahLst/>
            <a:cxnLst/>
            <a:rect l="0" t="0" r="r" b="b"/>
            <a:pathLst>
              <a:path w="274319" h="274319" fill="none" stroke="1" extrusionOk="0">
                <a:moveTo>
                  <a:pt x="13716" y="32004"/>
                </a:moveTo>
                <a:cubicBezTo>
                  <a:pt x="242316" y="13715"/>
                  <a:pt x="260604" y="196595"/>
                  <a:pt x="86868" y="260604"/>
                </a:cubicBezTo>
              </a:path>
            </a:pathLst>
          </a:custGeom>
          <a:noFill/>
          <a:ln w="1651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th3_ReactionArrow"/>
          <p:cNvSpPr/>
          <p:nvPr/>
        </p:nvSpPr>
        <p:spPr>
          <a:xfrm>
            <a:off x="4082796" y="4960620"/>
            <a:ext cx="448055" cy="27432"/>
          </a:xfrm>
          <a:custGeom>
            <a:avLst/>
            <a:gdLst/>
            <a:ahLst/>
            <a:cxnLst/>
            <a:rect l="0" t="0" r="r" b="b"/>
            <a:pathLst>
              <a:path w="448055" h="27432" fill="none" stroke="1" extrusionOk="0">
                <a:moveTo>
                  <a:pt x="13715" y="13715"/>
                </a:moveTo>
                <a:lnTo>
                  <a:pt x="434339" y="13715"/>
                </a:lnTo>
              </a:path>
            </a:pathLst>
          </a:custGeom>
          <a:noFill/>
          <a:ln w="21590">
            <a:solidFill>
              <a:srgbClr val="06358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1" name="LeavingGroup_Label"/>
          <p:cNvGrpSpPr/>
          <p:nvPr/>
        </p:nvGrpSpPr>
        <p:grpSpPr>
          <a:xfrm>
            <a:off x="4050791" y="5156301"/>
            <a:ext cx="667512" cy="439827"/>
            <a:chOff x="4050791" y="5156301"/>
            <a:chExt cx="667512" cy="439827"/>
          </a:xfrm>
        </p:grpSpPr>
        <p:sp>
          <p:nvSpPr>
            <p:cNvPr id="68" name="TextBox 67"/>
            <p:cNvSpPr txBox="1"/>
            <p:nvPr/>
          </p:nvSpPr>
          <p:spPr>
            <a:xfrm>
              <a:off x="4050791" y="5175504"/>
              <a:ext cx="566928" cy="228600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320" b="0">
                  <a:solidFill>
                    <a:srgbClr val="063584"/>
                  </a:solidFill>
                  <a:latin typeface="Arial"/>
                </a:defRPr>
              </a:pPr>
              <a:r>
                <a:t>-Cl</a:t>
              </a:r>
            </a:p>
          </p:txBody>
        </p:sp>
        <p:sp>
          <p:nvSpPr>
            <p:cNvPr id="69" name="CircledNegativeCharge"/>
            <p:cNvSpPr/>
            <p:nvPr/>
          </p:nvSpPr>
          <p:spPr>
            <a:xfrm>
              <a:off x="4311396" y="5156301"/>
              <a:ext cx="137159" cy="137159"/>
            </a:xfrm>
            <a:custGeom>
              <a:avLst/>
              <a:gdLst/>
              <a:ahLst/>
              <a:cxnLst/>
              <a:rect l="0" t="0" r="r" b="b"/>
              <a:pathLst>
                <a:path w="137159" h="137159" fill="none" stroke="1" extrusionOk="0">
                  <a:moveTo>
                    <a:pt x="123443" y="68579"/>
                  </a:moveTo>
                  <a:cubicBezTo>
                    <a:pt x="123443" y="98880"/>
                    <a:pt x="98880" y="123443"/>
                    <a:pt x="68579" y="123443"/>
                  </a:cubicBezTo>
                  <a:cubicBezTo>
                    <a:pt x="38279" y="123443"/>
                    <a:pt x="13715" y="98880"/>
                    <a:pt x="13715" y="68579"/>
                  </a:cubicBezTo>
                  <a:cubicBezTo>
                    <a:pt x="13715" y="38279"/>
                    <a:pt x="38279" y="13715"/>
                    <a:pt x="68579" y="13715"/>
                  </a:cubicBezTo>
                  <a:cubicBezTo>
                    <a:pt x="98880" y="13715"/>
                    <a:pt x="123443" y="38279"/>
                    <a:pt x="123443" y="68579"/>
                  </a:cubicBezTo>
                  <a:moveTo>
                    <a:pt x="40233" y="68579"/>
                  </a:moveTo>
                  <a:lnTo>
                    <a:pt x="96926" y="68579"/>
                  </a:lnTo>
                </a:path>
              </a:pathLst>
            </a:custGeom>
            <a:noFill/>
            <a:ln w="12700">
              <a:solidFill>
                <a:srgbClr val="06358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050791" y="5376672"/>
              <a:ext cx="667512" cy="219456"/>
            </a:xfrm>
            <a:prstGeom prst="rect">
              <a:avLst/>
            </a:prstGeom>
            <a:noFill/>
          </p:spPr>
          <p:txBody>
            <a:bodyPr wrap="square" lIns="22860" rIns="22860" tIns="0" bIns="0">
              <a:spAutoFit/>
            </a:bodyPr>
            <a:lstStyle/>
            <a:p>
              <a:pPr>
                <a:spcAft>
                  <a:spcPts val="600"/>
                </a:spcAft>
                <a:defRPr sz="1280" b="0">
                  <a:solidFill>
                    <a:srgbClr val="063584"/>
                  </a:solidFill>
                  <a:latin typeface="Arial"/>
                </a:defRPr>
              </a:pPr>
              <a:r>
                <a:t>-HB</a:t>
              </a: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8193024" y="1819656"/>
            <a:ext cx="34747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63584"/>
                </a:solidFill>
                <a:latin typeface="Microsoft YaHei"/>
              </a:defRPr>
            </a:pPr>
            <a:r>
              <a:t>图中示意参考值（非位点实测值）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8174736" y="2194560"/>
          <a:ext cx="3511296" cy="1197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/>
                <a:gridCol w="2103120"/>
              </a:tblGrid>
              <a:tr h="299466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化学键</a:t>
                      </a:r>
                    </a:p>
                  </a:txBody>
                  <a:tcPr marL="91440" marR="64008" marT="64008" marB="45720">
                    <a:solidFill>
                      <a:srgbClr val="0635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键能 / kJ·mol⁻¹</a:t>
                      </a:r>
                    </a:p>
                  </a:txBody>
                  <a:tcPr marL="91440" marR="64008" marT="64008" marB="45720">
                    <a:solidFill>
                      <a:srgbClr val="063584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C–H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414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C–C</a:t>
                      </a:r>
                    </a:p>
                  </a:txBody>
                  <a:tcPr marL="91440" marR="64008" marT="64008" marB="45720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332</a:t>
                      </a:r>
                    </a:p>
                  </a:txBody>
                  <a:tcPr marL="91440" marR="64008" marT="64008" marB="45720">
                    <a:solidFill>
                      <a:srgbClr val="EDF3FF"/>
                    </a:solidFill>
                  </a:tcPr>
                </a:tc>
              </a:tr>
              <a:tr h="299466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C00000"/>
                          </a:solidFill>
                          <a:latin typeface="Microsoft YaHei"/>
                        </a:defRPr>
                      </a:pPr>
                      <a:r>
                        <a:t>C–Cl</a:t>
                      </a:r>
                    </a:p>
                  </a:txBody>
                  <a:tcPr marL="91440" marR="64008" marT="64008" marB="45720">
                    <a:solidFill>
                      <a:srgbClr val="FF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C00000"/>
                          </a:solidFill>
                          <a:latin typeface="Microsoft YaHei"/>
                        </a:defRPr>
                      </a:pPr>
                      <a:r>
                        <a:t>328</a:t>
                      </a:r>
                    </a:p>
                  </a:txBody>
                  <a:tcPr marL="91440" marR="64008" marT="64008" marB="45720">
                    <a:solidFill>
                      <a:srgbClr val="FFF1F1"/>
                    </a:solidFill>
                  </a:tcPr>
                </a:tc>
              </a:tr>
            </a:tbl>
          </a:graphicData>
        </a:graphic>
      </p:graphicFrame>
      <p:sp>
        <p:nvSpPr>
          <p:cNvPr id="74" name="Rounded Rectangle 73"/>
          <p:cNvSpPr/>
          <p:nvPr/>
        </p:nvSpPr>
        <p:spPr>
          <a:xfrm>
            <a:off x="8174736" y="3602736"/>
            <a:ext cx="3511296" cy="106070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02752" y="3721608"/>
            <a:ext cx="3246120" cy="8412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40" b="0">
                <a:solidFill>
                  <a:srgbClr val="063584"/>
                </a:solidFill>
                <a:latin typeface="Microsoft YaHei"/>
              </a:defRPr>
            </a:pPr>
            <a:r>
              <a:t>• C–Cl 与 C–C 的图示值接近，具体值随结构改变。</a:t>
            </a:r>
          </a:p>
          <a:p>
            <a:pPr>
              <a:spcAft>
                <a:spcPts val="600"/>
              </a:spcAft>
              <a:defRPr sz="1240" b="0">
                <a:solidFill>
                  <a:srgbClr val="063584"/>
                </a:solidFill>
                <a:latin typeface="Microsoft YaHei"/>
              </a:defRPr>
            </a:pPr>
            <a:r>
              <a:t>• 光解还取决于吸收及激发态，不能只看键能。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4773168"/>
            <a:ext cx="338328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数值沿用用户图，原始来源待核；</a:t>
            </a:r>
          </a:p>
          <a:p>
            <a:pPr>
              <a:spcAft>
                <a:spcPts val="6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不代表 PVC 各含氯位点的实测 BDE。</a:t>
            </a:r>
          </a:p>
        </p:txBody>
      </p:sp>
      <p:sp>
        <p:nvSpPr>
          <p:cNvPr id="77" name="Freeform 76"/>
          <p:cNvSpPr/>
          <p:nvPr/>
        </p:nvSpPr>
        <p:spPr>
          <a:xfrm>
            <a:off x="8467344" y="5212080"/>
            <a:ext cx="2359152" cy="109728"/>
          </a:xfrm>
          <a:custGeom>
            <a:avLst/>
            <a:gdLst/>
            <a:ahLst/>
            <a:cxnLst/>
            <a:rect l="l" t="t" r="r" b="b"/>
            <a:pathLst>
              <a:path w="2359152" h="109728">
                <a:moveTo>
                  <a:pt x="0" y="0"/>
                </a:moveTo>
                <a:lnTo>
                  <a:pt x="393192" y="109728"/>
                </a:lnTo>
                <a:lnTo>
                  <a:pt x="786384" y="0"/>
                </a:lnTo>
                <a:lnTo>
                  <a:pt x="1179576" y="109728"/>
                </a:lnTo>
                <a:lnTo>
                  <a:pt x="1572768" y="0"/>
                </a:lnTo>
                <a:lnTo>
                  <a:pt x="1965960" y="109728"/>
                </a:lnTo>
                <a:lnTo>
                  <a:pt x="2359152" y="0"/>
                </a:lnTo>
              </a:path>
            </a:pathLst>
          </a:custGeom>
          <a:noFill/>
          <a:ln w="20320">
            <a:solidFill>
              <a:srgbClr val="5662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8860536" y="5321808"/>
            <a:ext cx="0" cy="173736"/>
          </a:xfrm>
          <a:prstGeom prst="line">
            <a:avLst/>
          </a:prstGeom>
          <a:ln w="1397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759952" y="551383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646920" y="5321808"/>
            <a:ext cx="0" cy="173736"/>
          </a:xfrm>
          <a:prstGeom prst="line">
            <a:avLst/>
          </a:prstGeom>
          <a:ln w="1397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546336" y="551383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433304" y="5321808"/>
            <a:ext cx="0" cy="173736"/>
          </a:xfrm>
          <a:prstGeom prst="line">
            <a:avLst/>
          </a:prstGeom>
          <a:ln w="13970">
            <a:solidFill>
              <a:srgbClr val="5662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332720" y="5513832"/>
            <a:ext cx="292608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063584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85048" y="5669280"/>
            <a:ext cx="3200400" cy="1920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63584"/>
                </a:solidFill>
                <a:latin typeface="Microsoft YaHei"/>
              </a:defRPr>
            </a:pPr>
            <a:r>
              <a:t>PVC 链结构示意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evron 85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研究思路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48840" y="6099048"/>
            <a:ext cx="9445752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Microsoft YaHei"/>
              </a:defRPr>
            </a:pPr>
            <a:r>
              <a:t>重点检验可能产生 Cl· 的自由基支路，并以物种与链长证据关联氧化和断链。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