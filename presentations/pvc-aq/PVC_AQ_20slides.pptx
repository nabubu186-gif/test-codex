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已记录转化率 (%)</c:v>
                </c:pt>
              </c:strCache>
            </c:strRef>
          </c:tx>
          <c:spPr>
            <a:solidFill>
              <a:srgbClr val="197E7B"/>
            </a:solidFill>
          </c:spPr>
          <c:cat>
            <c:strRef>
              <c:f>Sheet1!$A$2:$A$5</c:f>
              <c:strCache>
                <c:ptCount val="4"/>
                <c:pt idx="0">
                  <c:v>O₂</c:v>
                </c:pt>
                <c:pt idx="1">
                  <c:v>O₂鼓泡</c:v>
                </c:pt>
                <c:pt idx="2">
                  <c:v>N₂</c:v>
                </c:pt>
                <c:pt idx="3">
                  <c:v>空气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87.6</c:v>
                </c:pt>
                <c:pt idx="1">
                  <c:v>82.8</c:v>
                </c:pt>
                <c:pt idx="2">
                  <c:v>73.8</c:v>
                </c:pt>
                <c:pt idx="3">
                  <c:v>76.6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5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各位老师好，本次汇报围绕乙基蒽醌参与的 PVC 光化学转化展开。目前课题仍在探索阶段，已有氯代烷烃模型反应和 PVC 初步红外表征，还没有建立得到充分验证的降解体系。我会先说明选择光化学和蒽醌体系的理由，再重点讨论模型反应中可能的溶剂竞争以及 PVC 表征的证据边界，最后提出可以逐步证伪的机理与实验方案。封面只采用明确的 PVC 重复单元；乙基蒽醌的取代位置尚未提供，因此不补画未经确认的具体异构体结构。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PVC 的特殊性来自其重复单元中的氯。研究回收时，不能只问材料是否变色或是否出现新峰，而应分别回答氯去了哪里、碳链是否变短，以及最终获得什么产物。热处理可能伴随 HCl 释放与复杂副反应，这为温和光化学提供了研究动机，但并不意味着光照天然更高效或更绿色，仍需实测能耗与物料平衡。后面的实验都将围绕脱氯、断链和产物三条证据线展开。Xu 等人在 Nature Reviews Methods Primers 2023 年的综述梳理了脱氯、裂解、功能化及溶剂加工等路径，支持将氯与碳骨架转化分开讨论，而不是预设单一路线最好。</a:t>
            </a:r>
          </a:p>
          <a:p/>
          <a:p>
            <a:r>
              <a:t>文献与来源：[1] Xu et al., Nat. Rev. Methods Primers 2023, 3, 44. DOI: 10.1038/s43586-023-00227-w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这一页给出后续讨论的判断框架。脱氯、氧化、交联和主链断裂可能同时发生，但并不是同一件事。比如红外中出现含氧官能团可以支持结构变化，却不能直接说明链长变短；不溶物增加还可能意味着交联。SEC 或 GPC 也要考虑溶解和取样偏差，不能只测可溶部分而忽略凝胶。因此，我们需要能相互约束的多种测量，而不是依赖一个漂亮的谱图。接下来先看自由基过程为什么值得研究，以及如何用外加光敏组分对它进行调控。</a:t>
            </a:r>
          </a:p>
          <a:p/>
          <a:p>
            <a:r>
              <a:t>文献与来源：[1] Xu 2023; [3] Huang &amp; Wang, J. Polym. Sci. 2024, 62, 969–997. DOI: 10.1002/pol.20230322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Gardette、Gaumet 和 Lemaire 的论文确实是 1989 年 Macromolecules 第22卷2576至2581页。作者在空气中以大于300纳米的光照射 PVC 薄膜，温度为60摄氏度，并结合红外去卷积、氨、胺、碱和水解等处理辨认氧化产物。图中是原文 Fig. 3，不是我们的实验结果。羧酸、酰氯和氯代酮等归属并非只依据一条峰，而是通过处理前后响应约束。论文提出自由基氧化及裂解图景，也讨论氯原子可能从局部环境逸出，但该讨论不能转述为已经在我们的 EAQ/DCE 体系直接测得 Cl·。它对本课题最重要的方法学启发，是让多个独立测量共同约束官能团和反应路径。</a:t>
            </a:r>
          </a:p>
          <a:p/>
          <a:p>
            <a:r>
              <a:t>文献与来源：[2] Gardette et al., Macromolecules 1989, 22, 2576–2581. DOI: 10.1021/ma00196a005; Fig.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上传的 Chen 等人2024年综述提供了明确的光化学依据：适当光照使 AQ 经激发和系间窜越到三重态，并可能通过电子转移或能量转移参与氧相关反应。综述第3.1.1节进一步讨论2-乙基蒽醌在供氢体和氧存在下生成过氧化氢的研究。这里展示的是综述 Fig. 2b 中转引的机理图，其原始来源为 Xu、Liang 和 Chen 2016 年的研究；我们没有获得该原始论文全文，所以不把综述转引当作已直接审阅原文。这个先例支持对激发态、供氢体和氧进行实验考察，但绝不能证明我们的乙基蒽醌已在 DCE 中生成相同物种。实际试剂的乙基位置也要以瓶签或产品信息确认。</a:t>
            </a:r>
          </a:p>
          <a:p/>
          <a:p>
            <a:r>
              <a:t>文献与来源：[4] Chen et al., Environ. Sci. Ecotechnol. 2024, 22, 100449. DOI: 10.1016/j.ese.2024.100449; Fig. 2b.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AQ综述给出的是一组可能的光化学反应，而不是一个对所有溶剂都适用的循环。第一条分支是氢原子或电子转移，可能涉及供氢体、底物和溶剂；第二条是能量转移及单线态氧；第三条是还原态 AQ 与氧反应。这里把一般激发过程用实线表示，把本体系待证实的分支用虚线表示。综述中有2-乙基蒽醌的过氧化氢先例，但还需要在当前体系中实际测量 H₂O₂ 并排除试剂和分析干扰。AQ再生也不能默认成立。综述还讨论水相卤离子的光化学，这与有机氯共价键的裂解不同，不能把 Cl⁻ 的反应直接等同于 PVC 或 DCE 的 C–Cl 活化。</a:t>
            </a:r>
          </a:p>
          <a:p/>
          <a:p>
            <a:r>
              <a:t>文献与来源：[4] Chen 2024, §2.1–2.4, §3.1.1. 图中虚线为本体系假说，并非实测机制。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Qin等人在 Applied Catalysis B 2024年341卷123355中研究了碳点包埋Zr-MOF的PVC光转化。实验节2.5写明使用水相、300瓦氙灯和室温水浴；正文另说明PVC先经100摄氏度2小时热处理，因此不能将它描述成与我们的体系完全相同。图中分别为原文Fig. 3c和3f，提供氯离子和捕获对照。正文第6页报告60小时GPC数均分子量由22000降至528，但原始GPC图在SI Fig. S14，当前没有SI，不能声称已检查那张曲线。Fig. 4c,d有DMPO自旋捕获ESR，作者将活性归因于ROS相关路径。这个案例启发我们建立正交证据，却不能支持EAQ/DCE中的Cl·结论。新补充的PS/CH₂Cl₂论文将在下一页独立呈现；两个体系不得混同。</a:t>
            </a:r>
          </a:p>
          <a:p/>
          <a:p>
            <a:r>
              <a:t>文献与来源：[5] Qin et al., Appl. Catal. B: Environ. 2024, 341, 123355. DOI: 10.1016/j.apcatb.2023.123355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补充的Su等人论文已核对首页题名、作者、年份及DOI，题为Photocracking of Polystyrene into Aromatic Products in CH2Cl2，Angewandte Chemie International Edition 2026，e5578835。标准反应采用10毫克PS、4毫升二氯甲烷、365纳米LED、1巴氧气以及30正负5摄氏度，无需外加光催化剂。图中是原文Fig. 5A、B的PBN捕获EPR及作者拟合，作者根据PBN–Cl·等归属与化学捕获证据支持氯自由基参与。正文还报告GPC变化及含氧中间体增强吸光，并提出Fig. 5J所示的自加速过程；机制图仍应称为作者提出的路径。最大15.9微摩尔每小时对应优化放大条件，不与标准10毫克体系混写。本课题采用DCE和乙基蒽醌，底物最终是PVC，因此不能直接继承其物种或机理。最直接的启发是补做无底物、无AQ与溶剂配对对照，排除含氯介质自身反应。</a:t>
            </a:r>
          </a:p>
          <a:p/>
          <a:p>
            <a:r>
              <a:t>文献与来源：[6] Su et al., Angew. Chem. Int. Ed. 2026, e5578835. DOI: 10.1002/anie.5578835; Fig. 5A–C,J.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由简单到复杂的设计有两个目的：首先让反应产物更容易解析，其次逐步增加与真实聚合物相关的结构复杂性。氯代烷烃可以帮助研究局部 C–Cl 和 C–H 化学，但模型有效与否要由实验决定。氯代石蜡增加了多位点反应和复杂结构，最后才进入 PVC 的长链和聚集态问题。不能因为模型没有得到目标产物，就直接判定 PVC 路线无效；也不能因为 PVC 的红外改变，就反过来宣称模型机理已经成立。</a:t>
            </a:r>
          </a:p>
          <a:p/>
          <a:p>
            <a:r>
              <a:t>文献与来源：研究路线为本课题方案；局部模型与聚合物光化学差异参见 [3] Huang &amp; Wang 2024。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这里展示实际使用的装置和记录条件。底物是 2-氯戊烷，使用乙基蒽醌、4 毫升二氯乙烷和 365 纳米光源，反应时间 6 小时，比较不同气氛。乙基蒽醌浓度按原记录为 5 毫克每毫升，没有额外推算或补写催化剂实际总量。温度、光功率、氧气流量和分析步骤还未提供，后续复现实验需要补全这些信息。特别是底物转化率的计算基准，必须在讨论机制之前先确认。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四个气氛条件下原稿记录了较高转化率，但这里刻意使用“已记录”这一表述。我们还没有 GC 或 GC-MS 原始文件、内标和校准信息，因此不能把这些数字直接解释为 2-氯戊烷真实发生了预期转化。图中不添加误差线，因为没有平行次数和标准差信息。原稿列出的二氯戊烷、四氯丁烷和氯乙酸等只能作为待核对的归属，不能直接画成确定产物结构。尤其需要排除溶剂产物和峰重叠，再建立底物消耗与产物生成的对应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目前最值得追问的现象，是溶剂似乎比目标底物更明显地参与反应。这不是一个需要掩盖的异常，而是用来理解体系的重要入口。首先做无底物的 DCE 空白，看看同样的产物是否出现；其次核对底物峰和候选产物的标准品及碎片；第三，在控制光吸收、浓度和溶解性的条件下比较溶剂。乙腈中没有观察到相同产物，只能说明现有检测条件下存在差异，不能单独证明某个机制，也不能直接解释成零转化。</a:t>
            </a:r>
          </a:p>
          <a:p/>
          <a:p>
            <a:r>
              <a:t>文献与来源：用户补充材料与实验记录；表中解释均为本课题假说，非已证实文献结论。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图中是原稿的真实 FTIR 图片，没有重新生成或修改任何曲线。12 小时和 24 小时样品的羟基及 C–H 区域存在差异，但这些差异还受到样品厚度、基线、归一化和残留水分的影响。当前也没有同批反应前 PVC 的原始谱图，不能将某个峰的衰减直接归因于链断裂。后续应以相同取样和处理方式补齐空白与时间序列，再结合 SEC、氯平衡和产物分析。这里把证据限定在官能团变化层面，而不报告未测得的降解率。</a:t>
            </a:r>
          </a:p>
          <a:p/>
          <a:p>
            <a:r>
              <a:t>文献与来源：原始谱图：用户2026.10.17.pptx第9页；官能团鉴别方法参见 [2] Gardette 1989。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2-氯戊烷与 PVC 共享局部氯代碳结构，但长链环境、连续位点和物理状态都不同。PVC 的缺陷、添加剂和不饱和结构也可能影响光吸收，所以模型结果和聚合物结果不一致，并不一定矛盾。还要注意，365 纳米光子的能量不能脱离吸收概率和激发态过程来解释断键。即使某个键能小于光子能量，也不意味着这条键在实验中就直接光解。我们需要 UV–Vis 和波长对照，并结合反应中间体证据判断真正的激发与活化路径。</a:t>
            </a:r>
          </a:p>
          <a:p/>
          <a:p>
            <a:r>
              <a:t>文献与来源：[3] Huang &amp; Wang 2024, §3.1.4; [4] Chen 2024, §2.1–2.3。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明确分开三种证据等级。绿色的P自由基与氧形成过氧自由基以及后续氧化路径，是Gardette研究讨论的文献一般过程，并不表示我们的PVC样品已经检出这些中间体。橙色虚线是当前EAQ、DCE、氧和PVC之间的待验证联系。Cl·的来源与作用单列支路，既不由氯离子释放直接推出，也不由FTIR推出。左下角仅列现有模型分析记录和FTIR变化，避免把这些现象画成机制已成立的证据。接下来实验应优先证明引发环节和真实产物，再判断氧化是否伴随链长下降及AQ再生。</a:t>
            </a:r>
          </a:p>
          <a:p/>
          <a:p>
            <a:r>
              <a:t>文献与来源：[2] Gardette 1989（PVC一般氧化路径）；[4] Chen 2024（AQ光化学）；本体系虚线路径待证。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组实验旨在分离必要条件。无底物实验尤其重要，因为它直接检验当前信号是不是来自溶剂。更换非氯溶剂时，需要同时检查溶解性和吸收，否则结果差异不能全部归因于氯。气氛对照应记录进气和反应条件，避免把传质效应解释为某类活性物种。波长和不同 AQ 的比较则要考虑实际光通量与吸光变化。上述实验应以定量的底物和产物数据为核心，而不是只记录是否出现某个峰。</a:t>
            </a:r>
          </a:p>
          <a:p/>
          <a:p>
            <a:r>
              <a:t>文献与来源：验证实验为本课题建议；光化学与介质效应背景 [3,4]，对照案例 [5]。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第二组实验针对核心机制证据。EPR 自旋捕获可以提供自由基信息，但捕获剂本身可能改变反应，因此要结合暗反应、无 AQ 和溶剂空白。GC-MS 需要标准品及定量校准，复杂氯代产物不能仅靠谱库分数给出确定结构。氯平衡要把不同相和回收损失纳入考虑。对 PVC 而言，SEC 或 GPC 是判断链长的重要手段，但只分析可溶部分会引入偏差，所以还要报告凝胶或不溶组分。只有这些结果相互约束，才能逐渐建立可接受的机理。</a:t>
            </a:r>
          </a:p>
          <a:p/>
          <a:p>
            <a:r>
              <a:t>文献与来源：验证实验为本课题建议；参照 [2] 官能团鉴别及 [5] Cl⁻、GPC、HPLC、ESR证据链。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目前最重要的成果是形成了可以追问的实验线索，而不是已经证明 PVC 高效降解。下一阶段首先核查模型反应，尤其是色谱、内标和 DCE 空白；之后再优化 2-氯己烷等底物。这里特意区分前期使用的 2-氯戊烷和后续计划中的 2-氯己烷，避免混写。只有简单体系的底物与产物关系清楚，才有意义拓展到氯代石蜡和 PVC。最终要用中间体、氯去向和链长变化来回答谁真正推动了反应，也允许实验否定原先提出的某些路径。</a:t>
            </a:r>
          </a:p>
          <a:p/>
          <a:p>
            <a:r>
              <a:t>文献与来源：本课题优先级方案；“已观察”“待验证”“文献一般过程”分级，不新增实验结果。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六篇文献是已上传资料中可直接阅读的全文来源。第一篇支持含氯塑料升级利用的路径框架，第二篇提供经典PVC光氧化产物鉴别及机理讨论，第三篇支持聚合物结构、缺陷、交联和光化学效应的讨论，第四篇提供AQ激发态和ROS等性质的综述依据，第五篇提供PVC光催化的实验及证据链案例。Huang论文文件名写2023，但正式卷期为2024年62卷969至997页，已按正式卷期统一。参考文献的DOI均提供跳转链接；Gardette条目的DOI与用户配套PPT和文件标识对应，其余四篇首页直接列出DOI。新增第六篇Su等人的PS/二氯甲烷原始研究，已核对题名、作者、年份和DOI；AQ专门原始研究仍仅有综述转引，不能声称已取得其全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以上是本次汇报。当前最希望获得讨论的是：在已有模型数据与 PVC 红外结果的基础上，应该优先选择哪些实验，才能最大程度地区分底物反应与溶剂副反应，并判断聚合物是否真正断链。我计划先完成分析方法和空白对照，再逐步推进活性物种与聚合物证据链。请各位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038/s43586-023-00227-w" TargetMode="External"/><Relationship Id="rId3" Type="http://schemas.openxmlformats.org/officeDocument/2006/relationships/hyperlink" Target="https://doi.org/10.1021/ma00196a005" TargetMode="External"/><Relationship Id="rId4" Type="http://schemas.openxmlformats.org/officeDocument/2006/relationships/hyperlink" Target="https://doi.org/10.1002/pol.20230322" TargetMode="External"/><Relationship Id="rId5" Type="http://schemas.openxmlformats.org/officeDocument/2006/relationships/hyperlink" Target="https://doi.org/10.1016/j.ese.2024.100449" TargetMode="External"/><Relationship Id="rId6" Type="http://schemas.openxmlformats.org/officeDocument/2006/relationships/hyperlink" Target="https://doi.org/10.1016/j.apcatb.2023.123355" TargetMode="External"/><Relationship Id="rId7" Type="http://schemas.openxmlformats.org/officeDocument/2006/relationships/hyperlink" Target="https://doi.org/10.1002/anie.5578835" TargetMode="External"/><Relationship Id="rId8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0312"/>
            <a:ext cx="914400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97E7B"/>
                </a:solidFill>
                <a:latin typeface="Microsoft YaHei"/>
              </a:defRPr>
            </a:pPr>
            <a:r>
              <a:t>RESEARCH GROUP MEETING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301984" cy="6583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3440"/>
                </a:solidFill>
                <a:latin typeface="Microsoft YaHei"/>
              </a:defRPr>
            </a:pPr>
            <a:r>
              <a:t>蒽醌参与的 PVC 光化学转化与降解机制探索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6419088"/>
            <a:ext cx="11265408" cy="0"/>
          </a:xfrm>
          <a:prstGeom prst="line">
            <a:avLst/>
          </a:prstGeom>
          <a:ln w="10160">
            <a:solidFill>
              <a:srgbClr val="E5EC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92240"/>
            <a:ext cx="10789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7A"/>
                </a:solidFill>
                <a:latin typeface="Microsoft YaHei"/>
              </a:defRPr>
            </a:pPr>
            <a:r>
              <a:t>二氯甲烷补充版｜6篇上传论文为主要依据｜实验数据按原稿保留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97E7B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789920" cy="5486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97E7B"/>
                </a:solidFill>
                <a:latin typeface="Microsoft YaHei"/>
              </a:defRPr>
            </a:pPr>
            <a:r>
              <a:t>基于自由基反应的模型分子研究与初步实验探索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5303520" cy="6858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03440"/>
                </a:solidFill>
                <a:latin typeface="Microsoft YaHei"/>
              </a:defRPr>
            </a:pPr>
            <a:r>
              <a:t>[–CH₂–CH(Cl)–]ₙ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66160"/>
            <a:ext cx="5303520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1717A"/>
                </a:solidFill>
                <a:latin typeface="Microsoft YaHei"/>
              </a:defRPr>
            </a:pPr>
            <a:r>
              <a:t>PVC：含氯聚合物主链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788920"/>
            <a:ext cx="521208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97E7B"/>
                </a:solidFill>
                <a:latin typeface="Microsoft YaHei"/>
              </a:defRPr>
            </a:pPr>
            <a:r>
              <a:t>乙基蒽醌  +  hν  +  O₂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3703320"/>
            <a:ext cx="4983480" cy="0"/>
          </a:xfrm>
          <a:prstGeom prst="line">
            <a:avLst/>
          </a:prstGeom>
          <a:ln w="19050">
            <a:solidFill>
              <a:srgbClr val="197E7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0" y="3977639"/>
            <a:ext cx="5212080" cy="7315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203440"/>
                </a:solidFill>
                <a:latin typeface="Microsoft YaHei"/>
              </a:defRPr>
            </a:pPr>
            <a:r>
              <a:t>脱氯？氧化？主链断裂？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83480"/>
            <a:ext cx="10698480" cy="4114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1717A"/>
                </a:solidFill>
                <a:latin typeface="Microsoft YaHei"/>
              </a:defRPr>
            </a:pPr>
            <a:r>
              <a:t>报告人：佟可心  ｜  指导教师：孙再成 教授 / 李鹏飞 博士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04688"/>
            <a:ext cx="10698480" cy="3657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1717A"/>
                </a:solidFill>
                <a:latin typeface="Microsoft YaHei"/>
              </a:defRPr>
            </a:pPr>
            <a:r>
              <a:t>2026年10月17日  ·  课题探索阶段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0312"/>
            <a:ext cx="914400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97E7B"/>
                </a:solidFill>
                <a:latin typeface="Microsoft YaHei"/>
              </a:defRPr>
            </a:pPr>
            <a:r>
              <a:t>01 /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301984" cy="6583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3440"/>
                </a:solidFill>
                <a:latin typeface="Microsoft YaHei"/>
              </a:defRPr>
            </a:pPr>
            <a:r>
              <a:t>PVC 的含氯结构，使回收问题首先成为化学选择性问题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44752"/>
            <a:ext cx="1115568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1717A"/>
                </a:solidFill>
                <a:latin typeface="Microsoft YaHei"/>
              </a:defRPr>
            </a:pPr>
            <a:r>
              <a:t>需要区分脱氯、主链断裂与资源化；Xu 2023 梳理了裂解、功能化和溶剂加工等路径。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65408" cy="0"/>
          </a:xfrm>
          <a:prstGeom prst="line">
            <a:avLst/>
          </a:prstGeom>
          <a:ln w="10160">
            <a:solidFill>
              <a:srgbClr val="E5EC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92240"/>
            <a:ext cx="10789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1717A"/>
                </a:solidFill>
                <a:latin typeface="Microsoft YaHei"/>
              </a:defRPr>
            </a:pPr>
            <a:r>
              <a:t>[1] Xu et al., Nat. Rev. Methods Primers 2023, 3, 44. DOI: 10.1038/s43586-023-00227-w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97E7B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4937760" cy="6858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03440"/>
                </a:solidFill>
                <a:latin typeface="Microsoft YaHei"/>
              </a:defRPr>
            </a:pPr>
            <a:r>
              <a:t>[–CH₂–CH(Cl)–]ₙ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08960"/>
            <a:ext cx="4937760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1717A"/>
                </a:solidFill>
                <a:latin typeface="Microsoft YaHei"/>
              </a:defRPr>
            </a:pPr>
            <a:r>
              <a:t>PVC：含氯聚合物主链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2240280"/>
            <a:ext cx="544068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89320" y="2240280"/>
            <a:ext cx="5440680" cy="0"/>
          </a:xfrm>
          <a:prstGeom prst="line">
            <a:avLst/>
          </a:prstGeom>
          <a:ln w="25400">
            <a:solidFill>
              <a:srgbClr val="197E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08192" y="2368296"/>
            <a:ext cx="5202936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97E7B"/>
                </a:solidFill>
                <a:latin typeface="Microsoft YaHei"/>
              </a:defRPr>
            </a:pPr>
            <a:r>
              <a:t>脱氯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2953512"/>
            <a:ext cx="5202936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3440"/>
                </a:solidFill>
                <a:latin typeface="Microsoft YaHei"/>
              </a:defRPr>
            </a:pPr>
            <a:r>
              <a:t>改变氯的化学形态，不自动意味着链变短。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3639312"/>
            <a:ext cx="544068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989320" y="3639312"/>
            <a:ext cx="5440680" cy="0"/>
          </a:xfrm>
          <a:prstGeom prst="line">
            <a:avLst/>
          </a:prstGeom>
          <a:ln w="25400">
            <a:solidFill>
              <a:srgbClr val="197E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08192" y="3767328"/>
            <a:ext cx="5202936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97E7B"/>
                </a:solidFill>
                <a:latin typeface="Microsoft YaHei"/>
              </a:defRPr>
            </a:pPr>
            <a:r>
              <a:t>主链断裂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4352544"/>
            <a:ext cx="5202936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3440"/>
                </a:solidFill>
                <a:latin typeface="Microsoft YaHei"/>
              </a:defRPr>
            </a:pPr>
            <a:r>
              <a:t>需要分子量分布或可识别断链产物的证据。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977639"/>
            <a:ext cx="4892040" cy="11430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03440"/>
                </a:solidFill>
                <a:latin typeface="Microsoft YaHei"/>
              </a:defRPr>
            </a:pPr>
            <a:r>
              <a:t>热处理：HCl 释放及复杂副反应</a:t>
            </a:r>
          </a:p>
          <a:p>
            <a:pPr>
              <a:spcAft>
                <a:spcPts val="800"/>
              </a:spcAft>
              <a:defRPr sz="2000" b="0">
                <a:solidFill>
                  <a:srgbClr val="203440"/>
                </a:solidFill>
                <a:latin typeface="Microsoft YaHei"/>
              </a:defRPr>
            </a:pPr>
            <a:r>
              <a:t>光化学：探索温和条件下的反应启动与控制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779008"/>
            <a:ext cx="50292" cy="420624"/>
          </a:xfrm>
          <a:prstGeom prst="rect">
            <a:avLst/>
          </a:prstGeom>
          <a:solidFill>
            <a:srgbClr val="197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779008"/>
            <a:ext cx="11018520" cy="43891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97E7B"/>
                </a:solidFill>
                <a:latin typeface="Microsoft YaHei"/>
              </a:defRPr>
            </a:pPr>
            <a:r>
              <a:t>研究价值：在可追踪的氯去向与碳骨架变化之间建立联系。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0312"/>
            <a:ext cx="914400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97E7B"/>
                </a:solidFill>
                <a:latin typeface="Microsoft YaHei"/>
              </a:defRPr>
            </a:pPr>
            <a:r>
              <a:t>01 / SCIENTIFIC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301984" cy="6583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3440"/>
                </a:solidFill>
                <a:latin typeface="Microsoft YaHei"/>
              </a:defRPr>
            </a:pPr>
            <a:r>
              <a:t>四种结构变化必须分开判断，不能用单一信号代替降解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44752"/>
            <a:ext cx="1115568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1717A"/>
                </a:solidFill>
                <a:latin typeface="Microsoft YaHei"/>
              </a:defRPr>
            </a:pPr>
            <a:r>
              <a:t>本次汇报路线：文献启发 → AQ 研究策略 → 前期实验 → 机理与验证。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65408" cy="0"/>
          </a:xfrm>
          <a:prstGeom prst="line">
            <a:avLst/>
          </a:prstGeom>
          <a:ln w="10160">
            <a:solidFill>
              <a:srgbClr val="E5EC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92240"/>
            <a:ext cx="10789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1717A"/>
                </a:solidFill>
                <a:latin typeface="Microsoft YaHei"/>
              </a:defRPr>
            </a:pPr>
            <a:r>
              <a:t>[1] Xu 2023; [3] Huang &amp; Wang, J. Polym. Sci. 2024, 62, 969–997. DOI: 10.1002/pol.20230322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97E7B"/>
                </a:solidFill>
                <a:latin typeface="Microsoft YaHei"/>
              </a:defRPr>
            </a:pPr>
            <a:r>
              <a:t>03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286000"/>
          <a:ext cx="11064239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749039"/>
                <a:gridCol w="5212080"/>
              </a:tblGrid>
              <a:tr h="61264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反应类型</a:t>
                      </a:r>
                    </a:p>
                  </a:txBody>
                  <a:tcPr marL="109728" marR="82296" marT="91440" marB="64008">
                    <a:solidFill>
                      <a:srgbClr val="20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需要识别的变化</a:t>
                      </a:r>
                    </a:p>
                  </a:txBody>
                  <a:tcPr marL="109728" marR="82296" marT="91440" marB="64008">
                    <a:solidFill>
                      <a:srgbClr val="20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适合的证据</a:t>
                      </a:r>
                    </a:p>
                  </a:txBody>
                  <a:tcPr marL="109728" marR="82296" marT="91440" marB="64008">
                    <a:solidFill>
                      <a:srgbClr val="20344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脱 HCl / 脱氯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含氯结构及不饱和结构变化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氯离子、总氯、NMR / XPS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氧化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生成含氧官能团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FTIR、NMR、产物分析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交联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链间连接、凝胶形成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凝胶分数、溶解性及流变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主链断裂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聚合物链长降低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SEC/GPC 及可溶/不溶组分平衡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779008"/>
            <a:ext cx="50292" cy="420624"/>
          </a:xfrm>
          <a:prstGeom prst="rect">
            <a:avLst/>
          </a:prstGeom>
          <a:solidFill>
            <a:srgbClr val="197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5779008"/>
            <a:ext cx="11018520" cy="43891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97E7B"/>
                </a:solidFill>
                <a:latin typeface="Microsoft YaHei"/>
              </a:defRPr>
            </a:pPr>
            <a:r>
              <a:t>核心问题：如何启动自由基反应，并判断它最终指向断链还是副反应？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0312"/>
            <a:ext cx="914400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97E7B"/>
                </a:solidFill>
                <a:latin typeface="Microsoft YaHei"/>
              </a:defRPr>
            </a:pPr>
            <a:r>
              <a:t>02 / LITERATURE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301984" cy="6583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3440"/>
                </a:solidFill>
                <a:latin typeface="Microsoft YaHei"/>
              </a:defRPr>
            </a:pPr>
            <a:r>
              <a:t>PVC 光氧化的自由基路径，有化学鉴别证据而非仅凭峰变化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44752"/>
            <a:ext cx="1115568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1717A"/>
                </a:solidFill>
                <a:latin typeface="Microsoft YaHei"/>
              </a:defRPr>
            </a:pPr>
            <a:r>
              <a:t>Gardette 1989：PVC薄膜、空气、λ &gt; 300 nm、60 °C；FTIR + 去卷积 + 化学处理。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65408" cy="0"/>
          </a:xfrm>
          <a:prstGeom prst="line">
            <a:avLst/>
          </a:prstGeom>
          <a:ln w="10160">
            <a:solidFill>
              <a:srgbClr val="E5EC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92240"/>
            <a:ext cx="10789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1717A"/>
                </a:solidFill>
                <a:latin typeface="Microsoft YaHei"/>
              </a:defRPr>
            </a:pPr>
            <a:r>
              <a:t>[2] Gardette et al., Macromolecules 1989, 22, 2576–2581. DOI: 10.1021/ma00196a005; Fig. 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97E7B"/>
                </a:solidFill>
                <a:latin typeface="Microsoft YaHei"/>
              </a:defRPr>
            </a:pPr>
            <a:r>
              <a:t>04</a:t>
            </a:r>
          </a:p>
        </p:txBody>
      </p:sp>
      <p:pic>
        <p:nvPicPr>
          <p:cNvPr id="8" name="Picture 7" descr="gardette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510" y="2084831"/>
            <a:ext cx="3734659" cy="3401568"/>
          </a:xfrm>
          <a:prstGeom prst="rect">
            <a:avLst/>
          </a:prstGeom>
          <a:effectLst/>
        </p:spPr>
      </p:pic>
      <p:sp>
        <p:nvSpPr>
          <p:cNvPr id="9" name="TextBox 8"/>
          <p:cNvSpPr txBox="1"/>
          <p:nvPr/>
        </p:nvSpPr>
        <p:spPr>
          <a:xfrm>
            <a:off x="640080" y="5541264"/>
            <a:ext cx="539496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7A"/>
                </a:solidFill>
                <a:latin typeface="Microsoft YaHei"/>
              </a:defRPr>
            </a:pPr>
            <a:r>
              <a:t>原文 Fig. 3：光氧化后 NH₃ 处理的谱图响应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97E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2194560"/>
            <a:ext cx="4818888" cy="94183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03440"/>
                </a:solidFill>
                <a:latin typeface="Microsoft YaHei"/>
              </a:defRPr>
            </a:pPr>
            <a:r>
              <a:t>辨认氢过氧化物、氯代酮、酰氯和羧酸等氧化产物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18688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97E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3218688"/>
            <a:ext cx="4818888" cy="94183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03440"/>
                </a:solidFill>
                <a:latin typeface="Microsoft YaHei"/>
              </a:defRPr>
            </a:pPr>
            <a:r>
              <a:t>提出碳自由基 → 过氧自由基 → 烷氧自由基及裂解路径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242816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97E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4242816"/>
            <a:ext cx="4818888" cy="94183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03440"/>
                </a:solidFill>
                <a:latin typeface="Microsoft YaHei"/>
              </a:defRPr>
            </a:pPr>
            <a:r>
              <a:t>Cl 原子逸出是文中机制讨论，不能当作本体系直接检测结果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779008"/>
            <a:ext cx="50292" cy="420624"/>
          </a:xfrm>
          <a:prstGeom prst="rect">
            <a:avLst/>
          </a:prstGeom>
          <a:solidFill>
            <a:srgbClr val="197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5779008"/>
            <a:ext cx="11018520" cy="43891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97E7B"/>
                </a:solidFill>
                <a:latin typeface="Microsoft YaHei"/>
              </a:defRPr>
            </a:pPr>
            <a:r>
              <a:t>启发：把 FTIR 与选择性化学处理、产物及链长测量结合，而非只看单峰。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0312"/>
            <a:ext cx="914400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97E7B"/>
                </a:solidFill>
                <a:latin typeface="Microsoft YaHei"/>
              </a:defRPr>
            </a:pPr>
            <a:r>
              <a:t>02 / WHY ANTHRAQUINONE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301984" cy="6583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3440"/>
                </a:solidFill>
                <a:latin typeface="Microsoft YaHei"/>
              </a:defRPr>
            </a:pPr>
            <a:r>
              <a:t>AQ 的激发态与供氢体 / 氧的反应，支持其作为候选光敏组分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44752"/>
            <a:ext cx="1115568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1717A"/>
                </a:solidFill>
                <a:latin typeface="Microsoft YaHei"/>
              </a:defRPr>
            </a:pPr>
            <a:r>
              <a:t>Chen 2024 综述区分 Type I 电子转移与 Type II 能量转移，并讨论取代基和介质效应。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65408" cy="0"/>
          </a:xfrm>
          <a:prstGeom prst="line">
            <a:avLst/>
          </a:prstGeom>
          <a:ln w="10160">
            <a:solidFill>
              <a:srgbClr val="E5EC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92240"/>
            <a:ext cx="10789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1717A"/>
                </a:solidFill>
                <a:latin typeface="Microsoft YaHei"/>
              </a:defRPr>
            </a:pPr>
            <a:r>
              <a:t>[4] Chen et al., Environ. Sci. Ecotechnol. 2024, 22, 100449. DOI: 10.1016/j.ese.2024.100449; Fig. 2b.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97E7B"/>
                </a:solidFill>
                <a:latin typeface="Microsoft YaHei"/>
              </a:defRPr>
            </a:pPr>
            <a:r>
              <a:t>05</a:t>
            </a:r>
          </a:p>
        </p:txBody>
      </p:sp>
      <p:pic>
        <p:nvPicPr>
          <p:cNvPr id="8" name="Picture 7" descr="aq_fig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71080"/>
            <a:ext cx="5532119" cy="2957086"/>
          </a:xfrm>
          <a:prstGeom prst="rect">
            <a:avLst/>
          </a:prstGeom>
          <a:effectLst/>
        </p:spPr>
      </p:pic>
      <p:sp>
        <p:nvSpPr>
          <p:cNvPr id="9" name="TextBox 8"/>
          <p:cNvSpPr txBox="1"/>
          <p:nvPr/>
        </p:nvSpPr>
        <p:spPr>
          <a:xfrm>
            <a:off x="658368" y="5577840"/>
            <a:ext cx="548640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1717A"/>
                </a:solidFill>
                <a:latin typeface="Microsoft YaHei"/>
              </a:defRPr>
            </a:pPr>
            <a:r>
              <a:t>Chen 2024, Fig. 2b（原图转引 Xu 2016；非本课题机制）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40280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97E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3992" y="2240280"/>
            <a:ext cx="4636007" cy="85039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03440"/>
                </a:solidFill>
                <a:latin typeface="Microsoft YaHei"/>
              </a:defRPr>
            </a:pPr>
            <a:r>
              <a:t>AQ 可经历单重态 → 三重态；供体与条件影响后续路径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172968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97E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3172968"/>
            <a:ext cx="4636007" cy="85039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03440"/>
                </a:solidFill>
                <a:latin typeface="Microsoft YaHei"/>
              </a:defRPr>
            </a:pPr>
            <a:r>
              <a:t>综述收录 2-乙基蒽醌 / 供氢体 / O₂ 的 H₂O₂ 生成先例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105656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97E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4105656"/>
            <a:ext cx="4636007" cy="85039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03440"/>
                </a:solidFill>
                <a:latin typeface="Microsoft YaHei"/>
              </a:defRPr>
            </a:pPr>
            <a:r>
              <a:t>本试剂仅记录为“乙基蒽醌”；位置异构体仍需核对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779008"/>
            <a:ext cx="50292" cy="420624"/>
          </a:xfrm>
          <a:prstGeom prst="rect">
            <a:avLst/>
          </a:prstGeom>
          <a:solidFill>
            <a:srgbClr val="197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5779008"/>
            <a:ext cx="11018520" cy="43891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97E7B"/>
                </a:solidFill>
                <a:latin typeface="Microsoft YaHei"/>
              </a:defRPr>
            </a:pPr>
            <a:r>
              <a:t>选择 AQ 有文献依据；“本体系能生成何种 ROS / 是否降解 PVC”仍需实测。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0312"/>
            <a:ext cx="914400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97E7B"/>
                </a:solidFill>
                <a:latin typeface="Microsoft YaHei"/>
              </a:defRPr>
            </a:pPr>
            <a:r>
              <a:t>02 / PHOTOCHEMICAL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301984" cy="6583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3440"/>
                </a:solidFill>
                <a:latin typeface="Microsoft YaHei"/>
              </a:defRPr>
            </a:pPr>
            <a:r>
              <a:t>用三条候选分支区分 AQ 光化学，而不是预设单一 ROS 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44752"/>
            <a:ext cx="1115568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1717A"/>
                </a:solidFill>
                <a:latin typeface="Microsoft YaHei"/>
              </a:defRPr>
            </a:pPr>
            <a:r>
              <a:t>实线：文献中的一般激发过程；虚线：本体系尚未证实的反应。HAT = 氢原子转移。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65408" cy="0"/>
          </a:xfrm>
          <a:prstGeom prst="line">
            <a:avLst/>
          </a:prstGeom>
          <a:ln w="10160">
            <a:solidFill>
              <a:srgbClr val="E5EC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92240"/>
            <a:ext cx="10789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1717A"/>
                </a:solidFill>
                <a:latin typeface="Microsoft YaHei"/>
              </a:defRPr>
            </a:pPr>
            <a:r>
              <a:t>[4] Chen 2024, §2.1–2.4, §3.1.1. 图中虚线为本体系假说，并非实测机制。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97E7B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286000"/>
            <a:ext cx="237744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94360" y="2286000"/>
            <a:ext cx="2377440" cy="0"/>
          </a:xfrm>
          <a:prstGeom prst="line">
            <a:avLst/>
          </a:prstGeom>
          <a:ln w="25400">
            <a:solidFill>
              <a:srgbClr val="197E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2414016"/>
            <a:ext cx="2139696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97E7B"/>
                </a:solidFill>
                <a:latin typeface="Microsoft YaHei"/>
              </a:defRPr>
            </a:pPr>
            <a:r>
              <a:t>EAQ → ¹EAQ*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999232"/>
            <a:ext cx="2139696" cy="493775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3440"/>
                </a:solidFill>
                <a:latin typeface="Microsoft YaHei"/>
              </a:defRPr>
            </a:pPr>
            <a:r>
              <a:t>hν；实际吸收待测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17520" y="2880360"/>
            <a:ext cx="685800" cy="0"/>
          </a:xfrm>
          <a:prstGeom prst="line">
            <a:avLst/>
          </a:prstGeom>
          <a:ln w="22860">
            <a:solidFill>
              <a:srgbClr val="197E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08960" y="2423160"/>
            <a:ext cx="54864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97E7B"/>
                </a:solidFill>
                <a:latin typeface="Microsoft YaHei"/>
              </a:defRPr>
            </a:pPr>
            <a:r>
              <a:t>ISC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2286000"/>
            <a:ext cx="22860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749039" y="2286000"/>
            <a:ext cx="2286001" cy="0"/>
          </a:xfrm>
          <a:prstGeom prst="line">
            <a:avLst/>
          </a:prstGeom>
          <a:ln w="25400">
            <a:solidFill>
              <a:srgbClr val="197E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67911" y="2414016"/>
            <a:ext cx="2048256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97E7B"/>
                </a:solidFill>
                <a:latin typeface="Microsoft YaHei"/>
              </a:defRPr>
            </a:pPr>
            <a:r>
              <a:t>³EAQ*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7911" y="2999232"/>
            <a:ext cx="2048256" cy="493775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3440"/>
                </a:solidFill>
                <a:latin typeface="Microsoft YaHei"/>
              </a:defRPr>
            </a:pPr>
            <a:r>
              <a:t>寿命与淬灭待测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965960"/>
            <a:ext cx="470916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812280" y="1965960"/>
            <a:ext cx="4709160" cy="0"/>
          </a:xfrm>
          <a:prstGeom prst="line">
            <a:avLst/>
          </a:prstGeom>
          <a:ln w="25400">
            <a:solidFill>
              <a:srgbClr val="B767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931152" y="2093976"/>
            <a:ext cx="4471416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B7673E"/>
                </a:solidFill>
                <a:latin typeface="Microsoft YaHei"/>
              </a:defRPr>
            </a:pPr>
            <a:r>
              <a:t>HAT / ET？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2551176"/>
            <a:ext cx="448056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03440"/>
                </a:solidFill>
                <a:latin typeface="Microsoft YaHei"/>
              </a:defRPr>
            </a:pPr>
            <a:r>
              <a:t>供氢体、底物或DCE；半醌 / 自由基？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099048" y="2377440"/>
            <a:ext cx="658368" cy="594360"/>
          </a:xfrm>
          <a:prstGeom prst="line">
            <a:avLst/>
          </a:prstGeom>
          <a:ln w="17780">
            <a:solidFill>
              <a:srgbClr val="B7673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812280" y="3200400"/>
            <a:ext cx="470916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812280" y="3200400"/>
            <a:ext cx="4709160" cy="0"/>
          </a:xfrm>
          <a:prstGeom prst="line">
            <a:avLst/>
          </a:prstGeom>
          <a:ln w="25400">
            <a:solidFill>
              <a:srgbClr val="B767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931152" y="3328416"/>
            <a:ext cx="4471416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B7673E"/>
                </a:solidFill>
                <a:latin typeface="Microsoft YaHei"/>
              </a:defRPr>
            </a:pPr>
            <a:r>
              <a:t>能量转移？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3785615"/>
            <a:ext cx="448056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03440"/>
                </a:solidFill>
                <a:latin typeface="Microsoft YaHei"/>
              </a:defRPr>
            </a:pPr>
            <a:r>
              <a:t>O₂ → ¹O₂？需独立探针与对照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9048" y="2971800"/>
            <a:ext cx="658368" cy="640080"/>
          </a:xfrm>
          <a:prstGeom prst="line">
            <a:avLst/>
          </a:prstGeom>
          <a:ln w="17780">
            <a:solidFill>
              <a:srgbClr val="B7673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812280" y="4434840"/>
            <a:ext cx="470916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812280" y="4434840"/>
            <a:ext cx="4709160" cy="0"/>
          </a:xfrm>
          <a:prstGeom prst="line">
            <a:avLst/>
          </a:prstGeom>
          <a:ln w="25400">
            <a:solidFill>
              <a:srgbClr val="B767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931152" y="4562855"/>
            <a:ext cx="4471416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B7673E"/>
                </a:solidFill>
                <a:latin typeface="Microsoft YaHei"/>
              </a:defRPr>
            </a:pPr>
            <a:r>
              <a:t>还原态EAQ + O₂？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20055"/>
            <a:ext cx="448056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03440"/>
                </a:solidFill>
                <a:latin typeface="Microsoft YaHei"/>
              </a:defRPr>
            </a:pPr>
            <a:r>
              <a:t>H₂O₂ / O₂·⁻？需定量与干扰排查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99048" y="2971800"/>
            <a:ext cx="658368" cy="1874520"/>
          </a:xfrm>
          <a:prstGeom prst="line">
            <a:avLst/>
          </a:prstGeom>
          <a:ln w="17780">
            <a:solidFill>
              <a:srgbClr val="B7673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31520" y="4343400"/>
            <a:ext cx="5120640" cy="8229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1717A"/>
                </a:solidFill>
                <a:latin typeface="Microsoft YaHei"/>
              </a:defRPr>
            </a:pPr>
            <a:r>
              <a:t>AQ → AHQ → AQ 的再生</a:t>
            </a:r>
          </a:p>
          <a:p>
            <a:pPr>
              <a:spcAft>
                <a:spcPts val="800"/>
              </a:spcAft>
              <a:defRPr sz="1800" b="0">
                <a:solidFill>
                  <a:srgbClr val="61717A"/>
                </a:solidFill>
                <a:latin typeface="Microsoft YaHei"/>
              </a:defRPr>
            </a:pPr>
            <a:r>
              <a:t>不能由综述先例直接推定在本体系闭合。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833872"/>
            <a:ext cx="50292" cy="420624"/>
          </a:xfrm>
          <a:prstGeom prst="rect">
            <a:avLst/>
          </a:prstGeom>
          <a:solidFill>
            <a:srgbClr val="B76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5833872"/>
            <a:ext cx="11018520" cy="43891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7673E"/>
                </a:solidFill>
                <a:latin typeface="Microsoft YaHei"/>
              </a:defRPr>
            </a:pPr>
            <a:r>
              <a:t>氯自由基并非默认产物；含氯结构、氯离子及游离 Cl· 必须分清。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0312"/>
            <a:ext cx="914400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97E7B"/>
                </a:solidFill>
                <a:latin typeface="Microsoft YaHei"/>
              </a:defRPr>
            </a:pPr>
            <a:r>
              <a:t>03 / VERIFIED LITERATURE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301984" cy="6583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3440"/>
                </a:solidFill>
                <a:latin typeface="Microsoft YaHei"/>
              </a:defRPr>
            </a:pPr>
            <a:r>
              <a:t>已有 PVC 光催化先例的关键，是“氯—链长—产物”的多证据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44752"/>
            <a:ext cx="1115568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1717A"/>
                </a:solidFill>
                <a:latin typeface="Microsoft YaHei"/>
              </a:defRPr>
            </a:pPr>
            <a:r>
              <a:t>Qin 2024：CDs/Zr-MOF、水相、300 W Xe灯、室温；不是 EAQ / DCE 体系。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65408" cy="0"/>
          </a:xfrm>
          <a:prstGeom prst="line">
            <a:avLst/>
          </a:prstGeom>
          <a:ln w="10160">
            <a:solidFill>
              <a:srgbClr val="E5EC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92240"/>
            <a:ext cx="10789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1717A"/>
                </a:solidFill>
                <a:latin typeface="Microsoft YaHei"/>
              </a:defRPr>
            </a:pPr>
            <a:r>
              <a:t>[5] Qin et al., Appl. Catal. B: Environ. 2024, 341, 123355. DOI: 10.1016/j.apcatb.2023.123355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97E7B"/>
                </a:solidFill>
                <a:latin typeface="Microsoft YaHei"/>
              </a:defRPr>
            </a:pPr>
            <a:r>
              <a:t>07</a:t>
            </a:r>
          </a:p>
        </p:txBody>
      </p:sp>
      <p:pic>
        <p:nvPicPr>
          <p:cNvPr id="8" name="Picture 7" descr="qin_fig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35509"/>
            <a:ext cx="3063240" cy="2735620"/>
          </a:xfrm>
          <a:prstGeom prst="rect">
            <a:avLst/>
          </a:prstGeom>
          <a:effectLst/>
        </p:spPr>
      </p:pic>
      <p:pic>
        <p:nvPicPr>
          <p:cNvPr id="9" name="Picture 8" descr="qin_fig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343700"/>
            <a:ext cx="3063240" cy="2719239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658368" y="5303520"/>
            <a:ext cx="3017520" cy="31089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7A"/>
                </a:solidFill>
                <a:latin typeface="Microsoft YaHei"/>
              </a:defRPr>
            </a:pPr>
            <a:r>
              <a:t>Fig. 3c：转化与 Cl⁻ 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5303520"/>
            <a:ext cx="3017520" cy="31089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7A"/>
                </a:solidFill>
                <a:latin typeface="Microsoft YaHei"/>
              </a:defRPr>
            </a:pPr>
            <a:r>
              <a:t>Fig. 3f：捕获剂对照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286000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7E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4071" y="2286000"/>
            <a:ext cx="3995928" cy="8229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3440"/>
                </a:solidFill>
                <a:latin typeface="Microsoft YaHei"/>
              </a:defRPr>
            </a:pPr>
            <a:r>
              <a:t>正文报告 GPC：Mₙ 22000 → 528，60 h；原曲线位于未上传 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3191256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7E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4071" y="3191256"/>
            <a:ext cx="3995928" cy="8229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3440"/>
                </a:solidFill>
                <a:latin typeface="Microsoft YaHei"/>
              </a:defRPr>
            </a:pPr>
            <a:r>
              <a:t>HPLC 产品分析；正文 Fig. 4 提供 ESR 信号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96512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7E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1" y="4096512"/>
            <a:ext cx="3995928" cy="8229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3440"/>
                </a:solidFill>
                <a:latin typeface="Microsoft YaHei"/>
              </a:defRPr>
            </a:pPr>
            <a:r>
              <a:t>作者支持 ROS 路径；不能据此认定 EAQ 体系由 Cl· 主导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79008"/>
            <a:ext cx="50292" cy="420624"/>
          </a:xfrm>
          <a:prstGeom prst="rect">
            <a:avLst/>
          </a:prstGeom>
          <a:solidFill>
            <a:srgbClr val="197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5779008"/>
            <a:ext cx="11018520" cy="43891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97E7B"/>
                </a:solidFill>
                <a:latin typeface="Microsoft YaHei"/>
              </a:defRPr>
            </a:pPr>
            <a:r>
              <a:t>可借鉴证据设计，不能照搬催化剂机理；下一页比较 PS / CH₂Cl₂ 的独立证据。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0312"/>
            <a:ext cx="914400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97E7B"/>
                </a:solidFill>
                <a:latin typeface="Microsoft YaHei"/>
              </a:defRPr>
            </a:pPr>
            <a:r>
              <a:t>03 / PS–DICHLOROMETHANE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301984" cy="6583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3440"/>
                </a:solidFill>
                <a:latin typeface="Microsoft YaHei"/>
              </a:defRPr>
            </a:pPr>
            <a:r>
              <a:t>CH₂Cl₂ 在 PS 光裂解中可参与反应；迁移到 PVC 仍须验证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44752"/>
            <a:ext cx="1115568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1717A"/>
                </a:solidFill>
                <a:latin typeface="Microsoft YaHei"/>
              </a:defRPr>
            </a:pPr>
            <a:r>
              <a:t>Su 2026：10 mg PS / 4 mL CH₂Cl₂，365 nm，1 bar O₂，30 ± 5 °C；无需外加光催化剂。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65408" cy="0"/>
          </a:xfrm>
          <a:prstGeom prst="line">
            <a:avLst/>
          </a:prstGeom>
          <a:ln w="10160">
            <a:solidFill>
              <a:srgbClr val="E5EC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92240"/>
            <a:ext cx="10789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1717A"/>
                </a:solidFill>
                <a:latin typeface="Microsoft YaHei"/>
              </a:defRPr>
            </a:pPr>
            <a:r>
              <a:t>[6] Su et al., Angew. Chem. Int. Ed. 2026, e5578835. DOI: 10.1002/anie.5578835; Fig. 5A–C,J.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97E7B"/>
                </a:solidFill>
                <a:latin typeface="Microsoft YaHei"/>
              </a:defRPr>
            </a:pPr>
            <a:r>
              <a:t>08</a:t>
            </a:r>
          </a:p>
        </p:txBody>
      </p:sp>
      <p:pic>
        <p:nvPicPr>
          <p:cNvPr id="8" name="Picture 7" descr="su_fig5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45225"/>
            <a:ext cx="5943600" cy="1727469"/>
          </a:xfrm>
          <a:prstGeom prst="rect">
            <a:avLst/>
          </a:prstGeom>
          <a:effectLst/>
        </p:spPr>
      </p:pic>
      <p:sp>
        <p:nvSpPr>
          <p:cNvPr id="9" name="TextBox 8"/>
          <p:cNvSpPr txBox="1"/>
          <p:nvPr/>
        </p:nvSpPr>
        <p:spPr>
          <a:xfrm>
            <a:off x="658368" y="4178808"/>
            <a:ext cx="5852160" cy="31089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7A"/>
                </a:solidFill>
                <a:latin typeface="Microsoft YaHei"/>
              </a:defRPr>
            </a:pPr>
            <a:r>
              <a:t>Fig. 5A–C：自旋捕获 EPR 与作者拟合归属</a:t>
            </a:r>
          </a:p>
        </p:txBody>
      </p:sp>
      <p:pic>
        <p:nvPicPr>
          <p:cNvPr id="10" name="Picture 9" descr="su_fig5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263" y="4572000"/>
            <a:ext cx="4829792" cy="960120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6995160" y="2148840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7E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1192" y="2148840"/>
            <a:ext cx="4270248" cy="8869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3440"/>
                </a:solidFill>
                <a:latin typeface="Microsoft YaHei"/>
              </a:defRPr>
            </a:pPr>
            <a:r>
              <a:t>作者以PBN–Cl·归属、捕获及GPC等证据支持氯自由基参与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3118104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7E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1192" y="3118104"/>
            <a:ext cx="4270248" cy="8869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3440"/>
                </a:solidFill>
                <a:latin typeface="Microsoft YaHei"/>
              </a:defRPr>
            </a:pPr>
            <a:r>
              <a:t>含氧中间体增强吸光，是作者提出的自加速路径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087368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7E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1192" y="4087368"/>
            <a:ext cx="4270248" cy="8869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3440"/>
                </a:solidFill>
                <a:latin typeface="Microsoft YaHei"/>
              </a:defRPr>
            </a:pPr>
            <a:r>
              <a:t>不能外推为EAQ / DCE / PVC必然生成Cl·或发生断链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779008"/>
            <a:ext cx="50292" cy="420624"/>
          </a:xfrm>
          <a:prstGeom prst="rect">
            <a:avLst/>
          </a:prstGeom>
          <a:solidFill>
            <a:srgbClr val="197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5779008"/>
            <a:ext cx="11018520" cy="43891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97E7B"/>
                </a:solidFill>
                <a:latin typeface="Microsoft YaHei"/>
              </a:defRPr>
            </a:pPr>
            <a:r>
              <a:t>本课题启发：含氯介质不能默认惰性；先测溶剂空白，再判断自由基来源。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0312"/>
            <a:ext cx="914400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97E7B"/>
                </a:solidFill>
                <a:latin typeface="Microsoft YaHei"/>
              </a:defRPr>
            </a:pPr>
            <a:r>
              <a:t>04 / RESEARCH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301984" cy="6583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3440"/>
                </a:solidFill>
                <a:latin typeface="Microsoft YaHei"/>
              </a:defRPr>
            </a:pPr>
            <a:r>
              <a:t>由简单到复杂建立证据链，而不是直接追求“PVC 降解率”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44752"/>
            <a:ext cx="1115568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1717A"/>
                </a:solidFill>
                <a:latin typeface="Microsoft YaHei"/>
              </a:defRPr>
            </a:pPr>
            <a:r>
              <a:t>局部反应识别 → 复杂底物验证 → 聚合物证据闭环。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65408" cy="0"/>
          </a:xfrm>
          <a:prstGeom prst="line">
            <a:avLst/>
          </a:prstGeom>
          <a:ln w="10160">
            <a:solidFill>
              <a:srgbClr val="E5EC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92240"/>
            <a:ext cx="10789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1717A"/>
                </a:solidFill>
                <a:latin typeface="Microsoft YaHei"/>
              </a:defRPr>
            </a:pPr>
            <a:r>
              <a:t>研究路线为本课题方案；局部模型与聚合物光化学差异参见 [3] Huang &amp; Wang 2024。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97E7B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14600"/>
            <a:ext cx="2404872" cy="19933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94360" y="2514600"/>
            <a:ext cx="2404872" cy="0"/>
          </a:xfrm>
          <a:prstGeom prst="line">
            <a:avLst/>
          </a:prstGeom>
          <a:ln w="25400">
            <a:solidFill>
              <a:srgbClr val="197E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2642616"/>
            <a:ext cx="216712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97E7B"/>
                </a:solidFill>
                <a:latin typeface="Microsoft YaHei"/>
              </a:defRPr>
            </a:pPr>
            <a:r>
              <a:t>乙基蒽醌体系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227832"/>
            <a:ext cx="2167128" cy="12070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3440"/>
                </a:solidFill>
                <a:latin typeface="Microsoft YaHei"/>
              </a:defRPr>
            </a:pPr>
            <a:r>
              <a:t>吸收 / 光照 / 氧气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246120"/>
            <a:ext cx="38404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97E7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83864" y="2514600"/>
            <a:ext cx="2404872" cy="19933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3483864" y="2514600"/>
            <a:ext cx="2404872" cy="0"/>
          </a:xfrm>
          <a:prstGeom prst="line">
            <a:avLst/>
          </a:prstGeom>
          <a:ln w="25400">
            <a:solidFill>
              <a:srgbClr val="197E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02736" y="2642616"/>
            <a:ext cx="216712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97E7B"/>
                </a:solidFill>
                <a:latin typeface="Microsoft YaHei"/>
              </a:defRPr>
            </a:pPr>
            <a:r>
              <a:t>氯代烷烃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3227832"/>
            <a:ext cx="2167128" cy="12070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3440"/>
                </a:solidFill>
                <a:latin typeface="Microsoft YaHei"/>
              </a:defRPr>
            </a:pPr>
            <a:r>
              <a:t>产物鉴定 / 溶剂竞争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2744" y="3246120"/>
            <a:ext cx="38404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97E7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73368" y="2514600"/>
            <a:ext cx="2404872" cy="19933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373368" y="2514600"/>
            <a:ext cx="2404872" cy="0"/>
          </a:xfrm>
          <a:prstGeom prst="line">
            <a:avLst/>
          </a:prstGeom>
          <a:ln w="25400">
            <a:solidFill>
              <a:srgbClr val="197E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2240" y="2642616"/>
            <a:ext cx="216712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97E7B"/>
                </a:solidFill>
                <a:latin typeface="Microsoft YaHei"/>
              </a:defRPr>
            </a:pPr>
            <a:r>
              <a:t>氯代石蜡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27832"/>
            <a:ext cx="2167128" cy="12070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3440"/>
                </a:solidFill>
                <a:latin typeface="Microsoft YaHei"/>
              </a:defRPr>
            </a:pPr>
            <a:r>
              <a:t>复杂含氯结构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8" y="3246120"/>
            <a:ext cx="38404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97E7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62872" y="2514600"/>
            <a:ext cx="2404872" cy="19933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262872" y="2514600"/>
            <a:ext cx="2404872" cy="0"/>
          </a:xfrm>
          <a:prstGeom prst="line">
            <a:avLst/>
          </a:prstGeom>
          <a:ln w="25400">
            <a:solidFill>
              <a:srgbClr val="197E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381744" y="2642616"/>
            <a:ext cx="216712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97E7B"/>
                </a:solidFill>
                <a:latin typeface="Microsoft YaHei"/>
              </a:defRPr>
            </a:pPr>
            <a:r>
              <a:t>PVC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744" y="3227832"/>
            <a:ext cx="2167128" cy="12070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3440"/>
                </a:solidFill>
                <a:latin typeface="Microsoft YaHei"/>
              </a:defRPr>
            </a:pPr>
            <a:r>
              <a:t>脱氯 / 氧化 / 链长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919472"/>
            <a:ext cx="10789920" cy="60350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03440"/>
                </a:solidFill>
                <a:latin typeface="Microsoft YaHei"/>
              </a:defRPr>
            </a:pPr>
            <a:r>
              <a:t>模型的边界：不能完整模拟聚集态、缺陷结构、连续脱氯与链式反应。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779008"/>
            <a:ext cx="50292" cy="420624"/>
          </a:xfrm>
          <a:prstGeom prst="rect">
            <a:avLst/>
          </a:prstGeom>
          <a:solidFill>
            <a:srgbClr val="197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5779008"/>
            <a:ext cx="11018520" cy="43891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97E7B"/>
                </a:solidFill>
                <a:latin typeface="Microsoft YaHei"/>
              </a:defRPr>
            </a:pPr>
            <a:r>
              <a:t>各层级都必须保留对照、定量分析和反应证据，不能仅靠路径图衔接。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0312"/>
            <a:ext cx="914400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97E7B"/>
                </a:solidFill>
                <a:latin typeface="Microsoft YaHei"/>
              </a:defRPr>
            </a:pPr>
            <a:r>
              <a:t>05 / EXPERIMENTAL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301984" cy="6583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3440"/>
                </a:solidFill>
                <a:latin typeface="Microsoft YaHei"/>
              </a:defRPr>
            </a:pPr>
            <a:r>
              <a:t>基准实验：乙基蒽醌 / DCE / 365 nm 下考察 2-氯戊烷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44752"/>
            <a:ext cx="1115568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1717A"/>
                </a:solidFill>
                <a:latin typeface="Microsoft YaHei"/>
              </a:defRPr>
            </a:pPr>
            <a:r>
              <a:t>以下为已开展的模型实验；反应温度、光功率、取样及定量方法未提供。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65408" cy="0"/>
          </a:xfrm>
          <a:prstGeom prst="line">
            <a:avLst/>
          </a:prstGeom>
          <a:ln w="10160">
            <a:solidFill>
              <a:srgbClr val="E5EC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92240"/>
            <a:ext cx="10789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7A"/>
                </a:solidFill>
                <a:latin typeface="Microsoft YaHei"/>
              </a:defRPr>
            </a:pPr>
            <a:r>
              <a:t>实验条件：用户原始 PPT 第8页；未补写缺失操作细节。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97E7B"/>
                </a:solidFill>
                <a:latin typeface="Microsoft YaHei"/>
              </a:defRPr>
            </a:pPr>
            <a:r>
              <a:t>10</a:t>
            </a:r>
          </a:p>
        </p:txBody>
      </p:sp>
      <p:pic>
        <p:nvPicPr>
          <p:cNvPr id="8" name="Picture 7" descr="source_08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05513"/>
            <a:ext cx="2834639" cy="1571484"/>
          </a:xfrm>
          <a:prstGeom prst="rect">
            <a:avLst/>
          </a:prstGeom>
          <a:effectLst/>
        </p:spPr>
      </p:pic>
      <p:pic>
        <p:nvPicPr>
          <p:cNvPr id="9" name="Picture 8" descr="source_08_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736" y="2148840"/>
            <a:ext cx="857534" cy="2084831"/>
          </a:xfrm>
          <a:prstGeom prst="rect">
            <a:avLst/>
          </a:prstGeom>
          <a:effectLst/>
        </p:spPr>
      </p:pic>
      <p:pic>
        <p:nvPicPr>
          <p:cNvPr id="10" name="Picture 9" descr="source_08_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191" y="4343400"/>
            <a:ext cx="1324545" cy="1234440"/>
          </a:xfrm>
          <a:prstGeom prst="rect">
            <a:avLst/>
          </a:prstGeom>
          <a:effectLst/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892040" y="2148840"/>
          <a:ext cx="6629400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709160"/>
              </a:tblGrid>
              <a:tr h="569976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 marL="109728" marR="82296" marT="91440" marB="64008">
                    <a:solidFill>
                      <a:srgbClr val="20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已记录条件</a:t>
                      </a:r>
                    </a:p>
                  </a:txBody>
                  <a:tcPr marL="109728" marR="82296" marT="91440" marB="64008">
                    <a:solidFill>
                      <a:srgbClr val="203440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底物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2-氯戊烷，0.5 mmol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光敏组分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乙基蒽醌，5 mg/mL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介质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1,2-二氯乙烷（DCE），4 mL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光照 / 时间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365 nm，6 h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变量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O₂、O₂鼓泡、N₂、空气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779008"/>
            <a:ext cx="50292" cy="420624"/>
          </a:xfrm>
          <a:prstGeom prst="rect">
            <a:avLst/>
          </a:prstGeom>
          <a:solidFill>
            <a:srgbClr val="197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779008"/>
            <a:ext cx="11018520" cy="43891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97E7B"/>
                </a:solidFill>
                <a:latin typeface="Microsoft YaHei"/>
              </a:defRPr>
            </a:pPr>
            <a:r>
              <a:t>先确认实验与分析的可重复性，再讨论高转化率代表什么。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0312"/>
            <a:ext cx="914400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97E7B"/>
                </a:solidFill>
                <a:latin typeface="Microsoft YaHei"/>
              </a:defRPr>
            </a:pPr>
            <a:r>
              <a:t>05 / MODEL REACTION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301984" cy="6583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3440"/>
                </a:solidFill>
                <a:latin typeface="Microsoft YaHei"/>
              </a:defRPr>
            </a:pPr>
            <a:r>
              <a:t>已记录的转化率较高，但尚不能指认为目标降解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44752"/>
            <a:ext cx="1115568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1717A"/>
                </a:solidFill>
                <a:latin typeface="Microsoft YaHei"/>
              </a:defRPr>
            </a:pPr>
            <a:r>
              <a:t>原始记录：O₂ 87.6%、O₂鼓泡 82.8%、N₂ 73.8%、空气 76.6%。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65408" cy="0"/>
          </a:xfrm>
          <a:prstGeom prst="line">
            <a:avLst/>
          </a:prstGeom>
          <a:ln w="10160">
            <a:solidFill>
              <a:srgbClr val="E5EC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92240"/>
            <a:ext cx="10789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7A"/>
                </a:solidFill>
                <a:latin typeface="Microsoft YaHei"/>
              </a:defRPr>
            </a:pPr>
            <a:r>
              <a:t>数据：原稿第8页；内标、校准、平行次数及转化率计算方式尚未提供。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97E7B"/>
                </a:solidFill>
                <a:latin typeface="Microsoft YaHei"/>
              </a:defRPr>
            </a:pPr>
            <a:r>
              <a:t>11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2194560"/>
          <a:ext cx="594360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0" y="2103120"/>
            <a:ext cx="4754880" cy="4114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7E7B"/>
                </a:solidFill>
                <a:latin typeface="Microsoft YaHei"/>
              </a:defRPr>
            </a:pPr>
            <a:r>
              <a:t>候选产物：原始定性记录，待确证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0" y="2651760"/>
          <a:ext cx="475488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14400"/>
                <a:gridCol w="914400"/>
                <a:gridCol w="777240"/>
                <a:gridCol w="685800"/>
              </a:tblGrid>
              <a:tr h="40756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条件</a:t>
                      </a:r>
                    </a:p>
                  </a:txBody>
                  <a:tcPr marL="109728" marR="82296" marT="91440" marB="64008">
                    <a:solidFill>
                      <a:srgbClr val="20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二氯戊烷</a:t>
                      </a:r>
                    </a:p>
                  </a:txBody>
                  <a:tcPr marL="109728" marR="82296" marT="91440" marB="64008">
                    <a:solidFill>
                      <a:srgbClr val="20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四氯丁烷</a:t>
                      </a:r>
                    </a:p>
                  </a:txBody>
                  <a:tcPr marL="109728" marR="82296" marT="91440" marB="64008">
                    <a:solidFill>
                      <a:srgbClr val="20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氯乙酸</a:t>
                      </a:r>
                    </a:p>
                  </a:txBody>
                  <a:tcPr marL="109728" marR="82296" marT="91440" marB="64008">
                    <a:solidFill>
                      <a:srgbClr val="20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未知</a:t>
                      </a:r>
                    </a:p>
                  </a:txBody>
                  <a:tcPr marL="109728" marR="82296" marT="91440" marB="64008">
                    <a:solidFill>
                      <a:srgbClr val="203440"/>
                    </a:solidFill>
                  </a:tcPr>
                </a:tc>
              </a:tr>
              <a:tr h="40756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O₂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40756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O₂鼓泡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</a:tr>
              <a:tr h="40756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N₂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40756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空气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</a:tr>
              <a:tr h="40756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乙腈/各气氛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40756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乙腈/2.5mmol 2-CP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8000" y="5513832"/>
            <a:ext cx="475488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1717A"/>
                </a:solidFill>
                <a:latin typeface="Microsoft YaHei"/>
              </a:defRPr>
            </a:pPr>
            <a:r>
              <a:t>√、n.d.、/ 按原表转录；缩写2-CP沿用记录。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79008"/>
            <a:ext cx="50292" cy="420624"/>
          </a:xfrm>
          <a:prstGeom prst="rect">
            <a:avLst/>
          </a:prstGeom>
          <a:solidFill>
            <a:srgbClr val="B76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779008"/>
            <a:ext cx="11018520" cy="43891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7673E"/>
                </a:solidFill>
                <a:latin typeface="Microsoft YaHei"/>
              </a:defRPr>
            </a:pPr>
            <a:r>
              <a:t>无误差线：未提供平行实验；转化率 ≠ 收率 ≠ 脱氯率。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0312"/>
            <a:ext cx="914400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97E7B"/>
                </a:solidFill>
                <a:latin typeface="Microsoft YaHei"/>
              </a:defRPr>
            </a:pPr>
            <a:r>
              <a:t>05 / ANOMALY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301984" cy="6583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3440"/>
                </a:solidFill>
                <a:latin typeface="Microsoft YaHei"/>
              </a:defRPr>
            </a:pPr>
            <a:r>
              <a:t>溶剂相关反应现象，应成为优先验证的竞争路径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44752"/>
            <a:ext cx="1115568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1717A"/>
                </a:solidFill>
                <a:latin typeface="Microsoft YaHei"/>
              </a:defRPr>
            </a:pPr>
            <a:r>
              <a:t>补充材料：未明确获得目标产物；观察到可能与 DCE 有关的产物；乙腈体系未观察到同类明确产物。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65408" cy="0"/>
          </a:xfrm>
          <a:prstGeom prst="line">
            <a:avLst/>
          </a:prstGeom>
          <a:ln w="10160">
            <a:solidFill>
              <a:srgbClr val="E5EC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92240"/>
            <a:ext cx="10789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1717A"/>
                </a:solidFill>
                <a:latin typeface="Microsoft YaHei"/>
              </a:defRPr>
            </a:pPr>
            <a:r>
              <a:t>用户补充材料与实验记录；表中解释均为本课题假说，非已证实文献结论。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97E7B"/>
                </a:solidFill>
                <a:latin typeface="Microsoft YaHei"/>
              </a:defRPr>
            </a:pPr>
            <a: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240280"/>
          <a:ext cx="11064239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749039"/>
                <a:gridCol w="4023360"/>
              </a:tblGrid>
              <a:tr h="77266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观察 / 待核查现象</a:t>
                      </a:r>
                    </a:p>
                  </a:txBody>
                  <a:tcPr marL="109728" marR="82296" marT="91440" marB="64008">
                    <a:solidFill>
                      <a:srgbClr val="20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可能解释（假说）</a:t>
                      </a:r>
                    </a:p>
                  </a:txBody>
                  <a:tcPr marL="109728" marR="82296" marT="91440" marB="64008">
                    <a:solidFill>
                      <a:srgbClr val="20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下一项关键验证</a:t>
                      </a:r>
                    </a:p>
                  </a:txBody>
                  <a:tcPr marL="109728" marR="82296" marT="91440" marB="64008">
                    <a:solidFill>
                      <a:srgbClr val="203440"/>
                    </a:solidFill>
                  </a:tcPr>
                </a:tc>
              </a:tr>
              <a:tr h="77266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DCE 相关候选产物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溶剂并非惰性，可能优先被活化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无底物 + DCE + AQ + 光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77266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底物目标产物不明确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未活化；或检测 / 归属不充分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标准品、内标、回收率与 GC-MS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</a:tr>
              <a:tr h="77266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更换乙腈后未见同类产物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介质参与，也可能改变溶解 / 激发态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配对溶剂对照 + 吸收与溶解性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779008"/>
            <a:ext cx="50292" cy="420624"/>
          </a:xfrm>
          <a:prstGeom prst="rect">
            <a:avLst/>
          </a:prstGeom>
          <a:solidFill>
            <a:srgbClr val="B76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5779008"/>
            <a:ext cx="11018520" cy="43891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7673E"/>
                </a:solidFill>
                <a:latin typeface="Microsoft YaHei"/>
              </a:defRPr>
            </a:pPr>
            <a:r>
              <a:t>原表“/”与“n.d.”按原记录保留；不能据此认定底物转化率为零。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0312"/>
            <a:ext cx="914400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97E7B"/>
                </a:solidFill>
                <a:latin typeface="Microsoft YaHei"/>
              </a:defRPr>
            </a:pPr>
            <a:r>
              <a:t>05 / PVC CHARACTERIZATION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301984" cy="6583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3440"/>
                </a:solidFill>
                <a:latin typeface="Microsoft YaHei"/>
              </a:defRPr>
            </a:pPr>
            <a:r>
              <a:t>FTIR 支持官能团变化，但尚不足以证明 PVC 链变短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44752"/>
            <a:ext cx="1115568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1717A"/>
                </a:solidFill>
                <a:latin typeface="Microsoft YaHei"/>
              </a:defRPr>
            </a:pPr>
            <a:r>
              <a:t>保留原始谱图，不重绘曲线；12 h 与 24 h 的比较需考虑基线、厚度、取样和归一化。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65408" cy="0"/>
          </a:xfrm>
          <a:prstGeom prst="line">
            <a:avLst/>
          </a:prstGeom>
          <a:ln w="10160">
            <a:solidFill>
              <a:srgbClr val="E5EC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92240"/>
            <a:ext cx="10789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1717A"/>
                </a:solidFill>
                <a:latin typeface="Microsoft YaHei"/>
              </a:defRPr>
            </a:pPr>
            <a:r>
              <a:t>原始谱图：用户2026.10.17.pptx第9页；官能团鉴别方法参见 [2] Gardette 1989。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97E7B"/>
                </a:solidFill>
                <a:latin typeface="Microsoft YaHei"/>
              </a:defRPr>
            </a:pPr>
            <a:r>
              <a:t>13</a:t>
            </a:r>
          </a:p>
        </p:txBody>
      </p:sp>
      <p:pic>
        <p:nvPicPr>
          <p:cNvPr id="8" name="Picture 7" descr="source_09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306" y="2057400"/>
            <a:ext cx="4700626" cy="3584448"/>
          </a:xfrm>
          <a:prstGeom prst="rect">
            <a:avLst/>
          </a:prstGeom>
          <a:effectLst/>
        </p:spPr>
      </p:pic>
      <p:sp>
        <p:nvSpPr>
          <p:cNvPr id="9" name="TextBox 8"/>
          <p:cNvSpPr txBox="1"/>
          <p:nvPr/>
        </p:nvSpPr>
        <p:spPr>
          <a:xfrm>
            <a:off x="7406640" y="2240280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7E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1" y="2240280"/>
            <a:ext cx="3858768" cy="9052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3440"/>
                </a:solidFill>
                <a:latin typeface="Microsoft YaHei"/>
              </a:defRPr>
            </a:pPr>
            <a:r>
              <a:t>约3451 cm⁻¹：可能涉及 O–H 吸收，需排除水分影响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3227832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7E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1" y="3227832"/>
            <a:ext cx="3858768" cy="9052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3440"/>
                </a:solidFill>
                <a:latin typeface="Microsoft YaHei"/>
              </a:defRPr>
            </a:pPr>
            <a:r>
              <a:t>约2913 cm⁻¹：C–H 区域变化，需比较样品量与归一化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4215384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7E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1" y="4215384"/>
            <a:ext cx="3858768" cy="9052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3440"/>
                </a:solidFill>
                <a:latin typeface="Microsoft YaHei"/>
              </a:defRPr>
            </a:pPr>
            <a:r>
              <a:t>含氧峰应结合对照及其他结构分析确认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824728"/>
            <a:ext cx="50292" cy="420624"/>
          </a:xfrm>
          <a:prstGeom prst="rect">
            <a:avLst/>
          </a:prstGeom>
          <a:solidFill>
            <a:srgbClr val="B76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5824728"/>
            <a:ext cx="11018520" cy="43891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7673E"/>
                </a:solidFill>
                <a:latin typeface="Microsoft YaHei"/>
              </a:defRPr>
            </a:pPr>
            <a:r>
              <a:t>当前可说“谱图发生变化”；不可单凭此图宣称完全降解或确定产物。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0312"/>
            <a:ext cx="914400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97E7B"/>
                </a:solidFill>
                <a:latin typeface="Microsoft YaHei"/>
              </a:defRPr>
            </a:pPr>
            <a:r>
              <a:t>06 / MODEL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301984" cy="6583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3440"/>
                </a:solidFill>
                <a:latin typeface="Microsoft YaHei"/>
              </a:defRPr>
            </a:pPr>
            <a:r>
              <a:t>小分子与 PVC 不能简单外推；吸光与相态可能改变反应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44752"/>
            <a:ext cx="1115568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1717A"/>
                </a:solidFill>
                <a:latin typeface="Microsoft YaHei"/>
              </a:defRPr>
            </a:pPr>
            <a:r>
              <a:t>365 nm 是光源波长，不是“某一化学键必然直接断裂”的证明。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65408" cy="0"/>
          </a:xfrm>
          <a:prstGeom prst="line">
            <a:avLst/>
          </a:prstGeom>
          <a:ln w="10160">
            <a:solidFill>
              <a:srgbClr val="E5EC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92240"/>
            <a:ext cx="10789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1717A"/>
                </a:solidFill>
                <a:latin typeface="Microsoft YaHei"/>
              </a:defRPr>
            </a:pPr>
            <a:r>
              <a:t>[3] Huang &amp; Wang 2024, §3.1.4; [4] Chen 2024, §2.1–2.3。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97E7B"/>
                </a:solidFill>
                <a:latin typeface="Microsoft YaHei"/>
              </a:defRPr>
            </a:pPr>
            <a: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94560"/>
          <a:ext cx="1106424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937760"/>
              </a:tblGrid>
              <a:tr h="63642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比较维度</a:t>
                      </a:r>
                    </a:p>
                  </a:txBody>
                  <a:tcPr marL="109728" marR="82296" marT="91440" marB="64008">
                    <a:solidFill>
                      <a:srgbClr val="20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2-氯戊烷模型</a:t>
                      </a:r>
                    </a:p>
                  </a:txBody>
                  <a:tcPr marL="109728" marR="82296" marT="91440" marB="64008">
                    <a:solidFill>
                      <a:srgbClr val="20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PVC</a:t>
                      </a:r>
                    </a:p>
                  </a:txBody>
                  <a:tcPr marL="109728" marR="82296" marT="91440" marB="64008">
                    <a:solidFill>
                      <a:srgbClr val="203440"/>
                    </a:solidFill>
                  </a:tcPr>
                </a:tc>
              </a:tr>
              <a:tr h="63642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结构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单个局部氯代位点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连续重复单元；可能存在缺陷结构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63642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物理环境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小分子溶液反应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溶胀、聚集态及传质影响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</a:tr>
              <a:tr h="63642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反应传播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分子内 / 分子间竞争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脱 HCl、氧化、交联与链式过程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63642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光化学判断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需测体系吸收与对照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需区分本征、缺陷与杂质作用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779008"/>
            <a:ext cx="50292" cy="420624"/>
          </a:xfrm>
          <a:prstGeom prst="rect">
            <a:avLst/>
          </a:prstGeom>
          <a:solidFill>
            <a:srgbClr val="197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5779008"/>
            <a:ext cx="11018520" cy="43891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97E7B"/>
                </a:solidFill>
                <a:latin typeface="Microsoft YaHei"/>
              </a:defRPr>
            </a:pPr>
            <a:r>
              <a:t>判定直接光解需吸收光谱与机制证据；键能比较本身不够。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0312"/>
            <a:ext cx="914400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97E7B"/>
                </a:solidFill>
                <a:latin typeface="Microsoft YaHei"/>
              </a:defRPr>
            </a:pPr>
            <a:r>
              <a:t>06 / INTEGRATED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301984" cy="6583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3440"/>
                </a:solidFill>
                <a:latin typeface="Microsoft YaHei"/>
              </a:defRPr>
            </a:pPr>
            <a:r>
              <a:t>把有依据的氧化路径与待验证的 Cl· 支路放在同一张图中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44752"/>
            <a:ext cx="1115568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1717A"/>
                </a:solidFill>
                <a:latin typeface="Microsoft YaHei"/>
              </a:defRPr>
            </a:pPr>
            <a:r>
              <a:t>实线＝文献一般路径；虚线＝本体系假说；实测观察单独标出，不能用来默认闭合循环。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65408" cy="0"/>
          </a:xfrm>
          <a:prstGeom prst="line">
            <a:avLst/>
          </a:prstGeom>
          <a:ln w="10160">
            <a:solidFill>
              <a:srgbClr val="E5EC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92240"/>
            <a:ext cx="10789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1717A"/>
                </a:solidFill>
                <a:latin typeface="Microsoft YaHei"/>
              </a:defRPr>
            </a:pPr>
            <a:r>
              <a:t>[2] Gardette 1989（PVC一般氧化路径）；[4] Chen 2024（AQ光化学）；本体系虚线路径待证。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97E7B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221992"/>
            <a:ext cx="2240280" cy="1124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94360" y="2221992"/>
            <a:ext cx="2240280" cy="0"/>
          </a:xfrm>
          <a:prstGeom prst="line">
            <a:avLst/>
          </a:prstGeom>
          <a:ln w="25400">
            <a:solidFill>
              <a:srgbClr val="197E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2350008"/>
            <a:ext cx="2002536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97E7B"/>
                </a:solidFill>
                <a:latin typeface="Microsoft YaHei"/>
              </a:defRPr>
            </a:pPr>
            <a:r>
              <a:t>EAQ → EAQ*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935224"/>
            <a:ext cx="2002536" cy="3383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3440"/>
                </a:solidFill>
                <a:latin typeface="Microsoft YaHei"/>
              </a:defRPr>
            </a:pPr>
            <a:r>
              <a:t>hν；光激发 [4]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2221992"/>
            <a:ext cx="3200400" cy="1124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3520440" y="2221992"/>
            <a:ext cx="3200400" cy="0"/>
          </a:xfrm>
          <a:prstGeom prst="line">
            <a:avLst/>
          </a:prstGeom>
          <a:ln w="25400">
            <a:solidFill>
              <a:srgbClr val="B767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39312" y="2350008"/>
            <a:ext cx="2962656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B7673E"/>
                </a:solidFill>
                <a:latin typeface="Microsoft YaHei"/>
              </a:defRPr>
            </a:pPr>
            <a:r>
              <a:t>DCE / 底物 / O₂？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935224"/>
            <a:ext cx="2962656" cy="3383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3440"/>
                </a:solidFill>
                <a:latin typeface="Microsoft YaHei"/>
              </a:defRPr>
            </a:pPr>
            <a:r>
              <a:t>HAT / ET / 能量转移？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80360" y="2770632"/>
            <a:ext cx="594360" cy="0"/>
          </a:xfrm>
          <a:prstGeom prst="line">
            <a:avLst/>
          </a:prstGeom>
          <a:ln w="19050">
            <a:solidFill>
              <a:srgbClr val="B7673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406640" y="2221992"/>
            <a:ext cx="4114800" cy="1124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7406640" y="2221992"/>
            <a:ext cx="4114800" cy="0"/>
          </a:xfrm>
          <a:prstGeom prst="line">
            <a:avLst/>
          </a:prstGeom>
          <a:ln w="25400">
            <a:solidFill>
              <a:srgbClr val="B767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525512" y="2350008"/>
            <a:ext cx="3877056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B7673E"/>
                </a:solidFill>
                <a:latin typeface="Microsoft YaHei"/>
              </a:defRPr>
            </a:pPr>
            <a:r>
              <a:t>PVC链上 P·？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2935224"/>
            <a:ext cx="3877056" cy="3383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3440"/>
                </a:solidFill>
                <a:latin typeface="Microsoft YaHei"/>
              </a:defRPr>
            </a:pPr>
            <a:r>
              <a:t>本体系引发来源尚未确定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66560" y="2770632"/>
            <a:ext cx="576071" cy="0"/>
          </a:xfrm>
          <a:prstGeom prst="line">
            <a:avLst/>
          </a:prstGeom>
          <a:ln w="19050">
            <a:solidFill>
              <a:srgbClr val="B7673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406640" y="3886200"/>
            <a:ext cx="411480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406640" y="3886200"/>
            <a:ext cx="4114800" cy="0"/>
          </a:xfrm>
          <a:prstGeom prst="line">
            <a:avLst/>
          </a:prstGeom>
          <a:ln w="25400">
            <a:solidFill>
              <a:srgbClr val="197E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525512" y="4014215"/>
            <a:ext cx="3877056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97E7B"/>
                </a:solidFill>
                <a:latin typeface="Microsoft YaHei"/>
              </a:defRPr>
            </a:pPr>
            <a:r>
              <a:t>P· + O₂ → POO·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4599432"/>
            <a:ext cx="3877056" cy="53949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3440"/>
                </a:solidFill>
                <a:latin typeface="Microsoft YaHei"/>
              </a:defRPr>
            </a:pPr>
            <a:r>
              <a:t>文献一般路径 [2]</a:t>
            </a:r>
          </a:p>
          <a:p>
            <a:pPr>
              <a:spcAft>
                <a:spcPts val="800"/>
              </a:spcAft>
              <a:defRPr sz="1600" b="0">
                <a:solidFill>
                  <a:srgbClr val="203440"/>
                </a:solidFill>
                <a:latin typeface="Microsoft YaHei"/>
              </a:defRPr>
            </a:pPr>
            <a:r>
              <a:t>POOH / PO· → 氧化与裂解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18320" y="3419856"/>
            <a:ext cx="0" cy="402335"/>
          </a:xfrm>
          <a:prstGeom prst="line">
            <a:avLst/>
          </a:prstGeom>
          <a:ln w="19050">
            <a:solidFill>
              <a:srgbClr val="B7673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520440" y="3886200"/>
            <a:ext cx="320040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3520440" y="3886200"/>
            <a:ext cx="3200400" cy="0"/>
          </a:xfrm>
          <a:prstGeom prst="line">
            <a:avLst/>
          </a:prstGeom>
          <a:ln w="25400">
            <a:solidFill>
              <a:srgbClr val="B767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639312" y="4014215"/>
            <a:ext cx="2962656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B7673E"/>
                </a:solidFill>
                <a:latin typeface="Microsoft YaHei"/>
              </a:defRPr>
            </a:pPr>
            <a:r>
              <a:t>Cl· 来源与作用？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9312" y="4599432"/>
            <a:ext cx="2962656" cy="53949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3440"/>
                </a:solidFill>
                <a:latin typeface="Microsoft YaHei"/>
              </a:defRPr>
            </a:pPr>
            <a:r>
              <a:t>来自DCE？PVC？其他？</a:t>
            </a:r>
          </a:p>
          <a:p>
            <a:pPr>
              <a:spcAft>
                <a:spcPts val="800"/>
              </a:spcAft>
              <a:defRPr sz="1600" b="0">
                <a:solidFill>
                  <a:srgbClr val="203440"/>
                </a:solidFill>
                <a:latin typeface="Microsoft YaHei"/>
              </a:defRPr>
            </a:pPr>
            <a:r>
              <a:t>Cl⁻ 释放不等于 Cl· 形成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5120640" y="3438144"/>
            <a:ext cx="0" cy="365760"/>
          </a:xfrm>
          <a:prstGeom prst="line">
            <a:avLst/>
          </a:prstGeom>
          <a:ln w="16510">
            <a:solidFill>
              <a:srgbClr val="B7673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" y="3931920"/>
            <a:ext cx="2651760" cy="3657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7E7B"/>
                </a:solidFill>
                <a:latin typeface="Microsoft YaHei"/>
              </a:defRPr>
            </a:pPr>
            <a:r>
              <a:t>已有本体系观察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480560"/>
            <a:ext cx="2651760" cy="7315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3440"/>
                </a:solidFill>
                <a:latin typeface="Microsoft YaHei"/>
              </a:defRPr>
            </a:pPr>
            <a:r>
              <a:t>模型分析记录</a:t>
            </a:r>
          </a:p>
          <a:p>
            <a:pPr>
              <a:spcAft>
                <a:spcPts val="800"/>
              </a:spcAft>
              <a:defRPr sz="1700" b="0">
                <a:solidFill>
                  <a:srgbClr val="203440"/>
                </a:solidFill>
                <a:latin typeface="Microsoft YaHei"/>
              </a:defRPr>
            </a:pPr>
            <a:r>
              <a:t>FTIR谱形变化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788152"/>
            <a:ext cx="50292" cy="420624"/>
          </a:xfrm>
          <a:prstGeom prst="rect">
            <a:avLst/>
          </a:prstGeom>
          <a:solidFill>
            <a:srgbClr val="B76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5788152"/>
            <a:ext cx="11018520" cy="43891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7673E"/>
                </a:solidFill>
                <a:latin typeface="Microsoft YaHei"/>
              </a:defRPr>
            </a:pPr>
            <a:r>
              <a:t>未闭合的环节：EAQ再生、活性种来源、PVC链长变化与氯/碳平衡。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0312"/>
            <a:ext cx="914400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97E7B"/>
                </a:solidFill>
                <a:latin typeface="Microsoft YaHei"/>
              </a:defRPr>
            </a:pPr>
            <a:r>
              <a:t>07 / MECHANISM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301984" cy="6583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3440"/>
                </a:solidFill>
                <a:latin typeface="Microsoft YaHei"/>
              </a:defRPr>
            </a:pPr>
            <a:r>
              <a:t>验证矩阵Ⅰ：先分离光、AQ、介质与氧气的作用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44752"/>
            <a:ext cx="1115568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1717A"/>
                </a:solidFill>
                <a:latin typeface="Microsoft YaHei"/>
              </a:defRPr>
            </a:pPr>
            <a:r>
              <a:t>优先做少变量、可定量、能证伪的对照，而不是先堆叠捕获剂。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65408" cy="0"/>
          </a:xfrm>
          <a:prstGeom prst="line">
            <a:avLst/>
          </a:prstGeom>
          <a:ln w="10160">
            <a:solidFill>
              <a:srgbClr val="E5EC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92240"/>
            <a:ext cx="10789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1717A"/>
                </a:solidFill>
                <a:latin typeface="Microsoft YaHei"/>
              </a:defRPr>
            </a:pPr>
            <a:r>
              <a:t>验证实验为本课题建议；光化学与介质效应背景 [3,4]，对照案例 [5]。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97E7B"/>
                </a:solidFill>
                <a:latin typeface="Microsoft YaHei"/>
              </a:defRPr>
            </a:pPr>
            <a: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94560"/>
          <a:ext cx="1106424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657600"/>
                <a:gridCol w="4023360"/>
              </a:tblGrid>
              <a:tr h="67299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实验</a:t>
                      </a:r>
                    </a:p>
                  </a:txBody>
                  <a:tcPr marL="109728" marR="82296" marT="91440" marB="64008">
                    <a:solidFill>
                      <a:srgbClr val="20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要回答的问题</a:t>
                      </a:r>
                    </a:p>
                  </a:txBody>
                  <a:tcPr marL="109728" marR="82296" marT="91440" marB="64008">
                    <a:solidFill>
                      <a:srgbClr val="20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同时记录 / 注意</a:t>
                      </a:r>
                    </a:p>
                  </a:txBody>
                  <a:tcPr marL="109728" marR="82296" marT="91440" marB="64008">
                    <a:solidFill>
                      <a:srgbClr val="203440"/>
                    </a:solidFill>
                  </a:tcPr>
                </a:tc>
              </a:tr>
              <a:tr h="67299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无光；无 AQ；无底物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光、AQ、底物是否必要？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溶剂空白、暗反应、内标与回收率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67299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DCE / 非氯溶剂配对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含氯介质是否参与或改变路径？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溶解性、吸收、浓度与温度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</a:tr>
              <a:tr h="67299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O₂ / N₂ / 空气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氧改变哪类反应或产物？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气体条件与传质；不能只比较转化率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673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波长 / AQ与乙基AQ比较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吸收匹配和取代基效应？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控制光通量；记录真实UV–Vis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779008"/>
            <a:ext cx="50292" cy="420624"/>
          </a:xfrm>
          <a:prstGeom prst="rect">
            <a:avLst/>
          </a:prstGeom>
          <a:solidFill>
            <a:srgbClr val="197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5779008"/>
            <a:ext cx="11018520" cy="43891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97E7B"/>
                </a:solidFill>
                <a:latin typeface="Microsoft YaHei"/>
              </a:defRPr>
            </a:pPr>
            <a:r>
              <a:t>先建立“必要条件 + 真实产物”，再进入中间体归属。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0312"/>
            <a:ext cx="914400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97E7B"/>
                </a:solidFill>
                <a:latin typeface="Microsoft YaHei"/>
              </a:defRPr>
            </a:pPr>
            <a:r>
              <a:t>07 / EVIDENCE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301984" cy="6583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3440"/>
                </a:solidFill>
                <a:latin typeface="Microsoft YaHei"/>
              </a:defRPr>
            </a:pPr>
            <a:r>
              <a:t>验证矩阵Ⅱ：用互相约束的测量连接自由基、氯与链长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44752"/>
            <a:ext cx="1115568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1717A"/>
                </a:solidFill>
                <a:latin typeface="Microsoft YaHei"/>
              </a:defRPr>
            </a:pPr>
            <a:r>
              <a:t>捕获实验、谱学和物料平衡应交叉验证；单一阳性结果不足以给出完整机制。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65408" cy="0"/>
          </a:xfrm>
          <a:prstGeom prst="line">
            <a:avLst/>
          </a:prstGeom>
          <a:ln w="10160">
            <a:solidFill>
              <a:srgbClr val="E5EC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92240"/>
            <a:ext cx="10789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1717A"/>
                </a:solidFill>
                <a:latin typeface="Microsoft YaHei"/>
              </a:defRPr>
            </a:pPr>
            <a:r>
              <a:t>验证实验为本课题建议；参照 [2] 官能团鉴别及 [5] Cl⁻、GPC、HPLC、ESR证据链。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97E7B"/>
                </a:solidFill>
                <a:latin typeface="Microsoft YaHei"/>
              </a:defRPr>
            </a:pPr>
            <a: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94560"/>
          <a:ext cx="110642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97680"/>
                <a:gridCol w="4023360"/>
              </a:tblGrid>
              <a:tr h="680313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</a:t>
                      </a:r>
                    </a:p>
                  </a:txBody>
                  <a:tcPr marL="109728" marR="82296" marT="91440" marB="64008">
                    <a:solidFill>
                      <a:srgbClr val="20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优先方法</a:t>
                      </a:r>
                    </a:p>
                  </a:txBody>
                  <a:tcPr marL="109728" marR="82296" marT="91440" marB="64008">
                    <a:solidFill>
                      <a:srgbClr val="20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局限与交叉验证</a:t>
                      </a:r>
                    </a:p>
                  </a:txBody>
                  <a:tcPr marL="109728" marR="82296" marT="91440" marB="64008">
                    <a:solidFill>
                      <a:srgbClr val="203440"/>
                    </a:solidFill>
                  </a:tcPr>
                </a:tc>
              </a:tr>
              <a:tr h="680313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有哪些自由基 / ROS？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EPR自旋捕获 + 合理捕获对照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捕获剂可改变吸收和反应；注意伪阳性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680313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产物究竟来自哪里？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GC-MS、标准品、内标；必要时同位素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避免仅靠谱库匹配确认复杂异构体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</a:tr>
              <a:tr h="680313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氯去了哪里？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无机氯检测 + 总氯 / 有机氯平衡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考虑气相、液相、固相及回收率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6803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PVC 链是否变短？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SEC/GPC + 凝胶分数 + FTIR/NMR/XPS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440"/>
                          </a:solidFill>
                          <a:latin typeface="Microsoft YaHei"/>
                        </a:defRPr>
                      </a:pPr>
                      <a:r>
                        <a:t>可溶组分偏差；统一取样与质量平衡</a:t>
                      </a:r>
                    </a:p>
                  </a:txBody>
                  <a:tcPr marL="109728" marR="82296" marT="91440" marB="64008">
                    <a:solidFill>
                      <a:srgbClr val="E5ECE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779008"/>
            <a:ext cx="50292" cy="420624"/>
          </a:xfrm>
          <a:prstGeom prst="rect">
            <a:avLst/>
          </a:prstGeom>
          <a:solidFill>
            <a:srgbClr val="197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5779008"/>
            <a:ext cx="11018520" cy="43891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97E7B"/>
                </a:solidFill>
                <a:latin typeface="Microsoft YaHei"/>
              </a:defRPr>
            </a:pPr>
            <a:r>
              <a:t>链断裂的结论，必须同时经得起分子量、结构和物料去向的检验。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0312"/>
            <a:ext cx="914400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97E7B"/>
                </a:solidFill>
                <a:latin typeface="Microsoft YaHei"/>
              </a:defRPr>
            </a:pPr>
            <a:r>
              <a:t>08 / PRIORITIES &amp;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301984" cy="6583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3440"/>
                </a:solidFill>
                <a:latin typeface="Microsoft YaHei"/>
              </a:defRPr>
            </a:pPr>
            <a:r>
              <a:t>下一阶段先核查反应真实性，再推进复杂底物与 PVC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44752"/>
            <a:ext cx="1115568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1717A"/>
                </a:solidFill>
                <a:latin typeface="Microsoft YaHei"/>
              </a:defRPr>
            </a:pPr>
            <a:r>
              <a:t>当前认识：已有实验线索；尚未证明有效主链断裂，也尚未识别关键活性物种。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65408" cy="0"/>
          </a:xfrm>
          <a:prstGeom prst="line">
            <a:avLst/>
          </a:prstGeom>
          <a:ln w="10160">
            <a:solidFill>
              <a:srgbClr val="E5EC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92240"/>
            <a:ext cx="10789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1717A"/>
                </a:solidFill>
                <a:latin typeface="Microsoft YaHei"/>
              </a:defRPr>
            </a:pPr>
            <a:r>
              <a:t>本课题优先级方案；“已观察”“待验证”“文献一般过程”分级，不新增实验结果。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97E7B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24231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97E7B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90672"/>
            <a:ext cx="2423160" cy="5029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03440"/>
                </a:solidFill>
                <a:latin typeface="Microsoft YaHei"/>
              </a:defRPr>
            </a:pPr>
            <a:r>
              <a:t>核查模型反应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22191"/>
            <a:ext cx="2423160" cy="12344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3440"/>
                </a:solidFill>
                <a:latin typeface="Microsoft YaHei"/>
              </a:defRPr>
            </a:pPr>
            <a:r>
              <a:t>重审色谱、内标、产物归属</a:t>
            </a:r>
          </a:p>
          <a:p>
            <a:pPr>
              <a:spcAft>
                <a:spcPts val="800"/>
              </a:spcAft>
              <a:defRPr sz="1700" b="0">
                <a:solidFill>
                  <a:srgbClr val="203440"/>
                </a:solidFill>
                <a:latin typeface="Microsoft YaHei"/>
              </a:defRPr>
            </a:pPr>
            <a:r>
              <a:t>完成无底物及DCE空白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08760" y="2606040"/>
            <a:ext cx="1737360" cy="0"/>
          </a:xfrm>
          <a:prstGeom prst="line">
            <a:avLst/>
          </a:prstGeom>
          <a:ln w="25400">
            <a:solidFill>
              <a:srgbClr val="E5EC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83864" y="2286000"/>
            <a:ext cx="24231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97E7B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3090672"/>
            <a:ext cx="2423160" cy="5029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03440"/>
                </a:solidFill>
                <a:latin typeface="Microsoft YaHei"/>
              </a:defRPr>
            </a:pPr>
            <a:r>
              <a:t>优化简单底物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3822191"/>
            <a:ext cx="2423160" cy="12344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3440"/>
                </a:solidFill>
                <a:latin typeface="Microsoft YaHei"/>
              </a:defRPr>
            </a:pPr>
            <a:r>
              <a:t>2-氯己烷与2-氯戊烷区分</a:t>
            </a:r>
          </a:p>
          <a:p>
            <a:pPr>
              <a:spcAft>
                <a:spcPts val="800"/>
              </a:spcAft>
              <a:defRPr sz="1700" b="0">
                <a:solidFill>
                  <a:srgbClr val="203440"/>
                </a:solidFill>
                <a:latin typeface="Microsoft YaHei"/>
              </a:defRPr>
            </a:pPr>
            <a:r>
              <a:t>筛选介质、光照及气氛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98264" y="2606040"/>
            <a:ext cx="1737360" cy="0"/>
          </a:xfrm>
          <a:prstGeom prst="line">
            <a:avLst/>
          </a:prstGeom>
          <a:ln w="25400">
            <a:solidFill>
              <a:srgbClr val="E5EC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73368" y="2286000"/>
            <a:ext cx="24231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97E7B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090672"/>
            <a:ext cx="2423160" cy="5029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03440"/>
                </a:solidFill>
                <a:latin typeface="Microsoft YaHei"/>
              </a:defRPr>
            </a:pPr>
            <a:r>
              <a:t>扩展复杂度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3822191"/>
            <a:ext cx="2423160" cy="12344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3440"/>
                </a:solidFill>
                <a:latin typeface="Microsoft YaHei"/>
              </a:defRPr>
            </a:pPr>
            <a:r>
              <a:t>氯代石蜡 → PVC</a:t>
            </a:r>
          </a:p>
          <a:p>
            <a:pPr>
              <a:spcAft>
                <a:spcPts val="800"/>
              </a:spcAft>
              <a:defRPr sz="1700" b="0">
                <a:solidFill>
                  <a:srgbClr val="203440"/>
                </a:solidFill>
                <a:latin typeface="Microsoft YaHei"/>
              </a:defRPr>
            </a:pPr>
            <a:r>
              <a:t>按层级建立可重复反应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87768" y="2606040"/>
            <a:ext cx="1737360" cy="0"/>
          </a:xfrm>
          <a:prstGeom prst="line">
            <a:avLst/>
          </a:prstGeom>
          <a:ln w="25400">
            <a:solidFill>
              <a:srgbClr val="E5EC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262872" y="2286000"/>
            <a:ext cx="24231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97E7B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3090672"/>
            <a:ext cx="2423160" cy="5029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03440"/>
                </a:solidFill>
                <a:latin typeface="Microsoft YaHei"/>
              </a:defRPr>
            </a:pPr>
            <a:r>
              <a:t>闭合证据链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3822191"/>
            <a:ext cx="2423160" cy="12344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3440"/>
                </a:solidFill>
                <a:latin typeface="Microsoft YaHei"/>
              </a:defRPr>
            </a:pPr>
            <a:r>
              <a:t>自由基 + 氯平衡 + SEC</a:t>
            </a:r>
          </a:p>
          <a:p>
            <a:pPr>
              <a:spcAft>
                <a:spcPts val="800"/>
              </a:spcAft>
              <a:defRPr sz="1700" b="0">
                <a:solidFill>
                  <a:srgbClr val="203440"/>
                </a:solidFill>
                <a:latin typeface="Microsoft YaHei"/>
              </a:defRPr>
            </a:pPr>
            <a:r>
              <a:t>逐步接受或否定机理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79008"/>
            <a:ext cx="50292" cy="420624"/>
          </a:xfrm>
          <a:prstGeom prst="rect">
            <a:avLst/>
          </a:prstGeom>
          <a:solidFill>
            <a:srgbClr val="197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5779008"/>
            <a:ext cx="11018520" cy="43891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97E7B"/>
                </a:solidFill>
                <a:latin typeface="Microsoft YaHei"/>
              </a:defRPr>
            </a:pPr>
            <a:r>
              <a:t>下一轮最重要的产出：可复核的产物定量与溶剂空白，而非更高的表观转化率。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0312"/>
            <a:ext cx="914400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97E7B"/>
                </a:solidFill>
                <a:latin typeface="Microsoft YaHei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301984" cy="6583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3440"/>
                </a:solidFill>
                <a:latin typeface="Microsoft YaHei"/>
              </a:defRPr>
            </a:pPr>
            <a:r>
              <a:t>主要参考文献：按上传全文核对题名、作者与支持范围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44752"/>
            <a:ext cx="1115568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1717A"/>
                </a:solidFill>
                <a:latin typeface="Microsoft YaHei"/>
              </a:defRPr>
            </a:pPr>
            <a:r>
              <a:t>页脚编号对应以下六篇；DOI 为可点击链接。在线解析状态未另行验证。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65408" cy="0"/>
          </a:xfrm>
          <a:prstGeom prst="line">
            <a:avLst/>
          </a:prstGeom>
          <a:ln w="10160">
            <a:solidFill>
              <a:srgbClr val="E5EC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92240"/>
            <a:ext cx="10789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7A"/>
                </a:solidFill>
                <a:latin typeface="Microsoft YaHei"/>
              </a:defRPr>
            </a:pPr>
            <a:r>
              <a:t>[2] DOI对应上传文件标识及配套PPT记录；其题名、作者、卷页已由论文首页核对。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97E7B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74519"/>
            <a:ext cx="4572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97E7B"/>
                </a:solidFill>
                <a:latin typeface="Microsoft YaHei"/>
              </a:defRPr>
            </a:pPr>
            <a:r>
              <a:t>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874519"/>
            <a:ext cx="1042416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61717A"/>
                </a:solidFill>
                <a:latin typeface="Microsoft YaHei"/>
              </a:defRPr>
            </a:pPr>
            <a:r>
              <a:t>Xu, S.; Han, Z.; Yuan, K.; Qin, P.; Zhao, W.; Lin, T.; Zhou, T.; Huang, 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103120"/>
            <a:ext cx="1042416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70" b="1">
                <a:solidFill>
                  <a:srgbClr val="203440"/>
                </a:solidFill>
                <a:latin typeface="Microsoft YaHei"/>
              </a:defRPr>
            </a:pPr>
            <a:r>
              <a:t>Upcycling chlorinated waste plastics.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395727"/>
            <a:ext cx="1042416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197E7B"/>
                </a:solidFill>
                <a:latin typeface="Microsoft YaHei"/>
              </a:defRPr>
            </a:pPr>
            <a:r>
              <a:rPr>
                <a:hlinkClick r:id="rId2"/>
              </a:rPr>
              <a:t>Nat. Rev. Methods Primers 2023, 3, 44.  DOI: 10.1038/s43586-023-00227-w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569463"/>
            <a:ext cx="4572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97E7B"/>
                </a:solidFill>
                <a:latin typeface="Microsoft YaHei"/>
              </a:defRPr>
            </a:pPr>
            <a:r>
              <a:t>[2]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569463"/>
            <a:ext cx="1042416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61717A"/>
                </a:solidFill>
                <a:latin typeface="Microsoft YaHei"/>
              </a:defRPr>
            </a:pPr>
            <a:r>
              <a:t>Gardette, J.-L.; Gaumet, S.; Lemaire, J.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798063"/>
            <a:ext cx="1042416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70" b="1">
                <a:solidFill>
                  <a:srgbClr val="203440"/>
                </a:solidFill>
                <a:latin typeface="Microsoft YaHei"/>
              </a:defRPr>
            </a:pPr>
            <a:r>
              <a:t>Photooxidation of poly(vinyl chloride). 1. A reexamination of the mechanism.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090671"/>
            <a:ext cx="1042416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197E7B"/>
                </a:solidFill>
                <a:latin typeface="Microsoft YaHei"/>
              </a:defRPr>
            </a:pPr>
            <a:r>
              <a:rPr>
                <a:hlinkClick r:id="rId3"/>
              </a:rPr>
              <a:t>Macromolecules 1989, 22, 2576–2581.  DOI: 10.1021/ma00196a005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264408"/>
            <a:ext cx="4572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97E7B"/>
                </a:solidFill>
                <a:latin typeface="Microsoft YaHei"/>
              </a:defRPr>
            </a:pPr>
            <a:r>
              <a:t>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264408"/>
            <a:ext cx="1042416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61717A"/>
                </a:solidFill>
                <a:latin typeface="Microsoft YaHei"/>
              </a:defRPr>
            </a:pPr>
            <a:r>
              <a:t>Huang, Z.; Wang, 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493008"/>
            <a:ext cx="1042416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70" b="1">
                <a:solidFill>
                  <a:srgbClr val="203440"/>
                </a:solidFill>
                <a:latin typeface="Microsoft YaHei"/>
              </a:defRPr>
            </a:pPr>
            <a:r>
              <a:t>A review on photochemical effects of common plastics and their related applications.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785615"/>
            <a:ext cx="1042416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197E7B"/>
                </a:solidFill>
                <a:latin typeface="Microsoft YaHei"/>
              </a:defRPr>
            </a:pPr>
            <a:r>
              <a:rPr>
                <a:hlinkClick r:id="rId4"/>
              </a:rPr>
              <a:t>J. Polym. Sci. 2024, 62, 969–997.  DOI: 10.1002/pol.20230322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959352"/>
            <a:ext cx="4572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97E7B"/>
                </a:solidFill>
                <a:latin typeface="Microsoft YaHei"/>
              </a:defRPr>
            </a:pPr>
            <a:r>
              <a:t>[4]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3959352"/>
            <a:ext cx="1042416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61717A"/>
                </a:solidFill>
                <a:latin typeface="Microsoft YaHei"/>
              </a:defRPr>
            </a:pPr>
            <a:r>
              <a:t>Chen, C.-X.; Yang, S.-S.; Pang, J.-W.; He, L.; Zang, Y.-N.; Ding, L.; Ren, N.-Q.; Ding, J.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187952"/>
            <a:ext cx="1042416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70" b="1">
                <a:solidFill>
                  <a:srgbClr val="203440"/>
                </a:solidFill>
                <a:latin typeface="Microsoft YaHei"/>
              </a:defRPr>
            </a:pPr>
            <a:r>
              <a:t>Anthraquinones-based photocatalysis: A comprehensive review.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4480560"/>
            <a:ext cx="1042416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197E7B"/>
                </a:solidFill>
                <a:latin typeface="Microsoft YaHei"/>
              </a:defRPr>
            </a:pPr>
            <a:r>
              <a:rPr>
                <a:hlinkClick r:id="rId5"/>
              </a:rPr>
              <a:t>Environ. Sci. Ecotechnol. 2024, 22, 100449.  DOI: 10.1016/j.ese.2024.100449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654296"/>
            <a:ext cx="4572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97E7B"/>
                </a:solidFill>
                <a:latin typeface="Microsoft YaHei"/>
              </a:defRPr>
            </a:pPr>
            <a:r>
              <a:t>[5]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654296"/>
            <a:ext cx="1042416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61717A"/>
                </a:solidFill>
                <a:latin typeface="Microsoft YaHei"/>
              </a:defRPr>
            </a:pPr>
            <a:r>
              <a:t>Qin, J.; Dou, Y.; Zhou, J.; Zhao, D.; Orlander, T.; Andersen, H. R.; Hélix-Nielsen, C.; Zhang, 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882896"/>
            <a:ext cx="1042416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70" b="1">
                <a:solidFill>
                  <a:srgbClr val="203440"/>
                </a:solidFill>
                <a:latin typeface="Microsoft YaHei"/>
              </a:defRPr>
            </a:pPr>
            <a:r>
              <a:t>Encapsulation of carbon-nanodots into metal-organic frameworks for boosting photocatalytic upcycling of polyvinyl chloride plastic.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5175504"/>
            <a:ext cx="1042416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197E7B"/>
                </a:solidFill>
                <a:latin typeface="Microsoft YaHei"/>
              </a:defRPr>
            </a:pPr>
            <a:r>
              <a:rPr>
                <a:hlinkClick r:id="rId6"/>
              </a:rPr>
              <a:t>Appl. Catal. B: Environ. 2024, 341, 123355.  DOI: 10.1016/j.apcatb.2023.123355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349240"/>
            <a:ext cx="4572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97E7B"/>
                </a:solidFill>
                <a:latin typeface="Microsoft YaHei"/>
              </a:defRPr>
            </a:pPr>
            <a:r>
              <a:t>[6]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5349240"/>
            <a:ext cx="1042416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61717A"/>
                </a:solidFill>
                <a:latin typeface="Microsoft YaHei"/>
              </a:defRPr>
            </a:pPr>
            <a:r>
              <a:t>Su, K.; Gao, T.; Liu, H.; et 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5577840"/>
            <a:ext cx="1042416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70" b="1">
                <a:solidFill>
                  <a:srgbClr val="203440"/>
                </a:solidFill>
                <a:latin typeface="Microsoft YaHei"/>
              </a:defRPr>
            </a:pPr>
            <a:r>
              <a:t>Photocracking of Polystyrene into Aromatic Products in CH₂Cl₂.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5870448"/>
            <a:ext cx="1042416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197E7B"/>
                </a:solidFill>
                <a:latin typeface="Microsoft YaHei"/>
              </a:defRPr>
            </a:pPr>
            <a:r>
              <a:rPr>
                <a:hlinkClick r:id="rId7"/>
              </a:rPr>
              <a:t>Angew. Chem. Int. Ed. 2026, e5578835.  DOI: 10.1002/anie.5578835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0312"/>
            <a:ext cx="914400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97E7B"/>
                </a:solidFill>
                <a:latin typeface="Microsoft YaHei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301984" cy="6583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3440"/>
                </a:solidFill>
                <a:latin typeface="Microsoft YaHei"/>
              </a:defRPr>
            </a:pPr>
            <a:r>
              <a:t>感谢聆听，敬请各位老师批评指正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44752"/>
            <a:ext cx="1115568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1717A"/>
                </a:solidFill>
                <a:latin typeface="Microsoft YaHei"/>
              </a:defRPr>
            </a:pPr>
            <a:r>
              <a:t>希望讨论：如何用最少的关键实验，区分溶剂竞争与真正的 PVC 链断裂？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65408" cy="0"/>
          </a:xfrm>
          <a:prstGeom prst="line">
            <a:avLst/>
          </a:prstGeom>
          <a:ln w="10160">
            <a:solidFill>
              <a:srgbClr val="E5EC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92240"/>
            <a:ext cx="10789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7A"/>
                </a:solidFill>
                <a:latin typeface="Microsoft YaHei"/>
              </a:defRPr>
            </a:pPr>
            <a:r>
              <a:t>20页文献修订版｜原始实验数据保留｜EAQ异构体与部分原始论文仍待补充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2194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97E7B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5303520" cy="6858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03440"/>
                </a:solidFill>
                <a:latin typeface="Microsoft YaHei"/>
              </a:defRPr>
            </a:pPr>
            <a:r>
              <a:t>[–CH₂–CH(Cl)–]ₙ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5303520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1717A"/>
                </a:solidFill>
                <a:latin typeface="Microsoft YaHei"/>
              </a:defRPr>
            </a:pPr>
            <a:r>
              <a:t>PVC：含氯聚合物主链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43484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97E7B"/>
                </a:solidFill>
                <a:latin typeface="Microsoft YaHei"/>
              </a:defRPr>
            </a:pPr>
            <a:r>
              <a:t>三个优先问题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291840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97E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3291840"/>
            <a:ext cx="4224528" cy="69494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03440"/>
                </a:solidFill>
                <a:latin typeface="Microsoft YaHei"/>
              </a:defRPr>
            </a:pPr>
            <a:r>
              <a:t>检测信号究竟来自谁？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069080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97E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4069080"/>
            <a:ext cx="4224528" cy="69494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03440"/>
                </a:solidFill>
                <a:latin typeface="Microsoft YaHei"/>
              </a:defRPr>
            </a:pPr>
            <a:r>
              <a:t>氯元素最终去了哪里？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846320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97E7B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4846320"/>
            <a:ext cx="4224528" cy="69494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03440"/>
                </a:solidFill>
                <a:latin typeface="Microsoft YaHei"/>
              </a:defRPr>
            </a:pPr>
            <a:r>
              <a:t>聚合物链是否真正变短？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