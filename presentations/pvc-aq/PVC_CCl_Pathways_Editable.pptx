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提供的第二张图片重建，所有结构、弯箭、自由基点、表格和文字均为PowerPoint原生对象。第一行为亲核取代示意：Nu负离子进攻碳，C–Cl键电子对转移给氯，生成Cl负离子，不画成游离氯自由基。第二行为均裂：从C–Cl键分别向碳和氯使用单电子鱼钩箭头，得到碳中心自由基和Cl自由基；该图只说明路径定义，不代表本体系或所有PVC位点在365纳米下都发生此步。第三行为碱促进消除示意，B负离子取邻位H，C–H键电子形成C=C，C–Cl键电子对给氯，产物为HB和Cl负离子；名称脱HCl表示净消除，不将其等同于碱条件直接释放游离HCl。热消除的具体机制可能不同。右侧414、332、328千焦每摩尔精确保留用户图数值，但原始出处和适用结构未提供，因此标注示意参考值及来源待核，不能当作PVC各位点实测BDE，也不能用4千焦差异普遍排序或推定365纳米必然光解。文献Xu2023和Huang2024支持路径区分与吸光/激发态的必要性，不冒充这组BDE数值的原始出处。下一页接早期PVC光老化的文献认识，以区分路径可能性与本体系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PVC 的 C–Cl 键转化路径及键能分析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C–Cl 可经取代、均裂或消除转化；仅均裂可直接产生 Cl·，具体活化取决于结构、吸光与反应条件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机制分类参照 Xu et al., Nat. Rev. Methods Primers 2023, 3, 44；键能数值沿用用户图，原始出处待核。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44168"/>
            <a:ext cx="7461504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371600"/>
            <a:ext cx="740664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421892"/>
            <a:ext cx="7168896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PVC 中 C–Cl 键的三种主要转化路径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44168"/>
            <a:ext cx="3877056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9288" y="1371600"/>
            <a:ext cx="3822192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21892"/>
            <a:ext cx="3584448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相关化学键的示意键能对比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856231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040" y="1926640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1952243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1929384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Microsoft YaHei"/>
              </a:defRPr>
            </a:pPr>
            <a:r>
              <a:t>异裂 / 亲核取代脱氯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340863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亲核试剂参与，C–Cl 极性断裂；氯以 Cl⁻ 形式离去。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039112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生成 Cl⁻ 等含氯副产物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主链可保留或官能化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非 Cl· 直接生成路径</a:t>
            </a:r>
          </a:p>
        </p:txBody>
      </p:sp>
      <p:sp>
        <p:nvSpPr>
          <p:cNvPr id="19" name="Freeform 18"/>
          <p:cNvSpPr/>
          <p:nvPr/>
        </p:nvSpPr>
        <p:spPr>
          <a:xfrm>
            <a:off x="2944368" y="2203704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3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871215" y="2295144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68496" y="2295144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38144" y="2359152"/>
            <a:ext cx="0" cy="192024"/>
          </a:xfrm>
          <a:prstGeom prst="line">
            <a:avLst/>
          </a:prstGeom>
          <a:ln w="1778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7" y="2578608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24" name="Freeform 23"/>
          <p:cNvSpPr/>
          <p:nvPr/>
        </p:nvSpPr>
        <p:spPr>
          <a:xfrm>
            <a:off x="4572000" y="2203704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4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498848" y="2295144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96128" y="2295144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65776" y="2359152"/>
            <a:ext cx="0" cy="192024"/>
          </a:xfrm>
          <a:prstGeom prst="line">
            <a:avLst/>
          </a:prstGeom>
          <a:ln w="1778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37760" y="2578608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00000"/>
                </a:solidFill>
                <a:latin typeface="Arial"/>
              </a:defRPr>
            </a:pPr>
            <a:r>
              <a:t>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62656" y="1879091"/>
            <a:ext cx="50292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00000"/>
                </a:solidFill>
                <a:latin typeface="Arial"/>
              </a:defRPr>
            </a:pPr>
            <a:r>
              <a:t>Nu⁻</a:t>
            </a:r>
          </a:p>
        </p:txBody>
      </p:sp>
      <p:sp>
        <p:nvSpPr>
          <p:cNvPr id="30" name="Freeform 29"/>
          <p:cNvSpPr/>
          <p:nvPr/>
        </p:nvSpPr>
        <p:spPr>
          <a:xfrm>
            <a:off x="3246120" y="2029520"/>
            <a:ext cx="219884" cy="265624"/>
          </a:xfrm>
          <a:custGeom>
            <a:avLst/>
            <a:gdLst/>
            <a:ahLst/>
            <a:cxnLst/>
            <a:rect l="l" t="t" r="r" b="b"/>
            <a:pathLst>
              <a:path w="219884" h="265624">
                <a:moveTo>
                  <a:pt x="0" y="447"/>
                </a:moveTo>
                <a:lnTo>
                  <a:pt x="17846" y="0"/>
                </a:lnTo>
                <a:lnTo>
                  <a:pt x="34818" y="173"/>
                </a:lnTo>
                <a:lnTo>
                  <a:pt x="50932" y="950"/>
                </a:lnTo>
                <a:lnTo>
                  <a:pt x="66203" y="2316"/>
                </a:lnTo>
                <a:lnTo>
                  <a:pt x="80645" y="4257"/>
                </a:lnTo>
                <a:lnTo>
                  <a:pt x="94276" y="6755"/>
                </a:lnTo>
                <a:lnTo>
                  <a:pt x="107109" y="9797"/>
                </a:lnTo>
                <a:lnTo>
                  <a:pt x="119160" y="13367"/>
                </a:lnTo>
                <a:lnTo>
                  <a:pt x="130444" y="17450"/>
                </a:lnTo>
                <a:lnTo>
                  <a:pt x="140977" y="22030"/>
                </a:lnTo>
                <a:lnTo>
                  <a:pt x="150774" y="27092"/>
                </a:lnTo>
                <a:lnTo>
                  <a:pt x="159850" y="32621"/>
                </a:lnTo>
                <a:lnTo>
                  <a:pt x="168221" y="38601"/>
                </a:lnTo>
                <a:lnTo>
                  <a:pt x="175901" y="45018"/>
                </a:lnTo>
                <a:lnTo>
                  <a:pt x="182906" y="51856"/>
                </a:lnTo>
                <a:lnTo>
                  <a:pt x="189251" y="59100"/>
                </a:lnTo>
                <a:lnTo>
                  <a:pt x="194953" y="66733"/>
                </a:lnTo>
                <a:lnTo>
                  <a:pt x="200025" y="74742"/>
                </a:lnTo>
                <a:lnTo>
                  <a:pt x="204483" y="83111"/>
                </a:lnTo>
                <a:lnTo>
                  <a:pt x="208342" y="91825"/>
                </a:lnTo>
                <a:lnTo>
                  <a:pt x="211619" y="100867"/>
                </a:lnTo>
                <a:lnTo>
                  <a:pt x="214327" y="110224"/>
                </a:lnTo>
                <a:lnTo>
                  <a:pt x="216483" y="119879"/>
                </a:lnTo>
                <a:lnTo>
                  <a:pt x="218101" y="129818"/>
                </a:lnTo>
                <a:lnTo>
                  <a:pt x="219197" y="140025"/>
                </a:lnTo>
                <a:lnTo>
                  <a:pt x="219786" y="150485"/>
                </a:lnTo>
                <a:lnTo>
                  <a:pt x="219884" y="161182"/>
                </a:lnTo>
                <a:lnTo>
                  <a:pt x="219506" y="172101"/>
                </a:lnTo>
                <a:lnTo>
                  <a:pt x="218666" y="183228"/>
                </a:lnTo>
                <a:lnTo>
                  <a:pt x="217381" y="194546"/>
                </a:lnTo>
                <a:lnTo>
                  <a:pt x="215666" y="206040"/>
                </a:lnTo>
                <a:lnTo>
                  <a:pt x="213535" y="217696"/>
                </a:lnTo>
                <a:lnTo>
                  <a:pt x="211005" y="229497"/>
                </a:lnTo>
                <a:lnTo>
                  <a:pt x="208090" y="241429"/>
                </a:lnTo>
                <a:lnTo>
                  <a:pt x="204806" y="253476"/>
                </a:lnTo>
                <a:lnTo>
                  <a:pt x="201168" y="265624"/>
                </a:lnTo>
              </a:path>
            </a:pathLst>
          </a:cu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3447288" y="2238249"/>
            <a:ext cx="57057" cy="56895"/>
          </a:xfrm>
          <a:prstGeom prst="line">
            <a:avLst/>
          </a:prstGeom>
          <a:ln w="15875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432778" y="2215884"/>
            <a:ext cx="14510" cy="79260"/>
          </a:xfrm>
          <a:prstGeom prst="line">
            <a:avLst/>
          </a:prstGeom>
          <a:ln w="15875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3465576" y="2459452"/>
            <a:ext cx="162306" cy="219739"/>
          </a:xfrm>
          <a:custGeom>
            <a:avLst/>
            <a:gdLst/>
            <a:ahLst/>
            <a:cxnLst/>
            <a:rect l="l" t="t" r="r" b="b"/>
            <a:pathLst>
              <a:path w="162306" h="219739">
                <a:moveTo>
                  <a:pt x="0" y="284"/>
                </a:moveTo>
                <a:lnTo>
                  <a:pt x="18439" y="0"/>
                </a:lnTo>
                <a:lnTo>
                  <a:pt x="35669" y="641"/>
                </a:lnTo>
                <a:lnTo>
                  <a:pt x="51710" y="2157"/>
                </a:lnTo>
                <a:lnTo>
                  <a:pt x="66579" y="4498"/>
                </a:lnTo>
                <a:lnTo>
                  <a:pt x="80296" y="7615"/>
                </a:lnTo>
                <a:lnTo>
                  <a:pt x="92879" y="11460"/>
                </a:lnTo>
                <a:lnTo>
                  <a:pt x="104347" y="15981"/>
                </a:lnTo>
                <a:lnTo>
                  <a:pt x="114720" y="21130"/>
                </a:lnTo>
                <a:lnTo>
                  <a:pt x="124015" y="26858"/>
                </a:lnTo>
                <a:lnTo>
                  <a:pt x="132252" y="33115"/>
                </a:lnTo>
                <a:lnTo>
                  <a:pt x="139449" y="39852"/>
                </a:lnTo>
                <a:lnTo>
                  <a:pt x="145626" y="47020"/>
                </a:lnTo>
                <a:lnTo>
                  <a:pt x="150801" y="54568"/>
                </a:lnTo>
                <a:lnTo>
                  <a:pt x="154993" y="62448"/>
                </a:lnTo>
                <a:lnTo>
                  <a:pt x="158220" y="70610"/>
                </a:lnTo>
                <a:lnTo>
                  <a:pt x="160502" y="79005"/>
                </a:lnTo>
                <a:lnTo>
                  <a:pt x="161858" y="87583"/>
                </a:lnTo>
                <a:lnTo>
                  <a:pt x="162306" y="96296"/>
                </a:lnTo>
                <a:lnTo>
                  <a:pt x="161864" y="105093"/>
                </a:lnTo>
                <a:lnTo>
                  <a:pt x="160553" y="113925"/>
                </a:lnTo>
                <a:lnTo>
                  <a:pt x="158390" y="122743"/>
                </a:lnTo>
                <a:lnTo>
                  <a:pt x="155394" y="131498"/>
                </a:lnTo>
                <a:lnTo>
                  <a:pt x="151585" y="140140"/>
                </a:lnTo>
                <a:lnTo>
                  <a:pt x="146981" y="148619"/>
                </a:lnTo>
                <a:lnTo>
                  <a:pt x="141601" y="156887"/>
                </a:lnTo>
                <a:lnTo>
                  <a:pt x="135463" y="164894"/>
                </a:lnTo>
                <a:lnTo>
                  <a:pt x="128587" y="172591"/>
                </a:lnTo>
                <a:lnTo>
                  <a:pt x="120991" y="179927"/>
                </a:lnTo>
                <a:lnTo>
                  <a:pt x="112695" y="186855"/>
                </a:lnTo>
                <a:lnTo>
                  <a:pt x="103716" y="193323"/>
                </a:lnTo>
                <a:lnTo>
                  <a:pt x="94074" y="199284"/>
                </a:lnTo>
                <a:lnTo>
                  <a:pt x="83788" y="204688"/>
                </a:lnTo>
                <a:lnTo>
                  <a:pt x="72876" y="209484"/>
                </a:lnTo>
                <a:lnTo>
                  <a:pt x="61358" y="213625"/>
                </a:lnTo>
                <a:lnTo>
                  <a:pt x="49251" y="217060"/>
                </a:lnTo>
                <a:lnTo>
                  <a:pt x="36576" y="219739"/>
                </a:lnTo>
              </a:path>
            </a:pathLst>
          </a:custGeom>
          <a:noFill/>
          <a:ln w="15875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502152" y="2679191"/>
            <a:ext cx="76753" cy="24526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502152" y="2629877"/>
            <a:ext cx="63722" cy="49314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96512" y="2359152"/>
            <a:ext cx="420624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23360" y="2624327"/>
            <a:ext cx="82296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3584"/>
                </a:solidFill>
                <a:latin typeface="Arial"/>
              </a:defRPr>
            </a:pPr>
            <a:r>
              <a:t>+ Cl⁻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3163824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5040" y="3234232"/>
            <a:ext cx="224942" cy="224942"/>
          </a:xfrm>
          <a:prstGeom prst="ellipse">
            <a:avLst/>
          </a:prstGeom>
          <a:solidFill>
            <a:srgbClr val="C00000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" y="3259836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3236976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C00000"/>
                </a:solidFill>
                <a:latin typeface="Microsoft YaHei"/>
              </a:defRPr>
            </a:pPr>
            <a:r>
              <a:t>C–Cl 键均裂脱氯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3648456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适当引发下发生均裂，生成碳自由基与 Cl·。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346704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可进入自由基链过程</a:t>
            </a:r>
          </a:p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与氧化、断链可能关联</a:t>
            </a:r>
          </a:p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本体系需直接物种证据</a:t>
            </a:r>
          </a:p>
        </p:txBody>
      </p:sp>
      <p:sp>
        <p:nvSpPr>
          <p:cNvPr id="44" name="Freeform 43"/>
          <p:cNvSpPr/>
          <p:nvPr/>
        </p:nvSpPr>
        <p:spPr>
          <a:xfrm>
            <a:off x="2944368" y="3511296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3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871215" y="3602736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68496" y="3602736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38144" y="3666744"/>
            <a:ext cx="0" cy="192024"/>
          </a:xfrm>
          <a:prstGeom prst="line">
            <a:avLst/>
          </a:prstGeom>
          <a:ln w="1778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310127" y="388620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49" name="Freeform 48"/>
          <p:cNvSpPr/>
          <p:nvPr/>
        </p:nvSpPr>
        <p:spPr>
          <a:xfrm>
            <a:off x="4572000" y="3511296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4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4498848" y="3602736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596128" y="3602736"/>
            <a:ext cx="36576" cy="18288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046573" y="3802989"/>
            <a:ext cx="38404" cy="3840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230118" y="3639734"/>
            <a:ext cx="180594" cy="155026"/>
          </a:xfrm>
          <a:custGeom>
            <a:avLst/>
            <a:gdLst/>
            <a:ahLst/>
            <a:cxnLst/>
            <a:rect l="l" t="t" r="r" b="b"/>
            <a:pathLst>
              <a:path w="180594" h="155026">
                <a:moveTo>
                  <a:pt x="180594" y="155026"/>
                </a:moveTo>
                <a:lnTo>
                  <a:pt x="159932" y="150989"/>
                </a:lnTo>
                <a:lnTo>
                  <a:pt x="140609" y="146524"/>
                </a:lnTo>
                <a:lnTo>
                  <a:pt x="122607" y="141669"/>
                </a:lnTo>
                <a:lnTo>
                  <a:pt x="105911" y="136462"/>
                </a:lnTo>
                <a:lnTo>
                  <a:pt x="90504" y="130939"/>
                </a:lnTo>
                <a:lnTo>
                  <a:pt x="76369" y="125138"/>
                </a:lnTo>
                <a:lnTo>
                  <a:pt x="63490" y="119098"/>
                </a:lnTo>
                <a:lnTo>
                  <a:pt x="51850" y="112855"/>
                </a:lnTo>
                <a:lnTo>
                  <a:pt x="41433" y="106448"/>
                </a:lnTo>
                <a:lnTo>
                  <a:pt x="32223" y="99914"/>
                </a:lnTo>
                <a:lnTo>
                  <a:pt x="24203" y="93290"/>
                </a:lnTo>
                <a:lnTo>
                  <a:pt x="17356" y="86615"/>
                </a:lnTo>
                <a:lnTo>
                  <a:pt x="11667" y="79925"/>
                </a:lnTo>
                <a:lnTo>
                  <a:pt x="7118" y="73259"/>
                </a:lnTo>
                <a:lnTo>
                  <a:pt x="3693" y="66655"/>
                </a:lnTo>
                <a:lnTo>
                  <a:pt x="1376" y="60149"/>
                </a:lnTo>
                <a:lnTo>
                  <a:pt x="150" y="53779"/>
                </a:lnTo>
                <a:lnTo>
                  <a:pt x="0" y="47584"/>
                </a:lnTo>
                <a:lnTo>
                  <a:pt x="907" y="41600"/>
                </a:lnTo>
                <a:lnTo>
                  <a:pt x="2856" y="35865"/>
                </a:lnTo>
                <a:lnTo>
                  <a:pt x="5831" y="30417"/>
                </a:lnTo>
                <a:lnTo>
                  <a:pt x="9815" y="25294"/>
                </a:lnTo>
                <a:lnTo>
                  <a:pt x="14791" y="20533"/>
                </a:lnTo>
                <a:lnTo>
                  <a:pt x="20743" y="16172"/>
                </a:lnTo>
                <a:lnTo>
                  <a:pt x="27655" y="12248"/>
                </a:lnTo>
                <a:lnTo>
                  <a:pt x="35509" y="8800"/>
                </a:lnTo>
                <a:lnTo>
                  <a:pt x="44291" y="5864"/>
                </a:lnTo>
                <a:lnTo>
                  <a:pt x="53982" y="3478"/>
                </a:lnTo>
                <a:lnTo>
                  <a:pt x="64568" y="1681"/>
                </a:lnTo>
                <a:lnTo>
                  <a:pt x="76030" y="509"/>
                </a:lnTo>
                <a:lnTo>
                  <a:pt x="88353" y="0"/>
                </a:lnTo>
                <a:lnTo>
                  <a:pt x="101521" y="192"/>
                </a:lnTo>
                <a:lnTo>
                  <a:pt x="115517" y="1123"/>
                </a:lnTo>
                <a:lnTo>
                  <a:pt x="130323" y="2829"/>
                </a:lnTo>
                <a:lnTo>
                  <a:pt x="145925" y="5350"/>
                </a:lnTo>
                <a:lnTo>
                  <a:pt x="162306" y="8722"/>
                </a:lnTo>
              </a:path>
            </a:pathLst>
          </a:custGeom>
          <a:noFill/>
          <a:ln w="15875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3314565" y="3648456"/>
            <a:ext cx="77859" cy="20751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474720" y="3790156"/>
            <a:ext cx="165734" cy="196628"/>
          </a:xfrm>
          <a:custGeom>
            <a:avLst/>
            <a:gdLst/>
            <a:ahLst/>
            <a:cxnLst/>
            <a:rect l="l" t="t" r="r" b="b"/>
            <a:pathLst>
              <a:path w="165734" h="196628">
                <a:moveTo>
                  <a:pt x="0" y="4604"/>
                </a:moveTo>
                <a:lnTo>
                  <a:pt x="18459" y="2076"/>
                </a:lnTo>
                <a:lnTo>
                  <a:pt x="35749" y="558"/>
                </a:lnTo>
                <a:lnTo>
                  <a:pt x="51884" y="0"/>
                </a:lnTo>
                <a:lnTo>
                  <a:pt x="66880" y="351"/>
                </a:lnTo>
                <a:lnTo>
                  <a:pt x="80751" y="1564"/>
                </a:lnTo>
                <a:lnTo>
                  <a:pt x="93514" y="3588"/>
                </a:lnTo>
                <a:lnTo>
                  <a:pt x="105183" y="6373"/>
                </a:lnTo>
                <a:lnTo>
                  <a:pt x="115773" y="9872"/>
                </a:lnTo>
                <a:lnTo>
                  <a:pt x="125301" y="14033"/>
                </a:lnTo>
                <a:lnTo>
                  <a:pt x="133781" y="18809"/>
                </a:lnTo>
                <a:lnTo>
                  <a:pt x="141228" y="24149"/>
                </a:lnTo>
                <a:lnTo>
                  <a:pt x="147658" y="30004"/>
                </a:lnTo>
                <a:lnTo>
                  <a:pt x="153086" y="36324"/>
                </a:lnTo>
                <a:lnTo>
                  <a:pt x="157528" y="43061"/>
                </a:lnTo>
                <a:lnTo>
                  <a:pt x="160998" y="50165"/>
                </a:lnTo>
                <a:lnTo>
                  <a:pt x="163513" y="57586"/>
                </a:lnTo>
                <a:lnTo>
                  <a:pt x="165086" y="65275"/>
                </a:lnTo>
                <a:lnTo>
                  <a:pt x="165734" y="73184"/>
                </a:lnTo>
                <a:lnTo>
                  <a:pt x="165472" y="81261"/>
                </a:lnTo>
                <a:lnTo>
                  <a:pt x="164316" y="89458"/>
                </a:lnTo>
                <a:lnTo>
                  <a:pt x="162279" y="97726"/>
                </a:lnTo>
                <a:lnTo>
                  <a:pt x="159378" y="106015"/>
                </a:lnTo>
                <a:lnTo>
                  <a:pt x="155628" y="114276"/>
                </a:lnTo>
                <a:lnTo>
                  <a:pt x="151045" y="122460"/>
                </a:lnTo>
                <a:lnTo>
                  <a:pt x="145643" y="130516"/>
                </a:lnTo>
                <a:lnTo>
                  <a:pt x="139438" y="138396"/>
                </a:lnTo>
                <a:lnTo>
                  <a:pt x="132445" y="146050"/>
                </a:lnTo>
                <a:lnTo>
                  <a:pt x="124679" y="153429"/>
                </a:lnTo>
                <a:lnTo>
                  <a:pt x="116156" y="160483"/>
                </a:lnTo>
                <a:lnTo>
                  <a:pt x="106891" y="167164"/>
                </a:lnTo>
                <a:lnTo>
                  <a:pt x="96900" y="173421"/>
                </a:lnTo>
                <a:lnTo>
                  <a:pt x="86196" y="179205"/>
                </a:lnTo>
                <a:lnTo>
                  <a:pt x="74797" y="184467"/>
                </a:lnTo>
                <a:lnTo>
                  <a:pt x="62717" y="189158"/>
                </a:lnTo>
                <a:lnTo>
                  <a:pt x="49971" y="193228"/>
                </a:lnTo>
                <a:lnTo>
                  <a:pt x="36576" y="196628"/>
                </a:lnTo>
              </a:path>
            </a:pathLst>
          </a:custGeom>
          <a:noFill/>
          <a:ln w="15875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3511296" y="3934714"/>
            <a:ext cx="61491" cy="52070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096512" y="3666744"/>
            <a:ext cx="420624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23360" y="3931920"/>
            <a:ext cx="82296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C00000"/>
                </a:solidFill>
                <a:latin typeface="Arial"/>
              </a:defRPr>
            </a:pPr>
            <a:r>
              <a:t>+ Cl·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" y="4471416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5040" y="4541824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500" y="4567428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" y="4544568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Microsoft YaHei"/>
              </a:defRPr>
            </a:pPr>
            <a:r>
              <a:t>脱 HCl（消除）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" y="4956048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消除涉及邻位 C–H 与 C–Cl，形成不饱和结构。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2160" y="4654296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生成 C=C 不饱和结构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可逐步形成共轭多烯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改变后续吸光与反应</a:t>
            </a:r>
          </a:p>
        </p:txBody>
      </p:sp>
      <p:sp>
        <p:nvSpPr>
          <p:cNvPr id="65" name="Freeform 64"/>
          <p:cNvSpPr/>
          <p:nvPr/>
        </p:nvSpPr>
        <p:spPr>
          <a:xfrm>
            <a:off x="2944368" y="4818888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3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871215" y="4910327"/>
            <a:ext cx="36576" cy="18289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968496" y="4910327"/>
            <a:ext cx="36576" cy="18289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38144" y="4974336"/>
            <a:ext cx="0" cy="192023"/>
          </a:xfrm>
          <a:prstGeom prst="line">
            <a:avLst/>
          </a:prstGeom>
          <a:ln w="1778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310127" y="5193792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70" name="Freeform 69"/>
          <p:cNvSpPr/>
          <p:nvPr/>
        </p:nvSpPr>
        <p:spPr>
          <a:xfrm>
            <a:off x="4572000" y="4818888"/>
            <a:ext cx="987552" cy="155448"/>
          </a:xfrm>
          <a:custGeom>
            <a:avLst/>
            <a:gdLst/>
            <a:ahLst/>
            <a:cxnLst/>
            <a:rect l="l" t="t" r="r" b="b"/>
            <a:pathLst>
              <a:path w="987552" h="155448">
                <a:moveTo>
                  <a:pt x="0" y="137160"/>
                </a:moveTo>
                <a:lnTo>
                  <a:pt x="237744" y="0"/>
                </a:lnTo>
                <a:lnTo>
                  <a:pt x="493776" y="155448"/>
                </a:lnTo>
                <a:lnTo>
                  <a:pt x="749808" y="0"/>
                </a:lnTo>
                <a:lnTo>
                  <a:pt x="987552" y="137160"/>
                </a:lnTo>
              </a:path>
            </a:pathLst>
          </a:custGeom>
          <a:noFill/>
          <a:ln w="1905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498848" y="4910327"/>
            <a:ext cx="36576" cy="18289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596128" y="4910327"/>
            <a:ext cx="36576" cy="18289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837176" y="4873751"/>
            <a:ext cx="205740" cy="123445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788920" y="4485131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00000"/>
                </a:solidFill>
                <a:latin typeface="Arial"/>
              </a:defRPr>
            </a:pPr>
            <a:r>
              <a:t>B⁻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4485131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3584"/>
                </a:solidFill>
                <a:latin typeface="Arial"/>
              </a:defRPr>
            </a:pPr>
            <a:r>
              <a:t>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182112" y="4700016"/>
            <a:ext cx="0" cy="118872"/>
          </a:xfrm>
          <a:prstGeom prst="line">
            <a:avLst/>
          </a:prstGeom>
          <a:ln w="1524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3008376" y="4608576"/>
            <a:ext cx="173736" cy="120496"/>
          </a:xfrm>
          <a:custGeom>
            <a:avLst/>
            <a:gdLst/>
            <a:ahLst/>
            <a:cxnLst/>
            <a:rect l="l" t="t" r="r" b="b"/>
            <a:pathLst>
              <a:path w="173736" h="120496">
                <a:moveTo>
                  <a:pt x="0" y="0"/>
                </a:moveTo>
                <a:lnTo>
                  <a:pt x="332" y="11155"/>
                </a:lnTo>
                <a:lnTo>
                  <a:pt x="1309" y="21760"/>
                </a:lnTo>
                <a:lnTo>
                  <a:pt x="2894" y="31818"/>
                </a:lnTo>
                <a:lnTo>
                  <a:pt x="5054" y="41329"/>
                </a:lnTo>
                <a:lnTo>
                  <a:pt x="7756" y="50295"/>
                </a:lnTo>
                <a:lnTo>
                  <a:pt x="10964" y="58716"/>
                </a:lnTo>
                <a:lnTo>
                  <a:pt x="14645" y="66594"/>
                </a:lnTo>
                <a:lnTo>
                  <a:pt x="18764" y="73929"/>
                </a:lnTo>
                <a:lnTo>
                  <a:pt x="23288" y="80724"/>
                </a:lnTo>
                <a:lnTo>
                  <a:pt x="28183" y="86979"/>
                </a:lnTo>
                <a:lnTo>
                  <a:pt x="33413" y="92695"/>
                </a:lnTo>
                <a:lnTo>
                  <a:pt x="38946" y="97874"/>
                </a:lnTo>
                <a:lnTo>
                  <a:pt x="44747" y="102517"/>
                </a:lnTo>
                <a:lnTo>
                  <a:pt x="50782" y="106625"/>
                </a:lnTo>
                <a:lnTo>
                  <a:pt x="57017" y="110198"/>
                </a:lnTo>
                <a:lnTo>
                  <a:pt x="63418" y="113240"/>
                </a:lnTo>
                <a:lnTo>
                  <a:pt x="69950" y="115749"/>
                </a:lnTo>
                <a:lnTo>
                  <a:pt x="76581" y="117728"/>
                </a:lnTo>
                <a:lnTo>
                  <a:pt x="83274" y="119179"/>
                </a:lnTo>
                <a:lnTo>
                  <a:pt x="89997" y="120101"/>
                </a:lnTo>
                <a:lnTo>
                  <a:pt x="96715" y="120496"/>
                </a:lnTo>
                <a:lnTo>
                  <a:pt x="103395" y="120366"/>
                </a:lnTo>
                <a:lnTo>
                  <a:pt x="110001" y="119711"/>
                </a:lnTo>
                <a:lnTo>
                  <a:pt x="116501" y="118533"/>
                </a:lnTo>
                <a:lnTo>
                  <a:pt x="122859" y="116833"/>
                </a:lnTo>
                <a:lnTo>
                  <a:pt x="129042" y="114612"/>
                </a:lnTo>
                <a:lnTo>
                  <a:pt x="135016" y="111871"/>
                </a:lnTo>
                <a:lnTo>
                  <a:pt x="140747" y="108611"/>
                </a:lnTo>
                <a:lnTo>
                  <a:pt x="146200" y="104834"/>
                </a:lnTo>
                <a:lnTo>
                  <a:pt x="151341" y="100541"/>
                </a:lnTo>
                <a:lnTo>
                  <a:pt x="156137" y="95733"/>
                </a:lnTo>
                <a:lnTo>
                  <a:pt x="160553" y="90411"/>
                </a:lnTo>
                <a:lnTo>
                  <a:pt x="164554" y="84576"/>
                </a:lnTo>
                <a:lnTo>
                  <a:pt x="168108" y="78230"/>
                </a:lnTo>
                <a:lnTo>
                  <a:pt x="171180" y="71373"/>
                </a:lnTo>
                <a:lnTo>
                  <a:pt x="173736" y="64007"/>
                </a:lnTo>
              </a:path>
            </a:pathLst>
          </a:cu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3125708" y="4672583"/>
            <a:ext cx="56404" cy="57543"/>
          </a:xfrm>
          <a:prstGeom prst="line">
            <a:avLst/>
          </a:prstGeom>
          <a:ln w="15875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182112" y="4672583"/>
            <a:ext cx="15414" cy="79089"/>
          </a:xfrm>
          <a:prstGeom prst="line">
            <a:avLst/>
          </a:prstGeom>
          <a:ln w="15875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3182112" y="4742687"/>
            <a:ext cx="187737" cy="149353"/>
          </a:xfrm>
          <a:custGeom>
            <a:avLst/>
            <a:gdLst/>
            <a:ahLst/>
            <a:cxnLst/>
            <a:rect l="l" t="t" r="r" b="b"/>
            <a:pathLst>
              <a:path w="187737" h="149353">
                <a:moveTo>
                  <a:pt x="0" y="12192"/>
                </a:moveTo>
                <a:lnTo>
                  <a:pt x="12762" y="9335"/>
                </a:lnTo>
                <a:lnTo>
                  <a:pt x="25136" y="6858"/>
                </a:lnTo>
                <a:lnTo>
                  <a:pt x="37115" y="4763"/>
                </a:lnTo>
                <a:lnTo>
                  <a:pt x="48692" y="3048"/>
                </a:lnTo>
                <a:lnTo>
                  <a:pt x="59860" y="1715"/>
                </a:lnTo>
                <a:lnTo>
                  <a:pt x="70612" y="763"/>
                </a:lnTo>
                <a:lnTo>
                  <a:pt x="80940" y="191"/>
                </a:lnTo>
                <a:lnTo>
                  <a:pt x="90837" y="0"/>
                </a:lnTo>
                <a:lnTo>
                  <a:pt x="100298" y="191"/>
                </a:lnTo>
                <a:lnTo>
                  <a:pt x="109314" y="762"/>
                </a:lnTo>
                <a:lnTo>
                  <a:pt x="117878" y="1715"/>
                </a:lnTo>
                <a:lnTo>
                  <a:pt x="125984" y="3049"/>
                </a:lnTo>
                <a:lnTo>
                  <a:pt x="133623" y="4763"/>
                </a:lnTo>
                <a:lnTo>
                  <a:pt x="140791" y="6859"/>
                </a:lnTo>
                <a:lnTo>
                  <a:pt x="147478" y="9335"/>
                </a:lnTo>
                <a:lnTo>
                  <a:pt x="153679" y="12192"/>
                </a:lnTo>
                <a:lnTo>
                  <a:pt x="159386" y="15431"/>
                </a:lnTo>
                <a:lnTo>
                  <a:pt x="164591" y="19051"/>
                </a:lnTo>
                <a:lnTo>
                  <a:pt x="169289" y="23051"/>
                </a:lnTo>
                <a:lnTo>
                  <a:pt x="173472" y="27432"/>
                </a:lnTo>
                <a:lnTo>
                  <a:pt x="177133" y="32195"/>
                </a:lnTo>
                <a:lnTo>
                  <a:pt x="180264" y="37339"/>
                </a:lnTo>
                <a:lnTo>
                  <a:pt x="182860" y="42863"/>
                </a:lnTo>
                <a:lnTo>
                  <a:pt x="184911" y="48768"/>
                </a:lnTo>
                <a:lnTo>
                  <a:pt x="186413" y="55055"/>
                </a:lnTo>
                <a:lnTo>
                  <a:pt x="187357" y="61723"/>
                </a:lnTo>
                <a:lnTo>
                  <a:pt x="187737" y="68771"/>
                </a:lnTo>
                <a:lnTo>
                  <a:pt x="187546" y="76201"/>
                </a:lnTo>
                <a:lnTo>
                  <a:pt x="186775" y="84011"/>
                </a:lnTo>
                <a:lnTo>
                  <a:pt x="185420" y="92203"/>
                </a:lnTo>
                <a:lnTo>
                  <a:pt x="183471" y="100775"/>
                </a:lnTo>
                <a:lnTo>
                  <a:pt x="180923" y="109729"/>
                </a:lnTo>
                <a:lnTo>
                  <a:pt x="177768" y="119063"/>
                </a:lnTo>
                <a:lnTo>
                  <a:pt x="173999" y="128779"/>
                </a:lnTo>
                <a:lnTo>
                  <a:pt x="169609" y="138875"/>
                </a:lnTo>
                <a:lnTo>
                  <a:pt x="164592" y="149353"/>
                </a:lnTo>
              </a:path>
            </a:pathLst>
          </a:custGeom>
          <a:noFill/>
          <a:ln w="15875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3346704" y="4845012"/>
            <a:ext cx="65429" cy="47028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3345068" y="4811480"/>
            <a:ext cx="1636" cy="80560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465576" y="5074636"/>
            <a:ext cx="162306" cy="219740"/>
          </a:xfrm>
          <a:custGeom>
            <a:avLst/>
            <a:gdLst/>
            <a:ahLst/>
            <a:cxnLst/>
            <a:rect l="l" t="t" r="r" b="b"/>
            <a:pathLst>
              <a:path w="162306" h="219740">
                <a:moveTo>
                  <a:pt x="0" y="284"/>
                </a:moveTo>
                <a:lnTo>
                  <a:pt x="18439" y="0"/>
                </a:lnTo>
                <a:lnTo>
                  <a:pt x="35669" y="641"/>
                </a:lnTo>
                <a:lnTo>
                  <a:pt x="51710" y="2157"/>
                </a:lnTo>
                <a:lnTo>
                  <a:pt x="66579" y="4498"/>
                </a:lnTo>
                <a:lnTo>
                  <a:pt x="80296" y="7615"/>
                </a:lnTo>
                <a:lnTo>
                  <a:pt x="92879" y="11460"/>
                </a:lnTo>
                <a:lnTo>
                  <a:pt x="104347" y="15981"/>
                </a:lnTo>
                <a:lnTo>
                  <a:pt x="114720" y="21130"/>
                </a:lnTo>
                <a:lnTo>
                  <a:pt x="124015" y="26858"/>
                </a:lnTo>
                <a:lnTo>
                  <a:pt x="132252" y="33115"/>
                </a:lnTo>
                <a:lnTo>
                  <a:pt x="139449" y="39852"/>
                </a:lnTo>
                <a:lnTo>
                  <a:pt x="145626" y="47020"/>
                </a:lnTo>
                <a:lnTo>
                  <a:pt x="150801" y="54568"/>
                </a:lnTo>
                <a:lnTo>
                  <a:pt x="154993" y="62448"/>
                </a:lnTo>
                <a:lnTo>
                  <a:pt x="158220" y="70610"/>
                </a:lnTo>
                <a:lnTo>
                  <a:pt x="160502" y="79005"/>
                </a:lnTo>
                <a:lnTo>
                  <a:pt x="161858" y="87583"/>
                </a:lnTo>
                <a:lnTo>
                  <a:pt x="162306" y="96296"/>
                </a:lnTo>
                <a:lnTo>
                  <a:pt x="161864" y="105093"/>
                </a:lnTo>
                <a:lnTo>
                  <a:pt x="160553" y="113925"/>
                </a:lnTo>
                <a:lnTo>
                  <a:pt x="158390" y="122743"/>
                </a:lnTo>
                <a:lnTo>
                  <a:pt x="155394" y="131498"/>
                </a:lnTo>
                <a:lnTo>
                  <a:pt x="151585" y="140140"/>
                </a:lnTo>
                <a:lnTo>
                  <a:pt x="146981" y="148619"/>
                </a:lnTo>
                <a:lnTo>
                  <a:pt x="141601" y="156887"/>
                </a:lnTo>
                <a:lnTo>
                  <a:pt x="135463" y="164894"/>
                </a:lnTo>
                <a:lnTo>
                  <a:pt x="128587" y="172591"/>
                </a:lnTo>
                <a:lnTo>
                  <a:pt x="120991" y="179927"/>
                </a:lnTo>
                <a:lnTo>
                  <a:pt x="112695" y="186855"/>
                </a:lnTo>
                <a:lnTo>
                  <a:pt x="103716" y="193324"/>
                </a:lnTo>
                <a:lnTo>
                  <a:pt x="94074" y="199284"/>
                </a:lnTo>
                <a:lnTo>
                  <a:pt x="83788" y="204688"/>
                </a:lnTo>
                <a:lnTo>
                  <a:pt x="72876" y="209484"/>
                </a:lnTo>
                <a:lnTo>
                  <a:pt x="61358" y="213625"/>
                </a:lnTo>
                <a:lnTo>
                  <a:pt x="49251" y="217060"/>
                </a:lnTo>
                <a:lnTo>
                  <a:pt x="36576" y="219740"/>
                </a:lnTo>
              </a:path>
            </a:pathLst>
          </a:custGeom>
          <a:noFill/>
          <a:ln w="15875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3502152" y="5294376"/>
            <a:ext cx="76753" cy="24525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502152" y="5245061"/>
            <a:ext cx="63722" cy="49315"/>
          </a:xfrm>
          <a:prstGeom prst="line">
            <a:avLst/>
          </a:prstGeom>
          <a:ln w="15875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096512" y="4974336"/>
            <a:ext cx="420624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895344" y="5239512"/>
            <a:ext cx="987552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19" b="1">
                <a:solidFill>
                  <a:srgbClr val="063584"/>
                </a:solidFill>
                <a:latin typeface="Arial"/>
              </a:defRPr>
            </a:pPr>
            <a:r>
              <a:t>+ HB + Cl⁻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93024" y="1819656"/>
            <a:ext cx="34747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图中示意参考值（非位点实测值）</a:t>
            </a: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8174736" y="2194560"/>
          <a:ext cx="3511296" cy="119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2103120"/>
              </a:tblGrid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化学键</a:t>
                      </a:r>
                    </a:p>
                  </a:txBody>
                  <a:tcPr marL="91440" marR="64008" marT="64008" marB="45720">
                    <a:solidFill>
                      <a:srgbClr val="0635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键能 / kJ·mol⁻¹</a:t>
                      </a:r>
                    </a:p>
                  </a:txBody>
                  <a:tcPr marL="91440" marR="64008" marT="64008" marB="45720">
                    <a:solidFill>
                      <a:srgbClr val="063584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C–H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414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C–C</a:t>
                      </a:r>
                    </a:p>
                  </a:txBody>
                  <a:tcPr marL="91440" marR="64008" marT="64008" marB="45720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332</a:t>
                      </a:r>
                    </a:p>
                  </a:txBody>
                  <a:tcPr marL="91440" marR="64008" marT="64008" marB="45720">
                    <a:solidFill>
                      <a:srgbClr val="EDF3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Microsoft YaHei"/>
                        </a:defRPr>
                      </a:pPr>
                      <a:r>
                        <a:t>C–Cl</a:t>
                      </a:r>
                    </a:p>
                  </a:txBody>
                  <a:tcPr marL="91440" marR="64008" marT="64008" marB="45720"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Microsoft YaHei"/>
                        </a:defRPr>
                      </a:pPr>
                      <a:r>
                        <a:t>328</a:t>
                      </a:r>
                    </a:p>
                  </a:txBody>
                  <a:tcPr marL="91440" marR="64008" marT="64008" marB="45720">
                    <a:solidFill>
                      <a:srgbClr val="FFF1F1"/>
                    </a:solidFill>
                  </a:tcPr>
                </a:tc>
              </a:tr>
            </a:tbl>
          </a:graphicData>
        </a:graphic>
      </p:graphicFrame>
      <p:sp>
        <p:nvSpPr>
          <p:cNvPr id="90" name="Rounded Rectangle 89"/>
          <p:cNvSpPr/>
          <p:nvPr/>
        </p:nvSpPr>
        <p:spPr>
          <a:xfrm>
            <a:off x="8174736" y="3602736"/>
            <a:ext cx="3511296" cy="10607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02752" y="3721608"/>
            <a:ext cx="3246120" cy="8412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40" b="0">
                <a:solidFill>
                  <a:srgbClr val="063584"/>
                </a:solidFill>
                <a:latin typeface="Microsoft YaHei"/>
              </a:defRPr>
            </a:pPr>
            <a:r>
              <a:t>• C–Cl 与 C–C 的图示值接近，具体值随结构改变。</a:t>
            </a:r>
          </a:p>
          <a:p>
            <a:pPr>
              <a:spcAft>
                <a:spcPts val="600"/>
              </a:spcAft>
              <a:defRPr sz="1240" b="0">
                <a:solidFill>
                  <a:srgbClr val="063584"/>
                </a:solidFill>
                <a:latin typeface="Microsoft YaHei"/>
              </a:defRPr>
            </a:pPr>
            <a:r>
              <a:t>• 光解还取决于吸收及激发态，不能只看键能。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4773168"/>
            <a:ext cx="338328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数值沿用用户图，原始来源待核；</a:t>
            </a:r>
          </a:p>
          <a:p>
            <a:pPr>
              <a:spcAft>
                <a:spcPts val="6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不代表 PVC 各含氯位点的实测 BDE。</a:t>
            </a:r>
          </a:p>
        </p:txBody>
      </p:sp>
      <p:sp>
        <p:nvSpPr>
          <p:cNvPr id="93" name="Freeform 92"/>
          <p:cNvSpPr/>
          <p:nvPr/>
        </p:nvSpPr>
        <p:spPr>
          <a:xfrm>
            <a:off x="8467344" y="5212080"/>
            <a:ext cx="2359152" cy="109728"/>
          </a:xfrm>
          <a:custGeom>
            <a:avLst/>
            <a:gdLst/>
            <a:ahLst/>
            <a:cxnLst/>
            <a:rect l="l" t="t" r="r" b="b"/>
            <a:pathLst>
              <a:path w="2359152" h="109728">
                <a:moveTo>
                  <a:pt x="0" y="0"/>
                </a:moveTo>
                <a:lnTo>
                  <a:pt x="393192" y="109728"/>
                </a:lnTo>
                <a:lnTo>
                  <a:pt x="786384" y="0"/>
                </a:lnTo>
                <a:lnTo>
                  <a:pt x="1179576" y="109728"/>
                </a:lnTo>
                <a:lnTo>
                  <a:pt x="1572768" y="0"/>
                </a:lnTo>
                <a:lnTo>
                  <a:pt x="1965960" y="109728"/>
                </a:lnTo>
                <a:lnTo>
                  <a:pt x="2359152" y="0"/>
                </a:lnTo>
              </a:path>
            </a:pathLst>
          </a:custGeom>
          <a:noFill/>
          <a:ln w="2032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8860536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759952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646920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546336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433304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0332720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85048" y="5669280"/>
            <a:ext cx="3200400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63584"/>
                </a:solidFill>
                <a:latin typeface="Microsoft YaHei"/>
              </a:defRPr>
            </a:pPr>
            <a:r>
              <a:t>PVC 链结构示意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evron 101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研究思路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48840" y="6099048"/>
            <a:ext cx="9445752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Microsoft YaHei"/>
              </a:defRPr>
            </a:pPr>
            <a:r>
              <a:t>重点检验可能产生 Cl· 的自由基支路，并以物种与链长证据关联氧化和断链。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