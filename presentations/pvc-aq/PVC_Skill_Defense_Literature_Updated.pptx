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76" r:id="rId28"/>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转化率</c:v>
                </c:pt>
              </c:strCache>
            </c:strRef>
          </c:tx>
          <c:spPr>
            <a:solidFill>
              <a:srgbClr val="063584"/>
            </a:solidFill>
            <a:ln>
              <a:noFill/>
            </a:ln>
          </c:spPr>
          <c:cat>
            <c:strRef>
              <c:f>Sheet1!$A$2:$A$5</c:f>
              <c:strCache>
                <c:ptCount val="4"/>
                <c:pt idx="0">
                  <c:v>O₂</c:v>
                </c:pt>
                <c:pt idx="1">
                  <c:v>O₂ 鼓泡</c:v>
                </c:pt>
                <c:pt idx="2">
                  <c:v>N₂</c:v>
                </c:pt>
                <c:pt idx="3">
                  <c:v>空气</c:v>
                </c:pt>
              </c:strCache>
            </c:strRef>
          </c:cat>
          <c:val>
            <c:numRef>
              <c:f>Sheet1!$B$2:$B$5</c:f>
              <c:numCache>
                <c:formatCode>General</c:formatCode>
                <c:ptCount val="4"/>
                <c:pt idx="0">
                  <c:v>87.6</c:v>
                </c:pt>
                <c:pt idx="1">
                  <c:v>82.8</c:v>
                </c:pt>
                <c:pt idx="2">
                  <c:v>73.8</c:v>
                </c:pt>
                <c:pt idx="3">
                  <c:v>76.6</c:v>
                </c:pt>
              </c:numCache>
            </c:numRef>
          </c:val>
        </c:ser>
        <c:dLbls>
          <c:txPr>
            <a:bodyPr/>
            <a:lstStyle/>
            <a:p>
              <a:pPr>
                <a:defRPr sz="13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max val="100.0"/>
          <c:min val="0.0"/>
        </c:scaling>
        <c:delete val="0"/>
        <c:axPos val="l"/>
        <c:majorGridlines/>
        <c:majorTickMark val="out"/>
        <c:minorTickMark val="none"/>
        <c:tickLblPos val="nextTo"/>
        <c:txPr>
          <a:bodyPr/>
          <a:lstStyle/>
          <a:p>
            <a:pPr>
              <a:defRPr sz="1100"/>
            </a:pPr>
          </a:p>
        </c:txPr>
        <c:crossAx val="-2068027336"/>
        <c:crosses val="autoZero"/>
        <c:majorUnit val="2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次汇报处于课题探索阶段。研究目标是利用不含贵金属的有机光敏组分，在常温常压条件下探索PVC脱氯和碳骨架转化，但该目标尚未完成。已有模型实验值得进一步分析，不能写成已经建立完整降解体系。封面2-EAQ为文献结构示例，实际试剂乙基取代位号待核实。下一页说明研究故事的六个环节。</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六个部分不是机械问答。研究背景界定氯和碳目标，文献提出可行反应，科学问题区分不同来源，策略用简单模型减少解析难度。前期结果没有确认预期产物，因此引出介质竞争和分析复核，最后据此安排实验。接下来从PVC传统处置的局限说明研究目标。</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依据用户提供的背景页重建，配色沿用上一版科研答辩模板。左上展示PVC的结构和制品特点，左下区分机械、热化学和光化学处理。右侧将含氯塑料的化学升级利用按碳化、官能化、裂解或偶联、溶剂处理、解聚或低分子化及新材料/闭环利用分类。各路径是概念示意，不表示同一反应闭合循环，也不表示EAQ体系已完成这些转化；溶剂处理属于加工或分离路径，不能直接等同于C–C断裂。所有结构、图标、路径、文字和箭头均为原生可编辑对象，原照片位置改为可编辑装置/材料示意。文献：Xu et al., Upcycling chlorinated waste plastics, Nat.Rev.Methods Primers2023,3,44, DOI10.1038/s43586-023-00227-w。下一页从早期PVC光老化研究引出自由基反应的调控思路。</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按文献机理、文献总结和本课题三部分组织。左侧为Gardette等1989年Macromolecules论文印刷页2580的机制图原图。它作为可移动、裁剪、替换的文献图片保留；右侧所有文字、框、编号和箭头均为原生可编辑对象。原图波数标注属于文献的产物归属，并非此前删除的用户PVC红外数据。右上概括三个环节：光引发与含氯位点活化、氧参与自由基链反应、氧化产物与可能的链裂解。原文结合光谱与化学处理支持酰氯、酮、羧酸等归属，并提出烷氧自由基β裂解等机制，不是证明每个自由基已在本课题被检测。右下将一般认识转化为具体任务：先做光暗、有无EAQ和DCE空白并复核模型信号，再结合EPR、捕获与气氛研究候选物种，最后以氯平衡、SEC/GPC和产物组成验证聚合物变化。AQ可作为候选光敏入口，不预设Cl自由基唯一主导，也不将官能团变化等同于真实断链。讲解衔接：本页之后进入AQ选择及相应文献依据。</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在合适波长吸收后先形成单重激发态，再经ISC形成三重态，并非基态直接一步生成三重态。蒽醌类有HAT和ET的一般文献基础，但取代基、介质和能级影响具体行为。Chen综述收录Ren等2-EAQ在充气溶液光还原并生成H2O2的原始研究线索，当前原文和DOI未取得，明确为二次引文。尚没有直接证明本体系EAQ在365纳米下活化有机C–Cl并释放Cl自由基的证据，不使用宽泛的C–X文献描述来填补这个缺口。下一页介绍真实聚合物光转化案例及可迁移部分。</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左侧Su体系标准条件为10毫克PS、4毫升CH2Cl2、365纳米、1bar氧气、30±5摄氏度。原文正文报告Mn和Mw从75.1和208.4kDa降至1.2和1.3kDa；PBN捕获和模拟支持作者对Cl自由基的归属。这些数值作为可编辑图形摘要保留，不伪造原始GPC曲线。右侧Qin摘要报告约76.5%转化和约14%乙酸收率，两者定义不同，不作为同一指标比较。正文说明PVC预处理100摄氏度2小时，其GPC原曲线在未获得的SI中。两文分别说明介质参与和PVC可光催化转化，但都不能直接证明EAQ/DCE体系。下一页从文献事实收敛出自己的科学问题。</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类组分可以同时影响反应，不预设某一物种为唯一主导。脱氯可经取代或消除等路径，不一定释放游离Cl自由基。相似的局部键型支持选择氯代烷烃模型，但PVC的连续位点、缺陷、添加剂和聚集态不被模型完整模拟。不能单凭键能大小判定365纳米必然直接光解，必须结合吸收和激发态测量。下一页将这些边界落实为逐级研究策略。</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阶段先用2-氯戊烷建立分析，后续可用2-氯己烷等扩展模型。确认局部反应后进入氯代石蜡，再到PVC。各阶段以真实产物、定量、回收率及必要空白作为推进条件，不能只比较一个表观转化数值。下一页先展示依据文献形成的预想机理，再报告实验检验中出现的异常。</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作为实验前的预想机理，采用用户指定的小AQ循环与大PVC路径。左侧概括AQ类的一般激发、还原及氧再氧化过程，AQH自由基和AHQ表示不同还原层级，不声称同时检出。ET与HAT为不同候选路径，不画成同一具体化学基元步骤。左下将ROS与DCE或模型反应列为待鉴定支路；不混同单线态氧、超氧和羟基自由基，也不把ROS当作一种确定物种。右侧PVC攫氢、C–Cl活化和Cl自由基HAT均未在本体系证实，因此使用虚线及问号。R自由基与氧形成ROO为一般基元反应，但不代表本样品已检测。后续ROOH、RO自由基与β裂解需要独立证据，底部连接式仅示意烷氧自由基裂解。HAT与脱氯可以竞争或并行，Cl离子释放不能独自证明Cl自由基。下一页报告实际模型实验条件，再用观察结果检验这一预想。</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记录为2-氯戊烷0.5毫摩尔、EAQ5毫克每毫升、DCE4毫升、365纳米照射6小时，比较四种气氛。明确写出DCE为1,2-二氯乙烷，避免与文献二氯甲烷混淆。装置图是规范示意，不冒充原实验照片。没有提供实际温度和光通量，不能为了符合目标补写反应已在确定的常温条件进行。下一页完整展示四组转化率与六行候选产物记录。</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四组数值87.6、82.8、73.8和76.6来自原始记录。计算式、内标和响应因子未提供，不把通常的转化率公式冒充原记录实际执行的方法。六行定性记录完整保留，2,4-二氯戊烷、四氯丁烷类、氯乙酸为候选名称，不绘制未经确认的确定结构。n.d.和斜杠不等同，不能据此推断零反应或收率。数据未提供重复性，不添加虚假误差线。下一页分析为什么目标产物尚不明确而溶剂相关信号更值得关注。</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当前不是已经证明溶剂一定优先反应，而是溶剂相关候选信号提示需要检验这一解释。EAQ激发态与DCE的作用、模型活化不足和检测漏检均可能并存。乙腈更换同时改变溶解性与吸光，不能单独证明Cl自由基或断言零转化。先澄清信号来源和分析方法，再研究选择性。下一页用观察结果更新初始机理，而不是把异常硬塞进原先循环。</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始假说重视PVC链活化；实验异常要求把DCE与模型供氢体纳入并行竞争。这里使用虚线，说明三条支路均需本体系证据。原有观察并未鉴定特定ROS或Cl自由基，也未证明AQ再生及真正链裂解，因此不指定唯一物种。EAQ激发态受溶剂和氧影响的可能性应通过相同吸收与溶解性条件比较。下一页先确定必要条件，避免过早进入复杂物种归属。</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光暗组必须控制温度和时间，有无EAQ比较需同时考虑光敏剂吸收和稳定性。AQ与EAQ对比取决于实际试剂及吸收匹配，不把取代基效应归因于唯一因素。DCE与非氯介质对比还会改变溶解性，供气方式也改变传质。因此所有组沿用同一套定量和回收率方法。下一页设置能够支持或否定机理箭头的独立测量。</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个原生示意不是新生成的实验谱图。自旋捕获需探针自身、溶剂和无底物空白，并结合模拟与合理化学捕获；抑制效应可能来自吸光改变等因素。氯平衡需考虑不同相及背景，SEC仅测可溶部分可能有偏差，需结合凝胶分数与回收率。GC-MS、标准品和必要NMR确认产物来源。EAQ再生应以组分随时间变化和稳定性支持，不能因反应继续就认定催化周转。下一页按可完成的阶段结果安排工作。</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始已完成模型为2-氯戊烷，2-氯己烷列为后续模型计划，不混写成已做。各阶段按真实结果推进，部分分析可并行，但要先确认现有信号来源，再扩大底物。PVC阶段必须有独立的链长与物料证据。下一页将最优先的无底物空白和回收实验具体化为可决策的最小组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页把优先任务具体化，而不是重复研究计划。无底物DCE空白出现同类物质会增加介质来源解释的可信度，但仍需确认同一结构；加标回收异常则应先修正分析；只有消耗与产物建立可重复对应后，才深入研究物种和选择性。背景扣除必须有定量依据，不能简单减峰面积或自动把候选物判为唯一产物。下一页总结目前认识与研究方向。</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课题价值在于把老化领域的自由基认识转化为主动调控的研究问题，不代表已经建立Cl自由基主导的PVC降解。AQ提供候选入口，介质反应使初始假说需要修正。下一阶段以分析可靠性和来源区分为近期交付，再把机制解释连接到PVC链长和物料变化。参考文献页明确哪些是直接读到全文、哪些仍为二次引用，最后结束汇报。</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题名、作者、年卷页与DOI文本按上传全文或文件标识核对，在线解析因网络403未完成。Gardette DOI与ma00196a005文件标识及配套来源一致，原PDF未显式印出DOI。Huang按正式2024卷期引用。Ren题名与卷页来自Chen Ref.98，原文及DOI未取得，明确为二次引用。完整文献证据与局限另附说明。下一页结束，不再引入新的科学结论。</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感谢各位老师聆听，敬请对分析方法、优先对照及机制证据提出建议。本页不引入新的科学结论。</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依据用户提供的第二张图片重建，所有结构、弯箭、自由基点、表格和文字均为PowerPoint原生对象。按用户原图恢复Nu、负电荷、离去基团标记与相同位置的C=C。七条弯箭与三条反应箭头各为独立单一原生形状；弯箭使用真正三次贝塞尔路径，鱼钩箭头单边钩与曲线在同一路径中，不再由分离线段拼接。第一行为亲核取代示意：亲核试剂Nu以孤对电子进攻碳，C–Cl键电子对转移给氯，生成Cl负离子，不画成游离氯自由基。第二行为均裂：从C–Cl键分别向碳和氯使用单电子鱼钩箭头，得到碳中心自由基和Cl自由基；该图只说明路径定义，不代表本体系或所有PVC位点在365纳米下都发生此步。第三行为碱促进消除示意，B负离子取邻位H，C–H键电子形成C=C，C–Cl键电子对给氯，产物为HB和Cl负离子；名称脱HCl表示净消除，不将其等同于碱条件直接释放游离HCl。热消除的具体机制可能不同。右侧414、332、328千焦每摩尔精确保留用户图数值，但原始出处和适用结构未提供，因此标注示意参考值及来源待核，不能当作PVC各位点实测BDE，也不能用4千焦差异普遍排序或推定365纳米必然光解。文献Xu2023和Huang2024支持路径区分与吸光/激发态的必要性，不冒充这组BDE数值的原始出处。下一页接早期PVC光老化的文献认识，以区分路径可能性与本体系证据。</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38/s43586-023-00227-w" TargetMode="External"/><Relationship Id="rId3" Type="http://schemas.openxmlformats.org/officeDocument/2006/relationships/hyperlink" Target="https://doi.org/10.1021/ma00196a005" TargetMode="External"/><Relationship Id="rId4" Type="http://schemas.openxmlformats.org/officeDocument/2006/relationships/hyperlink" Target="https://doi.org/10.1002/pol.20230322" TargetMode="External"/><Relationship Id="rId5" Type="http://schemas.openxmlformats.org/officeDocument/2006/relationships/hyperlink" Target="https://doi.org/10.1016/j.ese.2024.100449" TargetMode="External"/><Relationship Id="rId6" Type="http://schemas.openxmlformats.org/officeDocument/2006/relationships/hyperlink" Target="https://doi.org/10.1016/j.apcatb.2023.123355" TargetMode="External"/><Relationship Id="rId7" Type="http://schemas.openxmlformats.org/officeDocument/2006/relationships/hyperlink" Target="https://doi.org/10.1002/anie.5578835" TargetMode="External"/><Relationship Id="rId8"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PVC 光化学转化与降解机制探索</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课题组工作汇报；结构示例依据 Chen et al. 2024。</a:t>
            </a:r>
          </a:p>
        </p:txBody>
      </p:sp>
      <p:sp>
        <p:nvSpPr>
          <p:cNvPr id="5" name="TextBox 4"/>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a:t>
            </a:r>
          </a:p>
        </p:txBody>
      </p:sp>
      <p:sp>
        <p:nvSpPr>
          <p:cNvPr id="6" name="TextBox 5"/>
          <p:cNvSpPr txBox="1"/>
          <p:nvPr/>
        </p:nvSpPr>
        <p:spPr>
          <a:xfrm>
            <a:off x="475488" y="1033271"/>
            <a:ext cx="6400800" cy="1060704"/>
          </a:xfrm>
          <a:prstGeom prst="rect">
            <a:avLst/>
          </a:prstGeom>
          <a:noFill/>
          <a:effectLst/>
        </p:spPr>
        <p:txBody>
          <a:bodyPr wrap="square" lIns="22860" rIns="22860" tIns="0" bIns="0">
            <a:spAutoFit/>
          </a:bodyPr>
          <a:lstStyle/>
          <a:p>
            <a:pPr>
              <a:spcAft>
                <a:spcPts val="600"/>
              </a:spcAft>
              <a:defRPr sz="3100" b="1">
                <a:solidFill>
                  <a:srgbClr val="063584"/>
                </a:solidFill>
                <a:latin typeface="Microsoft YaHei"/>
              </a:defRPr>
            </a:pPr>
            <a:r>
              <a:t>蒽醌参与的</a:t>
            </a:r>
          </a:p>
          <a:p>
            <a:pPr>
              <a:spcAft>
                <a:spcPts val="600"/>
              </a:spcAft>
              <a:defRPr sz="3100" b="1">
                <a:solidFill>
                  <a:srgbClr val="063584"/>
                </a:solidFill>
                <a:latin typeface="Microsoft YaHei"/>
              </a:defRPr>
            </a:pPr>
            <a:r>
              <a:t>自由基反应与模型探索</a:t>
            </a:r>
          </a:p>
        </p:txBody>
      </p:sp>
      <p:cxnSp>
        <p:nvCxnSpPr>
          <p:cNvPr id="7" name="Connector 6"/>
          <p:cNvCxnSpPr/>
          <p:nvPr/>
        </p:nvCxnSpPr>
        <p:spPr>
          <a:xfrm>
            <a:off x="502920" y="2295144"/>
            <a:ext cx="6099048" cy="0"/>
          </a:xfrm>
          <a:prstGeom prst="line">
            <a:avLst/>
          </a:prstGeom>
          <a:ln w="1905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30352" y="2487168"/>
            <a:ext cx="6153912" cy="704088"/>
          </a:xfrm>
          <a:prstGeom prst="rect">
            <a:avLst/>
          </a:prstGeom>
          <a:noFill/>
          <a:effectLst/>
        </p:spPr>
        <p:txBody>
          <a:bodyPr wrap="square" lIns="22860" rIns="22860" tIns="0" bIns="0">
            <a:spAutoFit/>
          </a:bodyPr>
          <a:lstStyle/>
          <a:p>
            <a:pPr>
              <a:spcAft>
                <a:spcPts val="600"/>
              </a:spcAft>
              <a:defRPr sz="2000" b="1">
                <a:solidFill>
                  <a:srgbClr val="111111"/>
                </a:solidFill>
                <a:latin typeface="Microsoft YaHei"/>
              </a:defRPr>
            </a:pPr>
            <a:r>
              <a:t>研究目标：发展有机光敏体系，</a:t>
            </a:r>
          </a:p>
          <a:p>
            <a:pPr>
              <a:spcAft>
                <a:spcPts val="600"/>
              </a:spcAft>
              <a:defRPr sz="2000" b="1">
                <a:solidFill>
                  <a:srgbClr val="111111"/>
                </a:solidFill>
                <a:latin typeface="Microsoft YaHei"/>
              </a:defRPr>
            </a:pPr>
            <a:r>
              <a:t>探索常温常压下 PVC 脱氯与碳骨架转化。</a:t>
            </a:r>
          </a:p>
        </p:txBody>
      </p:sp>
      <p:sp>
        <p:nvSpPr>
          <p:cNvPr id="9" name="Rounded Rectangle 8"/>
          <p:cNvSpPr/>
          <p:nvPr/>
        </p:nvSpPr>
        <p:spPr>
          <a:xfrm>
            <a:off x="512064" y="3474720"/>
            <a:ext cx="6053328" cy="1353312"/>
          </a:xfrm>
          <a:prstGeom prst="roundRect">
            <a:avLst>
              <a:gd name="adj" fmla="val 2500"/>
            </a:avLst>
          </a:prstGeom>
          <a:solidFill>
            <a:srgbClr val="F6F8FC"/>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04088" y="3675887"/>
            <a:ext cx="5669280" cy="320040"/>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报告人：佟可心</a:t>
            </a:r>
          </a:p>
        </p:txBody>
      </p:sp>
      <p:sp>
        <p:nvSpPr>
          <p:cNvPr id="11" name="TextBox 10"/>
          <p:cNvSpPr txBox="1"/>
          <p:nvPr/>
        </p:nvSpPr>
        <p:spPr>
          <a:xfrm>
            <a:off x="704088" y="4123944"/>
            <a:ext cx="5577840" cy="292608"/>
          </a:xfrm>
          <a:prstGeom prst="rect">
            <a:avLst/>
          </a:prstGeom>
          <a:noFill/>
          <a:effectLst/>
        </p:spPr>
        <p:txBody>
          <a:bodyPr wrap="square" lIns="22860" rIns="22860" tIns="0" bIns="0">
            <a:spAutoFit/>
          </a:bodyPr>
          <a:lstStyle/>
          <a:p>
            <a:pPr>
              <a:spcAft>
                <a:spcPts val="600"/>
              </a:spcAft>
              <a:defRPr sz="1600" b="0">
                <a:solidFill>
                  <a:srgbClr val="111111"/>
                </a:solidFill>
                <a:latin typeface="Microsoft YaHei"/>
              </a:defRPr>
            </a:pPr>
            <a:r>
              <a:t>指导教师：孙再成 教授 / 李鹏飞 博士</a:t>
            </a:r>
          </a:p>
        </p:txBody>
      </p:sp>
      <p:sp>
        <p:nvSpPr>
          <p:cNvPr id="12" name="TextBox 11"/>
          <p:cNvSpPr txBox="1"/>
          <p:nvPr/>
        </p:nvSpPr>
        <p:spPr>
          <a:xfrm>
            <a:off x="704088" y="4535424"/>
            <a:ext cx="5577840" cy="210312"/>
          </a:xfrm>
          <a:prstGeom prst="rect">
            <a:avLst/>
          </a:prstGeom>
          <a:noFill/>
          <a:effectLst/>
        </p:spPr>
        <p:txBody>
          <a:bodyPr wrap="square" lIns="22860" rIns="22860" tIns="0" bIns="0">
            <a:spAutoFit/>
          </a:bodyPr>
          <a:lstStyle/>
          <a:p>
            <a:pPr>
              <a:spcAft>
                <a:spcPts val="600"/>
              </a:spcAft>
              <a:defRPr sz="1300" b="0">
                <a:solidFill>
                  <a:srgbClr val="566273"/>
                </a:solidFill>
                <a:latin typeface="Microsoft YaHei"/>
              </a:defRPr>
            </a:pPr>
            <a:r>
              <a:t>北京工业大学  ·  2026 年 10 月 17 日</a:t>
            </a:r>
          </a:p>
        </p:txBody>
      </p:sp>
      <p:sp>
        <p:nvSpPr>
          <p:cNvPr id="13" name="Rounded Rectangle 12"/>
          <p:cNvSpPr/>
          <p:nvPr/>
        </p:nvSpPr>
        <p:spPr>
          <a:xfrm>
            <a:off x="6949440" y="1024128"/>
            <a:ext cx="4700016" cy="3822191"/>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ounded Rectangle 13"/>
          <p:cNvSpPr/>
          <p:nvPr/>
        </p:nvSpPr>
        <p:spPr>
          <a:xfrm>
            <a:off x="6976872" y="1051560"/>
            <a:ext cx="464515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095744" y="1101852"/>
            <a:ext cx="440740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光敏组分与含氯主链的候选关联</a:t>
            </a:r>
          </a:p>
        </p:txBody>
      </p:sp>
      <p:sp>
        <p:nvSpPr>
          <p:cNvPr id="16" name="Freeform 15"/>
          <p:cNvSpPr/>
          <p:nvPr/>
        </p:nvSpPr>
        <p:spPr>
          <a:xfrm>
            <a:off x="8584950" y="1929384"/>
            <a:ext cx="506812" cy="585216"/>
          </a:xfrm>
          <a:custGeom>
            <a:avLst/>
            <a:gdLst/>
            <a:ahLst/>
            <a:cxnLst/>
            <a:rect l="l" t="t" r="r" b="b"/>
            <a:pathLst>
              <a:path w="506812" h="585216">
                <a:moveTo>
                  <a:pt x="253406" y="0"/>
                </a:moveTo>
                <a:lnTo>
                  <a:pt x="506812" y="146304"/>
                </a:lnTo>
                <a:lnTo>
                  <a:pt x="506812" y="438912"/>
                </a:lnTo>
                <a:lnTo>
                  <a:pt x="253406" y="585216"/>
                </a:lnTo>
                <a:lnTo>
                  <a:pt x="0" y="438912"/>
                </a:lnTo>
                <a:lnTo>
                  <a:pt x="0" y="146304"/>
                </a:lnTo>
                <a:lnTo>
                  <a:pt x="25340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8838356" y="2011314"/>
            <a:ext cx="182452" cy="10533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flipH="1">
            <a:off x="8838356" y="2327330"/>
            <a:ext cx="182452" cy="10533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flipV="1">
            <a:off x="8655903" y="2116653"/>
            <a:ext cx="0" cy="2106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0" name="Freeform 19"/>
          <p:cNvSpPr/>
          <p:nvPr/>
        </p:nvSpPr>
        <p:spPr>
          <a:xfrm>
            <a:off x="9091762" y="1929384"/>
            <a:ext cx="506811" cy="585216"/>
          </a:xfrm>
          <a:custGeom>
            <a:avLst/>
            <a:gdLst/>
            <a:ahLst/>
            <a:cxnLst/>
            <a:rect l="l" t="t" r="r" b="b"/>
            <a:pathLst>
              <a:path w="506811" h="585216">
                <a:moveTo>
                  <a:pt x="253406" y="0"/>
                </a:moveTo>
                <a:lnTo>
                  <a:pt x="506811" y="146304"/>
                </a:lnTo>
                <a:lnTo>
                  <a:pt x="506811" y="438912"/>
                </a:lnTo>
                <a:lnTo>
                  <a:pt x="253406" y="585216"/>
                </a:lnTo>
                <a:lnTo>
                  <a:pt x="0" y="438912"/>
                </a:lnTo>
                <a:lnTo>
                  <a:pt x="0" y="146304"/>
                </a:lnTo>
                <a:lnTo>
                  <a:pt x="25340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Freeform 20"/>
          <p:cNvSpPr/>
          <p:nvPr/>
        </p:nvSpPr>
        <p:spPr>
          <a:xfrm>
            <a:off x="9598573" y="1929384"/>
            <a:ext cx="506812" cy="585216"/>
          </a:xfrm>
          <a:custGeom>
            <a:avLst/>
            <a:gdLst/>
            <a:ahLst/>
            <a:cxnLst/>
            <a:rect l="l" t="t" r="r" b="b"/>
            <a:pathLst>
              <a:path w="506812" h="585216">
                <a:moveTo>
                  <a:pt x="253406" y="0"/>
                </a:moveTo>
                <a:lnTo>
                  <a:pt x="506812" y="146304"/>
                </a:lnTo>
                <a:lnTo>
                  <a:pt x="506812" y="438912"/>
                </a:lnTo>
                <a:lnTo>
                  <a:pt x="253406" y="585216"/>
                </a:lnTo>
                <a:lnTo>
                  <a:pt x="0" y="438912"/>
                </a:lnTo>
                <a:lnTo>
                  <a:pt x="0" y="146304"/>
                </a:lnTo>
                <a:lnTo>
                  <a:pt x="25340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Connector 21"/>
          <p:cNvCxnSpPr/>
          <p:nvPr/>
        </p:nvCxnSpPr>
        <p:spPr>
          <a:xfrm>
            <a:off x="9851979" y="2011314"/>
            <a:ext cx="182453" cy="10533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H="1">
            <a:off x="9851979" y="2327330"/>
            <a:ext cx="182453" cy="10533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flipV="1">
            <a:off x="9669527" y="2116653"/>
            <a:ext cx="0" cy="2106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flipV="1">
            <a:off x="9322308" y="1719072"/>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flipV="1">
            <a:off x="9368028" y="1719072"/>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9244584" y="1499616"/>
            <a:ext cx="274320" cy="228600"/>
          </a:xfrm>
          <a:prstGeom prst="rect">
            <a:avLst/>
          </a:prstGeom>
          <a:noFill/>
          <a:effectLst/>
        </p:spPr>
        <p:txBody>
          <a:bodyPr wrap="square" lIns="22860" rIns="22860" tIns="0" bIns="0">
            <a:spAutoFit/>
          </a:bodyPr>
          <a:lstStyle/>
          <a:p>
            <a:pPr>
              <a:spcAft>
                <a:spcPts val="600"/>
              </a:spcAft>
              <a:defRPr sz="1300" b="0">
                <a:solidFill>
                  <a:srgbClr val="111111"/>
                </a:solidFill>
                <a:latin typeface="Arial"/>
              </a:defRPr>
            </a:pPr>
            <a:r>
              <a:t>O</a:t>
            </a:r>
          </a:p>
        </p:txBody>
      </p:sp>
      <p:cxnSp>
        <p:nvCxnSpPr>
          <p:cNvPr id="28" name="Connector 27"/>
          <p:cNvCxnSpPr/>
          <p:nvPr/>
        </p:nvCxnSpPr>
        <p:spPr>
          <a:xfrm>
            <a:off x="9322308" y="251460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9" name="Connector 28"/>
          <p:cNvCxnSpPr/>
          <p:nvPr/>
        </p:nvCxnSpPr>
        <p:spPr>
          <a:xfrm>
            <a:off x="9368028" y="251460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9244584" y="2734056"/>
            <a:ext cx="274320" cy="228600"/>
          </a:xfrm>
          <a:prstGeom prst="rect">
            <a:avLst/>
          </a:prstGeom>
          <a:noFill/>
          <a:effectLst/>
        </p:spPr>
        <p:txBody>
          <a:bodyPr wrap="square" lIns="22860" rIns="22860" tIns="0" bIns="0">
            <a:spAutoFit/>
          </a:bodyPr>
          <a:lstStyle/>
          <a:p>
            <a:pPr>
              <a:spcAft>
                <a:spcPts val="600"/>
              </a:spcAft>
              <a:defRPr sz="1300" b="0">
                <a:solidFill>
                  <a:srgbClr val="111111"/>
                </a:solidFill>
                <a:latin typeface="Arial"/>
              </a:defRPr>
            </a:pPr>
            <a:r>
              <a:t>O</a:t>
            </a:r>
          </a:p>
        </p:txBody>
      </p:sp>
      <p:cxnSp>
        <p:nvCxnSpPr>
          <p:cNvPr id="31" name="Connector 30"/>
          <p:cNvCxnSpPr/>
          <p:nvPr/>
        </p:nvCxnSpPr>
        <p:spPr>
          <a:xfrm flipH="1" flipV="1">
            <a:off x="8328918" y="1920240"/>
            <a:ext cx="256032" cy="155448"/>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2" name="Connector 31"/>
          <p:cNvCxnSpPr/>
          <p:nvPr/>
        </p:nvCxnSpPr>
        <p:spPr>
          <a:xfrm flipH="1">
            <a:off x="8072886" y="1920240"/>
            <a:ext cx="256032" cy="155448"/>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7635240" y="2852928"/>
            <a:ext cx="3429000" cy="265176"/>
          </a:xfrm>
          <a:prstGeom prst="rect">
            <a:avLst/>
          </a:prstGeom>
          <a:noFill/>
          <a:effectLst/>
        </p:spPr>
        <p:txBody>
          <a:bodyPr wrap="square" lIns="22860" rIns="22860" tIns="0" bIns="0">
            <a:spAutoFit/>
          </a:bodyPr>
          <a:lstStyle/>
          <a:p>
            <a:pPr algn="ctr">
              <a:spcAft>
                <a:spcPts val="600"/>
              </a:spcAft>
              <a:defRPr sz="1100" b="0">
                <a:solidFill>
                  <a:srgbClr val="566273"/>
                </a:solidFill>
                <a:latin typeface="Microsoft YaHei"/>
              </a:defRPr>
            </a:pPr>
            <a:r>
              <a:t>2-EAQ 文献结构示例；实际位号待核</a:t>
            </a:r>
          </a:p>
        </p:txBody>
      </p:sp>
      <p:sp>
        <p:nvSpPr>
          <p:cNvPr id="34" name="TextBox 33"/>
          <p:cNvSpPr txBox="1"/>
          <p:nvPr/>
        </p:nvSpPr>
        <p:spPr>
          <a:xfrm>
            <a:off x="8257031" y="3255264"/>
            <a:ext cx="2221992" cy="301752"/>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hν / O₂</a:t>
            </a:r>
          </a:p>
        </p:txBody>
      </p:sp>
      <p:sp>
        <p:nvSpPr>
          <p:cNvPr id="35" name="Freeform 34"/>
          <p:cNvSpPr/>
          <p:nvPr/>
        </p:nvSpPr>
        <p:spPr>
          <a:xfrm>
            <a:off x="7479792" y="3803904"/>
            <a:ext cx="3401567" cy="164592"/>
          </a:xfrm>
          <a:custGeom>
            <a:avLst/>
            <a:gdLst/>
            <a:ahLst/>
            <a:cxnLst/>
            <a:rect l="l" t="t" r="r" b="b"/>
            <a:pathLst>
              <a:path w="3401567" h="164592">
                <a:moveTo>
                  <a:pt x="0" y="0"/>
                </a:moveTo>
                <a:lnTo>
                  <a:pt x="566927" y="164592"/>
                </a:lnTo>
                <a:lnTo>
                  <a:pt x="1133856" y="0"/>
                </a:lnTo>
                <a:lnTo>
                  <a:pt x="1700784" y="164592"/>
                </a:lnTo>
                <a:lnTo>
                  <a:pt x="2267712" y="0"/>
                </a:lnTo>
                <a:lnTo>
                  <a:pt x="2834640" y="164592"/>
                </a:lnTo>
                <a:lnTo>
                  <a:pt x="3401567"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6" name="Connector 35"/>
          <p:cNvCxnSpPr/>
          <p:nvPr/>
        </p:nvCxnSpPr>
        <p:spPr>
          <a:xfrm>
            <a:off x="8046719" y="396849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7" name="TextBox 36"/>
          <p:cNvSpPr txBox="1"/>
          <p:nvPr/>
        </p:nvSpPr>
        <p:spPr>
          <a:xfrm>
            <a:off x="7918703" y="437083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8" name="Connector 37"/>
          <p:cNvCxnSpPr/>
          <p:nvPr/>
        </p:nvCxnSpPr>
        <p:spPr>
          <a:xfrm>
            <a:off x="9180576" y="396849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9052559" y="437083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40" name="Connector 39"/>
          <p:cNvCxnSpPr/>
          <p:nvPr/>
        </p:nvCxnSpPr>
        <p:spPr>
          <a:xfrm>
            <a:off x="10314432" y="396849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10186415" y="437083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42" name="TextBox 41"/>
          <p:cNvSpPr txBox="1"/>
          <p:nvPr/>
        </p:nvSpPr>
        <p:spPr>
          <a:xfrm>
            <a:off x="7232904" y="3776472"/>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43" name="TextBox 42"/>
          <p:cNvSpPr txBox="1"/>
          <p:nvPr/>
        </p:nvSpPr>
        <p:spPr>
          <a:xfrm>
            <a:off x="10927080" y="3776472"/>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44" name="Rounded Rectangle 43"/>
          <p:cNvSpPr/>
          <p:nvPr/>
        </p:nvSpPr>
        <p:spPr>
          <a:xfrm>
            <a:off x="502920" y="5074920"/>
            <a:ext cx="3538728"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603504" y="5166359"/>
            <a:ext cx="3337560"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研究基础</a:t>
            </a:r>
          </a:p>
        </p:txBody>
      </p:sp>
      <p:sp>
        <p:nvSpPr>
          <p:cNvPr id="46" name="TextBox 45"/>
          <p:cNvSpPr txBox="1"/>
          <p:nvPr/>
        </p:nvSpPr>
        <p:spPr>
          <a:xfrm>
            <a:off x="603504" y="5495544"/>
            <a:ext cx="3337560"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PVC 光老化与聚合物光转化</a:t>
            </a:r>
          </a:p>
        </p:txBody>
      </p:sp>
      <p:sp>
        <p:nvSpPr>
          <p:cNvPr id="47" name="Rounded Rectangle 46"/>
          <p:cNvSpPr/>
          <p:nvPr/>
        </p:nvSpPr>
        <p:spPr>
          <a:xfrm>
            <a:off x="4251959" y="5074920"/>
            <a:ext cx="3538728"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4352544" y="5166359"/>
            <a:ext cx="3337560"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已有探索</a:t>
            </a:r>
          </a:p>
        </p:txBody>
      </p:sp>
      <p:sp>
        <p:nvSpPr>
          <p:cNvPr id="49" name="TextBox 48"/>
          <p:cNvSpPr txBox="1"/>
          <p:nvPr/>
        </p:nvSpPr>
        <p:spPr>
          <a:xfrm>
            <a:off x="4352544" y="5495544"/>
            <a:ext cx="3337560"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模型底物转化与溶剂相关信号</a:t>
            </a:r>
          </a:p>
        </p:txBody>
      </p:sp>
      <p:sp>
        <p:nvSpPr>
          <p:cNvPr id="50" name="Rounded Rectangle 49"/>
          <p:cNvSpPr/>
          <p:nvPr/>
        </p:nvSpPr>
        <p:spPr>
          <a:xfrm>
            <a:off x="8001000" y="5074920"/>
            <a:ext cx="3538728"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8101583" y="5166359"/>
            <a:ext cx="3337560"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工作重点</a:t>
            </a:r>
          </a:p>
        </p:txBody>
      </p:sp>
      <p:sp>
        <p:nvSpPr>
          <p:cNvPr id="52" name="TextBox 51"/>
          <p:cNvSpPr txBox="1"/>
          <p:nvPr/>
        </p:nvSpPr>
        <p:spPr>
          <a:xfrm>
            <a:off x="8101583" y="5495544"/>
            <a:ext cx="3337560"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区分反应来源，检验自由基路径</a:t>
            </a:r>
          </a:p>
        </p:txBody>
      </p:sp>
      <p:sp>
        <p:nvSpPr>
          <p:cNvPr id="53" name="Rectangle 52"/>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Chevron 53"/>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汇报定位</a:t>
            </a:r>
          </a:p>
        </p:txBody>
      </p:sp>
      <p:sp>
        <p:nvSpPr>
          <p:cNvPr id="56" name="TextBox 55"/>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用模型结果识别竞争反应，以独立证据连接自由基化学与 PVC 主链变化。</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汇报主线：由文献依据走向可证伪的实验假说</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研究背景—文献启发—科学问题—研究策略—前期探索—下一步实验</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2</a:t>
            </a:r>
          </a:p>
        </p:txBody>
      </p:sp>
      <p:sp>
        <p:nvSpPr>
          <p:cNvPr id="7" name="Rounded Rectangle 6"/>
          <p:cNvSpPr/>
          <p:nvPr/>
        </p:nvSpPr>
        <p:spPr>
          <a:xfrm>
            <a:off x="438912"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57784"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研究背景</a:t>
            </a:r>
          </a:p>
        </p:txBody>
      </p:sp>
      <p:sp>
        <p:nvSpPr>
          <p:cNvPr id="9" name="TextBox 8"/>
          <p:cNvSpPr txBox="1"/>
          <p:nvPr/>
        </p:nvSpPr>
        <p:spPr>
          <a:xfrm>
            <a:off x="548640"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氯管理 + 碳骨架</a:t>
            </a:r>
          </a:p>
        </p:txBody>
      </p:sp>
      <p:cxnSp>
        <p:nvCxnSpPr>
          <p:cNvPr id="10" name="Connector 9"/>
          <p:cNvCxnSpPr/>
          <p:nvPr/>
        </p:nvCxnSpPr>
        <p:spPr>
          <a:xfrm>
            <a:off x="2249424"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1" name="Rounded Rectangle 10"/>
          <p:cNvSpPr/>
          <p:nvPr/>
        </p:nvSpPr>
        <p:spPr>
          <a:xfrm>
            <a:off x="2377440"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496312"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文献启发</a:t>
            </a:r>
          </a:p>
        </p:txBody>
      </p:sp>
      <p:sp>
        <p:nvSpPr>
          <p:cNvPr id="13" name="TextBox 12"/>
          <p:cNvSpPr txBox="1"/>
          <p:nvPr/>
        </p:nvSpPr>
        <p:spPr>
          <a:xfrm>
            <a:off x="2487168"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老化、AQ 与介质</a:t>
            </a:r>
          </a:p>
        </p:txBody>
      </p:sp>
      <p:cxnSp>
        <p:nvCxnSpPr>
          <p:cNvPr id="14" name="Connector 13"/>
          <p:cNvCxnSpPr/>
          <p:nvPr/>
        </p:nvCxnSpPr>
        <p:spPr>
          <a:xfrm>
            <a:off x="4187952"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5" name="Rounded Rectangle 14"/>
          <p:cNvSpPr/>
          <p:nvPr/>
        </p:nvSpPr>
        <p:spPr>
          <a:xfrm>
            <a:off x="4315968"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434840"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科学问题</a:t>
            </a:r>
          </a:p>
        </p:txBody>
      </p:sp>
      <p:sp>
        <p:nvSpPr>
          <p:cNvPr id="17" name="TextBox 16"/>
          <p:cNvSpPr txBox="1"/>
          <p:nvPr/>
        </p:nvSpPr>
        <p:spPr>
          <a:xfrm>
            <a:off x="4425696"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活性来源与链裂解</a:t>
            </a:r>
          </a:p>
        </p:txBody>
      </p:sp>
      <p:cxnSp>
        <p:nvCxnSpPr>
          <p:cNvPr id="18" name="Connector 17"/>
          <p:cNvCxnSpPr/>
          <p:nvPr/>
        </p:nvCxnSpPr>
        <p:spPr>
          <a:xfrm>
            <a:off x="6126480"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6254496"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373368"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研究策略</a:t>
            </a:r>
          </a:p>
        </p:txBody>
      </p:sp>
      <p:sp>
        <p:nvSpPr>
          <p:cNvPr id="21" name="TextBox 20"/>
          <p:cNvSpPr txBox="1"/>
          <p:nvPr/>
        </p:nvSpPr>
        <p:spPr>
          <a:xfrm>
            <a:off x="6364224"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局部模型 → PVC</a:t>
            </a:r>
          </a:p>
        </p:txBody>
      </p:sp>
      <p:cxnSp>
        <p:nvCxnSpPr>
          <p:cNvPr id="22" name="Connector 21"/>
          <p:cNvCxnSpPr/>
          <p:nvPr/>
        </p:nvCxnSpPr>
        <p:spPr>
          <a:xfrm>
            <a:off x="8065008"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3" name="Rounded Rectangle 22"/>
          <p:cNvSpPr/>
          <p:nvPr/>
        </p:nvSpPr>
        <p:spPr>
          <a:xfrm>
            <a:off x="8193024"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311896"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前期探索</a:t>
            </a:r>
          </a:p>
        </p:txBody>
      </p:sp>
      <p:sp>
        <p:nvSpPr>
          <p:cNvPr id="25" name="TextBox 24"/>
          <p:cNvSpPr txBox="1"/>
          <p:nvPr/>
        </p:nvSpPr>
        <p:spPr>
          <a:xfrm>
            <a:off x="8302752"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转化与产物不匹配</a:t>
            </a:r>
          </a:p>
        </p:txBody>
      </p:sp>
      <p:cxnSp>
        <p:nvCxnSpPr>
          <p:cNvPr id="26" name="Connector 25"/>
          <p:cNvCxnSpPr/>
          <p:nvPr/>
        </p:nvCxnSpPr>
        <p:spPr>
          <a:xfrm>
            <a:off x="10003536"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7" name="Rounded Rectangle 26"/>
          <p:cNvSpPr/>
          <p:nvPr/>
        </p:nvSpPr>
        <p:spPr>
          <a:xfrm>
            <a:off x="10131552"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250424"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下一步实验</a:t>
            </a:r>
          </a:p>
        </p:txBody>
      </p:sp>
      <p:sp>
        <p:nvSpPr>
          <p:cNvPr id="29" name="TextBox 28"/>
          <p:cNvSpPr txBox="1"/>
          <p:nvPr/>
        </p:nvSpPr>
        <p:spPr>
          <a:xfrm>
            <a:off x="10241280"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空白、物种与链长</a:t>
            </a:r>
          </a:p>
        </p:txBody>
      </p:sp>
      <p:sp>
        <p:nvSpPr>
          <p:cNvPr id="30" name="Rounded Rectangle 29"/>
          <p:cNvSpPr/>
          <p:nvPr/>
        </p:nvSpPr>
        <p:spPr>
          <a:xfrm>
            <a:off x="448056" y="2889504"/>
            <a:ext cx="6858000" cy="267004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75488" y="2916936"/>
            <a:ext cx="68031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94360" y="2967228"/>
            <a:ext cx="65653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贯穿汇报的因果链</a:t>
            </a:r>
          </a:p>
        </p:txBody>
      </p:sp>
      <p:sp>
        <p:nvSpPr>
          <p:cNvPr id="33" name="Oval 32"/>
          <p:cNvSpPr/>
          <p:nvPr/>
        </p:nvSpPr>
        <p:spPr>
          <a:xfrm>
            <a:off x="658368" y="343814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62940" y="3447287"/>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35" name="TextBox 34"/>
          <p:cNvSpPr txBox="1"/>
          <p:nvPr/>
        </p:nvSpPr>
        <p:spPr>
          <a:xfrm>
            <a:off x="1033271" y="3438144"/>
            <a:ext cx="2167128" cy="31089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文献给出可能性</a:t>
            </a:r>
          </a:p>
        </p:txBody>
      </p:sp>
      <p:sp>
        <p:nvSpPr>
          <p:cNvPr id="36" name="TextBox 35"/>
          <p:cNvSpPr txBox="1"/>
          <p:nvPr/>
        </p:nvSpPr>
        <p:spPr>
          <a:xfrm>
            <a:off x="3282696" y="3456432"/>
            <a:ext cx="3767328" cy="44805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自由基过程与含氯介质提供可研究入口</a:t>
            </a:r>
          </a:p>
        </p:txBody>
      </p:sp>
      <p:sp>
        <p:nvSpPr>
          <p:cNvPr id="37" name="Oval 36"/>
          <p:cNvSpPr/>
          <p:nvPr/>
        </p:nvSpPr>
        <p:spPr>
          <a:xfrm>
            <a:off x="658368" y="407822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62940" y="408736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39" name="TextBox 38"/>
          <p:cNvSpPr txBox="1"/>
          <p:nvPr/>
        </p:nvSpPr>
        <p:spPr>
          <a:xfrm>
            <a:off x="1033271" y="4078224"/>
            <a:ext cx="2167128" cy="31089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实验暴露竞争解释</a:t>
            </a:r>
          </a:p>
        </p:txBody>
      </p:sp>
      <p:sp>
        <p:nvSpPr>
          <p:cNvPr id="40" name="TextBox 39"/>
          <p:cNvSpPr txBox="1"/>
          <p:nvPr/>
        </p:nvSpPr>
        <p:spPr>
          <a:xfrm>
            <a:off x="3282696" y="4096511"/>
            <a:ext cx="3767328" cy="44805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目标产物未确认，DCE 相关信号值得关注</a:t>
            </a:r>
          </a:p>
        </p:txBody>
      </p:sp>
      <p:sp>
        <p:nvSpPr>
          <p:cNvPr id="41" name="Oval 40"/>
          <p:cNvSpPr/>
          <p:nvPr/>
        </p:nvSpPr>
        <p:spPr>
          <a:xfrm>
            <a:off x="658368" y="471830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62940" y="472744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43" name="TextBox 42"/>
          <p:cNvSpPr txBox="1"/>
          <p:nvPr/>
        </p:nvSpPr>
        <p:spPr>
          <a:xfrm>
            <a:off x="1033271" y="4718304"/>
            <a:ext cx="2167128" cy="31089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机制通过实验被约束</a:t>
            </a:r>
          </a:p>
        </p:txBody>
      </p:sp>
      <p:sp>
        <p:nvSpPr>
          <p:cNvPr id="44" name="TextBox 43"/>
          <p:cNvSpPr txBox="1"/>
          <p:nvPr/>
        </p:nvSpPr>
        <p:spPr>
          <a:xfrm>
            <a:off x="3282696" y="4736592"/>
            <a:ext cx="3767328" cy="44805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每个关键箭头对应独立测量与否定对照</a:t>
            </a:r>
          </a:p>
        </p:txBody>
      </p:sp>
      <p:sp>
        <p:nvSpPr>
          <p:cNvPr id="45" name="Rounded Rectangle 44"/>
          <p:cNvSpPr/>
          <p:nvPr/>
        </p:nvSpPr>
        <p:spPr>
          <a:xfrm>
            <a:off x="7534656" y="2889504"/>
            <a:ext cx="4114800" cy="2670048"/>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ounded Rectangle 45"/>
          <p:cNvSpPr/>
          <p:nvPr/>
        </p:nvSpPr>
        <p:spPr>
          <a:xfrm>
            <a:off x="7562088" y="2916936"/>
            <a:ext cx="40599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7680960" y="2967228"/>
            <a:ext cx="38221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本次汇报的判据</a:t>
            </a:r>
          </a:p>
        </p:txBody>
      </p:sp>
      <p:sp>
        <p:nvSpPr>
          <p:cNvPr id="48" name="TextBox 47"/>
          <p:cNvSpPr txBox="1"/>
          <p:nvPr/>
        </p:nvSpPr>
        <p:spPr>
          <a:xfrm>
            <a:off x="7781544" y="3538728"/>
            <a:ext cx="3621024" cy="932688"/>
          </a:xfrm>
          <a:prstGeom prst="rect">
            <a:avLst/>
          </a:prstGeom>
          <a:noFill/>
          <a:effectLst/>
        </p:spPr>
        <p:txBody>
          <a:bodyPr wrap="square" lIns="22860" rIns="22860" tIns="0" bIns="0">
            <a:spAutoFit/>
          </a:bodyPr>
          <a:lstStyle/>
          <a:p>
            <a:pPr algn="ctr">
              <a:spcAft>
                <a:spcPts val="600"/>
              </a:spcAft>
              <a:defRPr sz="2100" b="1">
                <a:solidFill>
                  <a:srgbClr val="063584"/>
                </a:solidFill>
                <a:latin typeface="Microsoft YaHei"/>
              </a:defRPr>
            </a:pPr>
            <a:r>
              <a:t>底物转化</a:t>
            </a:r>
          </a:p>
          <a:p>
            <a:pPr algn="ctr">
              <a:spcAft>
                <a:spcPts val="600"/>
              </a:spcAft>
              <a:defRPr sz="2100" b="1">
                <a:solidFill>
                  <a:srgbClr val="063584"/>
                </a:solidFill>
                <a:latin typeface="Microsoft YaHei"/>
              </a:defRPr>
            </a:pPr>
            <a:r>
              <a:t>不直接等同于</a:t>
            </a:r>
          </a:p>
        </p:txBody>
      </p:sp>
      <p:sp>
        <p:nvSpPr>
          <p:cNvPr id="49" name="TextBox 48"/>
          <p:cNvSpPr txBox="1"/>
          <p:nvPr/>
        </p:nvSpPr>
        <p:spPr>
          <a:xfrm>
            <a:off x="7781544" y="4626864"/>
            <a:ext cx="3621024" cy="576072"/>
          </a:xfrm>
          <a:prstGeom prst="rect">
            <a:avLst/>
          </a:prstGeom>
          <a:noFill/>
          <a:effectLst/>
        </p:spPr>
        <p:txBody>
          <a:bodyPr wrap="square" lIns="22860" rIns="22860" tIns="0" bIns="0">
            <a:spAutoFit/>
          </a:bodyPr>
          <a:lstStyle/>
          <a:p>
            <a:pPr algn="ctr">
              <a:spcAft>
                <a:spcPts val="600"/>
              </a:spcAft>
              <a:defRPr sz="2100" b="1">
                <a:solidFill>
                  <a:srgbClr val="C00000"/>
                </a:solidFill>
                <a:latin typeface="Microsoft YaHei"/>
              </a:defRPr>
            </a:pPr>
            <a:r>
              <a:t>脱氯率、目标收率</a:t>
            </a:r>
          </a:p>
          <a:p>
            <a:pPr algn="ctr">
              <a:spcAft>
                <a:spcPts val="600"/>
              </a:spcAft>
              <a:defRPr sz="2100" b="1">
                <a:solidFill>
                  <a:srgbClr val="C00000"/>
                </a:solidFill>
                <a:latin typeface="Microsoft YaHei"/>
              </a:defRPr>
            </a:pPr>
            <a:r>
              <a:t>或 PVC 降解率</a:t>
            </a:r>
          </a:p>
        </p:txBody>
      </p:sp>
      <p:sp>
        <p:nvSpPr>
          <p:cNvPr id="50" name="Rectangle 49"/>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Chevron 50"/>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3" name="TextBox 52"/>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故事围绕“反应由谁启动、信号来自哪里、主链是否改变”逐层收敛。</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研究背景：PVC 回收与化学升级利用路径</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PVC 回收利用路径多样，化学结构转化为高值利用提供新的研究方向</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Xu et al., Nat. Rev. Methods Primers 2023, 3, 44.  DOI: 10.1038/s43586-023-00227-w</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3</a:t>
            </a:r>
          </a:p>
        </p:txBody>
      </p:sp>
      <p:sp>
        <p:nvSpPr>
          <p:cNvPr id="7" name="Rounded Rectangle 6"/>
          <p:cNvSpPr/>
          <p:nvPr/>
        </p:nvSpPr>
        <p:spPr>
          <a:xfrm>
            <a:off x="320040" y="1325880"/>
            <a:ext cx="6227064" cy="174650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347472" y="1353312"/>
            <a:ext cx="617220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66344" y="1403604"/>
            <a:ext cx="593445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PVC：重要的含氯通用塑料</a:t>
            </a:r>
          </a:p>
        </p:txBody>
      </p:sp>
      <p:sp>
        <p:nvSpPr>
          <p:cNvPr id="10" name="Freeform 9"/>
          <p:cNvSpPr/>
          <p:nvPr/>
        </p:nvSpPr>
        <p:spPr>
          <a:xfrm>
            <a:off x="713232" y="1901952"/>
            <a:ext cx="1700783" cy="118872"/>
          </a:xfrm>
          <a:custGeom>
            <a:avLst/>
            <a:gdLst/>
            <a:ahLst/>
            <a:cxnLst/>
            <a:rect l="l" t="t" r="r" b="b"/>
            <a:pathLst>
              <a:path w="1700783" h="118872">
                <a:moveTo>
                  <a:pt x="0" y="0"/>
                </a:moveTo>
                <a:lnTo>
                  <a:pt x="283464" y="118872"/>
                </a:lnTo>
                <a:lnTo>
                  <a:pt x="566928" y="0"/>
                </a:lnTo>
                <a:lnTo>
                  <a:pt x="850392" y="118872"/>
                </a:lnTo>
                <a:lnTo>
                  <a:pt x="1133856" y="0"/>
                </a:lnTo>
                <a:lnTo>
                  <a:pt x="1417320" y="118872"/>
                </a:lnTo>
                <a:lnTo>
                  <a:pt x="1700783"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 name="Connector 10"/>
          <p:cNvCxnSpPr/>
          <p:nvPr/>
        </p:nvCxnSpPr>
        <p:spPr>
          <a:xfrm>
            <a:off x="996696" y="2020824"/>
            <a:ext cx="0" cy="21945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905256" y="2267712"/>
            <a:ext cx="292608" cy="192024"/>
          </a:xfrm>
          <a:prstGeom prst="rect">
            <a:avLst/>
          </a:prstGeom>
          <a:noFill/>
          <a:effectLst/>
        </p:spPr>
        <p:txBody>
          <a:bodyPr wrap="square" lIns="22860" rIns="22860" tIns="0" bIns="0">
            <a:spAutoFit/>
          </a:bodyPr>
          <a:lstStyle/>
          <a:p>
            <a:pPr>
              <a:spcAft>
                <a:spcPts val="600"/>
              </a:spcAft>
              <a:defRPr sz="1200" b="0">
                <a:solidFill>
                  <a:srgbClr val="063584"/>
                </a:solidFill>
                <a:latin typeface="Arial"/>
              </a:defRPr>
            </a:pPr>
            <a:r>
              <a:t>Cl</a:t>
            </a:r>
          </a:p>
        </p:txBody>
      </p:sp>
      <p:cxnSp>
        <p:nvCxnSpPr>
          <p:cNvPr id="13" name="Connector 12"/>
          <p:cNvCxnSpPr/>
          <p:nvPr/>
        </p:nvCxnSpPr>
        <p:spPr>
          <a:xfrm>
            <a:off x="1563624" y="2020824"/>
            <a:ext cx="0" cy="21945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1472184" y="2267712"/>
            <a:ext cx="292608" cy="192024"/>
          </a:xfrm>
          <a:prstGeom prst="rect">
            <a:avLst/>
          </a:prstGeom>
          <a:noFill/>
          <a:effectLst/>
        </p:spPr>
        <p:txBody>
          <a:bodyPr wrap="square" lIns="22860" rIns="22860" tIns="0" bIns="0">
            <a:spAutoFit/>
          </a:bodyPr>
          <a:lstStyle/>
          <a:p>
            <a:pPr>
              <a:spcAft>
                <a:spcPts val="600"/>
              </a:spcAft>
              <a:defRPr sz="1200" b="0">
                <a:solidFill>
                  <a:srgbClr val="063584"/>
                </a:solidFill>
                <a:latin typeface="Arial"/>
              </a:defRPr>
            </a:pPr>
            <a:r>
              <a:t>Cl</a:t>
            </a:r>
          </a:p>
        </p:txBody>
      </p:sp>
      <p:cxnSp>
        <p:nvCxnSpPr>
          <p:cNvPr id="15" name="Connector 14"/>
          <p:cNvCxnSpPr/>
          <p:nvPr/>
        </p:nvCxnSpPr>
        <p:spPr>
          <a:xfrm>
            <a:off x="2130552" y="2020824"/>
            <a:ext cx="0" cy="21945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2039112" y="2267712"/>
            <a:ext cx="292608" cy="192024"/>
          </a:xfrm>
          <a:prstGeom prst="rect">
            <a:avLst/>
          </a:prstGeom>
          <a:noFill/>
          <a:effectLst/>
        </p:spPr>
        <p:txBody>
          <a:bodyPr wrap="square" lIns="22860" rIns="22860" tIns="0" bIns="0">
            <a:spAutoFit/>
          </a:bodyPr>
          <a:lstStyle/>
          <a:p>
            <a:pPr>
              <a:spcAft>
                <a:spcPts val="600"/>
              </a:spcAft>
              <a:defRPr sz="1200" b="0">
                <a:solidFill>
                  <a:srgbClr val="063584"/>
                </a:solidFill>
                <a:latin typeface="Arial"/>
              </a:defRPr>
            </a:pPr>
            <a:r>
              <a:t>Cl</a:t>
            </a:r>
          </a:p>
        </p:txBody>
      </p:sp>
      <p:sp>
        <p:nvSpPr>
          <p:cNvPr id="17" name="Freeform 16"/>
          <p:cNvSpPr/>
          <p:nvPr/>
        </p:nvSpPr>
        <p:spPr>
          <a:xfrm>
            <a:off x="576072" y="1746504"/>
            <a:ext cx="82296" cy="822960"/>
          </a:xfrm>
          <a:custGeom>
            <a:avLst/>
            <a:gdLst/>
            <a:ahLst/>
            <a:cxnLst/>
            <a:rect l="l" t="t" r="r" b="b"/>
            <a:pathLst>
              <a:path w="82296" h="822960">
                <a:moveTo>
                  <a:pt x="82296" y="0"/>
                </a:moveTo>
                <a:lnTo>
                  <a:pt x="0" y="0"/>
                </a:lnTo>
                <a:lnTo>
                  <a:pt x="0" y="822960"/>
                </a:lnTo>
                <a:lnTo>
                  <a:pt x="82296" y="822960"/>
                </a:lnTo>
              </a:path>
            </a:pathLst>
          </a:custGeom>
          <a:noFill/>
          <a:ln w="1651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Freeform 17"/>
          <p:cNvSpPr/>
          <p:nvPr/>
        </p:nvSpPr>
        <p:spPr>
          <a:xfrm>
            <a:off x="2514600" y="1746504"/>
            <a:ext cx="82296" cy="822960"/>
          </a:xfrm>
          <a:custGeom>
            <a:avLst/>
            <a:gdLst/>
            <a:ahLst/>
            <a:cxnLst/>
            <a:rect l="l" t="t" r="r" b="b"/>
            <a:pathLst>
              <a:path w="82296" h="822960">
                <a:moveTo>
                  <a:pt x="0" y="0"/>
                </a:moveTo>
                <a:lnTo>
                  <a:pt x="82296" y="0"/>
                </a:lnTo>
                <a:lnTo>
                  <a:pt x="82296" y="822960"/>
                </a:lnTo>
                <a:lnTo>
                  <a:pt x="0" y="822960"/>
                </a:lnTo>
              </a:path>
            </a:pathLst>
          </a:custGeom>
          <a:noFill/>
          <a:ln w="1651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2624328" y="2423160"/>
            <a:ext cx="201168" cy="210312"/>
          </a:xfrm>
          <a:prstGeom prst="rect">
            <a:avLst/>
          </a:prstGeom>
          <a:noFill/>
          <a:effectLst/>
        </p:spPr>
        <p:txBody>
          <a:bodyPr wrap="square" lIns="22860" rIns="22860" tIns="0" bIns="0">
            <a:spAutoFit/>
          </a:bodyPr>
          <a:lstStyle/>
          <a:p>
            <a:pPr>
              <a:spcAft>
                <a:spcPts val="600"/>
              </a:spcAft>
              <a:defRPr sz="1200" b="0">
                <a:solidFill>
                  <a:srgbClr val="111111"/>
                </a:solidFill>
                <a:latin typeface="Arial"/>
              </a:defRPr>
            </a:pPr>
            <a:r>
              <a:t>n</a:t>
            </a:r>
          </a:p>
        </p:txBody>
      </p:sp>
      <p:sp>
        <p:nvSpPr>
          <p:cNvPr id="20" name="TextBox 19"/>
          <p:cNvSpPr txBox="1"/>
          <p:nvPr/>
        </p:nvSpPr>
        <p:spPr>
          <a:xfrm>
            <a:off x="658368" y="2734056"/>
            <a:ext cx="2011680" cy="210312"/>
          </a:xfrm>
          <a:prstGeom prst="rect">
            <a:avLst/>
          </a:prstGeom>
          <a:noFill/>
          <a:effectLst/>
        </p:spPr>
        <p:txBody>
          <a:bodyPr wrap="square" lIns="22860" rIns="22860" tIns="0" bIns="0">
            <a:spAutoFit/>
          </a:bodyPr>
          <a:lstStyle/>
          <a:p>
            <a:pPr algn="ctr">
              <a:spcAft>
                <a:spcPts val="600"/>
              </a:spcAft>
              <a:defRPr sz="1250" b="1">
                <a:solidFill>
                  <a:srgbClr val="063584"/>
                </a:solidFill>
                <a:latin typeface="Microsoft YaHei"/>
              </a:defRPr>
            </a:pPr>
            <a:r>
              <a:t>PVC 结构单元</a:t>
            </a:r>
          </a:p>
        </p:txBody>
      </p:sp>
      <p:sp>
        <p:nvSpPr>
          <p:cNvPr id="21" name="Oval 20"/>
          <p:cNvSpPr/>
          <p:nvPr/>
        </p:nvSpPr>
        <p:spPr>
          <a:xfrm>
            <a:off x="2956255" y="1822399"/>
            <a:ext cx="104241" cy="104241"/>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3154680" y="1783080"/>
            <a:ext cx="3182112" cy="237744"/>
          </a:xfrm>
          <a:prstGeom prst="rect">
            <a:avLst/>
          </a:prstGeom>
          <a:noFill/>
          <a:effectLst/>
        </p:spPr>
        <p:txBody>
          <a:bodyPr wrap="square" lIns="22860" rIns="22860" tIns="0" bIns="0">
            <a:spAutoFit/>
          </a:bodyPr>
          <a:lstStyle/>
          <a:p>
            <a:pPr>
              <a:spcAft>
                <a:spcPts val="600"/>
              </a:spcAft>
              <a:defRPr sz="1250" b="0">
                <a:solidFill>
                  <a:srgbClr val="063584"/>
                </a:solidFill>
                <a:latin typeface="Microsoft YaHei"/>
              </a:defRPr>
            </a:pPr>
            <a:r>
              <a:t>产量大、应用广泛</a:t>
            </a:r>
          </a:p>
        </p:txBody>
      </p:sp>
      <p:sp>
        <p:nvSpPr>
          <p:cNvPr id="23" name="Oval 22"/>
          <p:cNvSpPr/>
          <p:nvPr/>
        </p:nvSpPr>
        <p:spPr>
          <a:xfrm>
            <a:off x="2956255" y="2115007"/>
            <a:ext cx="104241" cy="104241"/>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3154680" y="2075688"/>
            <a:ext cx="3182112" cy="237744"/>
          </a:xfrm>
          <a:prstGeom prst="rect">
            <a:avLst/>
          </a:prstGeom>
          <a:noFill/>
          <a:effectLst/>
        </p:spPr>
        <p:txBody>
          <a:bodyPr wrap="square" lIns="22860" rIns="22860" tIns="0" bIns="0">
            <a:spAutoFit/>
          </a:bodyPr>
          <a:lstStyle/>
          <a:p>
            <a:pPr>
              <a:spcAft>
                <a:spcPts val="600"/>
              </a:spcAft>
              <a:defRPr sz="1250" b="0">
                <a:solidFill>
                  <a:srgbClr val="063584"/>
                </a:solidFill>
                <a:latin typeface="Microsoft YaHei"/>
              </a:defRPr>
            </a:pPr>
            <a:r>
              <a:t>含有大量 C–Cl 键，具有独特的化学结构</a:t>
            </a:r>
          </a:p>
        </p:txBody>
      </p:sp>
      <p:sp>
        <p:nvSpPr>
          <p:cNvPr id="25" name="Oval 24"/>
          <p:cNvSpPr/>
          <p:nvPr/>
        </p:nvSpPr>
        <p:spPr>
          <a:xfrm>
            <a:off x="2956255" y="2407615"/>
            <a:ext cx="104241" cy="104241"/>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3154680" y="2368296"/>
            <a:ext cx="3182112" cy="237744"/>
          </a:xfrm>
          <a:prstGeom prst="rect">
            <a:avLst/>
          </a:prstGeom>
          <a:noFill/>
          <a:effectLst/>
        </p:spPr>
        <p:txBody>
          <a:bodyPr wrap="square" lIns="22860" rIns="22860" tIns="0" bIns="0">
            <a:spAutoFit/>
          </a:bodyPr>
          <a:lstStyle/>
          <a:p>
            <a:pPr>
              <a:spcAft>
                <a:spcPts val="600"/>
              </a:spcAft>
              <a:defRPr sz="1250" b="0">
                <a:solidFill>
                  <a:srgbClr val="063584"/>
                </a:solidFill>
                <a:latin typeface="Microsoft YaHei"/>
              </a:defRPr>
            </a:pPr>
            <a:r>
              <a:t>实际制品含增塑剂、稳定剂等多种添加剂</a:t>
            </a:r>
          </a:p>
        </p:txBody>
      </p:sp>
      <p:sp>
        <p:nvSpPr>
          <p:cNvPr id="27" name="Oval 26"/>
          <p:cNvSpPr/>
          <p:nvPr/>
        </p:nvSpPr>
        <p:spPr>
          <a:xfrm>
            <a:off x="2956255" y="2700223"/>
            <a:ext cx="104241" cy="104241"/>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3154680" y="2660904"/>
            <a:ext cx="3182112" cy="237744"/>
          </a:xfrm>
          <a:prstGeom prst="rect">
            <a:avLst/>
          </a:prstGeom>
          <a:noFill/>
          <a:effectLst/>
        </p:spPr>
        <p:txBody>
          <a:bodyPr wrap="square" lIns="22860" rIns="22860" tIns="0" bIns="0">
            <a:spAutoFit/>
          </a:bodyPr>
          <a:lstStyle/>
          <a:p>
            <a:pPr>
              <a:spcAft>
                <a:spcPts val="600"/>
              </a:spcAft>
              <a:defRPr sz="1250" b="0">
                <a:solidFill>
                  <a:srgbClr val="063584"/>
                </a:solidFill>
                <a:latin typeface="Microsoft YaHei"/>
              </a:defRPr>
            </a:pPr>
            <a:r>
              <a:t>回收与化学转化需协同管理氯与碳骨架</a:t>
            </a:r>
          </a:p>
        </p:txBody>
      </p:sp>
      <p:sp>
        <p:nvSpPr>
          <p:cNvPr id="29" name="Rounded Rectangle 28"/>
          <p:cNvSpPr/>
          <p:nvPr/>
        </p:nvSpPr>
        <p:spPr>
          <a:xfrm>
            <a:off x="320040" y="3246120"/>
            <a:ext cx="6227064" cy="25054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347472" y="3273551"/>
            <a:ext cx="617220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66344" y="3323844"/>
            <a:ext cx="593445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PVC 的主要回收与转化方式</a:t>
            </a:r>
          </a:p>
        </p:txBody>
      </p:sp>
      <p:sp>
        <p:nvSpPr>
          <p:cNvPr id="32" name="Rounded Rectangle 31"/>
          <p:cNvSpPr/>
          <p:nvPr/>
        </p:nvSpPr>
        <p:spPr>
          <a:xfrm>
            <a:off x="438912" y="3685032"/>
            <a:ext cx="5989320" cy="594360"/>
          </a:xfrm>
          <a:prstGeom prst="roundRect">
            <a:avLst>
              <a:gd name="adj" fmla="val 2500"/>
            </a:avLst>
          </a:prstGeom>
          <a:solidFill>
            <a:srgbClr val="F4F7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Freeform 32"/>
          <p:cNvSpPr/>
          <p:nvPr/>
        </p:nvSpPr>
        <p:spPr>
          <a:xfrm>
            <a:off x="754562" y="3815974"/>
            <a:ext cx="159838" cy="159837"/>
          </a:xfrm>
          <a:custGeom>
            <a:avLst/>
            <a:gdLst/>
            <a:ahLst/>
            <a:cxnLst/>
            <a:rect l="l" t="t" r="r" b="b"/>
            <a:pathLst>
              <a:path w="159838" h="159837">
                <a:moveTo>
                  <a:pt x="0" y="0"/>
                </a:moveTo>
                <a:lnTo>
                  <a:pt x="5705" y="101"/>
                </a:lnTo>
                <a:lnTo>
                  <a:pt x="11403" y="407"/>
                </a:lnTo>
                <a:lnTo>
                  <a:pt x="17086" y="915"/>
                </a:lnTo>
                <a:lnTo>
                  <a:pt x="22748" y="1626"/>
                </a:lnTo>
                <a:lnTo>
                  <a:pt x="28380" y="2539"/>
                </a:lnTo>
                <a:lnTo>
                  <a:pt x="33976" y="3652"/>
                </a:lnTo>
                <a:lnTo>
                  <a:pt x="39529" y="4965"/>
                </a:lnTo>
                <a:lnTo>
                  <a:pt x="45032" y="6474"/>
                </a:lnTo>
                <a:lnTo>
                  <a:pt x="50477" y="8179"/>
                </a:lnTo>
                <a:lnTo>
                  <a:pt x="55858" y="10077"/>
                </a:lnTo>
                <a:lnTo>
                  <a:pt x="61167" y="12166"/>
                </a:lnTo>
                <a:lnTo>
                  <a:pt x="66399" y="14444"/>
                </a:lnTo>
                <a:lnTo>
                  <a:pt x="71546" y="16906"/>
                </a:lnTo>
                <a:lnTo>
                  <a:pt x="76602" y="19551"/>
                </a:lnTo>
                <a:lnTo>
                  <a:pt x="81560" y="22375"/>
                </a:lnTo>
                <a:lnTo>
                  <a:pt x="86415" y="25373"/>
                </a:lnTo>
                <a:lnTo>
                  <a:pt x="91159" y="28543"/>
                </a:lnTo>
                <a:lnTo>
                  <a:pt x="95787" y="31880"/>
                </a:lnTo>
                <a:lnTo>
                  <a:pt x="100293" y="35381"/>
                </a:lnTo>
                <a:lnTo>
                  <a:pt x="104671" y="39040"/>
                </a:lnTo>
                <a:lnTo>
                  <a:pt x="108916" y="42853"/>
                </a:lnTo>
                <a:lnTo>
                  <a:pt x="113022" y="46815"/>
                </a:lnTo>
                <a:lnTo>
                  <a:pt x="116984" y="50921"/>
                </a:lnTo>
                <a:lnTo>
                  <a:pt x="120797" y="55166"/>
                </a:lnTo>
                <a:lnTo>
                  <a:pt x="124456" y="59544"/>
                </a:lnTo>
                <a:lnTo>
                  <a:pt x="127957" y="64050"/>
                </a:lnTo>
                <a:lnTo>
                  <a:pt x="131294" y="68678"/>
                </a:lnTo>
                <a:lnTo>
                  <a:pt x="134464" y="73422"/>
                </a:lnTo>
                <a:lnTo>
                  <a:pt x="137463" y="78277"/>
                </a:lnTo>
                <a:lnTo>
                  <a:pt x="140286" y="83235"/>
                </a:lnTo>
                <a:lnTo>
                  <a:pt x="142931" y="88291"/>
                </a:lnTo>
                <a:lnTo>
                  <a:pt x="145393" y="93438"/>
                </a:lnTo>
                <a:lnTo>
                  <a:pt x="147671" y="98670"/>
                </a:lnTo>
                <a:lnTo>
                  <a:pt x="149760" y="103979"/>
                </a:lnTo>
                <a:lnTo>
                  <a:pt x="151658" y="109360"/>
                </a:lnTo>
                <a:lnTo>
                  <a:pt x="153363" y="114805"/>
                </a:lnTo>
                <a:lnTo>
                  <a:pt x="154873" y="120308"/>
                </a:lnTo>
                <a:lnTo>
                  <a:pt x="156185" y="125861"/>
                </a:lnTo>
                <a:lnTo>
                  <a:pt x="157298" y="131457"/>
                </a:lnTo>
                <a:lnTo>
                  <a:pt x="158211" y="137090"/>
                </a:lnTo>
                <a:lnTo>
                  <a:pt x="158922" y="142751"/>
                </a:lnTo>
                <a:lnTo>
                  <a:pt x="159430" y="148434"/>
                </a:lnTo>
                <a:lnTo>
                  <a:pt x="159736" y="154132"/>
                </a:lnTo>
                <a:lnTo>
                  <a:pt x="159838" y="159837"/>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Freeform 33"/>
          <p:cNvSpPr/>
          <p:nvPr/>
        </p:nvSpPr>
        <p:spPr>
          <a:xfrm>
            <a:off x="674644" y="4055729"/>
            <a:ext cx="218341" cy="79908"/>
          </a:xfrm>
          <a:custGeom>
            <a:avLst/>
            <a:gdLst/>
            <a:ahLst/>
            <a:cxnLst/>
            <a:rect l="l" t="t" r="r" b="b"/>
            <a:pathLst>
              <a:path w="218341" h="79908">
                <a:moveTo>
                  <a:pt x="218341" y="0"/>
                </a:moveTo>
                <a:lnTo>
                  <a:pt x="215401" y="4890"/>
                </a:lnTo>
                <a:lnTo>
                  <a:pt x="212287" y="9672"/>
                </a:lnTo>
                <a:lnTo>
                  <a:pt x="209005" y="14339"/>
                </a:lnTo>
                <a:lnTo>
                  <a:pt x="205559" y="18886"/>
                </a:lnTo>
                <a:lnTo>
                  <a:pt x="201952" y="23308"/>
                </a:lnTo>
                <a:lnTo>
                  <a:pt x="198190" y="27598"/>
                </a:lnTo>
                <a:lnTo>
                  <a:pt x="194277" y="31751"/>
                </a:lnTo>
                <a:lnTo>
                  <a:pt x="190219" y="35761"/>
                </a:lnTo>
                <a:lnTo>
                  <a:pt x="186019" y="39624"/>
                </a:lnTo>
                <a:lnTo>
                  <a:pt x="181685" y="43335"/>
                </a:lnTo>
                <a:lnTo>
                  <a:pt x="177221" y="46889"/>
                </a:lnTo>
                <a:lnTo>
                  <a:pt x="172633" y="50281"/>
                </a:lnTo>
                <a:lnTo>
                  <a:pt x="167927" y="53507"/>
                </a:lnTo>
                <a:lnTo>
                  <a:pt x="163108" y="56564"/>
                </a:lnTo>
                <a:lnTo>
                  <a:pt x="158184" y="59446"/>
                </a:lnTo>
                <a:lnTo>
                  <a:pt x="153160" y="62151"/>
                </a:lnTo>
                <a:lnTo>
                  <a:pt x="148043" y="64674"/>
                </a:lnTo>
                <a:lnTo>
                  <a:pt x="142838" y="67014"/>
                </a:lnTo>
                <a:lnTo>
                  <a:pt x="137554" y="69166"/>
                </a:lnTo>
                <a:lnTo>
                  <a:pt x="132196" y="71128"/>
                </a:lnTo>
                <a:lnTo>
                  <a:pt x="126771" y="72898"/>
                </a:lnTo>
                <a:lnTo>
                  <a:pt x="121287" y="74473"/>
                </a:lnTo>
                <a:lnTo>
                  <a:pt x="115750" y="75851"/>
                </a:lnTo>
                <a:lnTo>
                  <a:pt x="110168" y="77030"/>
                </a:lnTo>
                <a:lnTo>
                  <a:pt x="104547" y="78010"/>
                </a:lnTo>
                <a:lnTo>
                  <a:pt x="98894" y="78788"/>
                </a:lnTo>
                <a:lnTo>
                  <a:pt x="93217" y="79365"/>
                </a:lnTo>
                <a:lnTo>
                  <a:pt x="87524" y="79738"/>
                </a:lnTo>
                <a:lnTo>
                  <a:pt x="81820" y="79908"/>
                </a:lnTo>
                <a:lnTo>
                  <a:pt x="76115" y="79874"/>
                </a:lnTo>
                <a:lnTo>
                  <a:pt x="70414" y="79636"/>
                </a:lnTo>
                <a:lnTo>
                  <a:pt x="64725" y="79195"/>
                </a:lnTo>
                <a:lnTo>
                  <a:pt x="59055" y="78551"/>
                </a:lnTo>
                <a:lnTo>
                  <a:pt x="53413" y="77706"/>
                </a:lnTo>
                <a:lnTo>
                  <a:pt x="47804" y="76659"/>
                </a:lnTo>
                <a:lnTo>
                  <a:pt x="42235" y="75413"/>
                </a:lnTo>
                <a:lnTo>
                  <a:pt x="36715" y="73969"/>
                </a:lnTo>
                <a:lnTo>
                  <a:pt x="31250" y="72329"/>
                </a:lnTo>
                <a:lnTo>
                  <a:pt x="25847" y="70495"/>
                </a:lnTo>
                <a:lnTo>
                  <a:pt x="20513" y="68469"/>
                </a:lnTo>
                <a:lnTo>
                  <a:pt x="15254" y="66254"/>
                </a:lnTo>
                <a:lnTo>
                  <a:pt x="10078" y="63853"/>
                </a:lnTo>
                <a:lnTo>
                  <a:pt x="4991" y="61269"/>
                </a:lnTo>
                <a:lnTo>
                  <a:pt x="0" y="58505"/>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Freeform 34"/>
          <p:cNvSpPr/>
          <p:nvPr/>
        </p:nvSpPr>
        <p:spPr>
          <a:xfrm>
            <a:off x="594737" y="3837388"/>
            <a:ext cx="79907" cy="218341"/>
          </a:xfrm>
          <a:custGeom>
            <a:avLst/>
            <a:gdLst/>
            <a:ahLst/>
            <a:cxnLst/>
            <a:rect l="l" t="t" r="r" b="b"/>
            <a:pathLst>
              <a:path w="79907" h="218341">
                <a:moveTo>
                  <a:pt x="21402" y="218341"/>
                </a:moveTo>
                <a:lnTo>
                  <a:pt x="18638" y="213350"/>
                </a:lnTo>
                <a:lnTo>
                  <a:pt x="16054" y="208263"/>
                </a:lnTo>
                <a:lnTo>
                  <a:pt x="13653" y="203087"/>
                </a:lnTo>
                <a:lnTo>
                  <a:pt x="11438" y="197828"/>
                </a:lnTo>
                <a:lnTo>
                  <a:pt x="9412" y="192494"/>
                </a:lnTo>
                <a:lnTo>
                  <a:pt x="7578" y="187091"/>
                </a:lnTo>
                <a:lnTo>
                  <a:pt x="5938" y="181626"/>
                </a:lnTo>
                <a:lnTo>
                  <a:pt x="4494" y="176106"/>
                </a:lnTo>
                <a:lnTo>
                  <a:pt x="3248" y="170538"/>
                </a:lnTo>
                <a:lnTo>
                  <a:pt x="2201" y="164928"/>
                </a:lnTo>
                <a:lnTo>
                  <a:pt x="1356" y="159286"/>
                </a:lnTo>
                <a:lnTo>
                  <a:pt x="712" y="153616"/>
                </a:lnTo>
                <a:lnTo>
                  <a:pt x="271" y="147927"/>
                </a:lnTo>
                <a:lnTo>
                  <a:pt x="34" y="142226"/>
                </a:lnTo>
                <a:lnTo>
                  <a:pt x="0" y="136521"/>
                </a:lnTo>
                <a:lnTo>
                  <a:pt x="169" y="130817"/>
                </a:lnTo>
                <a:lnTo>
                  <a:pt x="542" y="125124"/>
                </a:lnTo>
                <a:lnTo>
                  <a:pt x="1119" y="119447"/>
                </a:lnTo>
                <a:lnTo>
                  <a:pt x="1897" y="113794"/>
                </a:lnTo>
                <a:lnTo>
                  <a:pt x="2877" y="108173"/>
                </a:lnTo>
                <a:lnTo>
                  <a:pt x="4056" y="102591"/>
                </a:lnTo>
                <a:lnTo>
                  <a:pt x="5435" y="97054"/>
                </a:lnTo>
                <a:lnTo>
                  <a:pt x="7010" y="91570"/>
                </a:lnTo>
                <a:lnTo>
                  <a:pt x="8779" y="86145"/>
                </a:lnTo>
                <a:lnTo>
                  <a:pt x="10741" y="80787"/>
                </a:lnTo>
                <a:lnTo>
                  <a:pt x="12893" y="75503"/>
                </a:lnTo>
                <a:lnTo>
                  <a:pt x="15233" y="70299"/>
                </a:lnTo>
                <a:lnTo>
                  <a:pt x="17756" y="65181"/>
                </a:lnTo>
                <a:lnTo>
                  <a:pt x="20461" y="60157"/>
                </a:lnTo>
                <a:lnTo>
                  <a:pt x="23343" y="55233"/>
                </a:lnTo>
                <a:lnTo>
                  <a:pt x="26400" y="50414"/>
                </a:lnTo>
                <a:lnTo>
                  <a:pt x="29626" y="45708"/>
                </a:lnTo>
                <a:lnTo>
                  <a:pt x="33018" y="41120"/>
                </a:lnTo>
                <a:lnTo>
                  <a:pt x="36572" y="36656"/>
                </a:lnTo>
                <a:lnTo>
                  <a:pt x="40283" y="32322"/>
                </a:lnTo>
                <a:lnTo>
                  <a:pt x="44146" y="28122"/>
                </a:lnTo>
                <a:lnTo>
                  <a:pt x="48156" y="24064"/>
                </a:lnTo>
                <a:lnTo>
                  <a:pt x="52309" y="20151"/>
                </a:lnTo>
                <a:lnTo>
                  <a:pt x="56599" y="16389"/>
                </a:lnTo>
                <a:lnTo>
                  <a:pt x="61021" y="12782"/>
                </a:lnTo>
                <a:lnTo>
                  <a:pt x="65568" y="9336"/>
                </a:lnTo>
                <a:lnTo>
                  <a:pt x="70235" y="6054"/>
                </a:lnTo>
                <a:lnTo>
                  <a:pt x="75017" y="2940"/>
                </a:lnTo>
                <a:lnTo>
                  <a:pt x="79907" y="0"/>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097280" y="3758184"/>
            <a:ext cx="1554480" cy="246888"/>
          </a:xfrm>
          <a:prstGeom prst="rect">
            <a:avLst/>
          </a:prstGeom>
          <a:noFill/>
          <a:effectLst/>
        </p:spPr>
        <p:txBody>
          <a:bodyPr wrap="square" lIns="22860" rIns="22860" tIns="0" bIns="0">
            <a:spAutoFit/>
          </a:bodyPr>
          <a:lstStyle/>
          <a:p>
            <a:pPr>
              <a:spcAft>
                <a:spcPts val="600"/>
              </a:spcAft>
              <a:defRPr sz="1600" b="1">
                <a:solidFill>
                  <a:srgbClr val="063584"/>
                </a:solidFill>
                <a:latin typeface="Microsoft YaHei"/>
              </a:defRPr>
            </a:pPr>
            <a:r>
              <a:t>机械回收</a:t>
            </a:r>
          </a:p>
        </p:txBody>
      </p:sp>
      <p:sp>
        <p:nvSpPr>
          <p:cNvPr id="37" name="TextBox 36"/>
          <p:cNvSpPr txBox="1"/>
          <p:nvPr/>
        </p:nvSpPr>
        <p:spPr>
          <a:xfrm>
            <a:off x="1097280" y="4078224"/>
            <a:ext cx="1691640" cy="173736"/>
          </a:xfrm>
          <a:prstGeom prst="rect">
            <a:avLst/>
          </a:prstGeom>
          <a:noFill/>
          <a:effectLst/>
        </p:spPr>
        <p:txBody>
          <a:bodyPr wrap="square" lIns="22860" rIns="22860" tIns="0" bIns="0">
            <a:spAutoFit/>
          </a:bodyPr>
          <a:lstStyle/>
          <a:p>
            <a:pPr>
              <a:spcAft>
                <a:spcPts val="600"/>
              </a:spcAft>
              <a:defRPr sz="940" b="0">
                <a:solidFill>
                  <a:srgbClr val="566273"/>
                </a:solidFill>
                <a:latin typeface="Microsoft YaHei"/>
              </a:defRPr>
            </a:pPr>
            <a:r>
              <a:t>分选、清洗、再加工</a:t>
            </a:r>
          </a:p>
        </p:txBody>
      </p:sp>
      <p:sp>
        <p:nvSpPr>
          <p:cNvPr id="38" name="Freeform 37"/>
          <p:cNvSpPr/>
          <p:nvPr/>
        </p:nvSpPr>
        <p:spPr>
          <a:xfrm>
            <a:off x="2663281" y="3805275"/>
            <a:ext cx="138257" cy="120975"/>
          </a:xfrm>
          <a:custGeom>
            <a:avLst/>
            <a:gdLst/>
            <a:ahLst/>
            <a:cxnLst/>
            <a:rect l="l" t="t" r="r" b="b"/>
            <a:pathLst>
              <a:path w="138257" h="120975">
                <a:moveTo>
                  <a:pt x="11521" y="11522"/>
                </a:moveTo>
                <a:lnTo>
                  <a:pt x="115214" y="0"/>
                </a:lnTo>
                <a:lnTo>
                  <a:pt x="138257" y="80650"/>
                </a:lnTo>
                <a:lnTo>
                  <a:pt x="69129" y="120975"/>
                </a:lnTo>
                <a:lnTo>
                  <a:pt x="0" y="69129"/>
                </a:lnTo>
                <a:lnTo>
                  <a:pt x="11521" y="11522"/>
                </a:lnTo>
              </a:path>
            </a:pathLst>
          </a:custGeom>
          <a:solidFill>
            <a:srgbClr val="D2E1F6"/>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Freeform 38"/>
          <p:cNvSpPr/>
          <p:nvPr/>
        </p:nvSpPr>
        <p:spPr>
          <a:xfrm>
            <a:off x="2836103" y="3822557"/>
            <a:ext cx="138257" cy="120975"/>
          </a:xfrm>
          <a:custGeom>
            <a:avLst/>
            <a:gdLst/>
            <a:ahLst/>
            <a:cxnLst/>
            <a:rect l="l" t="t" r="r" b="b"/>
            <a:pathLst>
              <a:path w="138257" h="120975">
                <a:moveTo>
                  <a:pt x="11521" y="11522"/>
                </a:moveTo>
                <a:lnTo>
                  <a:pt x="115214" y="0"/>
                </a:lnTo>
                <a:lnTo>
                  <a:pt x="138257" y="80650"/>
                </a:lnTo>
                <a:lnTo>
                  <a:pt x="69128" y="120975"/>
                </a:lnTo>
                <a:lnTo>
                  <a:pt x="0" y="69129"/>
                </a:lnTo>
                <a:lnTo>
                  <a:pt x="11521" y="11522"/>
                </a:lnTo>
              </a:path>
            </a:pathLst>
          </a:custGeom>
          <a:solidFill>
            <a:srgbClr val="EDF3FF"/>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Freeform 39"/>
          <p:cNvSpPr/>
          <p:nvPr/>
        </p:nvSpPr>
        <p:spPr>
          <a:xfrm>
            <a:off x="2743931" y="3937772"/>
            <a:ext cx="138257" cy="120975"/>
          </a:xfrm>
          <a:custGeom>
            <a:avLst/>
            <a:gdLst/>
            <a:ahLst/>
            <a:cxnLst/>
            <a:rect l="l" t="t" r="r" b="b"/>
            <a:pathLst>
              <a:path w="138257" h="120975">
                <a:moveTo>
                  <a:pt x="11521" y="11521"/>
                </a:moveTo>
                <a:lnTo>
                  <a:pt x="115214" y="0"/>
                </a:lnTo>
                <a:lnTo>
                  <a:pt x="138257" y="80650"/>
                </a:lnTo>
                <a:lnTo>
                  <a:pt x="69129" y="120975"/>
                </a:lnTo>
                <a:lnTo>
                  <a:pt x="0" y="69128"/>
                </a:lnTo>
                <a:lnTo>
                  <a:pt x="11521" y="11521"/>
                </a:lnTo>
              </a:path>
            </a:pathLst>
          </a:custGeom>
          <a:solidFill>
            <a:srgbClr val="D2E1F6"/>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Freeform 40"/>
          <p:cNvSpPr/>
          <p:nvPr/>
        </p:nvSpPr>
        <p:spPr>
          <a:xfrm>
            <a:off x="2928274" y="3955054"/>
            <a:ext cx="138257" cy="120975"/>
          </a:xfrm>
          <a:custGeom>
            <a:avLst/>
            <a:gdLst/>
            <a:ahLst/>
            <a:cxnLst/>
            <a:rect l="l" t="t" r="r" b="b"/>
            <a:pathLst>
              <a:path w="138257" h="120975">
                <a:moveTo>
                  <a:pt x="11522" y="11521"/>
                </a:moveTo>
                <a:lnTo>
                  <a:pt x="115214" y="0"/>
                </a:lnTo>
                <a:lnTo>
                  <a:pt x="138257" y="80650"/>
                </a:lnTo>
                <a:lnTo>
                  <a:pt x="69129" y="120975"/>
                </a:lnTo>
                <a:lnTo>
                  <a:pt x="0" y="69128"/>
                </a:lnTo>
                <a:lnTo>
                  <a:pt x="11522" y="11521"/>
                </a:lnTo>
              </a:path>
            </a:pathLst>
          </a:custGeom>
          <a:solidFill>
            <a:srgbClr val="EDF3FF"/>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Freeform 41"/>
          <p:cNvSpPr/>
          <p:nvPr/>
        </p:nvSpPr>
        <p:spPr>
          <a:xfrm>
            <a:off x="2651760" y="4041465"/>
            <a:ext cx="138257" cy="120975"/>
          </a:xfrm>
          <a:custGeom>
            <a:avLst/>
            <a:gdLst/>
            <a:ahLst/>
            <a:cxnLst/>
            <a:rect l="l" t="t" r="r" b="b"/>
            <a:pathLst>
              <a:path w="138257" h="120975">
                <a:moveTo>
                  <a:pt x="11521" y="11521"/>
                </a:moveTo>
                <a:lnTo>
                  <a:pt x="115214" y="0"/>
                </a:lnTo>
                <a:lnTo>
                  <a:pt x="138257" y="80650"/>
                </a:lnTo>
                <a:lnTo>
                  <a:pt x="69128" y="120975"/>
                </a:lnTo>
                <a:lnTo>
                  <a:pt x="0" y="69128"/>
                </a:lnTo>
                <a:lnTo>
                  <a:pt x="11521" y="11521"/>
                </a:lnTo>
              </a:path>
            </a:pathLst>
          </a:custGeom>
          <a:solidFill>
            <a:srgbClr val="D2E1F6"/>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Freeform 42"/>
          <p:cNvSpPr/>
          <p:nvPr/>
        </p:nvSpPr>
        <p:spPr>
          <a:xfrm>
            <a:off x="2847624" y="4076029"/>
            <a:ext cx="138257" cy="120975"/>
          </a:xfrm>
          <a:custGeom>
            <a:avLst/>
            <a:gdLst/>
            <a:ahLst/>
            <a:cxnLst/>
            <a:rect l="l" t="t" r="r" b="b"/>
            <a:pathLst>
              <a:path w="138257" h="120975">
                <a:moveTo>
                  <a:pt x="11521" y="11521"/>
                </a:moveTo>
                <a:lnTo>
                  <a:pt x="115214" y="0"/>
                </a:lnTo>
                <a:lnTo>
                  <a:pt x="138257" y="80650"/>
                </a:lnTo>
                <a:lnTo>
                  <a:pt x="69129" y="120975"/>
                </a:lnTo>
                <a:lnTo>
                  <a:pt x="0" y="69129"/>
                </a:lnTo>
                <a:lnTo>
                  <a:pt x="11521" y="11521"/>
                </a:lnTo>
              </a:path>
            </a:pathLst>
          </a:custGeom>
          <a:solidFill>
            <a:srgbClr val="EDF3FF"/>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4" name="Connector 43"/>
          <p:cNvCxnSpPr/>
          <p:nvPr/>
        </p:nvCxnSpPr>
        <p:spPr>
          <a:xfrm>
            <a:off x="3209544" y="3968496"/>
            <a:ext cx="292608" cy="0"/>
          </a:xfrm>
          <a:prstGeom prst="line">
            <a:avLst/>
          </a:prstGeom>
          <a:ln w="2413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45" name="TextBox 44"/>
          <p:cNvSpPr txBox="1"/>
          <p:nvPr/>
        </p:nvSpPr>
        <p:spPr>
          <a:xfrm>
            <a:off x="3675887" y="3730752"/>
            <a:ext cx="2596896" cy="356616"/>
          </a:xfrm>
          <a:prstGeom prst="rect">
            <a:avLst/>
          </a:prstGeom>
          <a:noFill/>
          <a:effectLst/>
        </p:spPr>
        <p:txBody>
          <a:bodyPr wrap="square" lIns="22860" rIns="22860" tIns="0" bIns="0">
            <a:spAutoFit/>
          </a:bodyPr>
          <a:lstStyle/>
          <a:p>
            <a:pPr>
              <a:spcAft>
                <a:spcPts val="600"/>
              </a:spcAft>
              <a:defRPr sz="1230" b="0">
                <a:solidFill>
                  <a:srgbClr val="111111"/>
                </a:solidFill>
                <a:latin typeface="Microsoft YaHei"/>
              </a:defRPr>
            </a:pPr>
            <a:r>
              <a:t>侧重保留聚合物主体结构，实现材料循环利用</a:t>
            </a:r>
          </a:p>
        </p:txBody>
      </p:sp>
      <p:sp>
        <p:nvSpPr>
          <p:cNvPr id="46" name="TextBox 45"/>
          <p:cNvSpPr txBox="1"/>
          <p:nvPr/>
        </p:nvSpPr>
        <p:spPr>
          <a:xfrm>
            <a:off x="3675887" y="4105656"/>
            <a:ext cx="2596896" cy="155448"/>
          </a:xfrm>
          <a:prstGeom prst="rect">
            <a:avLst/>
          </a:prstGeom>
          <a:noFill/>
          <a:effectLst/>
        </p:spPr>
        <p:txBody>
          <a:bodyPr wrap="square" lIns="22860" rIns="22860" tIns="0" bIns="0">
            <a:spAutoFit/>
          </a:bodyPr>
          <a:lstStyle/>
          <a:p>
            <a:pPr>
              <a:spcAft>
                <a:spcPts val="600"/>
              </a:spcAft>
              <a:defRPr sz="919" b="1">
                <a:solidFill>
                  <a:srgbClr val="063584"/>
                </a:solidFill>
                <a:latin typeface="Microsoft YaHei"/>
              </a:defRPr>
            </a:pPr>
            <a:r>
              <a:t>关注：材料性能与循环质量</a:t>
            </a:r>
          </a:p>
        </p:txBody>
      </p:sp>
      <p:sp>
        <p:nvSpPr>
          <p:cNvPr id="47" name="Rounded Rectangle 46"/>
          <p:cNvSpPr/>
          <p:nvPr/>
        </p:nvSpPr>
        <p:spPr>
          <a:xfrm>
            <a:off x="438912" y="4352544"/>
            <a:ext cx="5989320" cy="594360"/>
          </a:xfrm>
          <a:prstGeom prst="roundRect">
            <a:avLst>
              <a:gd name="adj" fmla="val 2500"/>
            </a:avLst>
          </a:prstGeom>
          <a:solidFill>
            <a:srgbClr val="F4F7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Oval 47"/>
          <p:cNvSpPr/>
          <p:nvPr/>
        </p:nvSpPr>
        <p:spPr>
          <a:xfrm>
            <a:off x="688543" y="4667646"/>
            <a:ext cx="132039" cy="132039"/>
          </a:xfrm>
          <a:prstGeom prst="ellipse">
            <a:avLst/>
          </a:prstGeom>
          <a:solidFill>
            <a:srgbClr val="EDF3FF"/>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9" name="Connector 48"/>
          <p:cNvCxnSpPr/>
          <p:nvPr/>
        </p:nvCxnSpPr>
        <p:spPr>
          <a:xfrm flipV="1">
            <a:off x="712866" y="4504334"/>
            <a:ext cx="0" cy="201534"/>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50" name="Connector 49"/>
          <p:cNvCxnSpPr/>
          <p:nvPr/>
        </p:nvCxnSpPr>
        <p:spPr>
          <a:xfrm flipV="1">
            <a:off x="796259" y="4504334"/>
            <a:ext cx="0" cy="201534"/>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51" name="Connector 50"/>
          <p:cNvCxnSpPr/>
          <p:nvPr/>
        </p:nvCxnSpPr>
        <p:spPr>
          <a:xfrm>
            <a:off x="712866" y="4504334"/>
            <a:ext cx="83393"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52" name="Connector 51"/>
          <p:cNvCxnSpPr/>
          <p:nvPr/>
        </p:nvCxnSpPr>
        <p:spPr>
          <a:xfrm flipV="1">
            <a:off x="754562" y="4559929"/>
            <a:ext cx="0" cy="145939"/>
          </a:xfrm>
          <a:prstGeom prst="line">
            <a:avLst/>
          </a:prstGeom>
          <a:ln w="2794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53" name="Connector 52"/>
          <p:cNvCxnSpPr/>
          <p:nvPr/>
        </p:nvCxnSpPr>
        <p:spPr>
          <a:xfrm flipH="1" flipV="1">
            <a:off x="629472" y="4413991"/>
            <a:ext cx="20849" cy="48646"/>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54" name="Connector 53"/>
          <p:cNvCxnSpPr/>
          <p:nvPr/>
        </p:nvCxnSpPr>
        <p:spPr>
          <a:xfrm flipH="1" flipV="1">
            <a:off x="844905" y="4413991"/>
            <a:ext cx="20848" cy="48646"/>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1097280" y="4425696"/>
            <a:ext cx="1554480" cy="246888"/>
          </a:xfrm>
          <a:prstGeom prst="rect">
            <a:avLst/>
          </a:prstGeom>
          <a:noFill/>
          <a:effectLst/>
        </p:spPr>
        <p:txBody>
          <a:bodyPr wrap="square" lIns="22860" rIns="22860" tIns="0" bIns="0">
            <a:spAutoFit/>
          </a:bodyPr>
          <a:lstStyle/>
          <a:p>
            <a:pPr>
              <a:spcAft>
                <a:spcPts val="600"/>
              </a:spcAft>
              <a:defRPr sz="1600" b="1">
                <a:solidFill>
                  <a:srgbClr val="063584"/>
                </a:solidFill>
                <a:latin typeface="Microsoft YaHei"/>
              </a:defRPr>
            </a:pPr>
            <a:r>
              <a:t>热化学转化</a:t>
            </a:r>
          </a:p>
        </p:txBody>
      </p:sp>
      <p:sp>
        <p:nvSpPr>
          <p:cNvPr id="56" name="TextBox 55"/>
          <p:cNvSpPr txBox="1"/>
          <p:nvPr/>
        </p:nvSpPr>
        <p:spPr>
          <a:xfrm>
            <a:off x="1097280" y="4745736"/>
            <a:ext cx="1691640" cy="173736"/>
          </a:xfrm>
          <a:prstGeom prst="rect">
            <a:avLst/>
          </a:prstGeom>
          <a:noFill/>
          <a:effectLst/>
        </p:spPr>
        <p:txBody>
          <a:bodyPr wrap="square" lIns="22860" rIns="22860" tIns="0" bIns="0">
            <a:spAutoFit/>
          </a:bodyPr>
          <a:lstStyle/>
          <a:p>
            <a:pPr>
              <a:spcAft>
                <a:spcPts val="600"/>
              </a:spcAft>
              <a:defRPr sz="940" b="0">
                <a:solidFill>
                  <a:srgbClr val="566273"/>
                </a:solidFill>
                <a:latin typeface="Microsoft YaHei"/>
              </a:defRPr>
            </a:pPr>
            <a:r>
              <a:t>热裂解、催化裂解</a:t>
            </a:r>
          </a:p>
        </p:txBody>
      </p:sp>
      <p:sp>
        <p:nvSpPr>
          <p:cNvPr id="57" name="Can 56"/>
          <p:cNvSpPr/>
          <p:nvPr/>
        </p:nvSpPr>
        <p:spPr>
          <a:xfrm>
            <a:off x="2726649" y="4507351"/>
            <a:ext cx="276514" cy="264993"/>
          </a:xfrm>
          <a:prstGeom prst="can">
            <a:avLst/>
          </a:prstGeom>
          <a:solidFill>
            <a:srgbClr val="D8E5F6"/>
          </a:solidFill>
          <a:ln>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8" name="Connector 57"/>
          <p:cNvCxnSpPr/>
          <p:nvPr/>
        </p:nvCxnSpPr>
        <p:spPr>
          <a:xfrm flipV="1">
            <a:off x="2864906" y="4438223"/>
            <a:ext cx="0" cy="69128"/>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59" name="Connector 58"/>
          <p:cNvCxnSpPr/>
          <p:nvPr/>
        </p:nvCxnSpPr>
        <p:spPr>
          <a:xfrm flipH="1">
            <a:off x="2645999" y="4605284"/>
            <a:ext cx="57607"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60" name="Connector 59"/>
          <p:cNvCxnSpPr/>
          <p:nvPr/>
        </p:nvCxnSpPr>
        <p:spPr>
          <a:xfrm>
            <a:off x="3031967" y="4605284"/>
            <a:ext cx="51847"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flipH="1">
            <a:off x="2755452" y="4772345"/>
            <a:ext cx="28804" cy="74889"/>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62" name="Connector 61"/>
          <p:cNvCxnSpPr/>
          <p:nvPr/>
        </p:nvCxnSpPr>
        <p:spPr>
          <a:xfrm>
            <a:off x="2945556" y="4772345"/>
            <a:ext cx="28804" cy="74889"/>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63" name="Connector 62"/>
          <p:cNvCxnSpPr/>
          <p:nvPr/>
        </p:nvCxnSpPr>
        <p:spPr>
          <a:xfrm>
            <a:off x="2726649" y="4852995"/>
            <a:ext cx="282275"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64" name="Connector 63"/>
          <p:cNvCxnSpPr/>
          <p:nvPr/>
        </p:nvCxnSpPr>
        <p:spPr>
          <a:xfrm>
            <a:off x="3209544" y="4636007"/>
            <a:ext cx="292608" cy="0"/>
          </a:xfrm>
          <a:prstGeom prst="line">
            <a:avLst/>
          </a:prstGeom>
          <a:ln w="2413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3675887" y="4398264"/>
            <a:ext cx="2596896" cy="356616"/>
          </a:xfrm>
          <a:prstGeom prst="rect">
            <a:avLst/>
          </a:prstGeom>
          <a:noFill/>
          <a:effectLst/>
        </p:spPr>
        <p:txBody>
          <a:bodyPr wrap="square" lIns="22860" rIns="22860" tIns="0" bIns="0">
            <a:spAutoFit/>
          </a:bodyPr>
          <a:lstStyle/>
          <a:p>
            <a:pPr>
              <a:spcAft>
                <a:spcPts val="600"/>
              </a:spcAft>
              <a:defRPr sz="1230" b="0">
                <a:solidFill>
                  <a:srgbClr val="111111"/>
                </a:solidFill>
                <a:latin typeface="Microsoft YaHei"/>
              </a:defRPr>
            </a:pPr>
            <a:r>
              <a:t>热驱动反应改变结构，获得燃料、化学品或单体</a:t>
            </a:r>
          </a:p>
        </p:txBody>
      </p:sp>
      <p:sp>
        <p:nvSpPr>
          <p:cNvPr id="66" name="TextBox 65"/>
          <p:cNvSpPr txBox="1"/>
          <p:nvPr/>
        </p:nvSpPr>
        <p:spPr>
          <a:xfrm>
            <a:off x="3675887" y="4773168"/>
            <a:ext cx="2596896" cy="155448"/>
          </a:xfrm>
          <a:prstGeom prst="rect">
            <a:avLst/>
          </a:prstGeom>
          <a:noFill/>
          <a:effectLst/>
        </p:spPr>
        <p:txBody>
          <a:bodyPr wrap="square" lIns="22860" rIns="22860" tIns="0" bIns="0">
            <a:spAutoFit/>
          </a:bodyPr>
          <a:lstStyle/>
          <a:p>
            <a:pPr>
              <a:spcAft>
                <a:spcPts val="600"/>
              </a:spcAft>
              <a:defRPr sz="919" b="1">
                <a:solidFill>
                  <a:srgbClr val="063584"/>
                </a:solidFill>
                <a:latin typeface="Microsoft YaHei"/>
              </a:defRPr>
            </a:pPr>
            <a:r>
              <a:t>关注：产物分布与过程控制</a:t>
            </a:r>
          </a:p>
        </p:txBody>
      </p:sp>
      <p:sp>
        <p:nvSpPr>
          <p:cNvPr id="67" name="Rounded Rectangle 66"/>
          <p:cNvSpPr/>
          <p:nvPr/>
        </p:nvSpPr>
        <p:spPr>
          <a:xfrm>
            <a:off x="438912" y="5020056"/>
            <a:ext cx="5989320" cy="594360"/>
          </a:xfrm>
          <a:prstGeom prst="roundRect">
            <a:avLst>
              <a:gd name="adj" fmla="val 2500"/>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Oval 67"/>
          <p:cNvSpPr/>
          <p:nvPr/>
        </p:nvSpPr>
        <p:spPr>
          <a:xfrm>
            <a:off x="650321" y="5157947"/>
            <a:ext cx="208483" cy="208483"/>
          </a:xfrm>
          <a:prstGeom prst="ellipse">
            <a:avLst/>
          </a:prstGeom>
          <a:solidFill>
            <a:srgbClr val="FFFFFF"/>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9" name="Connector 68"/>
          <p:cNvCxnSpPr/>
          <p:nvPr/>
        </p:nvCxnSpPr>
        <p:spPr>
          <a:xfrm>
            <a:off x="692017" y="5338632"/>
            <a:ext cx="0" cy="69495"/>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70" name="Connector 69"/>
          <p:cNvCxnSpPr/>
          <p:nvPr/>
        </p:nvCxnSpPr>
        <p:spPr>
          <a:xfrm>
            <a:off x="817107" y="5338632"/>
            <a:ext cx="0" cy="69495"/>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71" name="Connector 70"/>
          <p:cNvCxnSpPr/>
          <p:nvPr/>
        </p:nvCxnSpPr>
        <p:spPr>
          <a:xfrm>
            <a:off x="692017" y="5408127"/>
            <a:ext cx="125090"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72" name="Connector 71"/>
          <p:cNvCxnSpPr/>
          <p:nvPr/>
        </p:nvCxnSpPr>
        <p:spPr>
          <a:xfrm>
            <a:off x="712866" y="5442874"/>
            <a:ext cx="83393"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73" name="Connector 72"/>
          <p:cNvCxnSpPr/>
          <p:nvPr/>
        </p:nvCxnSpPr>
        <p:spPr>
          <a:xfrm>
            <a:off x="900501" y="5262189"/>
            <a:ext cx="48646" cy="0"/>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4" name="Connector 73"/>
          <p:cNvCxnSpPr/>
          <p:nvPr/>
        </p:nvCxnSpPr>
        <p:spPr>
          <a:xfrm>
            <a:off x="857756" y="5365383"/>
            <a:ext cx="34398" cy="34398"/>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5" name="Connector 74"/>
          <p:cNvCxnSpPr/>
          <p:nvPr/>
        </p:nvCxnSpPr>
        <p:spPr>
          <a:xfrm>
            <a:off x="754562" y="5408127"/>
            <a:ext cx="0" cy="48646"/>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flipH="1">
            <a:off x="616970" y="5365383"/>
            <a:ext cx="34398" cy="34398"/>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flipH="1">
            <a:off x="559978" y="5262189"/>
            <a:ext cx="48646" cy="0"/>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flipH="1" flipV="1">
            <a:off x="616970" y="5124597"/>
            <a:ext cx="34398" cy="34398"/>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flipV="1">
            <a:off x="754562" y="5067604"/>
            <a:ext cx="0" cy="48646"/>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80" name="Connector 79"/>
          <p:cNvCxnSpPr/>
          <p:nvPr/>
        </p:nvCxnSpPr>
        <p:spPr>
          <a:xfrm flipV="1">
            <a:off x="857756" y="5124597"/>
            <a:ext cx="34398" cy="34398"/>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1097280" y="5093208"/>
            <a:ext cx="1554480" cy="246888"/>
          </a:xfrm>
          <a:prstGeom prst="rect">
            <a:avLst/>
          </a:prstGeom>
          <a:noFill/>
          <a:effectLst/>
        </p:spPr>
        <p:txBody>
          <a:bodyPr wrap="square" lIns="22860" rIns="22860" tIns="0" bIns="0">
            <a:spAutoFit/>
          </a:bodyPr>
          <a:lstStyle/>
          <a:p>
            <a:pPr>
              <a:spcAft>
                <a:spcPts val="600"/>
              </a:spcAft>
              <a:defRPr sz="1600" b="1">
                <a:solidFill>
                  <a:srgbClr val="063584"/>
                </a:solidFill>
                <a:latin typeface="Microsoft YaHei"/>
              </a:defRPr>
            </a:pPr>
            <a:r>
              <a:t>光化学转化</a:t>
            </a:r>
          </a:p>
        </p:txBody>
      </p:sp>
      <p:sp>
        <p:nvSpPr>
          <p:cNvPr id="82" name="TextBox 81"/>
          <p:cNvSpPr txBox="1"/>
          <p:nvPr/>
        </p:nvSpPr>
        <p:spPr>
          <a:xfrm>
            <a:off x="1097280" y="5413248"/>
            <a:ext cx="1691640" cy="173736"/>
          </a:xfrm>
          <a:prstGeom prst="rect">
            <a:avLst/>
          </a:prstGeom>
          <a:noFill/>
          <a:effectLst/>
        </p:spPr>
        <p:txBody>
          <a:bodyPr wrap="square" lIns="22860" rIns="22860" tIns="0" bIns="0">
            <a:spAutoFit/>
          </a:bodyPr>
          <a:lstStyle/>
          <a:p>
            <a:pPr>
              <a:spcAft>
                <a:spcPts val="600"/>
              </a:spcAft>
              <a:defRPr sz="940" b="0">
                <a:solidFill>
                  <a:srgbClr val="566273"/>
                </a:solidFill>
                <a:latin typeface="Microsoft YaHei"/>
              </a:defRPr>
            </a:pPr>
            <a:r>
              <a:t>光催化、光氧化、光裂解</a:t>
            </a:r>
          </a:p>
        </p:txBody>
      </p:sp>
      <p:sp>
        <p:nvSpPr>
          <p:cNvPr id="83" name="Rectangle 82"/>
          <p:cNvSpPr/>
          <p:nvPr/>
        </p:nvSpPr>
        <p:spPr>
          <a:xfrm>
            <a:off x="2651760" y="5169103"/>
            <a:ext cx="86410" cy="264993"/>
          </a:xfrm>
          <a:prstGeom prst="rect">
            <a:avLst/>
          </a:prstGeom>
          <a:solidFill>
            <a:srgbClr val="FFFFFF"/>
          </a:solidFill>
          <a:ln w="1651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Rectangle 83"/>
          <p:cNvSpPr/>
          <p:nvPr/>
        </p:nvSpPr>
        <p:spPr>
          <a:xfrm>
            <a:off x="2651760" y="5295839"/>
            <a:ext cx="86410" cy="138257"/>
          </a:xfrm>
          <a:prstGeom prst="rect">
            <a:avLst/>
          </a:prstGeom>
          <a:solidFill>
            <a:srgbClr val="D0E2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Rectangle 84"/>
          <p:cNvSpPr/>
          <p:nvPr/>
        </p:nvSpPr>
        <p:spPr>
          <a:xfrm>
            <a:off x="2643118" y="5140299"/>
            <a:ext cx="103692" cy="34564"/>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6" name="Connector 85"/>
          <p:cNvCxnSpPr/>
          <p:nvPr/>
        </p:nvCxnSpPr>
        <p:spPr>
          <a:xfrm flipV="1">
            <a:off x="2692085" y="5468660"/>
            <a:ext cx="0" cy="97932"/>
          </a:xfrm>
          <a:prstGeom prst="line">
            <a:avLst/>
          </a:prstGeom>
          <a:ln w="13970">
            <a:solidFill>
              <a:srgbClr val="3365B2"/>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2790017" y="5169103"/>
            <a:ext cx="86410" cy="264993"/>
          </a:xfrm>
          <a:prstGeom prst="rect">
            <a:avLst/>
          </a:prstGeom>
          <a:solidFill>
            <a:srgbClr val="FFFFFF"/>
          </a:solidFill>
          <a:ln w="1651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ectangle 87"/>
          <p:cNvSpPr/>
          <p:nvPr/>
        </p:nvSpPr>
        <p:spPr>
          <a:xfrm>
            <a:off x="2790017" y="5295839"/>
            <a:ext cx="86410" cy="138257"/>
          </a:xfrm>
          <a:prstGeom prst="rect">
            <a:avLst/>
          </a:prstGeom>
          <a:solidFill>
            <a:srgbClr val="D0E2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ectangle 88"/>
          <p:cNvSpPr/>
          <p:nvPr/>
        </p:nvSpPr>
        <p:spPr>
          <a:xfrm>
            <a:off x="2781376" y="5140299"/>
            <a:ext cx="103692" cy="34564"/>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0" name="Connector 89"/>
          <p:cNvCxnSpPr/>
          <p:nvPr/>
        </p:nvCxnSpPr>
        <p:spPr>
          <a:xfrm flipV="1">
            <a:off x="2830342" y="5468660"/>
            <a:ext cx="0" cy="97932"/>
          </a:xfrm>
          <a:prstGeom prst="line">
            <a:avLst/>
          </a:prstGeom>
          <a:ln w="13970">
            <a:solidFill>
              <a:srgbClr val="3365B2"/>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91" name="Rectangle 90"/>
          <p:cNvSpPr/>
          <p:nvPr/>
        </p:nvSpPr>
        <p:spPr>
          <a:xfrm>
            <a:off x="2928274" y="5169103"/>
            <a:ext cx="86410" cy="264993"/>
          </a:xfrm>
          <a:prstGeom prst="rect">
            <a:avLst/>
          </a:prstGeom>
          <a:solidFill>
            <a:srgbClr val="FFFFFF"/>
          </a:solidFill>
          <a:ln w="1651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ectangle 91"/>
          <p:cNvSpPr/>
          <p:nvPr/>
        </p:nvSpPr>
        <p:spPr>
          <a:xfrm>
            <a:off x="2928274" y="5295839"/>
            <a:ext cx="86410" cy="138257"/>
          </a:xfrm>
          <a:prstGeom prst="rect">
            <a:avLst/>
          </a:prstGeom>
          <a:solidFill>
            <a:srgbClr val="D0E2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Rectangle 92"/>
          <p:cNvSpPr/>
          <p:nvPr/>
        </p:nvSpPr>
        <p:spPr>
          <a:xfrm>
            <a:off x="2919633" y="5140299"/>
            <a:ext cx="103692" cy="34564"/>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4" name="Connector 93"/>
          <p:cNvCxnSpPr/>
          <p:nvPr/>
        </p:nvCxnSpPr>
        <p:spPr>
          <a:xfrm flipV="1">
            <a:off x="2968599" y="5468660"/>
            <a:ext cx="0" cy="97932"/>
          </a:xfrm>
          <a:prstGeom prst="line">
            <a:avLst/>
          </a:prstGeom>
          <a:ln w="13970">
            <a:solidFill>
              <a:srgbClr val="3365B2"/>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95" name="Connector 94"/>
          <p:cNvCxnSpPr/>
          <p:nvPr/>
        </p:nvCxnSpPr>
        <p:spPr>
          <a:xfrm>
            <a:off x="3209544" y="5303520"/>
            <a:ext cx="292608" cy="0"/>
          </a:xfrm>
          <a:prstGeom prst="line">
            <a:avLst/>
          </a:prstGeom>
          <a:ln w="2413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96" name="TextBox 95"/>
          <p:cNvSpPr txBox="1"/>
          <p:nvPr/>
        </p:nvSpPr>
        <p:spPr>
          <a:xfrm>
            <a:off x="3675887" y="5065776"/>
            <a:ext cx="2596896" cy="356616"/>
          </a:xfrm>
          <a:prstGeom prst="rect">
            <a:avLst/>
          </a:prstGeom>
          <a:noFill/>
          <a:effectLst/>
        </p:spPr>
        <p:txBody>
          <a:bodyPr wrap="square" lIns="22860" rIns="22860" tIns="0" bIns="0">
            <a:spAutoFit/>
          </a:bodyPr>
          <a:lstStyle/>
          <a:p>
            <a:pPr>
              <a:spcAft>
                <a:spcPts val="600"/>
              </a:spcAft>
              <a:defRPr sz="1230" b="0">
                <a:solidFill>
                  <a:srgbClr val="111111"/>
                </a:solidFill>
                <a:latin typeface="Microsoft YaHei"/>
              </a:defRPr>
            </a:pPr>
            <a:r>
              <a:t>利用光能启动或调控反应，实现结构转化与高值利用</a:t>
            </a:r>
          </a:p>
        </p:txBody>
      </p:sp>
      <p:sp>
        <p:nvSpPr>
          <p:cNvPr id="97" name="TextBox 96"/>
          <p:cNvSpPr txBox="1"/>
          <p:nvPr/>
        </p:nvSpPr>
        <p:spPr>
          <a:xfrm>
            <a:off x="3675887" y="5440680"/>
            <a:ext cx="2596896" cy="155448"/>
          </a:xfrm>
          <a:prstGeom prst="rect">
            <a:avLst/>
          </a:prstGeom>
          <a:noFill/>
          <a:effectLst/>
        </p:spPr>
        <p:txBody>
          <a:bodyPr wrap="square" lIns="22860" rIns="22860" tIns="0" bIns="0">
            <a:spAutoFit/>
          </a:bodyPr>
          <a:lstStyle/>
          <a:p>
            <a:pPr>
              <a:spcAft>
                <a:spcPts val="600"/>
              </a:spcAft>
              <a:defRPr sz="919" b="1">
                <a:solidFill>
                  <a:srgbClr val="063584"/>
                </a:solidFill>
                <a:latin typeface="Microsoft YaHei"/>
              </a:defRPr>
            </a:pPr>
            <a:r>
              <a:t>关注：机制与温和条件下的效率</a:t>
            </a:r>
          </a:p>
        </p:txBody>
      </p:sp>
      <p:sp>
        <p:nvSpPr>
          <p:cNvPr id="98" name="Rounded Rectangle 97"/>
          <p:cNvSpPr/>
          <p:nvPr/>
        </p:nvSpPr>
        <p:spPr>
          <a:xfrm>
            <a:off x="6757416" y="1325880"/>
            <a:ext cx="5111496" cy="442569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Rounded Rectangle 98"/>
          <p:cNvSpPr/>
          <p:nvPr/>
        </p:nvSpPr>
        <p:spPr>
          <a:xfrm>
            <a:off x="6784848" y="1353312"/>
            <a:ext cx="505663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TextBox 99"/>
          <p:cNvSpPr txBox="1"/>
          <p:nvPr/>
        </p:nvSpPr>
        <p:spPr>
          <a:xfrm>
            <a:off x="6903720" y="1403604"/>
            <a:ext cx="481888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含氯塑料的化学升级利用路径（示意）</a:t>
            </a:r>
          </a:p>
        </p:txBody>
      </p:sp>
      <p:sp>
        <p:nvSpPr>
          <p:cNvPr id="101" name="Hexagon 100"/>
          <p:cNvSpPr/>
          <p:nvPr/>
        </p:nvSpPr>
        <p:spPr>
          <a:xfrm>
            <a:off x="8549640" y="3145536"/>
            <a:ext cx="1252728" cy="978408"/>
          </a:xfrm>
          <a:prstGeom prst="hexagon">
            <a:avLst/>
          </a:prstGeom>
          <a:solidFill>
            <a:srgbClr val="E2ED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Freeform 101"/>
          <p:cNvSpPr/>
          <p:nvPr/>
        </p:nvSpPr>
        <p:spPr>
          <a:xfrm>
            <a:off x="8823960" y="3419856"/>
            <a:ext cx="685800" cy="91440"/>
          </a:xfrm>
          <a:custGeom>
            <a:avLst/>
            <a:gdLst/>
            <a:ahLst/>
            <a:cxnLst/>
            <a:rect l="l" t="t" r="r" b="b"/>
            <a:pathLst>
              <a:path w="685800" h="91440">
                <a:moveTo>
                  <a:pt x="0" y="0"/>
                </a:moveTo>
                <a:lnTo>
                  <a:pt x="137160" y="91440"/>
                </a:lnTo>
                <a:lnTo>
                  <a:pt x="274320" y="0"/>
                </a:lnTo>
                <a:lnTo>
                  <a:pt x="411480" y="91440"/>
                </a:lnTo>
                <a:lnTo>
                  <a:pt x="548640" y="0"/>
                </a:lnTo>
                <a:lnTo>
                  <a:pt x="685800" y="91440"/>
                </a:lnTo>
              </a:path>
            </a:pathLst>
          </a:custGeom>
          <a:noFill/>
          <a:ln w="2159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TextBox 102"/>
          <p:cNvSpPr txBox="1"/>
          <p:nvPr/>
        </p:nvSpPr>
        <p:spPr>
          <a:xfrm>
            <a:off x="8686800" y="3703320"/>
            <a:ext cx="987552" cy="246888"/>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PVC</a:t>
            </a:r>
          </a:p>
        </p:txBody>
      </p:sp>
      <p:sp>
        <p:nvSpPr>
          <p:cNvPr id="104" name="Freeform 103"/>
          <p:cNvSpPr/>
          <p:nvPr/>
        </p:nvSpPr>
        <p:spPr>
          <a:xfrm>
            <a:off x="8577072" y="2889504"/>
            <a:ext cx="228600" cy="292608"/>
          </a:xfrm>
          <a:custGeom>
            <a:avLst/>
            <a:gdLst/>
            <a:ahLst/>
            <a:cxnLst/>
            <a:rect l="l" t="t" r="r" b="b"/>
            <a:pathLst>
              <a:path w="228600" h="292608">
                <a:moveTo>
                  <a:pt x="228600" y="292608"/>
                </a:moveTo>
                <a:lnTo>
                  <a:pt x="109728" y="128016"/>
                </a:lnTo>
                <a:lnTo>
                  <a:pt x="0" y="0"/>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Freeform 104"/>
          <p:cNvSpPr/>
          <p:nvPr/>
        </p:nvSpPr>
        <p:spPr>
          <a:xfrm>
            <a:off x="9418320" y="2468880"/>
            <a:ext cx="749808" cy="694944"/>
          </a:xfrm>
          <a:custGeom>
            <a:avLst/>
            <a:gdLst/>
            <a:ahLst/>
            <a:cxnLst/>
            <a:rect l="l" t="t" r="r" b="b"/>
            <a:pathLst>
              <a:path w="749808" h="694944">
                <a:moveTo>
                  <a:pt x="0" y="694944"/>
                </a:moveTo>
                <a:lnTo>
                  <a:pt x="365760" y="274320"/>
                </a:lnTo>
                <a:lnTo>
                  <a:pt x="749808" y="0"/>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Freeform 105"/>
          <p:cNvSpPr/>
          <p:nvPr/>
        </p:nvSpPr>
        <p:spPr>
          <a:xfrm>
            <a:off x="9811512" y="3081528"/>
            <a:ext cx="777240" cy="384048"/>
          </a:xfrm>
          <a:custGeom>
            <a:avLst/>
            <a:gdLst/>
            <a:ahLst/>
            <a:cxnLst/>
            <a:rect l="l" t="t" r="r" b="b"/>
            <a:pathLst>
              <a:path w="777240" h="384048">
                <a:moveTo>
                  <a:pt x="0" y="384048"/>
                </a:moveTo>
                <a:lnTo>
                  <a:pt x="411480" y="137160"/>
                </a:lnTo>
                <a:lnTo>
                  <a:pt x="777240" y="0"/>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Freeform 106"/>
          <p:cNvSpPr/>
          <p:nvPr/>
        </p:nvSpPr>
        <p:spPr>
          <a:xfrm>
            <a:off x="9802368" y="3785615"/>
            <a:ext cx="777240" cy="356617"/>
          </a:xfrm>
          <a:custGeom>
            <a:avLst/>
            <a:gdLst/>
            <a:ahLst/>
            <a:cxnLst/>
            <a:rect l="l" t="t" r="r" b="b"/>
            <a:pathLst>
              <a:path w="777240" h="356617">
                <a:moveTo>
                  <a:pt x="0" y="0"/>
                </a:moveTo>
                <a:lnTo>
                  <a:pt x="420624" y="201169"/>
                </a:lnTo>
                <a:lnTo>
                  <a:pt x="777240" y="356617"/>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Freeform 107"/>
          <p:cNvSpPr/>
          <p:nvPr/>
        </p:nvSpPr>
        <p:spPr>
          <a:xfrm>
            <a:off x="9390888" y="4096512"/>
            <a:ext cx="685800" cy="694944"/>
          </a:xfrm>
          <a:custGeom>
            <a:avLst/>
            <a:gdLst/>
            <a:ahLst/>
            <a:cxnLst/>
            <a:rect l="l" t="t" r="r" b="b"/>
            <a:pathLst>
              <a:path w="685800" h="694944">
                <a:moveTo>
                  <a:pt x="0" y="0"/>
                </a:moveTo>
                <a:lnTo>
                  <a:pt x="347472" y="411480"/>
                </a:lnTo>
                <a:lnTo>
                  <a:pt x="685800" y="694944"/>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Freeform 108"/>
          <p:cNvSpPr/>
          <p:nvPr/>
        </p:nvSpPr>
        <p:spPr>
          <a:xfrm>
            <a:off x="8686800" y="4078224"/>
            <a:ext cx="82296" cy="667512"/>
          </a:xfrm>
          <a:custGeom>
            <a:avLst/>
            <a:gdLst/>
            <a:ahLst/>
            <a:cxnLst/>
            <a:rect l="l" t="t" r="r" b="b"/>
            <a:pathLst>
              <a:path w="82296" h="667512">
                <a:moveTo>
                  <a:pt x="82296" y="0"/>
                </a:moveTo>
                <a:lnTo>
                  <a:pt x="45720" y="420624"/>
                </a:lnTo>
                <a:lnTo>
                  <a:pt x="0" y="667512"/>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0" name="Connector 109"/>
          <p:cNvCxnSpPr/>
          <p:nvPr/>
        </p:nvCxnSpPr>
        <p:spPr>
          <a:xfrm>
            <a:off x="7434072" y="1947672"/>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111" name="Connector 110"/>
          <p:cNvCxnSpPr/>
          <p:nvPr/>
        </p:nvCxnSpPr>
        <p:spPr>
          <a:xfrm>
            <a:off x="7434072" y="1947672"/>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12" name="Oval 111"/>
          <p:cNvSpPr/>
          <p:nvPr/>
        </p:nvSpPr>
        <p:spPr>
          <a:xfrm>
            <a:off x="7405908" y="1919508"/>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3" name="Connector 112"/>
          <p:cNvCxnSpPr/>
          <p:nvPr/>
        </p:nvCxnSpPr>
        <p:spPr>
          <a:xfrm>
            <a:off x="7494422" y="2078431"/>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114" name="Connector 113"/>
          <p:cNvCxnSpPr/>
          <p:nvPr/>
        </p:nvCxnSpPr>
        <p:spPr>
          <a:xfrm flipH="1">
            <a:off x="7434072" y="2078431"/>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15" name="Oval 114"/>
          <p:cNvSpPr/>
          <p:nvPr/>
        </p:nvSpPr>
        <p:spPr>
          <a:xfrm>
            <a:off x="7466258" y="2050267"/>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6" name="Connector 115"/>
          <p:cNvCxnSpPr/>
          <p:nvPr/>
        </p:nvCxnSpPr>
        <p:spPr>
          <a:xfrm>
            <a:off x="7434072" y="2209190"/>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17" name="Oval 116"/>
          <p:cNvSpPr/>
          <p:nvPr/>
        </p:nvSpPr>
        <p:spPr>
          <a:xfrm>
            <a:off x="7405908" y="2181026"/>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8" name="Connector 117"/>
          <p:cNvCxnSpPr/>
          <p:nvPr/>
        </p:nvCxnSpPr>
        <p:spPr>
          <a:xfrm>
            <a:off x="7615123" y="1947672"/>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119" name="Connector 118"/>
          <p:cNvCxnSpPr/>
          <p:nvPr/>
        </p:nvCxnSpPr>
        <p:spPr>
          <a:xfrm>
            <a:off x="7615123" y="1947672"/>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20" name="Oval 119"/>
          <p:cNvSpPr/>
          <p:nvPr/>
        </p:nvSpPr>
        <p:spPr>
          <a:xfrm>
            <a:off x="7586959" y="1919508"/>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1" name="Connector 120"/>
          <p:cNvCxnSpPr/>
          <p:nvPr/>
        </p:nvCxnSpPr>
        <p:spPr>
          <a:xfrm>
            <a:off x="7675473" y="2078431"/>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122" name="Connector 121"/>
          <p:cNvCxnSpPr/>
          <p:nvPr/>
        </p:nvCxnSpPr>
        <p:spPr>
          <a:xfrm flipH="1">
            <a:off x="7615123" y="2078431"/>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23" name="Oval 122"/>
          <p:cNvSpPr/>
          <p:nvPr/>
        </p:nvSpPr>
        <p:spPr>
          <a:xfrm>
            <a:off x="7647310" y="2050267"/>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4" name="Connector 123"/>
          <p:cNvCxnSpPr/>
          <p:nvPr/>
        </p:nvCxnSpPr>
        <p:spPr>
          <a:xfrm>
            <a:off x="7615123" y="2209190"/>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25" name="Oval 124"/>
          <p:cNvSpPr/>
          <p:nvPr/>
        </p:nvSpPr>
        <p:spPr>
          <a:xfrm>
            <a:off x="7586959" y="2181026"/>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6" name="Connector 125"/>
          <p:cNvCxnSpPr/>
          <p:nvPr/>
        </p:nvCxnSpPr>
        <p:spPr>
          <a:xfrm>
            <a:off x="7796174" y="1947672"/>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27" name="Oval 126"/>
          <p:cNvSpPr/>
          <p:nvPr/>
        </p:nvSpPr>
        <p:spPr>
          <a:xfrm>
            <a:off x="7768010" y="1919508"/>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8" name="Connector 127"/>
          <p:cNvCxnSpPr/>
          <p:nvPr/>
        </p:nvCxnSpPr>
        <p:spPr>
          <a:xfrm flipH="1">
            <a:off x="7796174" y="2078431"/>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29" name="Oval 128"/>
          <p:cNvSpPr/>
          <p:nvPr/>
        </p:nvSpPr>
        <p:spPr>
          <a:xfrm>
            <a:off x="7828361" y="2050267"/>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Oval 129"/>
          <p:cNvSpPr/>
          <p:nvPr/>
        </p:nvSpPr>
        <p:spPr>
          <a:xfrm>
            <a:off x="7768010" y="2181026"/>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p:cNvSpPr txBox="1"/>
          <p:nvPr/>
        </p:nvSpPr>
        <p:spPr>
          <a:xfrm>
            <a:off x="7050024" y="2395728"/>
            <a:ext cx="1682496" cy="448056"/>
          </a:xfrm>
          <a:prstGeom prst="rect">
            <a:avLst/>
          </a:prstGeom>
          <a:noFill/>
          <a:effectLst/>
        </p:spPr>
        <p:txBody>
          <a:bodyPr wrap="square" lIns="22860" rIns="22860" tIns="0" bIns="0">
            <a:spAutoFit/>
          </a:bodyPr>
          <a:lstStyle/>
          <a:p>
            <a:pPr algn="ctr">
              <a:spcAft>
                <a:spcPts val="600"/>
              </a:spcAft>
              <a:defRPr sz="1400" b="1">
                <a:solidFill>
                  <a:srgbClr val="063584"/>
                </a:solidFill>
                <a:latin typeface="Microsoft YaHei"/>
              </a:defRPr>
            </a:pPr>
            <a:r>
              <a:t>新型聚合物</a:t>
            </a:r>
          </a:p>
          <a:p>
            <a:pPr algn="ctr">
              <a:spcAft>
                <a:spcPts val="600"/>
              </a:spcAft>
              <a:defRPr sz="1400" b="1">
                <a:solidFill>
                  <a:srgbClr val="063584"/>
                </a:solidFill>
                <a:latin typeface="Microsoft YaHei"/>
              </a:defRPr>
            </a:pPr>
            <a:r>
              <a:t>闭环利用</a:t>
            </a:r>
          </a:p>
        </p:txBody>
      </p:sp>
      <p:sp>
        <p:nvSpPr>
          <p:cNvPr id="132" name="TextBox 131"/>
          <p:cNvSpPr txBox="1"/>
          <p:nvPr/>
        </p:nvSpPr>
        <p:spPr>
          <a:xfrm>
            <a:off x="7050024" y="2971800"/>
            <a:ext cx="1408176" cy="438912"/>
          </a:xfrm>
          <a:prstGeom prst="rect">
            <a:avLst/>
          </a:prstGeom>
          <a:noFill/>
          <a:effectLst/>
        </p:spPr>
        <p:txBody>
          <a:bodyPr wrap="square" lIns="22860" rIns="22860" tIns="0" bIns="0">
            <a:spAutoFit/>
          </a:bodyPr>
          <a:lstStyle/>
          <a:p>
            <a:pPr algn="ctr">
              <a:spcAft>
                <a:spcPts val="600"/>
              </a:spcAft>
              <a:defRPr sz="1050" b="0">
                <a:solidFill>
                  <a:srgbClr val="566273"/>
                </a:solidFill>
                <a:latin typeface="Microsoft YaHei"/>
              </a:defRPr>
            </a:pPr>
            <a:r>
              <a:t>多路径协同</a:t>
            </a:r>
          </a:p>
          <a:p>
            <a:pPr algn="ctr">
              <a:spcAft>
                <a:spcPts val="600"/>
              </a:spcAft>
              <a:defRPr sz="1050" b="0">
                <a:solidFill>
                  <a:srgbClr val="566273"/>
                </a:solidFill>
                <a:latin typeface="Microsoft YaHei"/>
              </a:defRPr>
            </a:pPr>
            <a:r>
              <a:t>与材料循环</a:t>
            </a:r>
          </a:p>
        </p:txBody>
      </p:sp>
      <p:sp>
        <p:nvSpPr>
          <p:cNvPr id="133" name="Can 132"/>
          <p:cNvSpPr/>
          <p:nvPr/>
        </p:nvSpPr>
        <p:spPr>
          <a:xfrm>
            <a:off x="9893808" y="2008479"/>
            <a:ext cx="268833" cy="412851"/>
          </a:xfrm>
          <a:prstGeom prst="can">
            <a:avLst/>
          </a:prstGeom>
          <a:solidFill>
            <a:srgbClr val="7D98BD"/>
          </a:solidFill>
          <a:ln w="1270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4" name="Can 133"/>
          <p:cNvSpPr/>
          <p:nvPr/>
        </p:nvSpPr>
        <p:spPr>
          <a:xfrm>
            <a:off x="10133838" y="1950872"/>
            <a:ext cx="268833" cy="412851"/>
          </a:xfrm>
          <a:prstGeom prst="can">
            <a:avLst/>
          </a:prstGeom>
          <a:solidFill>
            <a:srgbClr val="7D98BD"/>
          </a:solidFill>
          <a:ln w="1270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Can 134"/>
          <p:cNvSpPr/>
          <p:nvPr/>
        </p:nvSpPr>
        <p:spPr>
          <a:xfrm>
            <a:off x="10009022" y="1778050"/>
            <a:ext cx="268833" cy="412851"/>
          </a:xfrm>
          <a:prstGeom prst="can">
            <a:avLst/>
          </a:prstGeom>
          <a:solidFill>
            <a:srgbClr val="AFC5E2"/>
          </a:solidFill>
          <a:ln w="1270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extBox 135"/>
          <p:cNvSpPr txBox="1"/>
          <p:nvPr/>
        </p:nvSpPr>
        <p:spPr>
          <a:xfrm>
            <a:off x="10561320" y="1856231"/>
            <a:ext cx="1005840" cy="265176"/>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碳化</a:t>
            </a:r>
          </a:p>
        </p:txBody>
      </p:sp>
      <p:sp>
        <p:nvSpPr>
          <p:cNvPr id="137" name="TextBox 136"/>
          <p:cNvSpPr txBox="1"/>
          <p:nvPr/>
        </p:nvSpPr>
        <p:spPr>
          <a:xfrm>
            <a:off x="10561320" y="2231136"/>
            <a:ext cx="1060704" cy="393192"/>
          </a:xfrm>
          <a:prstGeom prst="rect">
            <a:avLst/>
          </a:prstGeom>
          <a:noFill/>
          <a:effectLst/>
        </p:spPr>
        <p:txBody>
          <a:bodyPr wrap="square" lIns="22860" rIns="22860" tIns="0" bIns="0">
            <a:spAutoFit/>
          </a:bodyPr>
          <a:lstStyle/>
          <a:p>
            <a:pPr>
              <a:spcAft>
                <a:spcPts val="600"/>
              </a:spcAft>
              <a:defRPr sz="1050" b="0">
                <a:solidFill>
                  <a:srgbClr val="566273"/>
                </a:solidFill>
                <a:latin typeface="Microsoft YaHei"/>
              </a:defRPr>
            </a:pPr>
            <a:r>
              <a:t>碳材料</a:t>
            </a:r>
          </a:p>
          <a:p>
            <a:pPr>
              <a:spcAft>
                <a:spcPts val="600"/>
              </a:spcAft>
              <a:defRPr sz="1050" b="0">
                <a:solidFill>
                  <a:srgbClr val="566273"/>
                </a:solidFill>
                <a:latin typeface="Microsoft YaHei"/>
              </a:defRPr>
            </a:pPr>
            <a:r>
              <a:t>功能材料</a:t>
            </a:r>
          </a:p>
        </p:txBody>
      </p:sp>
      <p:sp>
        <p:nvSpPr>
          <p:cNvPr id="138" name="Freeform 137"/>
          <p:cNvSpPr/>
          <p:nvPr/>
        </p:nvSpPr>
        <p:spPr>
          <a:xfrm>
            <a:off x="10963656" y="2796235"/>
            <a:ext cx="264809" cy="305775"/>
          </a:xfrm>
          <a:custGeom>
            <a:avLst/>
            <a:gdLst/>
            <a:ahLst/>
            <a:cxnLst/>
            <a:rect l="l" t="t" r="r" b="b"/>
            <a:pathLst>
              <a:path w="264809" h="305775">
                <a:moveTo>
                  <a:pt x="132405" y="0"/>
                </a:moveTo>
                <a:lnTo>
                  <a:pt x="264809" y="76444"/>
                </a:lnTo>
                <a:lnTo>
                  <a:pt x="264809" y="229331"/>
                </a:lnTo>
                <a:lnTo>
                  <a:pt x="132405" y="305775"/>
                </a:lnTo>
                <a:lnTo>
                  <a:pt x="0" y="229331"/>
                </a:lnTo>
                <a:lnTo>
                  <a:pt x="0" y="76444"/>
                </a:lnTo>
                <a:lnTo>
                  <a:pt x="13240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39" name="Connector 138"/>
          <p:cNvCxnSpPr/>
          <p:nvPr/>
        </p:nvCxnSpPr>
        <p:spPr>
          <a:xfrm>
            <a:off x="11096061" y="2839043"/>
            <a:ext cx="95331" cy="5504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40" name="Connector 139"/>
          <p:cNvCxnSpPr/>
          <p:nvPr/>
        </p:nvCxnSpPr>
        <p:spPr>
          <a:xfrm flipH="1">
            <a:off x="11096061" y="3004162"/>
            <a:ext cx="95331" cy="5504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41" name="Connector 140"/>
          <p:cNvCxnSpPr/>
          <p:nvPr/>
        </p:nvCxnSpPr>
        <p:spPr>
          <a:xfrm flipV="1">
            <a:off x="11000729" y="2894083"/>
            <a:ext cx="0" cy="11007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42" name="Connector 141"/>
          <p:cNvCxnSpPr/>
          <p:nvPr/>
        </p:nvCxnSpPr>
        <p:spPr>
          <a:xfrm flipV="1">
            <a:off x="11228100" y="2796235"/>
            <a:ext cx="138989" cy="76444"/>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43" name="TextBox 142"/>
          <p:cNvSpPr txBox="1"/>
          <p:nvPr/>
        </p:nvSpPr>
        <p:spPr>
          <a:xfrm>
            <a:off x="11367089" y="2719791"/>
            <a:ext cx="277977" cy="166786"/>
          </a:xfrm>
          <a:prstGeom prst="rect">
            <a:avLst/>
          </a:prstGeom>
          <a:noFill/>
          <a:effectLst/>
        </p:spPr>
        <p:txBody>
          <a:bodyPr wrap="square" lIns="22860" rIns="22860" tIns="0" bIns="0">
            <a:spAutoFit/>
          </a:bodyPr>
          <a:lstStyle/>
          <a:p>
            <a:pPr>
              <a:spcAft>
                <a:spcPts val="600"/>
              </a:spcAft>
              <a:defRPr sz="836" b="1">
                <a:solidFill>
                  <a:srgbClr val="C00000"/>
                </a:solidFill>
                <a:latin typeface="Arial"/>
              </a:defRPr>
            </a:pPr>
            <a:r>
              <a:t>OH</a:t>
            </a:r>
          </a:p>
        </p:txBody>
      </p:sp>
      <p:sp>
        <p:nvSpPr>
          <p:cNvPr id="144" name="TextBox 143"/>
          <p:cNvSpPr txBox="1"/>
          <p:nvPr/>
        </p:nvSpPr>
        <p:spPr>
          <a:xfrm>
            <a:off x="10040112" y="2743200"/>
            <a:ext cx="1024128" cy="274320"/>
          </a:xfrm>
          <a:prstGeom prst="rect">
            <a:avLst/>
          </a:prstGeom>
          <a:noFill/>
          <a:effectLst/>
        </p:spPr>
        <p:txBody>
          <a:bodyPr wrap="square" lIns="22860" rIns="22860" tIns="0" bIns="0">
            <a:spAutoFit/>
          </a:bodyPr>
          <a:lstStyle/>
          <a:p>
            <a:pPr>
              <a:spcAft>
                <a:spcPts val="600"/>
              </a:spcAft>
              <a:defRPr sz="1400" b="1">
                <a:solidFill>
                  <a:srgbClr val="063584"/>
                </a:solidFill>
                <a:latin typeface="Microsoft YaHei"/>
              </a:defRPr>
            </a:pPr>
            <a:r>
              <a:t>官能化</a:t>
            </a:r>
          </a:p>
        </p:txBody>
      </p:sp>
      <p:sp>
        <p:nvSpPr>
          <p:cNvPr id="145" name="TextBox 144"/>
          <p:cNvSpPr txBox="1"/>
          <p:nvPr/>
        </p:nvSpPr>
        <p:spPr>
          <a:xfrm>
            <a:off x="10213848" y="3209544"/>
            <a:ext cx="1316736" cy="374904"/>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引入官能团</a:t>
            </a:r>
          </a:p>
          <a:p>
            <a:pPr>
              <a:spcAft>
                <a:spcPts val="600"/>
              </a:spcAft>
              <a:defRPr sz="1000" b="0">
                <a:solidFill>
                  <a:srgbClr val="566273"/>
                </a:solidFill>
                <a:latin typeface="Microsoft YaHei"/>
              </a:defRPr>
            </a:pPr>
            <a:r>
              <a:t>拓展材料功能</a:t>
            </a:r>
          </a:p>
        </p:txBody>
      </p:sp>
      <p:sp>
        <p:nvSpPr>
          <p:cNvPr id="146" name="Oval 145"/>
          <p:cNvSpPr/>
          <p:nvPr/>
        </p:nvSpPr>
        <p:spPr>
          <a:xfrm>
            <a:off x="11083991" y="3907779"/>
            <a:ext cx="131673" cy="131673"/>
          </a:xfrm>
          <a:prstGeom prst="ellipse">
            <a:avLst/>
          </a:prstGeom>
          <a:solidFill>
            <a:srgbClr val="FFFFFF"/>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7" name="Oval 146"/>
          <p:cNvSpPr/>
          <p:nvPr/>
        </p:nvSpPr>
        <p:spPr>
          <a:xfrm>
            <a:off x="11274917" y="3907779"/>
            <a:ext cx="131673" cy="131673"/>
          </a:xfrm>
          <a:prstGeom prst="ellipse">
            <a:avLst/>
          </a:prstGeom>
          <a:solidFill>
            <a:srgbClr val="FFFFFF"/>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8" name="Connector 147"/>
          <p:cNvCxnSpPr/>
          <p:nvPr/>
        </p:nvCxnSpPr>
        <p:spPr>
          <a:xfrm flipV="1">
            <a:off x="11182746" y="3670767"/>
            <a:ext cx="217261" cy="25018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149" name="Connector 148"/>
          <p:cNvCxnSpPr/>
          <p:nvPr/>
        </p:nvCxnSpPr>
        <p:spPr>
          <a:xfrm flipH="1" flipV="1">
            <a:off x="11097158" y="3670767"/>
            <a:ext cx="204094" cy="25018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50" name="TextBox 149"/>
          <p:cNvSpPr txBox="1"/>
          <p:nvPr/>
        </p:nvSpPr>
        <p:spPr>
          <a:xfrm>
            <a:off x="10149840" y="3685032"/>
            <a:ext cx="1115568" cy="283464"/>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裂解与偶联</a:t>
            </a:r>
          </a:p>
        </p:txBody>
      </p:sp>
      <p:sp>
        <p:nvSpPr>
          <p:cNvPr id="151" name="TextBox 150"/>
          <p:cNvSpPr txBox="1"/>
          <p:nvPr/>
        </p:nvSpPr>
        <p:spPr>
          <a:xfrm>
            <a:off x="10460736" y="4169663"/>
            <a:ext cx="1106424" cy="429768"/>
          </a:xfrm>
          <a:prstGeom prst="rect">
            <a:avLst/>
          </a:prstGeom>
          <a:noFill/>
          <a:effectLst/>
        </p:spPr>
        <p:txBody>
          <a:bodyPr wrap="square" lIns="22860" rIns="22860" tIns="0" bIns="0">
            <a:spAutoFit/>
          </a:bodyPr>
          <a:lstStyle/>
          <a:p>
            <a:pPr>
              <a:spcAft>
                <a:spcPts val="600"/>
              </a:spcAft>
              <a:defRPr sz="960" b="0">
                <a:solidFill>
                  <a:srgbClr val="566273"/>
                </a:solidFill>
                <a:latin typeface="Microsoft YaHei"/>
              </a:defRPr>
            </a:pPr>
            <a:r>
              <a:t>小分子化学品</a:t>
            </a:r>
          </a:p>
          <a:p>
            <a:pPr>
              <a:spcAft>
                <a:spcPts val="600"/>
              </a:spcAft>
              <a:defRPr sz="960" b="0">
                <a:solidFill>
                  <a:srgbClr val="566273"/>
                </a:solidFill>
                <a:latin typeface="Microsoft YaHei"/>
              </a:defRPr>
            </a:pPr>
            <a:r>
              <a:t>或新结构聚合物</a:t>
            </a:r>
          </a:p>
        </p:txBody>
      </p:sp>
      <p:sp>
        <p:nvSpPr>
          <p:cNvPr id="152" name="Freeform 151"/>
          <p:cNvSpPr/>
          <p:nvPr/>
        </p:nvSpPr>
        <p:spPr>
          <a:xfrm>
            <a:off x="10531327" y="4718304"/>
            <a:ext cx="487375" cy="494873"/>
          </a:xfrm>
          <a:custGeom>
            <a:avLst/>
            <a:gdLst/>
            <a:ahLst/>
            <a:cxnLst/>
            <a:rect l="l" t="t" r="r" b="b"/>
            <a:pathLst>
              <a:path w="487375" h="494873">
                <a:moveTo>
                  <a:pt x="164958" y="0"/>
                </a:moveTo>
                <a:lnTo>
                  <a:pt x="322418" y="0"/>
                </a:lnTo>
                <a:lnTo>
                  <a:pt x="322418" y="172455"/>
                </a:lnTo>
                <a:lnTo>
                  <a:pt x="487375" y="494873"/>
                </a:lnTo>
                <a:lnTo>
                  <a:pt x="0" y="494873"/>
                </a:lnTo>
                <a:lnTo>
                  <a:pt x="164958" y="172455"/>
                </a:lnTo>
                <a:lnTo>
                  <a:pt x="164958" y="0"/>
                </a:lnTo>
              </a:path>
            </a:pathLst>
          </a:custGeom>
          <a:solidFill>
            <a:srgbClr val="F6F9FE"/>
          </a:solidFill>
          <a:ln w="1778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3" name="Freeform 152"/>
          <p:cNvSpPr/>
          <p:nvPr/>
        </p:nvSpPr>
        <p:spPr>
          <a:xfrm>
            <a:off x="10531327" y="5040721"/>
            <a:ext cx="487375" cy="172456"/>
          </a:xfrm>
          <a:custGeom>
            <a:avLst/>
            <a:gdLst/>
            <a:ahLst/>
            <a:cxnLst/>
            <a:rect l="l" t="t" r="r" b="b"/>
            <a:pathLst>
              <a:path w="487375" h="172456">
                <a:moveTo>
                  <a:pt x="89977" y="0"/>
                </a:moveTo>
                <a:lnTo>
                  <a:pt x="397398" y="0"/>
                </a:lnTo>
                <a:lnTo>
                  <a:pt x="487375" y="172456"/>
                </a:lnTo>
                <a:lnTo>
                  <a:pt x="0" y="172456"/>
                </a:lnTo>
                <a:lnTo>
                  <a:pt x="89977" y="0"/>
                </a:lnTo>
              </a:path>
            </a:pathLst>
          </a:custGeom>
          <a:solidFill>
            <a:srgbClr val="C5D9F5"/>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4" name="Connector 153"/>
          <p:cNvCxnSpPr/>
          <p:nvPr/>
        </p:nvCxnSpPr>
        <p:spPr>
          <a:xfrm>
            <a:off x="10673791" y="4718304"/>
            <a:ext cx="202448"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55" name="TextBox 154"/>
          <p:cNvSpPr txBox="1"/>
          <p:nvPr/>
        </p:nvSpPr>
        <p:spPr>
          <a:xfrm>
            <a:off x="9592056" y="5084064"/>
            <a:ext cx="1024128" cy="283464"/>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溶剂处理</a:t>
            </a:r>
          </a:p>
        </p:txBody>
      </p:sp>
      <p:sp>
        <p:nvSpPr>
          <p:cNvPr id="156" name="TextBox 155"/>
          <p:cNvSpPr txBox="1"/>
          <p:nvPr/>
        </p:nvSpPr>
        <p:spPr>
          <a:xfrm>
            <a:off x="10634472" y="5312664"/>
            <a:ext cx="969264" cy="256032"/>
          </a:xfrm>
          <a:prstGeom prst="rect">
            <a:avLst/>
          </a:prstGeom>
          <a:noFill/>
          <a:effectLst/>
        </p:spPr>
        <p:txBody>
          <a:bodyPr wrap="square" lIns="22860" rIns="22860" tIns="0" bIns="0">
            <a:spAutoFit/>
          </a:bodyPr>
          <a:lstStyle/>
          <a:p>
            <a:pPr>
              <a:spcAft>
                <a:spcPts val="600"/>
              </a:spcAft>
              <a:defRPr sz="950" b="0">
                <a:solidFill>
                  <a:srgbClr val="566273"/>
                </a:solidFill>
                <a:latin typeface="Microsoft YaHei"/>
              </a:defRPr>
            </a:pPr>
            <a:r>
              <a:t>分离 / 再加工</a:t>
            </a:r>
          </a:p>
        </p:txBody>
      </p:sp>
      <p:cxnSp>
        <p:nvCxnSpPr>
          <p:cNvPr id="157" name="Connector 156"/>
          <p:cNvCxnSpPr/>
          <p:nvPr/>
        </p:nvCxnSpPr>
        <p:spPr>
          <a:xfrm>
            <a:off x="7360920" y="4965192"/>
            <a:ext cx="106984" cy="82296"/>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58" name="Oval 157"/>
          <p:cNvSpPr/>
          <p:nvPr/>
        </p:nvSpPr>
        <p:spPr>
          <a:xfrm>
            <a:off x="7332116" y="4936388"/>
            <a:ext cx="57607" cy="5760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9" name="Connector 158"/>
          <p:cNvCxnSpPr/>
          <p:nvPr/>
        </p:nvCxnSpPr>
        <p:spPr>
          <a:xfrm>
            <a:off x="7550200" y="4965192"/>
            <a:ext cx="106985" cy="82296"/>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60" name="Oval 159"/>
          <p:cNvSpPr/>
          <p:nvPr/>
        </p:nvSpPr>
        <p:spPr>
          <a:xfrm>
            <a:off x="7521397" y="4936388"/>
            <a:ext cx="57607" cy="5760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1" name="Connector 160"/>
          <p:cNvCxnSpPr/>
          <p:nvPr/>
        </p:nvCxnSpPr>
        <p:spPr>
          <a:xfrm>
            <a:off x="7739481" y="4965192"/>
            <a:ext cx="106985" cy="82296"/>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62" name="Oval 161"/>
          <p:cNvSpPr/>
          <p:nvPr/>
        </p:nvSpPr>
        <p:spPr>
          <a:xfrm>
            <a:off x="7710678" y="4936388"/>
            <a:ext cx="57607" cy="5760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3" name="TextBox 162"/>
          <p:cNvSpPr txBox="1"/>
          <p:nvPr/>
        </p:nvSpPr>
        <p:spPr>
          <a:xfrm>
            <a:off x="7360920" y="5170931"/>
            <a:ext cx="1110996" cy="172821"/>
          </a:xfrm>
          <a:prstGeom prst="rect">
            <a:avLst/>
          </a:prstGeom>
          <a:noFill/>
          <a:effectLst/>
        </p:spPr>
        <p:txBody>
          <a:bodyPr wrap="square" lIns="22860" rIns="22860" tIns="0" bIns="0">
            <a:spAutoFit/>
          </a:bodyPr>
          <a:lstStyle/>
          <a:p>
            <a:pPr>
              <a:spcAft>
                <a:spcPts val="600"/>
              </a:spcAft>
              <a:defRPr sz="810" b="0">
                <a:solidFill>
                  <a:srgbClr val="566273"/>
                </a:solidFill>
                <a:latin typeface="Microsoft YaHei"/>
              </a:defRPr>
            </a:pPr>
            <a:r>
              <a:t>低聚物 / 小分子</a:t>
            </a:r>
          </a:p>
        </p:txBody>
      </p:sp>
      <p:sp>
        <p:nvSpPr>
          <p:cNvPr id="164" name="TextBox 163"/>
          <p:cNvSpPr txBox="1"/>
          <p:nvPr/>
        </p:nvSpPr>
        <p:spPr>
          <a:xfrm>
            <a:off x="7050024" y="4535424"/>
            <a:ext cx="1636776" cy="283464"/>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解聚 / 低分子化</a:t>
            </a:r>
          </a:p>
        </p:txBody>
      </p:sp>
      <p:sp>
        <p:nvSpPr>
          <p:cNvPr id="165" name="TextBox 164"/>
          <p:cNvSpPr txBox="1"/>
          <p:nvPr/>
        </p:nvSpPr>
        <p:spPr>
          <a:xfrm>
            <a:off x="8412480" y="5486400"/>
            <a:ext cx="3209544" cy="155448"/>
          </a:xfrm>
          <a:prstGeom prst="rect">
            <a:avLst/>
          </a:prstGeom>
          <a:noFill/>
          <a:effectLst/>
        </p:spPr>
        <p:txBody>
          <a:bodyPr wrap="square" lIns="22860" rIns="22860" tIns="0" bIns="0">
            <a:spAutoFit/>
          </a:bodyPr>
          <a:lstStyle/>
          <a:p>
            <a:pPr algn="r">
              <a:spcAft>
                <a:spcPts val="600"/>
              </a:spcAft>
              <a:defRPr sz="930" b="0">
                <a:solidFill>
                  <a:srgbClr val="566273"/>
                </a:solidFill>
                <a:latin typeface="Microsoft YaHei"/>
              </a:defRPr>
            </a:pPr>
            <a:r>
              <a:t>路线分类示意，不代表本体系已实现。</a:t>
            </a:r>
          </a:p>
        </p:txBody>
      </p:sp>
      <p:sp>
        <p:nvSpPr>
          <p:cNvPr id="166" name="Rectangle 165"/>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Chevron 166"/>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8" name="TextBox 167"/>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研究切入点</a:t>
            </a:r>
          </a:p>
        </p:txBody>
      </p:sp>
      <p:sp>
        <p:nvSpPr>
          <p:cNvPr id="169" name="TextBox 168"/>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本研究聚焦光敏组分参与的 PVC 光化学转化，探索温和条件下的自由基路径。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PVC 的 C–Cl 键转化路径及键能分析</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C–Cl 可经取代、均裂或消除转化；仅均裂可直接产生 Cl·，具体活化取决于结构、吸光与反应条件</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机制分类参照 Xu et al., Nat. Rev. Methods Primers 2023, 3, 44；键能数值沿用用户图，原始出处待核。</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4</a:t>
            </a:r>
          </a:p>
        </p:txBody>
      </p:sp>
      <p:sp>
        <p:nvSpPr>
          <p:cNvPr id="7" name="Rounded Rectangle 6"/>
          <p:cNvSpPr/>
          <p:nvPr/>
        </p:nvSpPr>
        <p:spPr>
          <a:xfrm>
            <a:off x="320040" y="1344168"/>
            <a:ext cx="7461504" cy="453542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347472" y="1371600"/>
            <a:ext cx="740664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66344" y="1421892"/>
            <a:ext cx="716889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PVC 中 C–Cl 键的三种主要转化路径</a:t>
            </a:r>
          </a:p>
        </p:txBody>
      </p:sp>
      <p:sp>
        <p:nvSpPr>
          <p:cNvPr id="10" name="Rounded Rectangle 9"/>
          <p:cNvSpPr/>
          <p:nvPr/>
        </p:nvSpPr>
        <p:spPr>
          <a:xfrm>
            <a:off x="7991856" y="1344168"/>
            <a:ext cx="3877056" cy="453542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8019288" y="1371600"/>
            <a:ext cx="38221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138160" y="1421892"/>
            <a:ext cx="35844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相关化学键的示意键能对比</a:t>
            </a:r>
          </a:p>
        </p:txBody>
      </p:sp>
      <p:sp>
        <p:nvSpPr>
          <p:cNvPr id="13" name="Rounded Rectangle 12"/>
          <p:cNvSpPr/>
          <p:nvPr/>
        </p:nvSpPr>
        <p:spPr>
          <a:xfrm>
            <a:off x="438912" y="1856231"/>
            <a:ext cx="7223760" cy="1170432"/>
          </a:xfrm>
          <a:prstGeom prst="roundRect">
            <a:avLst>
              <a:gd name="adj" fmla="val 2500"/>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555040" y="1926640"/>
            <a:ext cx="224942" cy="22494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71500" y="1952243"/>
            <a:ext cx="192024" cy="182880"/>
          </a:xfrm>
          <a:prstGeom prst="rect">
            <a:avLst/>
          </a:prstGeom>
          <a:noFill/>
          <a:effectLst/>
        </p:spPr>
        <p:txBody>
          <a:bodyPr wrap="square" lIns="22860" rIns="22860" tIns="0" bIns="0">
            <a:spAutoFit/>
          </a:bodyPr>
          <a:lstStyle/>
          <a:p>
            <a:pPr algn="ctr">
              <a:spcAft>
                <a:spcPts val="600"/>
              </a:spcAft>
              <a:defRPr sz="1100" b="1">
                <a:solidFill>
                  <a:srgbClr val="FFFFFF"/>
                </a:solidFill>
                <a:latin typeface="Microsoft YaHei"/>
              </a:defRPr>
            </a:pPr>
            <a:r>
              <a:t>1</a:t>
            </a:r>
          </a:p>
        </p:txBody>
      </p:sp>
      <p:sp>
        <p:nvSpPr>
          <p:cNvPr id="16" name="TextBox 15"/>
          <p:cNvSpPr txBox="1"/>
          <p:nvPr/>
        </p:nvSpPr>
        <p:spPr>
          <a:xfrm>
            <a:off x="886968" y="1929384"/>
            <a:ext cx="1956816" cy="320040"/>
          </a:xfrm>
          <a:prstGeom prst="rect">
            <a:avLst/>
          </a:prstGeom>
          <a:noFill/>
          <a:effectLst/>
        </p:spPr>
        <p:txBody>
          <a:bodyPr wrap="square" lIns="22860" rIns="22860" tIns="0" bIns="0">
            <a:spAutoFit/>
          </a:bodyPr>
          <a:lstStyle/>
          <a:p>
            <a:pPr>
              <a:spcAft>
                <a:spcPts val="600"/>
              </a:spcAft>
              <a:defRPr sz="1380" b="1">
                <a:solidFill>
                  <a:srgbClr val="063584"/>
                </a:solidFill>
                <a:latin typeface="Microsoft YaHei"/>
              </a:defRPr>
            </a:pPr>
            <a:r>
              <a:t>异裂 / 亲核取代脱氯</a:t>
            </a:r>
          </a:p>
        </p:txBody>
      </p:sp>
      <p:sp>
        <p:nvSpPr>
          <p:cNvPr id="17" name="TextBox 16"/>
          <p:cNvSpPr txBox="1"/>
          <p:nvPr/>
        </p:nvSpPr>
        <p:spPr>
          <a:xfrm>
            <a:off x="886968" y="2340863"/>
            <a:ext cx="1856231" cy="594360"/>
          </a:xfrm>
          <a:prstGeom prst="rect">
            <a:avLst/>
          </a:prstGeom>
          <a:noFill/>
          <a:effectLst/>
        </p:spPr>
        <p:txBody>
          <a:bodyPr wrap="square" lIns="22860" rIns="22860" tIns="0" bIns="0">
            <a:spAutoFit/>
          </a:bodyPr>
          <a:lstStyle/>
          <a:p>
            <a:pPr>
              <a:spcAft>
                <a:spcPts val="600"/>
              </a:spcAft>
              <a:defRPr sz="1180" b="0">
                <a:solidFill>
                  <a:srgbClr val="111111"/>
                </a:solidFill>
                <a:latin typeface="Microsoft YaHei"/>
              </a:defRPr>
            </a:pPr>
            <a:r>
              <a:t>亲核试剂参与，C–Cl 极性断裂；氯以 Cl⁻ 形式离去。</a:t>
            </a:r>
          </a:p>
        </p:txBody>
      </p:sp>
      <p:sp>
        <p:nvSpPr>
          <p:cNvPr id="18" name="TextBox 17"/>
          <p:cNvSpPr txBox="1"/>
          <p:nvPr/>
        </p:nvSpPr>
        <p:spPr>
          <a:xfrm>
            <a:off x="5852160" y="2039112"/>
            <a:ext cx="1673352" cy="877824"/>
          </a:xfrm>
          <a:prstGeom prst="rect">
            <a:avLst/>
          </a:prstGeom>
          <a:noFill/>
          <a:effectLst/>
        </p:spPr>
        <p:txBody>
          <a:bodyPr wrap="square" lIns="22860" rIns="22860" tIns="0" bIns="0">
            <a:spAutoFit/>
          </a:bodyPr>
          <a:lstStyle/>
          <a:p>
            <a:pPr>
              <a:spcAft>
                <a:spcPts val="600"/>
              </a:spcAft>
              <a:defRPr sz="1080" b="0">
                <a:solidFill>
                  <a:srgbClr val="063584"/>
                </a:solidFill>
                <a:latin typeface="Microsoft YaHei"/>
              </a:defRPr>
            </a:pPr>
            <a:r>
              <a:t>• 生成 Cl⁻ 等含氯副产物</a:t>
            </a:r>
          </a:p>
          <a:p>
            <a:pPr>
              <a:spcAft>
                <a:spcPts val="600"/>
              </a:spcAft>
              <a:defRPr sz="1080" b="0">
                <a:solidFill>
                  <a:srgbClr val="063584"/>
                </a:solidFill>
                <a:latin typeface="Microsoft YaHei"/>
              </a:defRPr>
            </a:pPr>
            <a:r>
              <a:t>• 主链可保留或官能化</a:t>
            </a:r>
          </a:p>
          <a:p>
            <a:pPr>
              <a:spcAft>
                <a:spcPts val="600"/>
              </a:spcAft>
              <a:defRPr sz="1080" b="0">
                <a:solidFill>
                  <a:srgbClr val="063584"/>
                </a:solidFill>
                <a:latin typeface="Microsoft YaHei"/>
              </a:defRPr>
            </a:pPr>
            <a:r>
              <a:t>• 非 Cl· 直接生成路径</a:t>
            </a:r>
          </a:p>
        </p:txBody>
      </p:sp>
      <p:grpSp>
        <p:nvGrpSpPr>
          <p:cNvPr id="21" name="Path1_Substrate"/>
          <p:cNvGrpSpPr/>
          <p:nvPr/>
        </p:nvGrpSpPr>
        <p:grpSpPr>
          <a:xfrm>
            <a:off x="2820923" y="2189988"/>
            <a:ext cx="1234440" cy="617220"/>
            <a:chOff x="2820923" y="2189988"/>
            <a:chExt cx="1234440" cy="617220"/>
          </a:xfrm>
        </p:grpSpPr>
        <p:sp>
          <p:nvSpPr>
            <p:cNvPr id="19" name="Path1_Substrate_Bonds"/>
            <p:cNvSpPr/>
            <p:nvPr/>
          </p:nvSpPr>
          <p:spPr>
            <a:xfrm>
              <a:off x="2820923" y="2189988"/>
              <a:ext cx="1234440" cy="374904"/>
            </a:xfrm>
            <a:custGeom>
              <a:avLst/>
              <a:gdLst/>
              <a:ahLst/>
              <a:cxnLst/>
              <a:rect l="0" t="0" r="r" b="b"/>
              <a:pathLst>
                <a:path w="1234440" h="374904" fill="none" stroke="1" extrusionOk="0">
                  <a:moveTo>
                    <a:pt x="123444" y="150876"/>
                  </a:moveTo>
                  <a:lnTo>
                    <a:pt x="361188" y="13716"/>
                  </a:lnTo>
                  <a:lnTo>
                    <a:pt x="617220" y="169164"/>
                  </a:lnTo>
                  <a:lnTo>
                    <a:pt x="873252" y="13716"/>
                  </a:lnTo>
                  <a:lnTo>
                    <a:pt x="1110996" y="150876"/>
                  </a:lnTo>
                  <a:moveTo>
                    <a:pt x="13716" y="77723"/>
                  </a:moveTo>
                  <a:lnTo>
                    <a:pt x="68580" y="109728"/>
                  </a:lnTo>
                  <a:moveTo>
                    <a:pt x="1165860" y="109728"/>
                  </a:moveTo>
                  <a:lnTo>
                    <a:pt x="1220724" y="77723"/>
                  </a:lnTo>
                  <a:moveTo>
                    <a:pt x="617220" y="169164"/>
                  </a:moveTo>
                  <a:lnTo>
                    <a:pt x="617220" y="361188"/>
                  </a:lnTo>
                </a:path>
              </a:pathLst>
            </a:custGeom>
            <a:noFill/>
            <a:ln w="19050">
              <a:solidFill>
                <a:srgbClr val="56627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3310127" y="2578608"/>
              <a:ext cx="402336" cy="228600"/>
            </a:xfrm>
            <a:prstGeom prst="rect">
              <a:avLst/>
            </a:prstGeom>
            <a:noFill/>
          </p:spPr>
          <p:txBody>
            <a:bodyPr wrap="square" lIns="22860" rIns="22860" tIns="0" bIns="0">
              <a:spAutoFit/>
            </a:bodyPr>
            <a:lstStyle/>
            <a:p>
              <a:pPr>
                <a:spcAft>
                  <a:spcPts val="600"/>
                </a:spcAft>
                <a:defRPr sz="1350" b="0">
                  <a:solidFill>
                    <a:srgbClr val="063584"/>
                  </a:solidFill>
                  <a:latin typeface="Arial"/>
                </a:defRPr>
              </a:pPr>
              <a:r>
                <a:t>Cl</a:t>
              </a:r>
            </a:p>
          </p:txBody>
        </p:sp>
      </p:grpSp>
      <p:grpSp>
        <p:nvGrpSpPr>
          <p:cNvPr id="24" name="Path1_SubstitutedProduct"/>
          <p:cNvGrpSpPr/>
          <p:nvPr/>
        </p:nvGrpSpPr>
        <p:grpSpPr>
          <a:xfrm>
            <a:off x="4448556" y="2189988"/>
            <a:ext cx="1234439" cy="617220"/>
            <a:chOff x="4448556" y="2189988"/>
            <a:chExt cx="1234439" cy="617220"/>
          </a:xfrm>
        </p:grpSpPr>
        <p:sp>
          <p:nvSpPr>
            <p:cNvPr id="22" name="Path1_SubstitutedProduct_Bonds"/>
            <p:cNvSpPr/>
            <p:nvPr/>
          </p:nvSpPr>
          <p:spPr>
            <a:xfrm>
              <a:off x="4448556" y="2189988"/>
              <a:ext cx="1234439" cy="374904"/>
            </a:xfrm>
            <a:custGeom>
              <a:avLst/>
              <a:gdLst/>
              <a:ahLst/>
              <a:cxnLst/>
              <a:rect l="0" t="0" r="r" b="b"/>
              <a:pathLst>
                <a:path w="1234439" h="374904" fill="none" stroke="1" extrusionOk="0">
                  <a:moveTo>
                    <a:pt x="123443" y="150876"/>
                  </a:moveTo>
                  <a:lnTo>
                    <a:pt x="361187" y="13716"/>
                  </a:lnTo>
                  <a:lnTo>
                    <a:pt x="617219" y="169164"/>
                  </a:lnTo>
                  <a:lnTo>
                    <a:pt x="873252" y="13716"/>
                  </a:lnTo>
                  <a:lnTo>
                    <a:pt x="1110995" y="150876"/>
                  </a:lnTo>
                  <a:moveTo>
                    <a:pt x="13715" y="77723"/>
                  </a:moveTo>
                  <a:lnTo>
                    <a:pt x="68580" y="109728"/>
                  </a:lnTo>
                  <a:moveTo>
                    <a:pt x="1165859" y="109728"/>
                  </a:moveTo>
                  <a:lnTo>
                    <a:pt x="1220724" y="77723"/>
                  </a:lnTo>
                  <a:moveTo>
                    <a:pt x="617219" y="169164"/>
                  </a:moveTo>
                  <a:lnTo>
                    <a:pt x="617219" y="361188"/>
                  </a:lnTo>
                </a:path>
              </a:pathLst>
            </a:custGeom>
            <a:noFill/>
            <a:ln w="19050">
              <a:solidFill>
                <a:srgbClr val="56627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0" y="2578608"/>
              <a:ext cx="402336" cy="228600"/>
            </a:xfrm>
            <a:prstGeom prst="rect">
              <a:avLst/>
            </a:prstGeom>
            <a:noFill/>
          </p:spPr>
          <p:txBody>
            <a:bodyPr wrap="square" lIns="22860" rIns="22860" tIns="0" bIns="0">
              <a:spAutoFit/>
            </a:bodyPr>
            <a:lstStyle/>
            <a:p>
              <a:pPr>
                <a:spcAft>
                  <a:spcPts val="600"/>
                </a:spcAft>
                <a:defRPr sz="1350" b="0">
                  <a:solidFill>
                    <a:srgbClr val="C00000"/>
                  </a:solidFill>
                  <a:latin typeface="Arial"/>
                </a:defRPr>
              </a:pPr>
              <a:r>
                <a:t>Nu</a:t>
              </a:r>
            </a:p>
          </p:txBody>
        </p:sp>
      </p:grpSp>
      <p:sp>
        <p:nvSpPr>
          <p:cNvPr id="25" name="TextBox 24"/>
          <p:cNvSpPr txBox="1"/>
          <p:nvPr/>
        </p:nvSpPr>
        <p:spPr>
          <a:xfrm>
            <a:off x="2962656" y="1879091"/>
            <a:ext cx="502920" cy="237744"/>
          </a:xfrm>
          <a:prstGeom prst="rect">
            <a:avLst/>
          </a:prstGeom>
          <a:noFill/>
          <a:effectLst/>
        </p:spPr>
        <p:txBody>
          <a:bodyPr wrap="square" lIns="22860" rIns="22860" tIns="0" bIns="0">
            <a:spAutoFit/>
          </a:bodyPr>
          <a:lstStyle/>
          <a:p>
            <a:pPr>
              <a:spcAft>
                <a:spcPts val="600"/>
              </a:spcAft>
              <a:defRPr sz="1350" b="0">
                <a:solidFill>
                  <a:srgbClr val="C00000"/>
                </a:solidFill>
                <a:latin typeface="Arial"/>
              </a:defRPr>
            </a:pPr>
            <a:r>
              <a:t>Nu</a:t>
            </a:r>
          </a:p>
        </p:txBody>
      </p:sp>
      <p:sp>
        <p:nvSpPr>
          <p:cNvPr id="26" name="Path1_NucleophileAttack"/>
          <p:cNvSpPr/>
          <p:nvPr/>
        </p:nvSpPr>
        <p:spPr>
          <a:xfrm>
            <a:off x="3223260" y="1988819"/>
            <a:ext cx="292608" cy="329183"/>
          </a:xfrm>
          <a:custGeom>
            <a:avLst/>
            <a:gdLst/>
            <a:ahLst/>
            <a:cxnLst/>
            <a:rect l="0" t="0" r="r" b="b"/>
            <a:pathLst>
              <a:path w="292608" h="329183" fill="none" stroke="1" extrusionOk="0">
                <a:moveTo>
                  <a:pt x="13716" y="22859"/>
                </a:moveTo>
                <a:cubicBezTo>
                  <a:pt x="224028" y="13716"/>
                  <a:pt x="278892" y="150876"/>
                  <a:pt x="214883" y="315467"/>
                </a:cubicBezTo>
              </a:path>
            </a:pathLst>
          </a:custGeom>
          <a:noFill/>
          <a:ln w="16510">
            <a:solidFill>
              <a:srgbClr val="C00000"/>
            </a:solidFill>
            <a:tailEnd type="triangle" w="sm" len="sm"/>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Path1_BondPairToChlorine"/>
          <p:cNvSpPr/>
          <p:nvPr/>
        </p:nvSpPr>
        <p:spPr>
          <a:xfrm>
            <a:off x="3442715" y="2427732"/>
            <a:ext cx="274319" cy="274320"/>
          </a:xfrm>
          <a:custGeom>
            <a:avLst/>
            <a:gdLst/>
            <a:ahLst/>
            <a:cxnLst/>
            <a:rect l="0" t="0" r="r" b="b"/>
            <a:pathLst>
              <a:path w="274319" h="274320" fill="none" stroke="1" extrusionOk="0">
                <a:moveTo>
                  <a:pt x="13716" y="32004"/>
                </a:moveTo>
                <a:cubicBezTo>
                  <a:pt x="242316" y="13716"/>
                  <a:pt x="260604" y="196595"/>
                  <a:pt x="86868" y="260604"/>
                </a:cubicBezTo>
              </a:path>
            </a:pathLst>
          </a:custGeom>
          <a:noFill/>
          <a:ln w="16510">
            <a:solidFill>
              <a:srgbClr val="063584"/>
            </a:solidFill>
            <a:tailEnd type="triangle" w="sm" len="sm"/>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Path1_ReactionArrow"/>
          <p:cNvSpPr/>
          <p:nvPr/>
        </p:nvSpPr>
        <p:spPr>
          <a:xfrm>
            <a:off x="4082796" y="2345436"/>
            <a:ext cx="448055" cy="27432"/>
          </a:xfrm>
          <a:custGeom>
            <a:avLst/>
            <a:gdLst/>
            <a:ahLst/>
            <a:cxnLst/>
            <a:rect l="0" t="0" r="r" b="b"/>
            <a:pathLst>
              <a:path w="448055" h="27432" fill="none" stroke="1" extrusionOk="0">
                <a:moveTo>
                  <a:pt x="13715" y="13716"/>
                </a:moveTo>
                <a:lnTo>
                  <a:pt x="434339" y="13716"/>
                </a:lnTo>
              </a:path>
            </a:pathLst>
          </a:custGeom>
          <a:noFill/>
          <a:ln w="21590">
            <a:solidFill>
              <a:srgbClr val="063584"/>
            </a:solidFill>
            <a:tailEnd type="triangle" w="sm" len="sm"/>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31" name="LeavingGroup_Label"/>
          <p:cNvGrpSpPr/>
          <p:nvPr/>
        </p:nvGrpSpPr>
        <p:grpSpPr>
          <a:xfrm>
            <a:off x="4050791" y="2550261"/>
            <a:ext cx="566928" cy="247802"/>
            <a:chOff x="4050791" y="2550261"/>
            <a:chExt cx="566928" cy="247802"/>
          </a:xfrm>
        </p:grpSpPr>
        <p:sp>
          <p:nvSpPr>
            <p:cNvPr id="29" name="TextBox 28"/>
            <p:cNvSpPr txBox="1"/>
            <p:nvPr/>
          </p:nvSpPr>
          <p:spPr>
            <a:xfrm>
              <a:off x="4050791" y="2569463"/>
              <a:ext cx="566928" cy="228600"/>
            </a:xfrm>
            <a:prstGeom prst="rect">
              <a:avLst/>
            </a:prstGeom>
            <a:noFill/>
          </p:spPr>
          <p:txBody>
            <a:bodyPr wrap="square" lIns="22860" rIns="22860" tIns="0" bIns="0">
              <a:spAutoFit/>
            </a:bodyPr>
            <a:lstStyle/>
            <a:p>
              <a:pPr>
                <a:spcAft>
                  <a:spcPts val="600"/>
                </a:spcAft>
                <a:defRPr sz="1320" b="0">
                  <a:solidFill>
                    <a:srgbClr val="063584"/>
                  </a:solidFill>
                  <a:latin typeface="Arial"/>
                </a:defRPr>
              </a:pPr>
              <a:r>
                <a:t>-Cl</a:t>
              </a:r>
            </a:p>
          </p:txBody>
        </p:sp>
        <p:sp>
          <p:nvSpPr>
            <p:cNvPr id="30" name="CircledNegativeCharge"/>
            <p:cNvSpPr/>
            <p:nvPr/>
          </p:nvSpPr>
          <p:spPr>
            <a:xfrm>
              <a:off x="4311396" y="2550261"/>
              <a:ext cx="137159" cy="137160"/>
            </a:xfrm>
            <a:custGeom>
              <a:avLst/>
              <a:gdLst/>
              <a:ahLst/>
              <a:cxnLst/>
              <a:rect l="0" t="0" r="r" b="b"/>
              <a:pathLst>
                <a:path w="137159" h="137160" fill="none" stroke="1" extrusionOk="0">
                  <a:moveTo>
                    <a:pt x="123443" y="68580"/>
                  </a:moveTo>
                  <a:cubicBezTo>
                    <a:pt x="123443" y="98880"/>
                    <a:pt x="98880" y="123444"/>
                    <a:pt x="68579" y="123444"/>
                  </a:cubicBezTo>
                  <a:cubicBezTo>
                    <a:pt x="38279" y="123444"/>
                    <a:pt x="13715" y="98880"/>
                    <a:pt x="13715" y="68580"/>
                  </a:cubicBezTo>
                  <a:cubicBezTo>
                    <a:pt x="13715" y="38279"/>
                    <a:pt x="38279" y="13716"/>
                    <a:pt x="68579" y="13716"/>
                  </a:cubicBezTo>
                  <a:cubicBezTo>
                    <a:pt x="98880" y="13716"/>
                    <a:pt x="123443" y="38279"/>
                    <a:pt x="123443" y="68580"/>
                  </a:cubicBezTo>
                  <a:moveTo>
                    <a:pt x="40233" y="68580"/>
                  </a:moveTo>
                  <a:lnTo>
                    <a:pt x="96926" y="68580"/>
                  </a:lnTo>
                </a:path>
              </a:pathLst>
            </a:custGeom>
            <a:noFill/>
            <a:ln w="12700">
              <a:solidFill>
                <a:srgbClr val="0635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32" name="Rounded Rectangle 31"/>
          <p:cNvSpPr/>
          <p:nvPr/>
        </p:nvSpPr>
        <p:spPr>
          <a:xfrm>
            <a:off x="438912" y="3163824"/>
            <a:ext cx="7223760" cy="1170432"/>
          </a:xfrm>
          <a:prstGeom prst="roundRect">
            <a:avLst>
              <a:gd name="adj" fmla="val 2500"/>
            </a:avLst>
          </a:prstGeom>
          <a:solidFill>
            <a:srgbClr val="FFF1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Oval 32"/>
          <p:cNvSpPr/>
          <p:nvPr/>
        </p:nvSpPr>
        <p:spPr>
          <a:xfrm>
            <a:off x="555040" y="3234232"/>
            <a:ext cx="224942" cy="224942"/>
          </a:xfrm>
          <a:prstGeom prst="ellipse">
            <a:avLst/>
          </a:prstGeom>
          <a:solidFill>
            <a:srgbClr val="C00000"/>
          </a:solidFill>
          <a:ln w="13970">
            <a:solidFill>
              <a:srgbClr val="C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571500" y="3259836"/>
            <a:ext cx="192024" cy="182880"/>
          </a:xfrm>
          <a:prstGeom prst="rect">
            <a:avLst/>
          </a:prstGeom>
          <a:noFill/>
          <a:effectLst/>
        </p:spPr>
        <p:txBody>
          <a:bodyPr wrap="square" lIns="22860" rIns="22860" tIns="0" bIns="0">
            <a:spAutoFit/>
          </a:bodyPr>
          <a:lstStyle/>
          <a:p>
            <a:pPr algn="ctr">
              <a:spcAft>
                <a:spcPts val="600"/>
              </a:spcAft>
              <a:defRPr sz="1100" b="1">
                <a:solidFill>
                  <a:srgbClr val="FFFFFF"/>
                </a:solidFill>
                <a:latin typeface="Microsoft YaHei"/>
              </a:defRPr>
            </a:pPr>
            <a:r>
              <a:t>2</a:t>
            </a:r>
          </a:p>
        </p:txBody>
      </p:sp>
      <p:sp>
        <p:nvSpPr>
          <p:cNvPr id="35" name="TextBox 34"/>
          <p:cNvSpPr txBox="1"/>
          <p:nvPr/>
        </p:nvSpPr>
        <p:spPr>
          <a:xfrm>
            <a:off x="886968" y="3236976"/>
            <a:ext cx="1956816" cy="320040"/>
          </a:xfrm>
          <a:prstGeom prst="rect">
            <a:avLst/>
          </a:prstGeom>
          <a:noFill/>
          <a:effectLst/>
        </p:spPr>
        <p:txBody>
          <a:bodyPr wrap="square" lIns="22860" rIns="22860" tIns="0" bIns="0">
            <a:spAutoFit/>
          </a:bodyPr>
          <a:lstStyle/>
          <a:p>
            <a:pPr>
              <a:spcAft>
                <a:spcPts val="600"/>
              </a:spcAft>
              <a:defRPr sz="1380" b="1">
                <a:solidFill>
                  <a:srgbClr val="C00000"/>
                </a:solidFill>
                <a:latin typeface="Microsoft YaHei"/>
              </a:defRPr>
            </a:pPr>
            <a:r>
              <a:t>C–Cl 键均裂脱氯</a:t>
            </a:r>
          </a:p>
        </p:txBody>
      </p:sp>
      <p:sp>
        <p:nvSpPr>
          <p:cNvPr id="36" name="TextBox 35"/>
          <p:cNvSpPr txBox="1"/>
          <p:nvPr/>
        </p:nvSpPr>
        <p:spPr>
          <a:xfrm>
            <a:off x="886968" y="3648456"/>
            <a:ext cx="1856231" cy="594360"/>
          </a:xfrm>
          <a:prstGeom prst="rect">
            <a:avLst/>
          </a:prstGeom>
          <a:noFill/>
          <a:effectLst/>
        </p:spPr>
        <p:txBody>
          <a:bodyPr wrap="square" lIns="22860" rIns="22860" tIns="0" bIns="0">
            <a:spAutoFit/>
          </a:bodyPr>
          <a:lstStyle/>
          <a:p>
            <a:pPr>
              <a:spcAft>
                <a:spcPts val="600"/>
              </a:spcAft>
              <a:defRPr sz="1180" b="0">
                <a:solidFill>
                  <a:srgbClr val="111111"/>
                </a:solidFill>
                <a:latin typeface="Microsoft YaHei"/>
              </a:defRPr>
            </a:pPr>
            <a:r>
              <a:t>适当引发下发生均裂，生成碳自由基与 Cl·。</a:t>
            </a:r>
          </a:p>
        </p:txBody>
      </p:sp>
      <p:sp>
        <p:nvSpPr>
          <p:cNvPr id="37" name="TextBox 36"/>
          <p:cNvSpPr txBox="1"/>
          <p:nvPr/>
        </p:nvSpPr>
        <p:spPr>
          <a:xfrm>
            <a:off x="5852160" y="3346704"/>
            <a:ext cx="1673352" cy="877824"/>
          </a:xfrm>
          <a:prstGeom prst="rect">
            <a:avLst/>
          </a:prstGeom>
          <a:noFill/>
          <a:effectLst/>
        </p:spPr>
        <p:txBody>
          <a:bodyPr wrap="square" lIns="22860" rIns="22860" tIns="0" bIns="0">
            <a:spAutoFit/>
          </a:bodyPr>
          <a:lstStyle/>
          <a:p>
            <a:pPr>
              <a:spcAft>
                <a:spcPts val="600"/>
              </a:spcAft>
              <a:defRPr sz="1080" b="0">
                <a:solidFill>
                  <a:srgbClr val="C00000"/>
                </a:solidFill>
                <a:latin typeface="Microsoft YaHei"/>
              </a:defRPr>
            </a:pPr>
            <a:r>
              <a:t>• 可进入自由基链过程</a:t>
            </a:r>
          </a:p>
          <a:p>
            <a:pPr>
              <a:spcAft>
                <a:spcPts val="600"/>
              </a:spcAft>
              <a:defRPr sz="1080" b="0">
                <a:solidFill>
                  <a:srgbClr val="C00000"/>
                </a:solidFill>
                <a:latin typeface="Microsoft YaHei"/>
              </a:defRPr>
            </a:pPr>
            <a:r>
              <a:t>• 与氧化、断链可能关联</a:t>
            </a:r>
          </a:p>
          <a:p>
            <a:pPr>
              <a:spcAft>
                <a:spcPts val="600"/>
              </a:spcAft>
              <a:defRPr sz="1080" b="0">
                <a:solidFill>
                  <a:srgbClr val="C00000"/>
                </a:solidFill>
                <a:latin typeface="Microsoft YaHei"/>
              </a:defRPr>
            </a:pPr>
            <a:r>
              <a:t>• 本体系需直接物种证据</a:t>
            </a:r>
          </a:p>
        </p:txBody>
      </p:sp>
      <p:grpSp>
        <p:nvGrpSpPr>
          <p:cNvPr id="40" name="Path2_Substrate"/>
          <p:cNvGrpSpPr/>
          <p:nvPr/>
        </p:nvGrpSpPr>
        <p:grpSpPr>
          <a:xfrm>
            <a:off x="2820923" y="3497579"/>
            <a:ext cx="1234440" cy="617221"/>
            <a:chOff x="2820923" y="3497579"/>
            <a:chExt cx="1234440" cy="617221"/>
          </a:xfrm>
        </p:grpSpPr>
        <p:sp>
          <p:nvSpPr>
            <p:cNvPr id="38" name="Path2_Substrate_Bonds"/>
            <p:cNvSpPr/>
            <p:nvPr/>
          </p:nvSpPr>
          <p:spPr>
            <a:xfrm>
              <a:off x="2820923" y="3497579"/>
              <a:ext cx="1234440" cy="374903"/>
            </a:xfrm>
            <a:custGeom>
              <a:avLst/>
              <a:gdLst/>
              <a:ahLst/>
              <a:cxnLst/>
              <a:rect l="0" t="0" r="r" b="b"/>
              <a:pathLst>
                <a:path w="1234440" h="374903" fill="none" stroke="1" extrusionOk="0">
                  <a:moveTo>
                    <a:pt x="123444" y="150876"/>
                  </a:moveTo>
                  <a:lnTo>
                    <a:pt x="361188" y="13716"/>
                  </a:lnTo>
                  <a:lnTo>
                    <a:pt x="617220" y="169164"/>
                  </a:lnTo>
                  <a:lnTo>
                    <a:pt x="873252" y="13716"/>
                  </a:lnTo>
                  <a:lnTo>
                    <a:pt x="1110996" y="150876"/>
                  </a:lnTo>
                  <a:moveTo>
                    <a:pt x="13716" y="77723"/>
                  </a:moveTo>
                  <a:lnTo>
                    <a:pt x="68580" y="109728"/>
                  </a:lnTo>
                  <a:moveTo>
                    <a:pt x="1165860" y="109728"/>
                  </a:moveTo>
                  <a:lnTo>
                    <a:pt x="1220724" y="77723"/>
                  </a:lnTo>
                  <a:moveTo>
                    <a:pt x="617220" y="169164"/>
                  </a:moveTo>
                  <a:lnTo>
                    <a:pt x="617220" y="361188"/>
                  </a:lnTo>
                </a:path>
              </a:pathLst>
            </a:custGeom>
            <a:noFill/>
            <a:ln w="19050">
              <a:solidFill>
                <a:srgbClr val="56627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3310127" y="3886200"/>
              <a:ext cx="402336" cy="228600"/>
            </a:xfrm>
            <a:prstGeom prst="rect">
              <a:avLst/>
            </a:prstGeom>
            <a:noFill/>
          </p:spPr>
          <p:txBody>
            <a:bodyPr wrap="square" lIns="22860" rIns="22860" tIns="0" bIns="0">
              <a:spAutoFit/>
            </a:bodyPr>
            <a:lstStyle/>
            <a:p>
              <a:pPr>
                <a:spcAft>
                  <a:spcPts val="600"/>
                </a:spcAft>
                <a:defRPr sz="1350" b="0">
                  <a:solidFill>
                    <a:srgbClr val="063584"/>
                  </a:solidFill>
                  <a:latin typeface="Arial"/>
                </a:defRPr>
              </a:pPr>
              <a:r>
                <a:t>Cl</a:t>
              </a:r>
            </a:p>
          </p:txBody>
        </p:sp>
      </p:grpSp>
      <p:grpSp>
        <p:nvGrpSpPr>
          <p:cNvPr id="43" name="Path2_CarbonRadicalProduct"/>
          <p:cNvGrpSpPr/>
          <p:nvPr/>
        </p:nvGrpSpPr>
        <p:grpSpPr>
          <a:xfrm>
            <a:off x="4448556" y="3497579"/>
            <a:ext cx="1234439" cy="346558"/>
            <a:chOff x="4448556" y="3497579"/>
            <a:chExt cx="1234439" cy="346558"/>
          </a:xfrm>
        </p:grpSpPr>
        <p:sp>
          <p:nvSpPr>
            <p:cNvPr id="41" name="Path2_CarbonRadicalProduct_Bonds"/>
            <p:cNvSpPr/>
            <p:nvPr/>
          </p:nvSpPr>
          <p:spPr>
            <a:xfrm>
              <a:off x="4448556" y="3497579"/>
              <a:ext cx="1234439" cy="182879"/>
            </a:xfrm>
            <a:custGeom>
              <a:avLst/>
              <a:gdLst/>
              <a:ahLst/>
              <a:cxnLst/>
              <a:rect l="0" t="0" r="r" b="b"/>
              <a:pathLst>
                <a:path w="1234439" h="182879" fill="none" stroke="1" extrusionOk="0">
                  <a:moveTo>
                    <a:pt x="123443" y="150876"/>
                  </a:moveTo>
                  <a:lnTo>
                    <a:pt x="361187" y="13716"/>
                  </a:lnTo>
                  <a:lnTo>
                    <a:pt x="617219" y="169164"/>
                  </a:lnTo>
                  <a:lnTo>
                    <a:pt x="873252" y="13716"/>
                  </a:lnTo>
                  <a:lnTo>
                    <a:pt x="1110995" y="150876"/>
                  </a:lnTo>
                  <a:moveTo>
                    <a:pt x="13715" y="77723"/>
                  </a:moveTo>
                  <a:lnTo>
                    <a:pt x="68580" y="109728"/>
                  </a:lnTo>
                  <a:moveTo>
                    <a:pt x="1165859" y="109728"/>
                  </a:moveTo>
                  <a:lnTo>
                    <a:pt x="1220724" y="77723"/>
                  </a:lnTo>
                </a:path>
              </a:pathLst>
            </a:custGeom>
            <a:noFill/>
            <a:ln w="19050">
              <a:solidFill>
                <a:srgbClr val="56627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Path2_CarbonRadicalProduct_CarbonRadical"/>
            <p:cNvSpPr/>
            <p:nvPr/>
          </p:nvSpPr>
          <p:spPr>
            <a:xfrm>
              <a:off x="5045659" y="3803904"/>
              <a:ext cx="40233" cy="40233"/>
            </a:xfrm>
            <a:prstGeom prst="ellipse">
              <a:avLst/>
            </a:prstGeom>
            <a:solidFill>
              <a:srgbClr val="06358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44" name="Path2_OneElectronToCarbon"/>
          <p:cNvSpPr/>
          <p:nvPr/>
        </p:nvSpPr>
        <p:spPr>
          <a:xfrm>
            <a:off x="3159252" y="3579875"/>
            <a:ext cx="274320" cy="210311"/>
          </a:xfrm>
          <a:custGeom>
            <a:avLst/>
            <a:gdLst/>
            <a:ahLst/>
            <a:cxnLst/>
            <a:rect l="0" t="0" r="r" b="b"/>
            <a:pathLst>
              <a:path w="274320" h="210311" fill="none" stroke="1" extrusionOk="0">
                <a:moveTo>
                  <a:pt x="260604" y="196596"/>
                </a:moveTo>
                <a:cubicBezTo>
                  <a:pt x="22859" y="187452"/>
                  <a:pt x="13716" y="13716"/>
                  <a:pt x="242316" y="68580"/>
                </a:cubicBezTo>
                <a:lnTo>
                  <a:pt x="167093" y="88141"/>
                </a:lnTo>
              </a:path>
            </a:pathLst>
          </a:custGeom>
          <a:noFill/>
          <a:ln w="16510">
            <a:solidFill>
              <a:srgbClr val="56627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Path2_OneElectronToChlorine"/>
          <p:cNvSpPr/>
          <p:nvPr/>
        </p:nvSpPr>
        <p:spPr>
          <a:xfrm>
            <a:off x="3451860" y="3735324"/>
            <a:ext cx="265175" cy="274319"/>
          </a:xfrm>
          <a:custGeom>
            <a:avLst/>
            <a:gdLst/>
            <a:ahLst/>
            <a:cxnLst/>
            <a:rect l="0" t="0" r="r" b="b"/>
            <a:pathLst>
              <a:path w="265175" h="274319" fill="none" stroke="1" extrusionOk="0">
                <a:moveTo>
                  <a:pt x="13716" y="41147"/>
                </a:moveTo>
                <a:cubicBezTo>
                  <a:pt x="224027" y="13715"/>
                  <a:pt x="251459" y="196595"/>
                  <a:pt x="77723" y="260604"/>
                </a:cubicBezTo>
                <a:lnTo>
                  <a:pt x="129431" y="202574"/>
                </a:lnTo>
              </a:path>
            </a:pathLst>
          </a:custGeom>
          <a:noFill/>
          <a:ln w="1651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Path2_ReactionArrow"/>
          <p:cNvSpPr/>
          <p:nvPr/>
        </p:nvSpPr>
        <p:spPr>
          <a:xfrm>
            <a:off x="4082796" y="3653027"/>
            <a:ext cx="448055" cy="27432"/>
          </a:xfrm>
          <a:custGeom>
            <a:avLst/>
            <a:gdLst/>
            <a:ahLst/>
            <a:cxnLst/>
            <a:rect l="0" t="0" r="r" b="b"/>
            <a:pathLst>
              <a:path w="448055" h="27432" fill="none" stroke="1" extrusionOk="0">
                <a:moveTo>
                  <a:pt x="13715" y="13716"/>
                </a:moveTo>
                <a:lnTo>
                  <a:pt x="434339" y="13716"/>
                </a:lnTo>
              </a:path>
            </a:pathLst>
          </a:custGeom>
          <a:noFill/>
          <a:ln w="21590">
            <a:solidFill>
              <a:srgbClr val="063584"/>
            </a:solidFill>
            <a:tailEnd type="triangle" w="sm" len="sm"/>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49" name="LeavingGroup_Label"/>
          <p:cNvGrpSpPr/>
          <p:nvPr/>
        </p:nvGrpSpPr>
        <p:grpSpPr>
          <a:xfrm>
            <a:off x="4050791" y="3877056"/>
            <a:ext cx="566928" cy="228600"/>
            <a:chOff x="4050791" y="3877056"/>
            <a:chExt cx="566928" cy="228600"/>
          </a:xfrm>
        </p:grpSpPr>
        <p:sp>
          <p:nvSpPr>
            <p:cNvPr id="47" name="TextBox 46"/>
            <p:cNvSpPr txBox="1"/>
            <p:nvPr/>
          </p:nvSpPr>
          <p:spPr>
            <a:xfrm>
              <a:off x="4050791" y="3877056"/>
              <a:ext cx="566928" cy="228600"/>
            </a:xfrm>
            <a:prstGeom prst="rect">
              <a:avLst/>
            </a:prstGeom>
            <a:noFill/>
          </p:spPr>
          <p:txBody>
            <a:bodyPr wrap="square" lIns="22860" rIns="22860" tIns="0" bIns="0">
              <a:spAutoFit/>
            </a:bodyPr>
            <a:lstStyle/>
            <a:p>
              <a:pPr>
                <a:spcAft>
                  <a:spcPts val="600"/>
                </a:spcAft>
                <a:defRPr sz="1320" b="0">
                  <a:solidFill>
                    <a:srgbClr val="063584"/>
                  </a:solidFill>
                  <a:latin typeface="Arial"/>
                </a:defRPr>
              </a:pPr>
              <a:r>
                <a:t>-Cl</a:t>
              </a:r>
            </a:p>
          </p:txBody>
        </p:sp>
        <p:sp>
          <p:nvSpPr>
            <p:cNvPr id="48" name="Oval 47"/>
            <p:cNvSpPr/>
            <p:nvPr/>
          </p:nvSpPr>
          <p:spPr>
            <a:xfrm>
              <a:off x="4334255" y="3935577"/>
              <a:ext cx="30175" cy="30175"/>
            </a:xfrm>
            <a:prstGeom prst="ellipse">
              <a:avLst/>
            </a:prstGeom>
            <a:solidFill>
              <a:srgbClr val="06358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50" name="Rounded Rectangle 49"/>
          <p:cNvSpPr/>
          <p:nvPr/>
        </p:nvSpPr>
        <p:spPr>
          <a:xfrm>
            <a:off x="438912" y="4471416"/>
            <a:ext cx="7223760" cy="1170432"/>
          </a:xfrm>
          <a:prstGeom prst="roundRect">
            <a:avLst>
              <a:gd name="adj" fmla="val 2500"/>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Oval 50"/>
          <p:cNvSpPr/>
          <p:nvPr/>
        </p:nvSpPr>
        <p:spPr>
          <a:xfrm>
            <a:off x="555040" y="4541824"/>
            <a:ext cx="224942" cy="22494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71500" y="4567428"/>
            <a:ext cx="192024" cy="182880"/>
          </a:xfrm>
          <a:prstGeom prst="rect">
            <a:avLst/>
          </a:prstGeom>
          <a:noFill/>
          <a:effectLst/>
        </p:spPr>
        <p:txBody>
          <a:bodyPr wrap="square" lIns="22860" rIns="22860" tIns="0" bIns="0">
            <a:spAutoFit/>
          </a:bodyPr>
          <a:lstStyle/>
          <a:p>
            <a:pPr algn="ctr">
              <a:spcAft>
                <a:spcPts val="600"/>
              </a:spcAft>
              <a:defRPr sz="1100" b="1">
                <a:solidFill>
                  <a:srgbClr val="FFFFFF"/>
                </a:solidFill>
                <a:latin typeface="Microsoft YaHei"/>
              </a:defRPr>
            </a:pPr>
            <a:r>
              <a:t>3</a:t>
            </a:r>
          </a:p>
        </p:txBody>
      </p:sp>
      <p:sp>
        <p:nvSpPr>
          <p:cNvPr id="53" name="TextBox 52"/>
          <p:cNvSpPr txBox="1"/>
          <p:nvPr/>
        </p:nvSpPr>
        <p:spPr>
          <a:xfrm>
            <a:off x="886968" y="4544568"/>
            <a:ext cx="1956816" cy="320040"/>
          </a:xfrm>
          <a:prstGeom prst="rect">
            <a:avLst/>
          </a:prstGeom>
          <a:noFill/>
          <a:effectLst/>
        </p:spPr>
        <p:txBody>
          <a:bodyPr wrap="square" lIns="22860" rIns="22860" tIns="0" bIns="0">
            <a:spAutoFit/>
          </a:bodyPr>
          <a:lstStyle/>
          <a:p>
            <a:pPr>
              <a:spcAft>
                <a:spcPts val="600"/>
              </a:spcAft>
              <a:defRPr sz="1380" b="1">
                <a:solidFill>
                  <a:srgbClr val="063584"/>
                </a:solidFill>
                <a:latin typeface="Microsoft YaHei"/>
              </a:defRPr>
            </a:pPr>
            <a:r>
              <a:t>脱 HCl（消除）</a:t>
            </a:r>
          </a:p>
        </p:txBody>
      </p:sp>
      <p:sp>
        <p:nvSpPr>
          <p:cNvPr id="54" name="TextBox 53"/>
          <p:cNvSpPr txBox="1"/>
          <p:nvPr/>
        </p:nvSpPr>
        <p:spPr>
          <a:xfrm>
            <a:off x="886968" y="4956048"/>
            <a:ext cx="1856231" cy="594360"/>
          </a:xfrm>
          <a:prstGeom prst="rect">
            <a:avLst/>
          </a:prstGeom>
          <a:noFill/>
          <a:effectLst/>
        </p:spPr>
        <p:txBody>
          <a:bodyPr wrap="square" lIns="22860" rIns="22860" tIns="0" bIns="0">
            <a:spAutoFit/>
          </a:bodyPr>
          <a:lstStyle/>
          <a:p>
            <a:pPr>
              <a:spcAft>
                <a:spcPts val="600"/>
              </a:spcAft>
              <a:defRPr sz="1180" b="0">
                <a:solidFill>
                  <a:srgbClr val="111111"/>
                </a:solidFill>
                <a:latin typeface="Microsoft YaHei"/>
              </a:defRPr>
            </a:pPr>
            <a:r>
              <a:t>消除涉及邻位 C–H 与 C–Cl，形成不饱和结构。</a:t>
            </a:r>
          </a:p>
        </p:txBody>
      </p:sp>
      <p:sp>
        <p:nvSpPr>
          <p:cNvPr id="55" name="TextBox 54"/>
          <p:cNvSpPr txBox="1"/>
          <p:nvPr/>
        </p:nvSpPr>
        <p:spPr>
          <a:xfrm>
            <a:off x="5852160" y="4654296"/>
            <a:ext cx="1673352" cy="877824"/>
          </a:xfrm>
          <a:prstGeom prst="rect">
            <a:avLst/>
          </a:prstGeom>
          <a:noFill/>
          <a:effectLst/>
        </p:spPr>
        <p:txBody>
          <a:bodyPr wrap="square" lIns="22860" rIns="22860" tIns="0" bIns="0">
            <a:spAutoFit/>
          </a:bodyPr>
          <a:lstStyle/>
          <a:p>
            <a:pPr>
              <a:spcAft>
                <a:spcPts val="600"/>
              </a:spcAft>
              <a:defRPr sz="1080" b="0">
                <a:solidFill>
                  <a:srgbClr val="063584"/>
                </a:solidFill>
                <a:latin typeface="Microsoft YaHei"/>
              </a:defRPr>
            </a:pPr>
            <a:r>
              <a:t>• 生成 C=C 不饱和结构</a:t>
            </a:r>
          </a:p>
          <a:p>
            <a:pPr>
              <a:spcAft>
                <a:spcPts val="600"/>
              </a:spcAft>
              <a:defRPr sz="1080" b="0">
                <a:solidFill>
                  <a:srgbClr val="063584"/>
                </a:solidFill>
                <a:latin typeface="Microsoft YaHei"/>
              </a:defRPr>
            </a:pPr>
            <a:r>
              <a:t>• 可逐步形成共轭多烯</a:t>
            </a:r>
          </a:p>
          <a:p>
            <a:pPr>
              <a:spcAft>
                <a:spcPts val="600"/>
              </a:spcAft>
              <a:defRPr sz="1080" b="0">
                <a:solidFill>
                  <a:srgbClr val="063584"/>
                </a:solidFill>
                <a:latin typeface="Microsoft YaHei"/>
              </a:defRPr>
            </a:pPr>
            <a:r>
              <a:t>• 改变后续吸光与反应</a:t>
            </a:r>
          </a:p>
        </p:txBody>
      </p:sp>
      <p:grpSp>
        <p:nvGrpSpPr>
          <p:cNvPr id="59" name="Path3_BetaH_Substrate"/>
          <p:cNvGrpSpPr/>
          <p:nvPr/>
        </p:nvGrpSpPr>
        <p:grpSpPr>
          <a:xfrm>
            <a:off x="2820923" y="4485131"/>
            <a:ext cx="1234440" cy="937261"/>
            <a:chOff x="2820923" y="4485131"/>
            <a:chExt cx="1234440" cy="937261"/>
          </a:xfrm>
        </p:grpSpPr>
        <p:sp>
          <p:nvSpPr>
            <p:cNvPr id="56" name="Path3_BetaH_Substrate_Bonds"/>
            <p:cNvSpPr/>
            <p:nvPr/>
          </p:nvSpPr>
          <p:spPr>
            <a:xfrm>
              <a:off x="2820923" y="4640580"/>
              <a:ext cx="1234440" cy="539495"/>
            </a:xfrm>
            <a:custGeom>
              <a:avLst/>
              <a:gdLst/>
              <a:ahLst/>
              <a:cxnLst/>
              <a:rect l="0" t="0" r="r" b="b"/>
              <a:pathLst>
                <a:path w="1234440" h="539495" fill="none" stroke="1" extrusionOk="0">
                  <a:moveTo>
                    <a:pt x="123444" y="315467"/>
                  </a:moveTo>
                  <a:lnTo>
                    <a:pt x="361188" y="178307"/>
                  </a:lnTo>
                  <a:lnTo>
                    <a:pt x="617220" y="333755"/>
                  </a:lnTo>
                  <a:lnTo>
                    <a:pt x="873252" y="178307"/>
                  </a:lnTo>
                  <a:lnTo>
                    <a:pt x="1110996" y="315467"/>
                  </a:lnTo>
                  <a:moveTo>
                    <a:pt x="13716" y="242315"/>
                  </a:moveTo>
                  <a:lnTo>
                    <a:pt x="68580" y="274319"/>
                  </a:lnTo>
                  <a:moveTo>
                    <a:pt x="1165860" y="274319"/>
                  </a:moveTo>
                  <a:lnTo>
                    <a:pt x="1220724" y="242315"/>
                  </a:lnTo>
                  <a:moveTo>
                    <a:pt x="617220" y="333755"/>
                  </a:moveTo>
                  <a:lnTo>
                    <a:pt x="617220" y="525779"/>
                  </a:lnTo>
                  <a:moveTo>
                    <a:pt x="361188" y="178307"/>
                  </a:moveTo>
                  <a:lnTo>
                    <a:pt x="361188" y="13715"/>
                  </a:lnTo>
                </a:path>
              </a:pathLst>
            </a:custGeom>
            <a:noFill/>
            <a:ln w="19050">
              <a:solidFill>
                <a:srgbClr val="56627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3310127" y="5193792"/>
              <a:ext cx="402336" cy="228600"/>
            </a:xfrm>
            <a:prstGeom prst="rect">
              <a:avLst/>
            </a:prstGeom>
            <a:noFill/>
          </p:spPr>
          <p:txBody>
            <a:bodyPr wrap="square" lIns="22860" rIns="22860" tIns="0" bIns="0">
              <a:spAutoFit/>
            </a:bodyPr>
            <a:lstStyle/>
            <a:p>
              <a:pPr>
                <a:spcAft>
                  <a:spcPts val="600"/>
                </a:spcAft>
                <a:defRPr sz="1350" b="0">
                  <a:solidFill>
                    <a:srgbClr val="063584"/>
                  </a:solidFill>
                  <a:latin typeface="Arial"/>
                </a:defRPr>
              </a:pPr>
              <a:r>
                <a:t>Cl</a:t>
              </a:r>
            </a:p>
          </p:txBody>
        </p:sp>
        <p:sp>
          <p:nvSpPr>
            <p:cNvPr id="58" name="TextBox 57"/>
            <p:cNvSpPr txBox="1"/>
            <p:nvPr/>
          </p:nvSpPr>
          <p:spPr>
            <a:xfrm>
              <a:off x="3090672" y="4485131"/>
              <a:ext cx="256032" cy="237744"/>
            </a:xfrm>
            <a:prstGeom prst="rect">
              <a:avLst/>
            </a:prstGeom>
            <a:noFill/>
          </p:spPr>
          <p:txBody>
            <a:bodyPr wrap="square" lIns="22860" rIns="22860" tIns="0" bIns="0">
              <a:spAutoFit/>
            </a:bodyPr>
            <a:lstStyle/>
            <a:p>
              <a:pPr>
                <a:spcAft>
                  <a:spcPts val="600"/>
                </a:spcAft>
                <a:defRPr sz="1350" b="0">
                  <a:solidFill>
                    <a:srgbClr val="063584"/>
                  </a:solidFill>
                  <a:latin typeface="Arial"/>
                </a:defRPr>
              </a:pPr>
              <a:r>
                <a:t>H</a:t>
              </a:r>
            </a:p>
          </p:txBody>
        </p:sp>
      </p:grpSp>
      <p:grpSp>
        <p:nvGrpSpPr>
          <p:cNvPr id="61" name="Path3_AlkeneProduct"/>
          <p:cNvGrpSpPr/>
          <p:nvPr/>
        </p:nvGrpSpPr>
        <p:grpSpPr>
          <a:xfrm>
            <a:off x="4448556" y="4791354"/>
            <a:ext cx="1234439" cy="196697"/>
            <a:chOff x="4448556" y="4791354"/>
            <a:chExt cx="1234439" cy="196697"/>
          </a:xfrm>
        </p:grpSpPr>
        <p:sp>
          <p:nvSpPr>
            <p:cNvPr id="60" name="Path3_AlkeneProduct_Bonds"/>
            <p:cNvSpPr/>
            <p:nvPr/>
          </p:nvSpPr>
          <p:spPr>
            <a:xfrm>
              <a:off x="4448556" y="4791354"/>
              <a:ext cx="1234439" cy="196697"/>
            </a:xfrm>
            <a:custGeom>
              <a:avLst/>
              <a:gdLst/>
              <a:ahLst/>
              <a:cxnLst/>
              <a:rect l="0" t="0" r="r" b="b"/>
              <a:pathLst>
                <a:path w="1234439" h="196697" fill="none" stroke="1" extrusionOk="0">
                  <a:moveTo>
                    <a:pt x="123443" y="164693"/>
                  </a:moveTo>
                  <a:lnTo>
                    <a:pt x="361187" y="27533"/>
                  </a:lnTo>
                  <a:lnTo>
                    <a:pt x="617219" y="182981"/>
                  </a:lnTo>
                  <a:lnTo>
                    <a:pt x="873252" y="27533"/>
                  </a:lnTo>
                  <a:lnTo>
                    <a:pt x="1110995" y="164693"/>
                  </a:lnTo>
                  <a:moveTo>
                    <a:pt x="13715" y="91541"/>
                  </a:moveTo>
                  <a:lnTo>
                    <a:pt x="68580" y="123545"/>
                  </a:lnTo>
                  <a:moveTo>
                    <a:pt x="1165859" y="123545"/>
                  </a:moveTo>
                  <a:lnTo>
                    <a:pt x="1220724" y="91541"/>
                  </a:lnTo>
                  <a:moveTo>
                    <a:pt x="417715" y="13715"/>
                  </a:moveTo>
                  <a:lnTo>
                    <a:pt x="603402" y="126454"/>
                  </a:lnTo>
                </a:path>
              </a:pathLst>
            </a:custGeom>
            <a:noFill/>
            <a:ln w="19050">
              <a:solidFill>
                <a:srgbClr val="56627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62" name="TextBox 61"/>
          <p:cNvSpPr txBox="1"/>
          <p:nvPr/>
        </p:nvSpPr>
        <p:spPr>
          <a:xfrm>
            <a:off x="2798064" y="4485131"/>
            <a:ext cx="274320" cy="228600"/>
          </a:xfrm>
          <a:prstGeom prst="rect">
            <a:avLst/>
          </a:prstGeom>
          <a:noFill/>
          <a:effectLst/>
        </p:spPr>
        <p:txBody>
          <a:bodyPr wrap="square" lIns="22860" rIns="22860" tIns="0" bIns="0">
            <a:spAutoFit/>
          </a:bodyPr>
          <a:lstStyle/>
          <a:p>
            <a:pPr>
              <a:spcAft>
                <a:spcPts val="600"/>
              </a:spcAft>
              <a:defRPr sz="1350" b="0">
                <a:solidFill>
                  <a:srgbClr val="C00000"/>
                </a:solidFill>
                <a:latin typeface="Arial"/>
              </a:defRPr>
            </a:pPr>
            <a:r>
              <a:t>B</a:t>
            </a:r>
          </a:p>
        </p:txBody>
      </p:sp>
      <p:sp>
        <p:nvSpPr>
          <p:cNvPr id="63" name="CircledNegativeCharge"/>
          <p:cNvSpPr/>
          <p:nvPr/>
        </p:nvSpPr>
        <p:spPr>
          <a:xfrm>
            <a:off x="2930652" y="4443984"/>
            <a:ext cx="137160" cy="137159"/>
          </a:xfrm>
          <a:custGeom>
            <a:avLst/>
            <a:gdLst/>
            <a:ahLst/>
            <a:cxnLst/>
            <a:rect l="0" t="0" r="r" b="b"/>
            <a:pathLst>
              <a:path w="137160" h="137159" fill="none" stroke="1" extrusionOk="0">
                <a:moveTo>
                  <a:pt x="123444" y="68579"/>
                </a:moveTo>
                <a:cubicBezTo>
                  <a:pt x="123444" y="98880"/>
                  <a:pt x="98880" y="123443"/>
                  <a:pt x="68580" y="123443"/>
                </a:cubicBezTo>
                <a:cubicBezTo>
                  <a:pt x="38279" y="123443"/>
                  <a:pt x="13716" y="98880"/>
                  <a:pt x="13716" y="68579"/>
                </a:cubicBezTo>
                <a:cubicBezTo>
                  <a:pt x="13716" y="38279"/>
                  <a:pt x="38279" y="13715"/>
                  <a:pt x="68580" y="13715"/>
                </a:cubicBezTo>
                <a:cubicBezTo>
                  <a:pt x="98880" y="13715"/>
                  <a:pt x="123444" y="38279"/>
                  <a:pt x="123444" y="68579"/>
                </a:cubicBezTo>
                <a:moveTo>
                  <a:pt x="40233" y="68579"/>
                </a:moveTo>
                <a:lnTo>
                  <a:pt x="96926" y="68579"/>
                </a:lnTo>
              </a:path>
            </a:pathLst>
          </a:custGeom>
          <a:noFill/>
          <a:ln w="12700">
            <a:solidFill>
              <a:srgbClr val="C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Path3_BaseToBetaHydrogen"/>
          <p:cNvSpPr/>
          <p:nvPr/>
        </p:nvSpPr>
        <p:spPr>
          <a:xfrm>
            <a:off x="2976372" y="4631436"/>
            <a:ext cx="210312" cy="146303"/>
          </a:xfrm>
          <a:custGeom>
            <a:avLst/>
            <a:gdLst/>
            <a:ahLst/>
            <a:cxnLst/>
            <a:rect l="0" t="0" r="r" b="b"/>
            <a:pathLst>
              <a:path w="210312" h="146303" fill="none" stroke="1" extrusionOk="0">
                <a:moveTo>
                  <a:pt x="13716" y="13715"/>
                </a:moveTo>
                <a:cubicBezTo>
                  <a:pt x="41147" y="132587"/>
                  <a:pt x="169164" y="123443"/>
                  <a:pt x="196596" y="22859"/>
                </a:cubicBezTo>
              </a:path>
            </a:pathLst>
          </a:custGeom>
          <a:noFill/>
          <a:ln w="16510">
            <a:solidFill>
              <a:srgbClr val="C00000"/>
            </a:solidFill>
            <a:tailEnd type="triangle" w="sm" len="sm"/>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Path3_CHBondPairToCCBond"/>
          <p:cNvSpPr/>
          <p:nvPr/>
        </p:nvSpPr>
        <p:spPr>
          <a:xfrm>
            <a:off x="3168396" y="4686300"/>
            <a:ext cx="274320" cy="219455"/>
          </a:xfrm>
          <a:custGeom>
            <a:avLst/>
            <a:gdLst/>
            <a:ahLst/>
            <a:cxnLst/>
            <a:rect l="0" t="0" r="r" b="b"/>
            <a:pathLst>
              <a:path w="274320" h="219455" fill="none" stroke="1" extrusionOk="0">
                <a:moveTo>
                  <a:pt x="13716" y="32004"/>
                </a:moveTo>
                <a:cubicBezTo>
                  <a:pt x="169164" y="13715"/>
                  <a:pt x="260604" y="68579"/>
                  <a:pt x="160020" y="205739"/>
                </a:cubicBezTo>
              </a:path>
            </a:pathLst>
          </a:custGeom>
          <a:noFill/>
          <a:ln w="16510">
            <a:solidFill>
              <a:srgbClr val="063584"/>
            </a:solidFill>
            <a:tailEnd type="triangle" w="sm" len="sm"/>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Path3_CClPairToChlorine"/>
          <p:cNvSpPr/>
          <p:nvPr/>
        </p:nvSpPr>
        <p:spPr>
          <a:xfrm>
            <a:off x="3442715" y="5042916"/>
            <a:ext cx="274319" cy="274319"/>
          </a:xfrm>
          <a:custGeom>
            <a:avLst/>
            <a:gdLst/>
            <a:ahLst/>
            <a:cxnLst/>
            <a:rect l="0" t="0" r="r" b="b"/>
            <a:pathLst>
              <a:path w="274319" h="274319" fill="none" stroke="1" extrusionOk="0">
                <a:moveTo>
                  <a:pt x="13716" y="32004"/>
                </a:moveTo>
                <a:cubicBezTo>
                  <a:pt x="242316" y="13715"/>
                  <a:pt x="260604" y="196595"/>
                  <a:pt x="86868" y="260604"/>
                </a:cubicBezTo>
              </a:path>
            </a:pathLst>
          </a:custGeom>
          <a:noFill/>
          <a:ln w="16510">
            <a:solidFill>
              <a:srgbClr val="063584"/>
            </a:solidFill>
            <a:tailEnd type="triangle" w="sm" len="sm"/>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Path3_ReactionArrow"/>
          <p:cNvSpPr/>
          <p:nvPr/>
        </p:nvSpPr>
        <p:spPr>
          <a:xfrm>
            <a:off x="4082796" y="4960620"/>
            <a:ext cx="448055" cy="27432"/>
          </a:xfrm>
          <a:custGeom>
            <a:avLst/>
            <a:gdLst/>
            <a:ahLst/>
            <a:cxnLst/>
            <a:rect l="0" t="0" r="r" b="b"/>
            <a:pathLst>
              <a:path w="448055" h="27432" fill="none" stroke="1" extrusionOk="0">
                <a:moveTo>
                  <a:pt x="13715" y="13715"/>
                </a:moveTo>
                <a:lnTo>
                  <a:pt x="434339" y="13715"/>
                </a:lnTo>
              </a:path>
            </a:pathLst>
          </a:custGeom>
          <a:noFill/>
          <a:ln w="21590">
            <a:solidFill>
              <a:srgbClr val="063584"/>
            </a:solidFill>
            <a:tailEnd type="triangle" w="sm" len="sm"/>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71" name="LeavingGroup_Label"/>
          <p:cNvGrpSpPr/>
          <p:nvPr/>
        </p:nvGrpSpPr>
        <p:grpSpPr>
          <a:xfrm>
            <a:off x="4050791" y="5156301"/>
            <a:ext cx="667512" cy="439827"/>
            <a:chOff x="4050791" y="5156301"/>
            <a:chExt cx="667512" cy="439827"/>
          </a:xfrm>
        </p:grpSpPr>
        <p:sp>
          <p:nvSpPr>
            <p:cNvPr id="68" name="TextBox 67"/>
            <p:cNvSpPr txBox="1"/>
            <p:nvPr/>
          </p:nvSpPr>
          <p:spPr>
            <a:xfrm>
              <a:off x="4050791" y="5175504"/>
              <a:ext cx="566928" cy="228600"/>
            </a:xfrm>
            <a:prstGeom prst="rect">
              <a:avLst/>
            </a:prstGeom>
            <a:noFill/>
          </p:spPr>
          <p:txBody>
            <a:bodyPr wrap="square" lIns="22860" rIns="22860" tIns="0" bIns="0">
              <a:spAutoFit/>
            </a:bodyPr>
            <a:lstStyle/>
            <a:p>
              <a:pPr>
                <a:spcAft>
                  <a:spcPts val="600"/>
                </a:spcAft>
                <a:defRPr sz="1320" b="0">
                  <a:solidFill>
                    <a:srgbClr val="063584"/>
                  </a:solidFill>
                  <a:latin typeface="Arial"/>
                </a:defRPr>
              </a:pPr>
              <a:r>
                <a:t>-Cl</a:t>
              </a:r>
            </a:p>
          </p:txBody>
        </p:sp>
        <p:sp>
          <p:nvSpPr>
            <p:cNvPr id="69" name="CircledNegativeCharge"/>
            <p:cNvSpPr/>
            <p:nvPr/>
          </p:nvSpPr>
          <p:spPr>
            <a:xfrm>
              <a:off x="4311396" y="5156301"/>
              <a:ext cx="137159" cy="137159"/>
            </a:xfrm>
            <a:custGeom>
              <a:avLst/>
              <a:gdLst/>
              <a:ahLst/>
              <a:cxnLst/>
              <a:rect l="0" t="0" r="r" b="b"/>
              <a:pathLst>
                <a:path w="137159" h="137159" fill="none" stroke="1" extrusionOk="0">
                  <a:moveTo>
                    <a:pt x="123443" y="68579"/>
                  </a:moveTo>
                  <a:cubicBezTo>
                    <a:pt x="123443" y="98880"/>
                    <a:pt x="98880" y="123443"/>
                    <a:pt x="68579" y="123443"/>
                  </a:cubicBezTo>
                  <a:cubicBezTo>
                    <a:pt x="38279" y="123443"/>
                    <a:pt x="13715" y="98880"/>
                    <a:pt x="13715" y="68579"/>
                  </a:cubicBezTo>
                  <a:cubicBezTo>
                    <a:pt x="13715" y="38279"/>
                    <a:pt x="38279" y="13715"/>
                    <a:pt x="68579" y="13715"/>
                  </a:cubicBezTo>
                  <a:cubicBezTo>
                    <a:pt x="98880" y="13715"/>
                    <a:pt x="123443" y="38279"/>
                    <a:pt x="123443" y="68579"/>
                  </a:cubicBezTo>
                  <a:moveTo>
                    <a:pt x="40233" y="68579"/>
                  </a:moveTo>
                  <a:lnTo>
                    <a:pt x="96926" y="68579"/>
                  </a:lnTo>
                </a:path>
              </a:pathLst>
            </a:custGeom>
            <a:noFill/>
            <a:ln w="12700">
              <a:solidFill>
                <a:srgbClr val="0635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4050791" y="5376672"/>
              <a:ext cx="667512" cy="219456"/>
            </a:xfrm>
            <a:prstGeom prst="rect">
              <a:avLst/>
            </a:prstGeom>
            <a:noFill/>
          </p:spPr>
          <p:txBody>
            <a:bodyPr wrap="square" lIns="22860" rIns="22860" tIns="0" bIns="0">
              <a:spAutoFit/>
            </a:bodyPr>
            <a:lstStyle/>
            <a:p>
              <a:pPr>
                <a:spcAft>
                  <a:spcPts val="600"/>
                </a:spcAft>
                <a:defRPr sz="1280" b="0">
                  <a:solidFill>
                    <a:srgbClr val="063584"/>
                  </a:solidFill>
                  <a:latin typeface="Arial"/>
                </a:defRPr>
              </a:pPr>
              <a:r>
                <a:t>-HB</a:t>
              </a:r>
            </a:p>
          </p:txBody>
        </p:sp>
      </p:grpSp>
      <p:sp>
        <p:nvSpPr>
          <p:cNvPr id="72" name="TextBox 71"/>
          <p:cNvSpPr txBox="1"/>
          <p:nvPr/>
        </p:nvSpPr>
        <p:spPr>
          <a:xfrm>
            <a:off x="8193024" y="1819656"/>
            <a:ext cx="3474720" cy="274320"/>
          </a:xfrm>
          <a:prstGeom prst="rect">
            <a:avLst/>
          </a:prstGeom>
          <a:noFill/>
          <a:effectLst/>
        </p:spPr>
        <p:txBody>
          <a:bodyPr wrap="square" lIns="22860" rIns="22860" tIns="0" bIns="0">
            <a:spAutoFit/>
          </a:bodyPr>
          <a:lstStyle/>
          <a:p>
            <a:pPr>
              <a:spcAft>
                <a:spcPts val="600"/>
              </a:spcAft>
              <a:defRPr sz="1250" b="1">
                <a:solidFill>
                  <a:srgbClr val="063584"/>
                </a:solidFill>
                <a:latin typeface="Microsoft YaHei"/>
              </a:defRPr>
            </a:pPr>
            <a:r>
              <a:t>图中示意参考值（非位点实测值）</a:t>
            </a:r>
          </a:p>
        </p:txBody>
      </p:sp>
      <p:graphicFrame>
        <p:nvGraphicFramePr>
          <p:cNvPr id="73" name="Table 72"/>
          <p:cNvGraphicFramePr>
            <a:graphicFrameLocks noGrp="1"/>
          </p:cNvGraphicFramePr>
          <p:nvPr/>
        </p:nvGraphicFramePr>
        <p:xfrm>
          <a:off x="8174736" y="2194560"/>
          <a:ext cx="3511296" cy="1197864"/>
        </p:xfrm>
        <a:graphic>
          <a:graphicData uri="http://schemas.openxmlformats.org/drawingml/2006/table">
            <a:tbl>
              <a:tblPr firstRow="1" bandRow="1">
                <a:tableStyleId>{5C22544A-7EE6-4342-B048-85BDC9FD1C3A}</a:tableStyleId>
              </a:tblPr>
              <a:tblGrid>
                <a:gridCol w="1408176"/>
                <a:gridCol w="2103120"/>
              </a:tblGrid>
              <a:tr h="299466">
                <a:tc>
                  <a:txBody>
                    <a:bodyPr/>
                    <a:lstStyle/>
                    <a:p>
                      <a:pPr>
                        <a:defRPr sz="1450" b="1">
                          <a:solidFill>
                            <a:srgbClr val="FFFFFF"/>
                          </a:solidFill>
                          <a:latin typeface="Microsoft YaHei"/>
                        </a:defRPr>
                      </a:pPr>
                      <a:r>
                        <a:t>化学键</a:t>
                      </a:r>
                    </a:p>
                  </a:txBody>
                  <a:tcPr marL="91440" marR="64008" marT="64008" marB="45720">
                    <a:solidFill>
                      <a:srgbClr val="063584"/>
                    </a:solidFill>
                  </a:tcPr>
                </a:tc>
                <a:tc>
                  <a:txBody>
                    <a:bodyPr/>
                    <a:lstStyle/>
                    <a:p>
                      <a:pPr>
                        <a:defRPr sz="1450" b="1">
                          <a:solidFill>
                            <a:srgbClr val="FFFFFF"/>
                          </a:solidFill>
                          <a:latin typeface="Microsoft YaHei"/>
                        </a:defRPr>
                      </a:pPr>
                      <a:r>
                        <a:t>键能 / kJ·mol⁻¹</a:t>
                      </a:r>
                    </a:p>
                  </a:txBody>
                  <a:tcPr marL="91440" marR="64008" marT="64008" marB="45720">
                    <a:solidFill>
                      <a:srgbClr val="063584"/>
                    </a:solidFill>
                  </a:tcPr>
                </a:tc>
              </a:tr>
              <a:tr h="299466">
                <a:tc>
                  <a:txBody>
                    <a:bodyPr/>
                    <a:lstStyle/>
                    <a:p>
                      <a:pPr>
                        <a:defRPr sz="1450" b="0">
                          <a:solidFill>
                            <a:srgbClr val="111111"/>
                          </a:solidFill>
                          <a:latin typeface="Microsoft YaHei"/>
                        </a:defRPr>
                      </a:pPr>
                      <a:r>
                        <a:t>C–H</a:t>
                      </a:r>
                    </a:p>
                  </a:txBody>
                  <a:tcPr marL="91440" marR="64008" marT="64008" marB="45720">
                    <a:solidFill>
                      <a:srgbClr val="FFFFFF"/>
                    </a:solidFill>
                  </a:tcPr>
                </a:tc>
                <a:tc>
                  <a:txBody>
                    <a:bodyPr/>
                    <a:lstStyle/>
                    <a:p>
                      <a:pPr>
                        <a:defRPr sz="1450" b="0">
                          <a:solidFill>
                            <a:srgbClr val="111111"/>
                          </a:solidFill>
                          <a:latin typeface="Microsoft YaHei"/>
                        </a:defRPr>
                      </a:pPr>
                      <a:r>
                        <a:t>414</a:t>
                      </a:r>
                    </a:p>
                  </a:txBody>
                  <a:tcPr marL="91440" marR="64008" marT="64008" marB="45720">
                    <a:solidFill>
                      <a:srgbClr val="FFFFFF"/>
                    </a:solidFill>
                  </a:tcPr>
                </a:tc>
              </a:tr>
              <a:tr h="299466">
                <a:tc>
                  <a:txBody>
                    <a:bodyPr/>
                    <a:lstStyle/>
                    <a:p>
                      <a:pPr>
                        <a:defRPr sz="1450" b="0">
                          <a:solidFill>
                            <a:srgbClr val="111111"/>
                          </a:solidFill>
                          <a:latin typeface="Microsoft YaHei"/>
                        </a:defRPr>
                      </a:pPr>
                      <a:r>
                        <a:t>C–C</a:t>
                      </a:r>
                    </a:p>
                  </a:txBody>
                  <a:tcPr marL="91440" marR="64008" marT="64008" marB="45720">
                    <a:solidFill>
                      <a:srgbClr val="EDF3FF"/>
                    </a:solidFill>
                  </a:tcPr>
                </a:tc>
                <a:tc>
                  <a:txBody>
                    <a:bodyPr/>
                    <a:lstStyle/>
                    <a:p>
                      <a:pPr>
                        <a:defRPr sz="1450" b="0">
                          <a:solidFill>
                            <a:srgbClr val="111111"/>
                          </a:solidFill>
                          <a:latin typeface="Microsoft YaHei"/>
                        </a:defRPr>
                      </a:pPr>
                      <a:r>
                        <a:t>332</a:t>
                      </a:r>
                    </a:p>
                  </a:txBody>
                  <a:tcPr marL="91440" marR="64008" marT="64008" marB="45720">
                    <a:solidFill>
                      <a:srgbClr val="EDF3FF"/>
                    </a:solidFill>
                  </a:tcPr>
                </a:tc>
              </a:tr>
              <a:tr h="299466">
                <a:tc>
                  <a:txBody>
                    <a:bodyPr/>
                    <a:lstStyle/>
                    <a:p>
                      <a:pPr>
                        <a:defRPr sz="1450" b="1">
                          <a:solidFill>
                            <a:srgbClr val="C00000"/>
                          </a:solidFill>
                          <a:latin typeface="Microsoft YaHei"/>
                        </a:defRPr>
                      </a:pPr>
                      <a:r>
                        <a:t>C–Cl</a:t>
                      </a:r>
                    </a:p>
                  </a:txBody>
                  <a:tcPr marL="91440" marR="64008" marT="64008" marB="45720">
                    <a:solidFill>
                      <a:srgbClr val="FFF1F1"/>
                    </a:solidFill>
                  </a:tcPr>
                </a:tc>
                <a:tc>
                  <a:txBody>
                    <a:bodyPr/>
                    <a:lstStyle/>
                    <a:p>
                      <a:pPr>
                        <a:defRPr sz="1450" b="1">
                          <a:solidFill>
                            <a:srgbClr val="C00000"/>
                          </a:solidFill>
                          <a:latin typeface="Microsoft YaHei"/>
                        </a:defRPr>
                      </a:pPr>
                      <a:r>
                        <a:t>328</a:t>
                      </a:r>
                    </a:p>
                  </a:txBody>
                  <a:tcPr marL="91440" marR="64008" marT="64008" marB="45720">
                    <a:solidFill>
                      <a:srgbClr val="FFF1F1"/>
                    </a:solidFill>
                  </a:tcPr>
                </a:tc>
              </a:tr>
            </a:tbl>
          </a:graphicData>
        </a:graphic>
      </p:graphicFrame>
      <p:sp>
        <p:nvSpPr>
          <p:cNvPr id="74" name="Rounded Rectangle 73"/>
          <p:cNvSpPr/>
          <p:nvPr/>
        </p:nvSpPr>
        <p:spPr>
          <a:xfrm>
            <a:off x="8174736" y="3602736"/>
            <a:ext cx="3511296" cy="1060704"/>
          </a:xfrm>
          <a:prstGeom prst="roundRect">
            <a:avLst>
              <a:gd name="adj" fmla="val 2500"/>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8302752" y="3721608"/>
            <a:ext cx="3246120" cy="841248"/>
          </a:xfrm>
          <a:prstGeom prst="rect">
            <a:avLst/>
          </a:prstGeom>
          <a:noFill/>
          <a:effectLst/>
        </p:spPr>
        <p:txBody>
          <a:bodyPr wrap="square" lIns="22860" rIns="22860" tIns="0" bIns="0">
            <a:spAutoFit/>
          </a:bodyPr>
          <a:lstStyle/>
          <a:p>
            <a:pPr>
              <a:spcAft>
                <a:spcPts val="600"/>
              </a:spcAft>
              <a:defRPr sz="1240" b="0">
                <a:solidFill>
                  <a:srgbClr val="063584"/>
                </a:solidFill>
                <a:latin typeface="Microsoft YaHei"/>
              </a:defRPr>
            </a:pPr>
            <a:r>
              <a:t>• C–Cl 与 C–C 的图示值接近，具体值随结构改变。</a:t>
            </a:r>
          </a:p>
          <a:p>
            <a:pPr>
              <a:spcAft>
                <a:spcPts val="600"/>
              </a:spcAft>
              <a:defRPr sz="1240" b="0">
                <a:solidFill>
                  <a:srgbClr val="063584"/>
                </a:solidFill>
                <a:latin typeface="Microsoft YaHei"/>
              </a:defRPr>
            </a:pPr>
            <a:r>
              <a:t>• 光解还取决于吸收及激发态，不能只看键能。</a:t>
            </a:r>
          </a:p>
        </p:txBody>
      </p:sp>
      <p:sp>
        <p:nvSpPr>
          <p:cNvPr id="76" name="TextBox 75"/>
          <p:cNvSpPr txBox="1"/>
          <p:nvPr/>
        </p:nvSpPr>
        <p:spPr>
          <a:xfrm>
            <a:off x="8229600" y="4773168"/>
            <a:ext cx="3383280" cy="347472"/>
          </a:xfrm>
          <a:prstGeom prst="rect">
            <a:avLst/>
          </a:prstGeom>
          <a:noFill/>
          <a:effectLst/>
        </p:spPr>
        <p:txBody>
          <a:bodyPr wrap="square" lIns="22860" rIns="22860" tIns="0" bIns="0">
            <a:spAutoFit/>
          </a:bodyPr>
          <a:lstStyle/>
          <a:p>
            <a:pPr>
              <a:spcAft>
                <a:spcPts val="600"/>
              </a:spcAft>
              <a:defRPr sz="880" b="0">
                <a:solidFill>
                  <a:srgbClr val="566273"/>
                </a:solidFill>
                <a:latin typeface="Microsoft YaHei"/>
              </a:defRPr>
            </a:pPr>
            <a:r>
              <a:t>数值沿用用户图，原始来源待核；</a:t>
            </a:r>
          </a:p>
          <a:p>
            <a:pPr>
              <a:spcAft>
                <a:spcPts val="600"/>
              </a:spcAft>
              <a:defRPr sz="880" b="0">
                <a:solidFill>
                  <a:srgbClr val="566273"/>
                </a:solidFill>
                <a:latin typeface="Microsoft YaHei"/>
              </a:defRPr>
            </a:pPr>
            <a:r>
              <a:t>不代表 PVC 各含氯位点的实测 BDE。</a:t>
            </a:r>
          </a:p>
        </p:txBody>
      </p:sp>
      <p:sp>
        <p:nvSpPr>
          <p:cNvPr id="77" name="Freeform 76"/>
          <p:cNvSpPr/>
          <p:nvPr/>
        </p:nvSpPr>
        <p:spPr>
          <a:xfrm>
            <a:off x="8467344" y="5212080"/>
            <a:ext cx="2359152" cy="109728"/>
          </a:xfrm>
          <a:custGeom>
            <a:avLst/>
            <a:gdLst/>
            <a:ahLst/>
            <a:cxnLst/>
            <a:rect l="l" t="t" r="r" b="b"/>
            <a:pathLst>
              <a:path w="2359152" h="109728">
                <a:moveTo>
                  <a:pt x="0" y="0"/>
                </a:moveTo>
                <a:lnTo>
                  <a:pt x="393192" y="109728"/>
                </a:lnTo>
                <a:lnTo>
                  <a:pt x="786384" y="0"/>
                </a:lnTo>
                <a:lnTo>
                  <a:pt x="1179576" y="109728"/>
                </a:lnTo>
                <a:lnTo>
                  <a:pt x="1572768" y="0"/>
                </a:lnTo>
                <a:lnTo>
                  <a:pt x="1965960" y="109728"/>
                </a:lnTo>
                <a:lnTo>
                  <a:pt x="2359152" y="0"/>
                </a:lnTo>
              </a:path>
            </a:pathLst>
          </a:custGeom>
          <a:noFill/>
          <a:ln w="20320">
            <a:solidFill>
              <a:srgbClr val="56627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8" name="Connector 77"/>
          <p:cNvCxnSpPr/>
          <p:nvPr/>
        </p:nvCxnSpPr>
        <p:spPr>
          <a:xfrm>
            <a:off x="8860536" y="5321808"/>
            <a:ext cx="0" cy="173736"/>
          </a:xfrm>
          <a:prstGeom prst="line">
            <a:avLst/>
          </a:prstGeom>
          <a:ln w="13970">
            <a:solidFill>
              <a:srgbClr val="566273"/>
            </a:solidFill>
          </a:ln>
          <a:effectLst/>
        </p:spPr>
        <p:style>
          <a:lnRef idx="2">
            <a:schemeClr val="accent1"/>
          </a:lnRef>
          <a:fillRef idx="0">
            <a:schemeClr val="accent1"/>
          </a:fillRef>
          <a:effectRef idx="0">
            <a:schemeClr val="accent1"/>
          </a:effectRef>
          <a:fontRef idx="minor">
            <a:schemeClr val="tx1"/>
          </a:fontRef>
        </p:style>
      </p:cxnSp>
      <p:sp>
        <p:nvSpPr>
          <p:cNvPr id="79" name="TextBox 78"/>
          <p:cNvSpPr txBox="1"/>
          <p:nvPr/>
        </p:nvSpPr>
        <p:spPr>
          <a:xfrm>
            <a:off x="8759952" y="5513832"/>
            <a:ext cx="292608" cy="192024"/>
          </a:xfrm>
          <a:prstGeom prst="rect">
            <a:avLst/>
          </a:prstGeom>
          <a:noFill/>
          <a:effectLst/>
        </p:spPr>
        <p:txBody>
          <a:bodyPr wrap="square" lIns="22860" rIns="22860" tIns="0" bIns="0">
            <a:spAutoFit/>
          </a:bodyPr>
          <a:lstStyle/>
          <a:p>
            <a:pPr>
              <a:spcAft>
                <a:spcPts val="600"/>
              </a:spcAft>
              <a:defRPr sz="1100" b="0">
                <a:solidFill>
                  <a:srgbClr val="063584"/>
                </a:solidFill>
                <a:latin typeface="Arial"/>
              </a:defRPr>
            </a:pPr>
            <a:r>
              <a:t>Cl</a:t>
            </a:r>
          </a:p>
        </p:txBody>
      </p:sp>
      <p:cxnSp>
        <p:nvCxnSpPr>
          <p:cNvPr id="80" name="Connector 79"/>
          <p:cNvCxnSpPr/>
          <p:nvPr/>
        </p:nvCxnSpPr>
        <p:spPr>
          <a:xfrm>
            <a:off x="9646920" y="5321808"/>
            <a:ext cx="0" cy="173736"/>
          </a:xfrm>
          <a:prstGeom prst="line">
            <a:avLst/>
          </a:prstGeom>
          <a:ln w="13970">
            <a:solidFill>
              <a:srgbClr val="566273"/>
            </a:solidFill>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9546336" y="5513832"/>
            <a:ext cx="292608" cy="192024"/>
          </a:xfrm>
          <a:prstGeom prst="rect">
            <a:avLst/>
          </a:prstGeom>
          <a:noFill/>
          <a:effectLst/>
        </p:spPr>
        <p:txBody>
          <a:bodyPr wrap="square" lIns="22860" rIns="22860" tIns="0" bIns="0">
            <a:spAutoFit/>
          </a:bodyPr>
          <a:lstStyle/>
          <a:p>
            <a:pPr>
              <a:spcAft>
                <a:spcPts val="600"/>
              </a:spcAft>
              <a:defRPr sz="1100" b="0">
                <a:solidFill>
                  <a:srgbClr val="063584"/>
                </a:solidFill>
                <a:latin typeface="Arial"/>
              </a:defRPr>
            </a:pPr>
            <a:r>
              <a:t>Cl</a:t>
            </a:r>
          </a:p>
        </p:txBody>
      </p:sp>
      <p:cxnSp>
        <p:nvCxnSpPr>
          <p:cNvPr id="82" name="Connector 81"/>
          <p:cNvCxnSpPr/>
          <p:nvPr/>
        </p:nvCxnSpPr>
        <p:spPr>
          <a:xfrm>
            <a:off x="10433304" y="5321808"/>
            <a:ext cx="0" cy="173736"/>
          </a:xfrm>
          <a:prstGeom prst="line">
            <a:avLst/>
          </a:prstGeom>
          <a:ln w="13970">
            <a:solidFill>
              <a:srgbClr val="566273"/>
            </a:solidFill>
          </a:ln>
          <a:effectLst/>
        </p:spPr>
        <p:style>
          <a:lnRef idx="2">
            <a:schemeClr val="accent1"/>
          </a:lnRef>
          <a:fillRef idx="0">
            <a:schemeClr val="accent1"/>
          </a:fillRef>
          <a:effectRef idx="0">
            <a:schemeClr val="accent1"/>
          </a:effectRef>
          <a:fontRef idx="minor">
            <a:schemeClr val="tx1"/>
          </a:fontRef>
        </p:style>
      </p:cxnSp>
      <p:sp>
        <p:nvSpPr>
          <p:cNvPr id="83" name="TextBox 82"/>
          <p:cNvSpPr txBox="1"/>
          <p:nvPr/>
        </p:nvSpPr>
        <p:spPr>
          <a:xfrm>
            <a:off x="10332720" y="5513832"/>
            <a:ext cx="292608" cy="192024"/>
          </a:xfrm>
          <a:prstGeom prst="rect">
            <a:avLst/>
          </a:prstGeom>
          <a:noFill/>
          <a:effectLst/>
        </p:spPr>
        <p:txBody>
          <a:bodyPr wrap="square" lIns="22860" rIns="22860" tIns="0" bIns="0">
            <a:spAutoFit/>
          </a:bodyPr>
          <a:lstStyle/>
          <a:p>
            <a:pPr>
              <a:spcAft>
                <a:spcPts val="600"/>
              </a:spcAft>
              <a:defRPr sz="1100" b="0">
                <a:solidFill>
                  <a:srgbClr val="063584"/>
                </a:solidFill>
                <a:latin typeface="Arial"/>
              </a:defRPr>
            </a:pPr>
            <a:r>
              <a:t>Cl</a:t>
            </a:r>
          </a:p>
        </p:txBody>
      </p:sp>
      <p:sp>
        <p:nvSpPr>
          <p:cNvPr id="84" name="TextBox 83"/>
          <p:cNvSpPr txBox="1"/>
          <p:nvPr/>
        </p:nvSpPr>
        <p:spPr>
          <a:xfrm>
            <a:off x="8385048" y="5669280"/>
            <a:ext cx="3200400" cy="192024"/>
          </a:xfrm>
          <a:prstGeom prst="rect">
            <a:avLst/>
          </a:prstGeom>
          <a:noFill/>
          <a:effectLst/>
        </p:spPr>
        <p:txBody>
          <a:bodyPr wrap="square" lIns="22860" rIns="22860" tIns="0" bIns="0">
            <a:spAutoFit/>
          </a:bodyPr>
          <a:lstStyle/>
          <a:p>
            <a:pPr algn="ctr">
              <a:spcAft>
                <a:spcPts val="600"/>
              </a:spcAft>
              <a:defRPr sz="1100" b="1">
                <a:solidFill>
                  <a:srgbClr val="063584"/>
                </a:solidFill>
                <a:latin typeface="Microsoft YaHei"/>
              </a:defRPr>
            </a:pPr>
            <a:r>
              <a:t>PVC 链结构示意</a:t>
            </a:r>
          </a:p>
        </p:txBody>
      </p:sp>
      <p:sp>
        <p:nvSpPr>
          <p:cNvPr id="85" name="Rectangle 84"/>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Chevron 85"/>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研究思路</a:t>
            </a:r>
          </a:p>
        </p:txBody>
      </p:sp>
      <p:sp>
        <p:nvSpPr>
          <p:cNvPr id="88" name="TextBox 87"/>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重点检验可能产生 Cl· 的自由基支路，并以物种与链长证据关联氧化和断链。</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文献启发：从 PVC 光氧化机制到本课题验证路径</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文献用于提出候选路径；本体系的活性物种、氯去向与真实链裂解分别验证</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Gardette et al., Macromolecules 1989, 22, 2576–2581.  DOI: 10.1021/ma00196a005</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5</a:t>
            </a:r>
          </a:p>
        </p:txBody>
      </p:sp>
      <p:sp>
        <p:nvSpPr>
          <p:cNvPr id="7" name="Rounded Rectangle 6"/>
          <p:cNvSpPr/>
          <p:nvPr/>
        </p:nvSpPr>
        <p:spPr>
          <a:xfrm>
            <a:off x="320040" y="1344168"/>
            <a:ext cx="4251960" cy="4526280"/>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347472" y="1371600"/>
            <a:ext cx="419709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66344" y="1421892"/>
            <a:ext cx="395935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文献机理：PVC 自由基光氧化</a:t>
            </a:r>
          </a:p>
        </p:txBody>
      </p:sp>
      <p:pic>
        <p:nvPicPr>
          <p:cNvPr id="10" name="Picture 9" descr="gardette_original_scheme.png"/>
          <p:cNvPicPr>
            <a:picLocks noChangeAspect="1"/>
          </p:cNvPicPr>
          <p:nvPr/>
        </p:nvPicPr>
        <p:blipFill>
          <a:blip r:embed="rId3"/>
          <a:stretch>
            <a:fillRect/>
          </a:stretch>
        </p:blipFill>
        <p:spPr>
          <a:xfrm>
            <a:off x="1060704" y="1792224"/>
            <a:ext cx="2697506" cy="3867912"/>
          </a:xfrm>
          <a:prstGeom prst="rect">
            <a:avLst/>
          </a:prstGeom>
          <a:effectLst/>
        </p:spPr>
      </p:pic>
      <p:sp>
        <p:nvSpPr>
          <p:cNvPr id="11" name="TextBox 10"/>
          <p:cNvSpPr txBox="1"/>
          <p:nvPr/>
        </p:nvSpPr>
        <p:spPr>
          <a:xfrm>
            <a:off x="548640" y="5715000"/>
            <a:ext cx="3785615" cy="155448"/>
          </a:xfrm>
          <a:prstGeom prst="rect">
            <a:avLst/>
          </a:prstGeom>
          <a:noFill/>
          <a:effectLst/>
        </p:spPr>
        <p:txBody>
          <a:bodyPr wrap="square" lIns="22860" rIns="22860" tIns="0" bIns="0">
            <a:spAutoFit/>
          </a:bodyPr>
          <a:lstStyle/>
          <a:p>
            <a:pPr algn="ctr">
              <a:spcAft>
                <a:spcPts val="600"/>
              </a:spcAft>
              <a:defRPr sz="880" b="0">
                <a:solidFill>
                  <a:srgbClr val="566273"/>
                </a:solidFill>
                <a:latin typeface="Microsoft YaHei"/>
              </a:defRPr>
            </a:pPr>
            <a:r>
              <a:t>Gardette 1989，原文 p.2580；保留原图。</a:t>
            </a:r>
          </a:p>
        </p:txBody>
      </p:sp>
      <p:sp>
        <p:nvSpPr>
          <p:cNvPr id="12" name="Rounded Rectangle 11"/>
          <p:cNvSpPr/>
          <p:nvPr/>
        </p:nvSpPr>
        <p:spPr>
          <a:xfrm>
            <a:off x="4782312" y="1344168"/>
            <a:ext cx="7086600" cy="270662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ounded Rectangle 12"/>
          <p:cNvSpPr/>
          <p:nvPr/>
        </p:nvSpPr>
        <p:spPr>
          <a:xfrm>
            <a:off x="4809744" y="1371600"/>
            <a:ext cx="70317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928616" y="1421892"/>
            <a:ext cx="67939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文献总结：三个关键环节</a:t>
            </a:r>
          </a:p>
        </p:txBody>
      </p:sp>
      <p:sp>
        <p:nvSpPr>
          <p:cNvPr id="15" name="Oval 14"/>
          <p:cNvSpPr/>
          <p:nvPr/>
        </p:nvSpPr>
        <p:spPr>
          <a:xfrm>
            <a:off x="5010912" y="1856231"/>
            <a:ext cx="237744" cy="23774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015484" y="1865375"/>
            <a:ext cx="228600" cy="228600"/>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1</a:t>
            </a:r>
          </a:p>
        </p:txBody>
      </p:sp>
      <p:sp>
        <p:nvSpPr>
          <p:cNvPr id="17" name="TextBox 16"/>
          <p:cNvSpPr txBox="1"/>
          <p:nvPr/>
        </p:nvSpPr>
        <p:spPr>
          <a:xfrm>
            <a:off x="5404104" y="1847088"/>
            <a:ext cx="6144768"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光引发 → 含氯位点活化</a:t>
            </a:r>
          </a:p>
        </p:txBody>
      </p:sp>
      <p:sp>
        <p:nvSpPr>
          <p:cNvPr id="18" name="TextBox 17"/>
          <p:cNvSpPr txBox="1"/>
          <p:nvPr/>
        </p:nvSpPr>
        <p:spPr>
          <a:xfrm>
            <a:off x="5404104" y="2212848"/>
            <a:ext cx="6144768" cy="265176"/>
          </a:xfrm>
          <a:prstGeom prst="rect">
            <a:avLst/>
          </a:prstGeom>
          <a:noFill/>
          <a:effectLst/>
        </p:spPr>
        <p:txBody>
          <a:bodyPr wrap="square" lIns="22860" rIns="22860" tIns="0" bIns="0">
            <a:spAutoFit/>
          </a:bodyPr>
          <a:lstStyle/>
          <a:p>
            <a:pPr>
              <a:spcAft>
                <a:spcPts val="600"/>
              </a:spcAft>
              <a:defRPr sz="1250" b="0">
                <a:solidFill>
                  <a:srgbClr val="111111"/>
                </a:solidFill>
                <a:latin typeface="Microsoft YaHei"/>
              </a:defRPr>
            </a:pPr>
            <a:r>
              <a:t>吸光缺陷 / 多烯参与；Cl· 可能引发后续氧化链。</a:t>
            </a:r>
          </a:p>
        </p:txBody>
      </p:sp>
      <p:cxnSp>
        <p:nvCxnSpPr>
          <p:cNvPr id="19" name="Connector 18"/>
          <p:cNvCxnSpPr/>
          <p:nvPr/>
        </p:nvCxnSpPr>
        <p:spPr>
          <a:xfrm>
            <a:off x="5129784" y="2167128"/>
            <a:ext cx="0" cy="310896"/>
          </a:xfrm>
          <a:prstGeom prst="line">
            <a:avLst/>
          </a:prstGeom>
          <a:ln w="14604">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0" name="Oval 19"/>
          <p:cNvSpPr/>
          <p:nvPr/>
        </p:nvSpPr>
        <p:spPr>
          <a:xfrm>
            <a:off x="5010912" y="2569463"/>
            <a:ext cx="237744" cy="23774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015484" y="2578607"/>
            <a:ext cx="228600" cy="228600"/>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2</a:t>
            </a:r>
          </a:p>
        </p:txBody>
      </p:sp>
      <p:sp>
        <p:nvSpPr>
          <p:cNvPr id="22" name="TextBox 21"/>
          <p:cNvSpPr txBox="1"/>
          <p:nvPr/>
        </p:nvSpPr>
        <p:spPr>
          <a:xfrm>
            <a:off x="5404104" y="2560320"/>
            <a:ext cx="6144768" cy="292608"/>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R· + O₂ → ROO· → ROOH → RO·</a:t>
            </a:r>
          </a:p>
        </p:txBody>
      </p:sp>
      <p:sp>
        <p:nvSpPr>
          <p:cNvPr id="23" name="TextBox 22"/>
          <p:cNvSpPr txBox="1"/>
          <p:nvPr/>
        </p:nvSpPr>
        <p:spPr>
          <a:xfrm>
            <a:off x="5404104" y="2926079"/>
            <a:ext cx="6144768" cy="265176"/>
          </a:xfrm>
          <a:prstGeom prst="rect">
            <a:avLst/>
          </a:prstGeom>
          <a:noFill/>
          <a:effectLst/>
        </p:spPr>
        <p:txBody>
          <a:bodyPr wrap="square" lIns="22860" rIns="22860" tIns="0" bIns="0">
            <a:spAutoFit/>
          </a:bodyPr>
          <a:lstStyle/>
          <a:p>
            <a:pPr>
              <a:spcAft>
                <a:spcPts val="600"/>
              </a:spcAft>
              <a:defRPr sz="1250" b="0">
                <a:solidFill>
                  <a:srgbClr val="111111"/>
                </a:solidFill>
                <a:latin typeface="Microsoft YaHei"/>
              </a:defRPr>
            </a:pPr>
            <a:r>
              <a:t>氧参与链式传播，形成过氧与烷氧中间体。</a:t>
            </a:r>
          </a:p>
        </p:txBody>
      </p:sp>
      <p:cxnSp>
        <p:nvCxnSpPr>
          <p:cNvPr id="24" name="Connector 23"/>
          <p:cNvCxnSpPr/>
          <p:nvPr/>
        </p:nvCxnSpPr>
        <p:spPr>
          <a:xfrm>
            <a:off x="5129784" y="2880360"/>
            <a:ext cx="0" cy="310896"/>
          </a:xfrm>
          <a:prstGeom prst="line">
            <a:avLst/>
          </a:prstGeom>
          <a:ln w="14604">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5" name="Oval 24"/>
          <p:cNvSpPr/>
          <p:nvPr/>
        </p:nvSpPr>
        <p:spPr>
          <a:xfrm>
            <a:off x="5010912" y="3282696"/>
            <a:ext cx="237744" cy="23774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15484" y="3291839"/>
            <a:ext cx="228600" cy="228600"/>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3</a:t>
            </a:r>
          </a:p>
        </p:txBody>
      </p:sp>
      <p:sp>
        <p:nvSpPr>
          <p:cNvPr id="27" name="TextBox 26"/>
          <p:cNvSpPr txBox="1"/>
          <p:nvPr/>
        </p:nvSpPr>
        <p:spPr>
          <a:xfrm>
            <a:off x="5404104" y="3273552"/>
            <a:ext cx="6144768"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氧化产物生成 → 可能发生主链断裂</a:t>
            </a:r>
          </a:p>
        </p:txBody>
      </p:sp>
      <p:sp>
        <p:nvSpPr>
          <p:cNvPr id="28" name="TextBox 27"/>
          <p:cNvSpPr txBox="1"/>
          <p:nvPr/>
        </p:nvSpPr>
        <p:spPr>
          <a:xfrm>
            <a:off x="5404104" y="3639312"/>
            <a:ext cx="6144768" cy="265176"/>
          </a:xfrm>
          <a:prstGeom prst="rect">
            <a:avLst/>
          </a:prstGeom>
          <a:noFill/>
          <a:effectLst/>
        </p:spPr>
        <p:txBody>
          <a:bodyPr wrap="square" lIns="22860" rIns="22860" tIns="0" bIns="0">
            <a:spAutoFit/>
          </a:bodyPr>
          <a:lstStyle/>
          <a:p>
            <a:pPr>
              <a:spcAft>
                <a:spcPts val="600"/>
              </a:spcAft>
              <a:defRPr sz="1250" b="0">
                <a:solidFill>
                  <a:srgbClr val="111111"/>
                </a:solidFill>
                <a:latin typeface="Microsoft YaHei"/>
              </a:defRPr>
            </a:pPr>
            <a:r>
              <a:t>作者提出 β-裂解；光谱与化学处理支持产物归属。</a:t>
            </a:r>
          </a:p>
        </p:txBody>
      </p:sp>
      <p:sp>
        <p:nvSpPr>
          <p:cNvPr id="29" name="Rounded Rectangle 28"/>
          <p:cNvSpPr/>
          <p:nvPr/>
        </p:nvSpPr>
        <p:spPr>
          <a:xfrm>
            <a:off x="4782312" y="4242816"/>
            <a:ext cx="7086600" cy="1627632"/>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4809744" y="4270248"/>
            <a:ext cx="70317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928616" y="4320540"/>
            <a:ext cx="67939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本课题：调节入口—检验支路—确认聚合物变化</a:t>
            </a:r>
          </a:p>
        </p:txBody>
      </p:sp>
      <p:sp>
        <p:nvSpPr>
          <p:cNvPr id="32" name="Rounded Rectangle 31"/>
          <p:cNvSpPr/>
          <p:nvPr/>
        </p:nvSpPr>
        <p:spPr>
          <a:xfrm>
            <a:off x="4974336" y="4754880"/>
            <a:ext cx="2002536" cy="393192"/>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5029200" y="4837176"/>
            <a:ext cx="1892807" cy="246888"/>
          </a:xfrm>
          <a:prstGeom prst="rect">
            <a:avLst/>
          </a:prstGeom>
          <a:noFill/>
          <a:effectLst/>
        </p:spPr>
        <p:txBody>
          <a:bodyPr wrap="square" lIns="22860" rIns="22860" tIns="0" bIns="0">
            <a:spAutoFit/>
          </a:bodyPr>
          <a:lstStyle/>
          <a:p>
            <a:pPr algn="ctr">
              <a:spcAft>
                <a:spcPts val="600"/>
              </a:spcAft>
              <a:defRPr sz="1500" b="1">
                <a:solidFill>
                  <a:srgbClr val="063584"/>
                </a:solidFill>
                <a:latin typeface="Microsoft YaHei"/>
              </a:defRPr>
            </a:pPr>
            <a:r>
              <a:t>调节光敏入口</a:t>
            </a:r>
          </a:p>
        </p:txBody>
      </p:sp>
      <p:sp>
        <p:nvSpPr>
          <p:cNvPr id="34" name="TextBox 33"/>
          <p:cNvSpPr txBox="1"/>
          <p:nvPr/>
        </p:nvSpPr>
        <p:spPr>
          <a:xfrm>
            <a:off x="4965192" y="5321808"/>
            <a:ext cx="2020824" cy="219456"/>
          </a:xfrm>
          <a:prstGeom prst="rect">
            <a:avLst/>
          </a:prstGeom>
          <a:noFill/>
          <a:effectLst/>
        </p:spPr>
        <p:txBody>
          <a:bodyPr wrap="square" lIns="22860" rIns="22860" tIns="0" bIns="0">
            <a:spAutoFit/>
          </a:bodyPr>
          <a:lstStyle/>
          <a:p>
            <a:pPr algn="ctr">
              <a:spcAft>
                <a:spcPts val="600"/>
              </a:spcAft>
              <a:defRPr sz="1080" b="0">
                <a:solidFill>
                  <a:srgbClr val="111111"/>
                </a:solidFill>
                <a:latin typeface="Microsoft YaHei"/>
              </a:defRPr>
            </a:pPr>
            <a:r>
              <a:t>光 / EAQ / DCE 空白</a:t>
            </a:r>
          </a:p>
        </p:txBody>
      </p:sp>
      <p:sp>
        <p:nvSpPr>
          <p:cNvPr id="35" name="TextBox 34"/>
          <p:cNvSpPr txBox="1"/>
          <p:nvPr/>
        </p:nvSpPr>
        <p:spPr>
          <a:xfrm>
            <a:off x="4956048" y="5623560"/>
            <a:ext cx="2039112" cy="173736"/>
          </a:xfrm>
          <a:prstGeom prst="rect">
            <a:avLst/>
          </a:prstGeom>
          <a:noFill/>
          <a:effectLst/>
        </p:spPr>
        <p:txBody>
          <a:bodyPr wrap="square" lIns="22860" rIns="22860" tIns="0" bIns="0">
            <a:spAutoFit/>
          </a:bodyPr>
          <a:lstStyle/>
          <a:p>
            <a:pPr algn="ctr">
              <a:spcAft>
                <a:spcPts val="600"/>
              </a:spcAft>
              <a:defRPr sz="969" b="0">
                <a:solidFill>
                  <a:srgbClr val="566273"/>
                </a:solidFill>
                <a:latin typeface="Microsoft YaHei"/>
              </a:defRPr>
            </a:pPr>
            <a:r>
              <a:t>先核实光敏增益与溶剂信号</a:t>
            </a:r>
          </a:p>
        </p:txBody>
      </p:sp>
      <p:cxnSp>
        <p:nvCxnSpPr>
          <p:cNvPr id="36" name="Connector 35"/>
          <p:cNvCxnSpPr/>
          <p:nvPr/>
        </p:nvCxnSpPr>
        <p:spPr>
          <a:xfrm>
            <a:off x="7013448" y="4956048"/>
            <a:ext cx="182880" cy="0"/>
          </a:xfrm>
          <a:prstGeom prst="line">
            <a:avLst/>
          </a:prstGeom>
          <a:ln w="1905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7" name="Rounded Rectangle 36"/>
          <p:cNvSpPr/>
          <p:nvPr/>
        </p:nvSpPr>
        <p:spPr>
          <a:xfrm>
            <a:off x="7269480" y="4754880"/>
            <a:ext cx="2002536" cy="393192"/>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7324344" y="4837176"/>
            <a:ext cx="1892807" cy="246888"/>
          </a:xfrm>
          <a:prstGeom prst="rect">
            <a:avLst/>
          </a:prstGeom>
          <a:noFill/>
          <a:effectLst/>
        </p:spPr>
        <p:txBody>
          <a:bodyPr wrap="square" lIns="22860" rIns="22860" tIns="0" bIns="0">
            <a:spAutoFit/>
          </a:bodyPr>
          <a:lstStyle/>
          <a:p>
            <a:pPr algn="ctr">
              <a:spcAft>
                <a:spcPts val="600"/>
              </a:spcAft>
              <a:defRPr sz="1500" b="1">
                <a:solidFill>
                  <a:srgbClr val="063584"/>
                </a:solidFill>
                <a:latin typeface="Microsoft YaHei"/>
              </a:defRPr>
            </a:pPr>
            <a:r>
              <a:t>检验自由基支路</a:t>
            </a:r>
          </a:p>
        </p:txBody>
      </p:sp>
      <p:sp>
        <p:nvSpPr>
          <p:cNvPr id="39" name="TextBox 38"/>
          <p:cNvSpPr txBox="1"/>
          <p:nvPr/>
        </p:nvSpPr>
        <p:spPr>
          <a:xfrm>
            <a:off x="7260336" y="5321808"/>
            <a:ext cx="2020824" cy="219456"/>
          </a:xfrm>
          <a:prstGeom prst="rect">
            <a:avLst/>
          </a:prstGeom>
          <a:noFill/>
          <a:effectLst/>
        </p:spPr>
        <p:txBody>
          <a:bodyPr wrap="square" lIns="22860" rIns="22860" tIns="0" bIns="0">
            <a:spAutoFit/>
          </a:bodyPr>
          <a:lstStyle/>
          <a:p>
            <a:pPr algn="ctr">
              <a:spcAft>
                <a:spcPts val="600"/>
              </a:spcAft>
              <a:defRPr sz="1080" b="0">
                <a:solidFill>
                  <a:srgbClr val="111111"/>
                </a:solidFill>
                <a:latin typeface="Microsoft YaHei"/>
              </a:defRPr>
            </a:pPr>
            <a:r>
              <a:t>EPR + 捕获 + 气氛对照</a:t>
            </a:r>
          </a:p>
        </p:txBody>
      </p:sp>
      <p:sp>
        <p:nvSpPr>
          <p:cNvPr id="40" name="TextBox 39"/>
          <p:cNvSpPr txBox="1"/>
          <p:nvPr/>
        </p:nvSpPr>
        <p:spPr>
          <a:xfrm>
            <a:off x="7251192" y="5623560"/>
            <a:ext cx="2039112" cy="173736"/>
          </a:xfrm>
          <a:prstGeom prst="rect">
            <a:avLst/>
          </a:prstGeom>
          <a:noFill/>
          <a:effectLst/>
        </p:spPr>
        <p:txBody>
          <a:bodyPr wrap="square" lIns="22860" rIns="22860" tIns="0" bIns="0">
            <a:spAutoFit/>
          </a:bodyPr>
          <a:lstStyle/>
          <a:p>
            <a:pPr algn="ctr">
              <a:spcAft>
                <a:spcPts val="600"/>
              </a:spcAft>
              <a:defRPr sz="969" b="0">
                <a:solidFill>
                  <a:srgbClr val="566273"/>
                </a:solidFill>
                <a:latin typeface="Microsoft YaHei"/>
              </a:defRPr>
            </a:pPr>
            <a:r>
              <a:t>再识别 Cl· 与氧相关物种</a:t>
            </a:r>
          </a:p>
        </p:txBody>
      </p:sp>
      <p:cxnSp>
        <p:nvCxnSpPr>
          <p:cNvPr id="41" name="Connector 40"/>
          <p:cNvCxnSpPr/>
          <p:nvPr/>
        </p:nvCxnSpPr>
        <p:spPr>
          <a:xfrm>
            <a:off x="9308592" y="4956048"/>
            <a:ext cx="182880" cy="0"/>
          </a:xfrm>
          <a:prstGeom prst="line">
            <a:avLst/>
          </a:prstGeom>
          <a:ln w="1905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42" name="Rounded Rectangle 41"/>
          <p:cNvSpPr/>
          <p:nvPr/>
        </p:nvSpPr>
        <p:spPr>
          <a:xfrm>
            <a:off x="9564624" y="4754880"/>
            <a:ext cx="2002536" cy="393192"/>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9619488" y="4837176"/>
            <a:ext cx="1892807" cy="246888"/>
          </a:xfrm>
          <a:prstGeom prst="rect">
            <a:avLst/>
          </a:prstGeom>
          <a:noFill/>
          <a:effectLst/>
        </p:spPr>
        <p:txBody>
          <a:bodyPr wrap="square" lIns="22860" rIns="22860" tIns="0" bIns="0">
            <a:spAutoFit/>
          </a:bodyPr>
          <a:lstStyle/>
          <a:p>
            <a:pPr algn="ctr">
              <a:spcAft>
                <a:spcPts val="600"/>
              </a:spcAft>
              <a:defRPr sz="1500" b="1">
                <a:solidFill>
                  <a:srgbClr val="063584"/>
                </a:solidFill>
                <a:latin typeface="Microsoft YaHei"/>
              </a:defRPr>
            </a:pPr>
            <a:r>
              <a:t>确认聚合物变化</a:t>
            </a:r>
          </a:p>
        </p:txBody>
      </p:sp>
      <p:sp>
        <p:nvSpPr>
          <p:cNvPr id="44" name="TextBox 43"/>
          <p:cNvSpPr txBox="1"/>
          <p:nvPr/>
        </p:nvSpPr>
        <p:spPr>
          <a:xfrm>
            <a:off x="9555480" y="5321808"/>
            <a:ext cx="2020824" cy="219456"/>
          </a:xfrm>
          <a:prstGeom prst="rect">
            <a:avLst/>
          </a:prstGeom>
          <a:noFill/>
          <a:effectLst/>
        </p:spPr>
        <p:txBody>
          <a:bodyPr wrap="square" lIns="22860" rIns="22860" tIns="0" bIns="0">
            <a:spAutoFit/>
          </a:bodyPr>
          <a:lstStyle/>
          <a:p>
            <a:pPr algn="ctr">
              <a:spcAft>
                <a:spcPts val="600"/>
              </a:spcAft>
              <a:defRPr sz="1080" b="0">
                <a:solidFill>
                  <a:srgbClr val="111111"/>
                </a:solidFill>
                <a:latin typeface="Microsoft YaHei"/>
              </a:defRPr>
            </a:pPr>
            <a:r>
              <a:t>氯平衡 + SEC/GPC + 产物</a:t>
            </a:r>
          </a:p>
        </p:txBody>
      </p:sp>
      <p:sp>
        <p:nvSpPr>
          <p:cNvPr id="45" name="TextBox 44"/>
          <p:cNvSpPr txBox="1"/>
          <p:nvPr/>
        </p:nvSpPr>
        <p:spPr>
          <a:xfrm>
            <a:off x="9546336" y="5623560"/>
            <a:ext cx="2039112" cy="173736"/>
          </a:xfrm>
          <a:prstGeom prst="rect">
            <a:avLst/>
          </a:prstGeom>
          <a:noFill/>
          <a:effectLst/>
        </p:spPr>
        <p:txBody>
          <a:bodyPr wrap="square" lIns="22860" rIns="22860" tIns="0" bIns="0">
            <a:spAutoFit/>
          </a:bodyPr>
          <a:lstStyle/>
          <a:p>
            <a:pPr algn="ctr">
              <a:spcAft>
                <a:spcPts val="600"/>
              </a:spcAft>
              <a:defRPr sz="969" b="0">
                <a:solidFill>
                  <a:srgbClr val="566273"/>
                </a:solidFill>
                <a:latin typeface="Microsoft YaHei"/>
              </a:defRPr>
            </a:pPr>
            <a:r>
              <a:t>以链长和产物评价断链</a:t>
            </a:r>
          </a:p>
        </p:txBody>
      </p:sp>
      <p:sp>
        <p:nvSpPr>
          <p:cNvPr id="46" name="Rectangle 45"/>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Chevron 46"/>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49" name="TextBox 48"/>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借鉴文献自由基路径，以对照实验追踪活性来源，并用氯平衡与链长证据检验降解。</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光敏组分选择：AQ 的激发态化学提供候选反应入口</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实际使用乙基蒽醌；“不含贵金属”不等于总体成本已优化，试剂用量与回收仍需评价</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Chen et al., Environ. Sci. Ecotechnol. 2024, 22, 100449.  Ren et al. 2011：据综述引文98，原文及 DOI 未取得。</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6</a:t>
            </a:r>
          </a:p>
        </p:txBody>
      </p:sp>
      <p:sp>
        <p:nvSpPr>
          <p:cNvPr id="7" name="Rounded Rectangle 6"/>
          <p:cNvSpPr/>
          <p:nvPr/>
        </p:nvSpPr>
        <p:spPr>
          <a:xfrm>
            <a:off x="438912" y="1417320"/>
            <a:ext cx="3246120"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19125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2953511"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分子基础：AQ 与 EAQ</a:t>
            </a:r>
          </a:p>
        </p:txBody>
      </p:sp>
      <p:sp>
        <p:nvSpPr>
          <p:cNvPr id="10" name="Freeform 9"/>
          <p:cNvSpPr/>
          <p:nvPr/>
        </p:nvSpPr>
        <p:spPr>
          <a:xfrm>
            <a:off x="1392926" y="2147011"/>
            <a:ext cx="430790" cy="497433"/>
          </a:xfrm>
          <a:custGeom>
            <a:avLst/>
            <a:gdLst/>
            <a:ahLst/>
            <a:cxnLst/>
            <a:rect l="l" t="t" r="r" b="b"/>
            <a:pathLst>
              <a:path w="430790" h="497433">
                <a:moveTo>
                  <a:pt x="215395" y="0"/>
                </a:moveTo>
                <a:lnTo>
                  <a:pt x="430790" y="124358"/>
                </a:lnTo>
                <a:lnTo>
                  <a:pt x="430790" y="373075"/>
                </a:lnTo>
                <a:lnTo>
                  <a:pt x="215395" y="497433"/>
                </a:lnTo>
                <a:lnTo>
                  <a:pt x="0" y="373075"/>
                </a:lnTo>
                <a:lnTo>
                  <a:pt x="0" y="124358"/>
                </a:lnTo>
                <a:lnTo>
                  <a:pt x="21539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 name="Connector 10"/>
          <p:cNvCxnSpPr/>
          <p:nvPr/>
        </p:nvCxnSpPr>
        <p:spPr>
          <a:xfrm>
            <a:off x="1608321" y="2216651"/>
            <a:ext cx="155085"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2" name="Connector 11"/>
          <p:cNvCxnSpPr/>
          <p:nvPr/>
        </p:nvCxnSpPr>
        <p:spPr>
          <a:xfrm flipH="1">
            <a:off x="1608321" y="2485266"/>
            <a:ext cx="155085"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flipV="1">
            <a:off x="1453237" y="2306189"/>
            <a:ext cx="0" cy="1790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4" name="Freeform 13"/>
          <p:cNvSpPr/>
          <p:nvPr/>
        </p:nvSpPr>
        <p:spPr>
          <a:xfrm>
            <a:off x="1823716" y="2147011"/>
            <a:ext cx="430791" cy="497433"/>
          </a:xfrm>
          <a:custGeom>
            <a:avLst/>
            <a:gdLst/>
            <a:ahLst/>
            <a:cxnLst/>
            <a:rect l="l" t="t" r="r" b="b"/>
            <a:pathLst>
              <a:path w="430791" h="497433">
                <a:moveTo>
                  <a:pt x="215396" y="0"/>
                </a:moveTo>
                <a:lnTo>
                  <a:pt x="430791" y="124358"/>
                </a:lnTo>
                <a:lnTo>
                  <a:pt x="430791" y="373075"/>
                </a:lnTo>
                <a:lnTo>
                  <a:pt x="215396" y="497433"/>
                </a:lnTo>
                <a:lnTo>
                  <a:pt x="0" y="373075"/>
                </a:lnTo>
                <a:lnTo>
                  <a:pt x="0" y="124358"/>
                </a:lnTo>
                <a:lnTo>
                  <a:pt x="21539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Freeform 14"/>
          <p:cNvSpPr/>
          <p:nvPr/>
        </p:nvSpPr>
        <p:spPr>
          <a:xfrm>
            <a:off x="2254507" y="2147011"/>
            <a:ext cx="430790" cy="497433"/>
          </a:xfrm>
          <a:custGeom>
            <a:avLst/>
            <a:gdLst/>
            <a:ahLst/>
            <a:cxnLst/>
            <a:rect l="l" t="t" r="r" b="b"/>
            <a:pathLst>
              <a:path w="430790" h="497433">
                <a:moveTo>
                  <a:pt x="215395" y="0"/>
                </a:moveTo>
                <a:lnTo>
                  <a:pt x="430790" y="124358"/>
                </a:lnTo>
                <a:lnTo>
                  <a:pt x="430790" y="373075"/>
                </a:lnTo>
                <a:lnTo>
                  <a:pt x="215395" y="497433"/>
                </a:lnTo>
                <a:lnTo>
                  <a:pt x="0" y="373075"/>
                </a:lnTo>
                <a:lnTo>
                  <a:pt x="0" y="124358"/>
                </a:lnTo>
                <a:lnTo>
                  <a:pt x="21539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 name="Connector 15"/>
          <p:cNvCxnSpPr/>
          <p:nvPr/>
        </p:nvCxnSpPr>
        <p:spPr>
          <a:xfrm>
            <a:off x="2469902" y="2216651"/>
            <a:ext cx="155084"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flipH="1">
            <a:off x="2469902" y="2485266"/>
            <a:ext cx="155084"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flipV="1">
            <a:off x="2314817" y="2306189"/>
            <a:ext cx="0" cy="1790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flipV="1">
            <a:off x="2019680" y="1968245"/>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flipV="1">
            <a:off x="2058543" y="1968245"/>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1953615" y="1781708"/>
            <a:ext cx="233172" cy="194310"/>
          </a:xfrm>
          <a:prstGeom prst="rect">
            <a:avLst/>
          </a:prstGeom>
          <a:noFill/>
          <a:effectLst/>
        </p:spPr>
        <p:txBody>
          <a:bodyPr wrap="square" lIns="22860" rIns="22860" tIns="0" bIns="0">
            <a:spAutoFit/>
          </a:bodyPr>
          <a:lstStyle/>
          <a:p>
            <a:pPr>
              <a:spcAft>
                <a:spcPts val="600"/>
              </a:spcAft>
              <a:defRPr sz="1105" b="0">
                <a:solidFill>
                  <a:srgbClr val="111111"/>
                </a:solidFill>
                <a:latin typeface="Arial"/>
              </a:defRPr>
            </a:pPr>
            <a:r>
              <a:t>O</a:t>
            </a:r>
          </a:p>
        </p:txBody>
      </p:sp>
      <p:cxnSp>
        <p:nvCxnSpPr>
          <p:cNvPr id="22" name="Connector 21"/>
          <p:cNvCxnSpPr/>
          <p:nvPr/>
        </p:nvCxnSpPr>
        <p:spPr>
          <a:xfrm>
            <a:off x="2019680" y="2644444"/>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2058543" y="2644444"/>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4" name="TextBox 23"/>
          <p:cNvSpPr txBox="1"/>
          <p:nvPr/>
        </p:nvSpPr>
        <p:spPr>
          <a:xfrm>
            <a:off x="1953615" y="2830982"/>
            <a:ext cx="233172" cy="194310"/>
          </a:xfrm>
          <a:prstGeom prst="rect">
            <a:avLst/>
          </a:prstGeom>
          <a:noFill/>
          <a:effectLst/>
        </p:spPr>
        <p:txBody>
          <a:bodyPr wrap="square" lIns="22860" rIns="22860" tIns="0" bIns="0">
            <a:spAutoFit/>
          </a:bodyPr>
          <a:lstStyle/>
          <a:p>
            <a:pPr>
              <a:spcAft>
                <a:spcPts val="600"/>
              </a:spcAft>
              <a:defRPr sz="1105" b="0">
                <a:solidFill>
                  <a:srgbClr val="111111"/>
                </a:solidFill>
                <a:latin typeface="Arial"/>
              </a:defRPr>
            </a:pPr>
            <a:r>
              <a:t>O</a:t>
            </a:r>
          </a:p>
        </p:txBody>
      </p:sp>
      <p:sp>
        <p:nvSpPr>
          <p:cNvPr id="25" name="TextBox 24"/>
          <p:cNvSpPr txBox="1"/>
          <p:nvPr/>
        </p:nvSpPr>
        <p:spPr>
          <a:xfrm>
            <a:off x="722376" y="3118104"/>
            <a:ext cx="2688336" cy="256032"/>
          </a:xfrm>
          <a:prstGeom prst="rect">
            <a:avLst/>
          </a:prstGeom>
          <a:noFill/>
          <a:effectLst/>
        </p:spPr>
        <p:txBody>
          <a:bodyPr wrap="square" lIns="22860" rIns="22860" tIns="0" bIns="0">
            <a:spAutoFit/>
          </a:bodyPr>
          <a:lstStyle/>
          <a:p>
            <a:pPr algn="ctr">
              <a:spcAft>
                <a:spcPts val="600"/>
              </a:spcAft>
              <a:defRPr sz="1300" b="1">
                <a:solidFill>
                  <a:srgbClr val="063584"/>
                </a:solidFill>
                <a:latin typeface="Microsoft YaHei"/>
              </a:defRPr>
            </a:pPr>
            <a:r>
              <a:t>AQ 母体：9,10-二羰基骨架</a:t>
            </a:r>
          </a:p>
        </p:txBody>
      </p:sp>
      <p:sp>
        <p:nvSpPr>
          <p:cNvPr id="26" name="Freeform 25"/>
          <p:cNvSpPr/>
          <p:nvPr/>
        </p:nvSpPr>
        <p:spPr>
          <a:xfrm>
            <a:off x="1392926" y="3756355"/>
            <a:ext cx="430790" cy="497433"/>
          </a:xfrm>
          <a:custGeom>
            <a:avLst/>
            <a:gdLst/>
            <a:ahLst/>
            <a:cxnLst/>
            <a:rect l="l" t="t" r="r" b="b"/>
            <a:pathLst>
              <a:path w="430790" h="497433">
                <a:moveTo>
                  <a:pt x="215395" y="0"/>
                </a:moveTo>
                <a:lnTo>
                  <a:pt x="430790" y="124358"/>
                </a:lnTo>
                <a:lnTo>
                  <a:pt x="430790" y="373075"/>
                </a:lnTo>
                <a:lnTo>
                  <a:pt x="215395" y="497433"/>
                </a:lnTo>
                <a:lnTo>
                  <a:pt x="0" y="373075"/>
                </a:lnTo>
                <a:lnTo>
                  <a:pt x="0" y="124358"/>
                </a:lnTo>
                <a:lnTo>
                  <a:pt x="21539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7" name="Connector 26"/>
          <p:cNvCxnSpPr/>
          <p:nvPr/>
        </p:nvCxnSpPr>
        <p:spPr>
          <a:xfrm>
            <a:off x="1608321" y="3825995"/>
            <a:ext cx="155085"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flipH="1">
            <a:off x="1608321" y="4094610"/>
            <a:ext cx="155085"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9" name="Connector 28"/>
          <p:cNvCxnSpPr/>
          <p:nvPr/>
        </p:nvCxnSpPr>
        <p:spPr>
          <a:xfrm flipV="1">
            <a:off x="1453237" y="3915533"/>
            <a:ext cx="0" cy="1790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0" name="Freeform 29"/>
          <p:cNvSpPr/>
          <p:nvPr/>
        </p:nvSpPr>
        <p:spPr>
          <a:xfrm>
            <a:off x="1823716" y="3756355"/>
            <a:ext cx="430791" cy="497433"/>
          </a:xfrm>
          <a:custGeom>
            <a:avLst/>
            <a:gdLst/>
            <a:ahLst/>
            <a:cxnLst/>
            <a:rect l="l" t="t" r="r" b="b"/>
            <a:pathLst>
              <a:path w="430791" h="497433">
                <a:moveTo>
                  <a:pt x="215396" y="0"/>
                </a:moveTo>
                <a:lnTo>
                  <a:pt x="430791" y="124358"/>
                </a:lnTo>
                <a:lnTo>
                  <a:pt x="430791" y="373075"/>
                </a:lnTo>
                <a:lnTo>
                  <a:pt x="215396" y="497433"/>
                </a:lnTo>
                <a:lnTo>
                  <a:pt x="0" y="373075"/>
                </a:lnTo>
                <a:lnTo>
                  <a:pt x="0" y="124358"/>
                </a:lnTo>
                <a:lnTo>
                  <a:pt x="21539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Freeform 30"/>
          <p:cNvSpPr/>
          <p:nvPr/>
        </p:nvSpPr>
        <p:spPr>
          <a:xfrm>
            <a:off x="2254507" y="3756355"/>
            <a:ext cx="430790" cy="497433"/>
          </a:xfrm>
          <a:custGeom>
            <a:avLst/>
            <a:gdLst/>
            <a:ahLst/>
            <a:cxnLst/>
            <a:rect l="l" t="t" r="r" b="b"/>
            <a:pathLst>
              <a:path w="430790" h="497433">
                <a:moveTo>
                  <a:pt x="215395" y="0"/>
                </a:moveTo>
                <a:lnTo>
                  <a:pt x="430790" y="124358"/>
                </a:lnTo>
                <a:lnTo>
                  <a:pt x="430790" y="373075"/>
                </a:lnTo>
                <a:lnTo>
                  <a:pt x="215395" y="497433"/>
                </a:lnTo>
                <a:lnTo>
                  <a:pt x="0" y="373075"/>
                </a:lnTo>
                <a:lnTo>
                  <a:pt x="0" y="124358"/>
                </a:lnTo>
                <a:lnTo>
                  <a:pt x="21539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2" name="Connector 31"/>
          <p:cNvCxnSpPr/>
          <p:nvPr/>
        </p:nvCxnSpPr>
        <p:spPr>
          <a:xfrm>
            <a:off x="2469902" y="3825995"/>
            <a:ext cx="155084"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3" name="Connector 32"/>
          <p:cNvCxnSpPr/>
          <p:nvPr/>
        </p:nvCxnSpPr>
        <p:spPr>
          <a:xfrm flipH="1">
            <a:off x="2469902" y="4094610"/>
            <a:ext cx="155084"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4" name="Connector 33"/>
          <p:cNvCxnSpPr/>
          <p:nvPr/>
        </p:nvCxnSpPr>
        <p:spPr>
          <a:xfrm flipV="1">
            <a:off x="2314817" y="3915533"/>
            <a:ext cx="0" cy="1790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flipV="1">
            <a:off x="2019680" y="3577589"/>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6" name="Connector 35"/>
          <p:cNvCxnSpPr/>
          <p:nvPr/>
        </p:nvCxnSpPr>
        <p:spPr>
          <a:xfrm flipV="1">
            <a:off x="2058543" y="3577589"/>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7" name="TextBox 36"/>
          <p:cNvSpPr txBox="1"/>
          <p:nvPr/>
        </p:nvSpPr>
        <p:spPr>
          <a:xfrm>
            <a:off x="1953615" y="3391052"/>
            <a:ext cx="233172" cy="194310"/>
          </a:xfrm>
          <a:prstGeom prst="rect">
            <a:avLst/>
          </a:prstGeom>
          <a:noFill/>
          <a:effectLst/>
        </p:spPr>
        <p:txBody>
          <a:bodyPr wrap="square" lIns="22860" rIns="22860" tIns="0" bIns="0">
            <a:spAutoFit/>
          </a:bodyPr>
          <a:lstStyle/>
          <a:p>
            <a:pPr>
              <a:spcAft>
                <a:spcPts val="600"/>
              </a:spcAft>
              <a:defRPr sz="1105" b="0">
                <a:solidFill>
                  <a:srgbClr val="111111"/>
                </a:solidFill>
                <a:latin typeface="Arial"/>
              </a:defRPr>
            </a:pPr>
            <a:r>
              <a:t>O</a:t>
            </a:r>
          </a:p>
        </p:txBody>
      </p:sp>
      <p:cxnSp>
        <p:nvCxnSpPr>
          <p:cNvPr id="38" name="Connector 37"/>
          <p:cNvCxnSpPr/>
          <p:nvPr/>
        </p:nvCxnSpPr>
        <p:spPr>
          <a:xfrm>
            <a:off x="2019680" y="4253788"/>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9" name="Connector 38"/>
          <p:cNvCxnSpPr/>
          <p:nvPr/>
        </p:nvCxnSpPr>
        <p:spPr>
          <a:xfrm>
            <a:off x="2058543" y="4253788"/>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0" name="TextBox 39"/>
          <p:cNvSpPr txBox="1"/>
          <p:nvPr/>
        </p:nvSpPr>
        <p:spPr>
          <a:xfrm>
            <a:off x="1953615" y="4440326"/>
            <a:ext cx="233172" cy="194310"/>
          </a:xfrm>
          <a:prstGeom prst="rect">
            <a:avLst/>
          </a:prstGeom>
          <a:noFill/>
          <a:effectLst/>
        </p:spPr>
        <p:txBody>
          <a:bodyPr wrap="square" lIns="22860" rIns="22860" tIns="0" bIns="0">
            <a:spAutoFit/>
          </a:bodyPr>
          <a:lstStyle/>
          <a:p>
            <a:pPr>
              <a:spcAft>
                <a:spcPts val="600"/>
              </a:spcAft>
              <a:defRPr sz="1105" b="0">
                <a:solidFill>
                  <a:srgbClr val="111111"/>
                </a:solidFill>
                <a:latin typeface="Arial"/>
              </a:defRPr>
            </a:pPr>
            <a:r>
              <a:t>O</a:t>
            </a:r>
          </a:p>
        </p:txBody>
      </p:sp>
      <p:cxnSp>
        <p:nvCxnSpPr>
          <p:cNvPr id="41" name="Connector 40"/>
          <p:cNvCxnSpPr/>
          <p:nvPr/>
        </p:nvCxnSpPr>
        <p:spPr>
          <a:xfrm flipH="1" flipV="1">
            <a:off x="1175299" y="3748582"/>
            <a:ext cx="217627" cy="132131"/>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42" name="Connector 41"/>
          <p:cNvCxnSpPr/>
          <p:nvPr/>
        </p:nvCxnSpPr>
        <p:spPr>
          <a:xfrm flipH="1">
            <a:off x="957672" y="3748582"/>
            <a:ext cx="217627" cy="132131"/>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704088" y="4736592"/>
            <a:ext cx="2743200" cy="438912"/>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2-EAQ：文献示例</a:t>
            </a:r>
          </a:p>
          <a:p>
            <a:pPr algn="ctr">
              <a:spcAft>
                <a:spcPts val="600"/>
              </a:spcAft>
              <a:defRPr sz="1200" b="0">
                <a:solidFill>
                  <a:srgbClr val="566273"/>
                </a:solidFill>
                <a:latin typeface="Microsoft YaHei"/>
              </a:defRPr>
            </a:pPr>
            <a:r>
              <a:t>本实验取代位号待核实</a:t>
            </a:r>
          </a:p>
        </p:txBody>
      </p:sp>
      <p:sp>
        <p:nvSpPr>
          <p:cNvPr id="44" name="TextBox 43"/>
          <p:cNvSpPr txBox="1"/>
          <p:nvPr/>
        </p:nvSpPr>
        <p:spPr>
          <a:xfrm>
            <a:off x="786384" y="5349240"/>
            <a:ext cx="2542032" cy="347472"/>
          </a:xfrm>
          <a:prstGeom prst="rect">
            <a:avLst/>
          </a:prstGeom>
          <a:noFill/>
          <a:effectLst/>
        </p:spPr>
        <p:txBody>
          <a:bodyPr wrap="square" lIns="22860" rIns="22860" tIns="0" bIns="0">
            <a:spAutoFit/>
          </a:bodyPr>
          <a:lstStyle/>
          <a:p>
            <a:pPr algn="ctr">
              <a:spcAft>
                <a:spcPts val="600"/>
              </a:spcAft>
              <a:defRPr sz="1400" b="1">
                <a:solidFill>
                  <a:srgbClr val="063584"/>
                </a:solidFill>
                <a:latin typeface="Microsoft YaHei"/>
              </a:defRPr>
            </a:pPr>
            <a:r>
              <a:t>取代基与介质影响光化学行为</a:t>
            </a:r>
          </a:p>
        </p:txBody>
      </p:sp>
      <p:sp>
        <p:nvSpPr>
          <p:cNvPr id="45" name="Rounded Rectangle 44"/>
          <p:cNvSpPr/>
          <p:nvPr/>
        </p:nvSpPr>
        <p:spPr>
          <a:xfrm>
            <a:off x="3886200" y="1417320"/>
            <a:ext cx="3822191"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ounded Rectangle 45"/>
          <p:cNvSpPr/>
          <p:nvPr/>
        </p:nvSpPr>
        <p:spPr>
          <a:xfrm>
            <a:off x="3913632" y="1444752"/>
            <a:ext cx="3767328"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4032504" y="1495044"/>
            <a:ext cx="3529584"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反应入口：吸光、ISC 与转移</a:t>
            </a:r>
          </a:p>
        </p:txBody>
      </p:sp>
      <p:sp>
        <p:nvSpPr>
          <p:cNvPr id="48" name="TextBox 47"/>
          <p:cNvSpPr txBox="1"/>
          <p:nvPr/>
        </p:nvSpPr>
        <p:spPr>
          <a:xfrm>
            <a:off x="4709160" y="1965960"/>
            <a:ext cx="2157984" cy="338328"/>
          </a:xfrm>
          <a:prstGeom prst="rect">
            <a:avLst/>
          </a:prstGeom>
          <a:noFill/>
          <a:effectLst/>
        </p:spPr>
        <p:txBody>
          <a:bodyPr wrap="square" lIns="22860" rIns="22860" tIns="0" bIns="0">
            <a:spAutoFit/>
          </a:bodyPr>
          <a:lstStyle/>
          <a:p>
            <a:pPr algn="ctr">
              <a:spcAft>
                <a:spcPts val="600"/>
              </a:spcAft>
              <a:defRPr sz="2500" b="1">
                <a:solidFill>
                  <a:srgbClr val="063584"/>
                </a:solidFill>
                <a:latin typeface="Microsoft YaHei"/>
              </a:defRPr>
            </a:pPr>
            <a:r>
              <a:t>AQ</a:t>
            </a:r>
          </a:p>
        </p:txBody>
      </p:sp>
      <p:cxnSp>
        <p:nvCxnSpPr>
          <p:cNvPr id="49" name="Connector 48"/>
          <p:cNvCxnSpPr/>
          <p:nvPr/>
        </p:nvCxnSpPr>
        <p:spPr>
          <a:xfrm>
            <a:off x="5788152" y="2350008"/>
            <a:ext cx="0" cy="219456"/>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50" name="TextBox 49"/>
          <p:cNvSpPr txBox="1"/>
          <p:nvPr/>
        </p:nvSpPr>
        <p:spPr>
          <a:xfrm>
            <a:off x="4709160" y="2642615"/>
            <a:ext cx="2157984" cy="338328"/>
          </a:xfrm>
          <a:prstGeom prst="rect">
            <a:avLst/>
          </a:prstGeom>
          <a:noFill/>
          <a:effectLst/>
        </p:spPr>
        <p:txBody>
          <a:bodyPr wrap="square" lIns="22860" rIns="22860" tIns="0" bIns="0">
            <a:spAutoFit/>
          </a:bodyPr>
          <a:lstStyle/>
          <a:p>
            <a:pPr algn="ctr">
              <a:spcAft>
                <a:spcPts val="600"/>
              </a:spcAft>
              <a:defRPr sz="2500" b="1">
                <a:solidFill>
                  <a:srgbClr val="111111"/>
                </a:solidFill>
                <a:latin typeface="Microsoft YaHei"/>
              </a:defRPr>
            </a:pPr>
            <a:r>
              <a:t>¹AQ*</a:t>
            </a:r>
          </a:p>
        </p:txBody>
      </p:sp>
      <p:cxnSp>
        <p:nvCxnSpPr>
          <p:cNvPr id="51" name="Connector 50"/>
          <p:cNvCxnSpPr/>
          <p:nvPr/>
        </p:nvCxnSpPr>
        <p:spPr>
          <a:xfrm>
            <a:off x="5788152" y="3026663"/>
            <a:ext cx="0" cy="219457"/>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52" name="TextBox 51"/>
          <p:cNvSpPr txBox="1"/>
          <p:nvPr/>
        </p:nvSpPr>
        <p:spPr>
          <a:xfrm>
            <a:off x="4709160" y="3319272"/>
            <a:ext cx="2157984" cy="338328"/>
          </a:xfrm>
          <a:prstGeom prst="rect">
            <a:avLst/>
          </a:prstGeom>
          <a:noFill/>
          <a:effectLst/>
        </p:spPr>
        <p:txBody>
          <a:bodyPr wrap="square" lIns="22860" rIns="22860" tIns="0" bIns="0">
            <a:spAutoFit/>
          </a:bodyPr>
          <a:lstStyle/>
          <a:p>
            <a:pPr algn="ctr">
              <a:spcAft>
                <a:spcPts val="600"/>
              </a:spcAft>
              <a:defRPr sz="2500" b="1">
                <a:solidFill>
                  <a:srgbClr val="111111"/>
                </a:solidFill>
                <a:latin typeface="Microsoft YaHei"/>
              </a:defRPr>
            </a:pPr>
            <a:r>
              <a:t>³AQ*</a:t>
            </a:r>
          </a:p>
        </p:txBody>
      </p:sp>
      <p:sp>
        <p:nvSpPr>
          <p:cNvPr id="53" name="TextBox 52"/>
          <p:cNvSpPr txBox="1"/>
          <p:nvPr/>
        </p:nvSpPr>
        <p:spPr>
          <a:xfrm>
            <a:off x="6126480" y="2377440"/>
            <a:ext cx="1097280" cy="246888"/>
          </a:xfrm>
          <a:prstGeom prst="rect">
            <a:avLst/>
          </a:prstGeom>
          <a:noFill/>
          <a:effectLst/>
        </p:spPr>
        <p:txBody>
          <a:bodyPr wrap="square" lIns="22860" rIns="22860" tIns="0" bIns="0">
            <a:spAutoFit/>
          </a:bodyPr>
          <a:lstStyle/>
          <a:p>
            <a:pPr>
              <a:spcAft>
                <a:spcPts val="600"/>
              </a:spcAft>
              <a:defRPr sz="1500" b="0">
                <a:solidFill>
                  <a:srgbClr val="063584"/>
                </a:solidFill>
                <a:latin typeface="Microsoft YaHei"/>
              </a:defRPr>
            </a:pPr>
            <a:r>
              <a:t>hν</a:t>
            </a:r>
          </a:p>
        </p:txBody>
      </p:sp>
      <p:sp>
        <p:nvSpPr>
          <p:cNvPr id="54" name="TextBox 53"/>
          <p:cNvSpPr txBox="1"/>
          <p:nvPr/>
        </p:nvSpPr>
        <p:spPr>
          <a:xfrm>
            <a:off x="6126480" y="3054096"/>
            <a:ext cx="1097280" cy="246888"/>
          </a:xfrm>
          <a:prstGeom prst="rect">
            <a:avLst/>
          </a:prstGeom>
          <a:noFill/>
          <a:effectLst/>
        </p:spPr>
        <p:txBody>
          <a:bodyPr wrap="square" lIns="22860" rIns="22860" tIns="0" bIns="0">
            <a:spAutoFit/>
          </a:bodyPr>
          <a:lstStyle/>
          <a:p>
            <a:pPr>
              <a:spcAft>
                <a:spcPts val="600"/>
              </a:spcAft>
              <a:defRPr sz="1500" b="0">
                <a:solidFill>
                  <a:srgbClr val="063584"/>
                </a:solidFill>
                <a:latin typeface="Microsoft YaHei"/>
              </a:defRPr>
            </a:pPr>
            <a:r>
              <a:t>ISC</a:t>
            </a:r>
          </a:p>
        </p:txBody>
      </p:sp>
      <p:sp>
        <p:nvSpPr>
          <p:cNvPr id="55" name="TextBox 54"/>
          <p:cNvSpPr txBox="1"/>
          <p:nvPr/>
        </p:nvSpPr>
        <p:spPr>
          <a:xfrm>
            <a:off x="4197096" y="4206240"/>
            <a:ext cx="3200400" cy="621792"/>
          </a:xfrm>
          <a:prstGeom prst="rect">
            <a:avLst/>
          </a:prstGeom>
          <a:noFill/>
          <a:effectLst/>
        </p:spPr>
        <p:txBody>
          <a:bodyPr wrap="square" lIns="22860" rIns="22860" tIns="0" bIns="0">
            <a:spAutoFit/>
          </a:bodyPr>
          <a:lstStyle/>
          <a:p>
            <a:pPr algn="ctr">
              <a:spcAft>
                <a:spcPts val="600"/>
              </a:spcAft>
              <a:defRPr sz="1700" b="1">
                <a:solidFill>
                  <a:srgbClr val="111111"/>
                </a:solidFill>
                <a:latin typeface="Microsoft YaHei"/>
              </a:defRPr>
            </a:pPr>
            <a:r>
              <a:t>HAT / ET → 还原态 AQ</a:t>
            </a:r>
          </a:p>
          <a:p>
            <a:pPr algn="ctr">
              <a:spcAft>
                <a:spcPts val="600"/>
              </a:spcAft>
              <a:defRPr sz="1700" b="1">
                <a:solidFill>
                  <a:srgbClr val="111111"/>
                </a:solidFill>
                <a:latin typeface="Microsoft YaHei"/>
              </a:defRPr>
            </a:pPr>
            <a:r>
              <a:t>与 O₂ 反应 → 再生 / ROS 路径</a:t>
            </a:r>
          </a:p>
        </p:txBody>
      </p:sp>
      <p:sp>
        <p:nvSpPr>
          <p:cNvPr id="56" name="TextBox 55"/>
          <p:cNvSpPr txBox="1"/>
          <p:nvPr/>
        </p:nvSpPr>
        <p:spPr>
          <a:xfrm>
            <a:off x="4169663" y="5093208"/>
            <a:ext cx="3255264" cy="393192"/>
          </a:xfrm>
          <a:prstGeom prst="rect">
            <a:avLst/>
          </a:prstGeom>
          <a:noFill/>
          <a:effectLst/>
        </p:spPr>
        <p:txBody>
          <a:bodyPr wrap="square" lIns="22860" rIns="22860" tIns="0" bIns="0">
            <a:spAutoFit/>
          </a:bodyPr>
          <a:lstStyle/>
          <a:p>
            <a:pPr algn="ctr">
              <a:spcAft>
                <a:spcPts val="600"/>
              </a:spcAft>
              <a:defRPr sz="1250" b="0">
                <a:solidFill>
                  <a:srgbClr val="566273"/>
                </a:solidFill>
                <a:latin typeface="Microsoft YaHei"/>
              </a:defRPr>
            </a:pPr>
            <a:r>
              <a:t>365 nm 下的实际吸收、供氢体</a:t>
            </a:r>
          </a:p>
          <a:p>
            <a:pPr algn="ctr">
              <a:spcAft>
                <a:spcPts val="600"/>
              </a:spcAft>
              <a:defRPr sz="1250" b="0">
                <a:solidFill>
                  <a:srgbClr val="566273"/>
                </a:solidFill>
                <a:latin typeface="Microsoft YaHei"/>
              </a:defRPr>
            </a:pPr>
            <a:r>
              <a:t>与氧相关物种均需测量。</a:t>
            </a:r>
          </a:p>
        </p:txBody>
      </p:sp>
      <p:sp>
        <p:nvSpPr>
          <p:cNvPr id="57" name="Rounded Rectangle 56"/>
          <p:cNvSpPr/>
          <p:nvPr/>
        </p:nvSpPr>
        <p:spPr>
          <a:xfrm>
            <a:off x="7918704" y="1417320"/>
            <a:ext cx="3721608"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ounded Rectangle 57"/>
          <p:cNvSpPr/>
          <p:nvPr/>
        </p:nvSpPr>
        <p:spPr>
          <a:xfrm>
            <a:off x="7946136" y="1444752"/>
            <a:ext cx="366674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8065008" y="1495044"/>
            <a:ext cx="3429000"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支持范围与本体系缺口</a:t>
            </a:r>
          </a:p>
        </p:txBody>
      </p:sp>
      <p:sp>
        <p:nvSpPr>
          <p:cNvPr id="60" name="Oval 59"/>
          <p:cNvSpPr/>
          <p:nvPr/>
        </p:nvSpPr>
        <p:spPr>
          <a:xfrm>
            <a:off x="8165592" y="1965960"/>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TextBox 60"/>
          <p:cNvSpPr txBox="1"/>
          <p:nvPr/>
        </p:nvSpPr>
        <p:spPr>
          <a:xfrm>
            <a:off x="8170164" y="1975103"/>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62" name="TextBox 61"/>
          <p:cNvSpPr txBox="1"/>
          <p:nvPr/>
        </p:nvSpPr>
        <p:spPr>
          <a:xfrm>
            <a:off x="8513064" y="1965960"/>
            <a:ext cx="2898648"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综述的一般依据</a:t>
            </a:r>
          </a:p>
        </p:txBody>
      </p:sp>
      <p:sp>
        <p:nvSpPr>
          <p:cNvPr id="63" name="TextBox 62"/>
          <p:cNvSpPr txBox="1"/>
          <p:nvPr/>
        </p:nvSpPr>
        <p:spPr>
          <a:xfrm>
            <a:off x="8513064" y="2331720"/>
            <a:ext cx="2898648"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激发态、HAT / ET、</a:t>
            </a:r>
          </a:p>
          <a:p>
            <a:pPr>
              <a:spcAft>
                <a:spcPts val="600"/>
              </a:spcAft>
              <a:defRPr sz="1450" b="0">
                <a:solidFill>
                  <a:srgbClr val="111111"/>
                </a:solidFill>
                <a:latin typeface="Microsoft YaHei"/>
              </a:defRPr>
            </a:pPr>
            <a:r>
              <a:t>氧相关过程及再生。</a:t>
            </a:r>
          </a:p>
        </p:txBody>
      </p:sp>
      <p:sp>
        <p:nvSpPr>
          <p:cNvPr id="64" name="Oval 63"/>
          <p:cNvSpPr/>
          <p:nvPr/>
        </p:nvSpPr>
        <p:spPr>
          <a:xfrm>
            <a:off x="8165592" y="3218688"/>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8170164" y="3227832"/>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66" name="TextBox 65"/>
          <p:cNvSpPr txBox="1"/>
          <p:nvPr/>
        </p:nvSpPr>
        <p:spPr>
          <a:xfrm>
            <a:off x="8513064" y="3218688"/>
            <a:ext cx="2898648"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原始研究线索</a:t>
            </a:r>
          </a:p>
        </p:txBody>
      </p:sp>
      <p:sp>
        <p:nvSpPr>
          <p:cNvPr id="67" name="TextBox 66"/>
          <p:cNvSpPr txBox="1"/>
          <p:nvPr/>
        </p:nvSpPr>
        <p:spPr>
          <a:xfrm>
            <a:off x="8513064" y="3584448"/>
            <a:ext cx="2898648"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2-EAQ 光还原与 H₂O₂</a:t>
            </a:r>
          </a:p>
          <a:p>
            <a:pPr>
              <a:spcAft>
                <a:spcPts val="600"/>
              </a:spcAft>
              <a:defRPr sz="1450" b="0">
                <a:solidFill>
                  <a:srgbClr val="111111"/>
                </a:solidFill>
                <a:latin typeface="Microsoft YaHei"/>
              </a:defRPr>
            </a:pPr>
            <a:r>
              <a:t>生成；仅据二次引文。</a:t>
            </a:r>
          </a:p>
        </p:txBody>
      </p:sp>
      <p:sp>
        <p:nvSpPr>
          <p:cNvPr id="68" name="Oval 67"/>
          <p:cNvSpPr/>
          <p:nvPr/>
        </p:nvSpPr>
        <p:spPr>
          <a:xfrm>
            <a:off x="8165592" y="4498848"/>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8170164" y="4507992"/>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70" name="TextBox 69"/>
          <p:cNvSpPr txBox="1"/>
          <p:nvPr/>
        </p:nvSpPr>
        <p:spPr>
          <a:xfrm>
            <a:off x="8513064" y="4498848"/>
            <a:ext cx="2898648"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本课题需补证</a:t>
            </a:r>
          </a:p>
        </p:txBody>
      </p:sp>
      <p:sp>
        <p:nvSpPr>
          <p:cNvPr id="71" name="TextBox 70"/>
          <p:cNvSpPr txBox="1"/>
          <p:nvPr/>
        </p:nvSpPr>
        <p:spPr>
          <a:xfrm>
            <a:off x="8513064" y="4864608"/>
            <a:ext cx="2898648"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EAQ 吸光与稳定性；</a:t>
            </a:r>
          </a:p>
          <a:p>
            <a:pPr>
              <a:spcAft>
                <a:spcPts val="600"/>
              </a:spcAft>
              <a:defRPr sz="1450" b="0">
                <a:solidFill>
                  <a:srgbClr val="111111"/>
                </a:solidFill>
                <a:latin typeface="Microsoft YaHei"/>
              </a:defRPr>
            </a:pPr>
            <a:r>
              <a:t>不直接推定释放 Cl·。</a:t>
            </a:r>
          </a:p>
        </p:txBody>
      </p:sp>
      <p:sp>
        <p:nvSpPr>
          <p:cNvPr id="72" name="Rectangle 71"/>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Chevron 72"/>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75" name="TextBox 74"/>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AQ 的作用定位为待检验的光敏入口；C–X 活化与 Cl· 释放不能作为已证实催化步骤。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理论可行性：聚合物文献提供介质参与和链长变化证据</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以下为文献结果，条件与本课题不同；数值据正文报告，不与模型底物转化率混用</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Su et al., Angew. Chem. Int. Ed. 2026, e5578835. Qin et al., Appl. Catal. B: Environ. 2024, 341, 123355.</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7</a:t>
            </a:r>
          </a:p>
        </p:txBody>
      </p:sp>
      <p:sp>
        <p:nvSpPr>
          <p:cNvPr id="7" name="Rounded Rectangle 6"/>
          <p:cNvSpPr/>
          <p:nvPr/>
        </p:nvSpPr>
        <p:spPr>
          <a:xfrm>
            <a:off x="438912" y="1417320"/>
            <a:ext cx="5596128"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554126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5303520"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案例一：PS / CH₂Cl₂，无外加光催化剂</a:t>
            </a:r>
          </a:p>
        </p:txBody>
      </p:sp>
      <p:sp>
        <p:nvSpPr>
          <p:cNvPr id="10" name="Freeform 9"/>
          <p:cNvSpPr/>
          <p:nvPr/>
        </p:nvSpPr>
        <p:spPr>
          <a:xfrm>
            <a:off x="905256" y="2039112"/>
            <a:ext cx="2633472" cy="155448"/>
          </a:xfrm>
          <a:custGeom>
            <a:avLst/>
            <a:gdLst/>
            <a:ahLst/>
            <a:cxnLst/>
            <a:rect l="l" t="t" r="r" b="b"/>
            <a:pathLst>
              <a:path w="2633472" h="155448">
                <a:moveTo>
                  <a:pt x="0" y="0"/>
                </a:moveTo>
                <a:lnTo>
                  <a:pt x="438912" y="155448"/>
                </a:lnTo>
                <a:lnTo>
                  <a:pt x="877824" y="0"/>
                </a:lnTo>
                <a:lnTo>
                  <a:pt x="1316735" y="155448"/>
                </a:lnTo>
                <a:lnTo>
                  <a:pt x="1755648" y="0"/>
                </a:lnTo>
                <a:lnTo>
                  <a:pt x="2194559" y="155448"/>
                </a:lnTo>
                <a:lnTo>
                  <a:pt x="2633472"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58368" y="2011680"/>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12" name="TextBox 11"/>
          <p:cNvSpPr txBox="1"/>
          <p:nvPr/>
        </p:nvSpPr>
        <p:spPr>
          <a:xfrm>
            <a:off x="3584448" y="2011680"/>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cxnSp>
        <p:nvCxnSpPr>
          <p:cNvPr id="13" name="Connector 12"/>
          <p:cNvCxnSpPr/>
          <p:nvPr/>
        </p:nvCxnSpPr>
        <p:spPr>
          <a:xfrm>
            <a:off x="1344168" y="219456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4" name="Freeform 13"/>
          <p:cNvSpPr/>
          <p:nvPr/>
        </p:nvSpPr>
        <p:spPr>
          <a:xfrm>
            <a:off x="1169951" y="2423160"/>
            <a:ext cx="348433" cy="402336"/>
          </a:xfrm>
          <a:custGeom>
            <a:avLst/>
            <a:gdLst/>
            <a:ahLst/>
            <a:cxnLst/>
            <a:rect l="l" t="t" r="r" b="b"/>
            <a:pathLst>
              <a:path w="348433" h="402336">
                <a:moveTo>
                  <a:pt x="174217" y="0"/>
                </a:moveTo>
                <a:lnTo>
                  <a:pt x="348433" y="100584"/>
                </a:lnTo>
                <a:lnTo>
                  <a:pt x="348433" y="301752"/>
                </a:lnTo>
                <a:lnTo>
                  <a:pt x="174217" y="402336"/>
                </a:lnTo>
                <a:lnTo>
                  <a:pt x="0" y="301752"/>
                </a:lnTo>
                <a:lnTo>
                  <a:pt x="0" y="100584"/>
                </a:lnTo>
                <a:lnTo>
                  <a:pt x="174217"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1344168" y="2479487"/>
            <a:ext cx="125435"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flipH="1">
            <a:off x="1344168" y="2696748"/>
            <a:ext cx="125435"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flipV="1">
            <a:off x="1218732" y="2551907"/>
            <a:ext cx="0" cy="144841"/>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a:off x="2221991" y="219456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9" name="Freeform 18"/>
          <p:cNvSpPr/>
          <p:nvPr/>
        </p:nvSpPr>
        <p:spPr>
          <a:xfrm>
            <a:off x="2047775" y="2423160"/>
            <a:ext cx="348433" cy="402336"/>
          </a:xfrm>
          <a:custGeom>
            <a:avLst/>
            <a:gdLst/>
            <a:ahLst/>
            <a:cxnLst/>
            <a:rect l="l" t="t" r="r" b="b"/>
            <a:pathLst>
              <a:path w="348433" h="402336">
                <a:moveTo>
                  <a:pt x="174216" y="0"/>
                </a:moveTo>
                <a:lnTo>
                  <a:pt x="348433" y="100584"/>
                </a:lnTo>
                <a:lnTo>
                  <a:pt x="348433" y="301752"/>
                </a:lnTo>
                <a:lnTo>
                  <a:pt x="174216" y="402336"/>
                </a:lnTo>
                <a:lnTo>
                  <a:pt x="0" y="301752"/>
                </a:lnTo>
                <a:lnTo>
                  <a:pt x="0" y="100584"/>
                </a:lnTo>
                <a:lnTo>
                  <a:pt x="17421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 name="Connector 19"/>
          <p:cNvCxnSpPr/>
          <p:nvPr/>
        </p:nvCxnSpPr>
        <p:spPr>
          <a:xfrm>
            <a:off x="2221991" y="2479487"/>
            <a:ext cx="125436"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flipH="1">
            <a:off x="2221991" y="2696748"/>
            <a:ext cx="125436"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V="1">
            <a:off x="2096556" y="2551907"/>
            <a:ext cx="0" cy="144841"/>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3099815" y="219456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4" name="Freeform 23"/>
          <p:cNvSpPr/>
          <p:nvPr/>
        </p:nvSpPr>
        <p:spPr>
          <a:xfrm>
            <a:off x="2925599" y="2423160"/>
            <a:ext cx="348433" cy="402336"/>
          </a:xfrm>
          <a:custGeom>
            <a:avLst/>
            <a:gdLst/>
            <a:ahLst/>
            <a:cxnLst/>
            <a:rect l="l" t="t" r="r" b="b"/>
            <a:pathLst>
              <a:path w="348433" h="402336">
                <a:moveTo>
                  <a:pt x="174216" y="0"/>
                </a:moveTo>
                <a:lnTo>
                  <a:pt x="348433" y="100584"/>
                </a:lnTo>
                <a:lnTo>
                  <a:pt x="348433" y="301752"/>
                </a:lnTo>
                <a:lnTo>
                  <a:pt x="174216" y="402336"/>
                </a:lnTo>
                <a:lnTo>
                  <a:pt x="0" y="301752"/>
                </a:lnTo>
                <a:lnTo>
                  <a:pt x="0" y="100584"/>
                </a:lnTo>
                <a:lnTo>
                  <a:pt x="17421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5" name="Connector 24"/>
          <p:cNvCxnSpPr/>
          <p:nvPr/>
        </p:nvCxnSpPr>
        <p:spPr>
          <a:xfrm>
            <a:off x="3099815" y="2479487"/>
            <a:ext cx="125436"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flipH="1">
            <a:off x="3099815" y="2696748"/>
            <a:ext cx="125436"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flipV="1">
            <a:off x="2974380" y="2551907"/>
            <a:ext cx="0" cy="144841"/>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4105656" y="2112264"/>
            <a:ext cx="1554480" cy="640080"/>
          </a:xfrm>
          <a:prstGeom prst="rect">
            <a:avLst/>
          </a:prstGeom>
          <a:noFill/>
          <a:effectLst/>
        </p:spPr>
        <p:txBody>
          <a:bodyPr wrap="square" lIns="22860" rIns="22860" tIns="0" bIns="0">
            <a:spAutoFit/>
          </a:bodyPr>
          <a:lstStyle/>
          <a:p>
            <a:pPr>
              <a:spcAft>
                <a:spcPts val="600"/>
              </a:spcAft>
              <a:defRPr sz="1300" b="1">
                <a:solidFill>
                  <a:srgbClr val="063584"/>
                </a:solidFill>
                <a:latin typeface="Microsoft YaHei"/>
              </a:defRPr>
            </a:pPr>
            <a:r>
              <a:t>365 nm</a:t>
            </a:r>
          </a:p>
          <a:p>
            <a:pPr>
              <a:spcAft>
                <a:spcPts val="600"/>
              </a:spcAft>
              <a:defRPr sz="1300" b="1">
                <a:solidFill>
                  <a:srgbClr val="063584"/>
                </a:solidFill>
                <a:latin typeface="Microsoft YaHei"/>
              </a:defRPr>
            </a:pPr>
            <a:r>
              <a:t>O₂，30 ± 5 ℃</a:t>
            </a:r>
          </a:p>
        </p:txBody>
      </p:sp>
      <p:cxnSp>
        <p:nvCxnSpPr>
          <p:cNvPr id="29" name="Connector 28"/>
          <p:cNvCxnSpPr/>
          <p:nvPr/>
        </p:nvCxnSpPr>
        <p:spPr>
          <a:xfrm>
            <a:off x="2331720" y="2980944"/>
            <a:ext cx="0" cy="283464"/>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841248" y="3438144"/>
            <a:ext cx="4773168" cy="32004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含氧中间体 → C₆–C₈ 芳香族产物</a:t>
            </a:r>
          </a:p>
        </p:txBody>
      </p:sp>
      <p:sp>
        <p:nvSpPr>
          <p:cNvPr id="31" name="Rounded Rectangle 30"/>
          <p:cNvSpPr/>
          <p:nvPr/>
        </p:nvSpPr>
        <p:spPr>
          <a:xfrm>
            <a:off x="722376" y="4005072"/>
            <a:ext cx="237744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822960" y="4096511"/>
            <a:ext cx="2176272"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Mn：75.1 → 1.2</a:t>
            </a:r>
          </a:p>
        </p:txBody>
      </p:sp>
      <p:sp>
        <p:nvSpPr>
          <p:cNvPr id="33" name="TextBox 32"/>
          <p:cNvSpPr txBox="1"/>
          <p:nvPr/>
        </p:nvSpPr>
        <p:spPr>
          <a:xfrm>
            <a:off x="822960" y="4425696"/>
            <a:ext cx="2176272"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kDa；正文 GPC 报告</a:t>
            </a:r>
          </a:p>
        </p:txBody>
      </p:sp>
      <p:sp>
        <p:nvSpPr>
          <p:cNvPr id="34" name="Rounded Rectangle 33"/>
          <p:cNvSpPr/>
          <p:nvPr/>
        </p:nvSpPr>
        <p:spPr>
          <a:xfrm>
            <a:off x="3310128" y="4005072"/>
            <a:ext cx="237744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3410712" y="4096511"/>
            <a:ext cx="2176272"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Mw：208.4 → 1.3</a:t>
            </a:r>
          </a:p>
        </p:txBody>
      </p:sp>
      <p:sp>
        <p:nvSpPr>
          <p:cNvPr id="36" name="TextBox 35"/>
          <p:cNvSpPr txBox="1"/>
          <p:nvPr/>
        </p:nvSpPr>
        <p:spPr>
          <a:xfrm>
            <a:off x="3410712" y="4425696"/>
            <a:ext cx="2176272"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kDa；正文 GPC 报告</a:t>
            </a:r>
          </a:p>
        </p:txBody>
      </p:sp>
      <p:sp>
        <p:nvSpPr>
          <p:cNvPr id="37" name="TextBox 36"/>
          <p:cNvSpPr txBox="1"/>
          <p:nvPr/>
        </p:nvSpPr>
        <p:spPr>
          <a:xfrm>
            <a:off x="786384" y="5001768"/>
            <a:ext cx="4873752" cy="521207"/>
          </a:xfrm>
          <a:prstGeom prst="rect">
            <a:avLst/>
          </a:prstGeom>
          <a:noFill/>
          <a:effectLst/>
        </p:spPr>
        <p:txBody>
          <a:bodyPr wrap="square" lIns="22860" rIns="22860" tIns="0" bIns="0">
            <a:spAutoFit/>
          </a:bodyPr>
          <a:lstStyle/>
          <a:p>
            <a:pPr>
              <a:spcAft>
                <a:spcPts val="600"/>
              </a:spcAft>
              <a:defRPr sz="1400" b="1">
                <a:solidFill>
                  <a:srgbClr val="063584"/>
                </a:solidFill>
                <a:latin typeface="Microsoft YaHei"/>
              </a:defRPr>
            </a:pPr>
            <a:r>
              <a:t>Cl· 依据：PBN 自旋捕获及 EPR 模拟归属。</a:t>
            </a:r>
          </a:p>
          <a:p>
            <a:pPr>
              <a:spcAft>
                <a:spcPts val="600"/>
              </a:spcAft>
              <a:defRPr sz="1400" b="1">
                <a:solidFill>
                  <a:srgbClr val="063584"/>
                </a:solidFill>
                <a:latin typeface="Microsoft YaHei"/>
              </a:defRPr>
            </a:pPr>
            <a:r>
              <a:t>限制：CH₂Cl₂ ≠ DCE；PS ≠ PVC。</a:t>
            </a:r>
          </a:p>
        </p:txBody>
      </p:sp>
      <p:sp>
        <p:nvSpPr>
          <p:cNvPr id="38" name="Rounded Rectangle 37"/>
          <p:cNvSpPr/>
          <p:nvPr/>
        </p:nvSpPr>
        <p:spPr>
          <a:xfrm>
            <a:off x="6254496" y="1417320"/>
            <a:ext cx="5385816"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ounded Rectangle 38"/>
          <p:cNvSpPr/>
          <p:nvPr/>
        </p:nvSpPr>
        <p:spPr>
          <a:xfrm>
            <a:off x="6281928" y="1444752"/>
            <a:ext cx="533095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6400800" y="1495044"/>
            <a:ext cx="509320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案例二：PVC / CDs–Zr-MOF 水相光催化</a:t>
            </a:r>
          </a:p>
        </p:txBody>
      </p:sp>
      <p:sp>
        <p:nvSpPr>
          <p:cNvPr id="41" name="Freeform 40"/>
          <p:cNvSpPr/>
          <p:nvPr/>
        </p:nvSpPr>
        <p:spPr>
          <a:xfrm>
            <a:off x="6793992" y="2039112"/>
            <a:ext cx="2121408" cy="146304"/>
          </a:xfrm>
          <a:custGeom>
            <a:avLst/>
            <a:gdLst/>
            <a:ahLst/>
            <a:cxnLst/>
            <a:rect l="l" t="t" r="r" b="b"/>
            <a:pathLst>
              <a:path w="2121408" h="146304">
                <a:moveTo>
                  <a:pt x="0" y="0"/>
                </a:moveTo>
                <a:lnTo>
                  <a:pt x="530352" y="146304"/>
                </a:lnTo>
                <a:lnTo>
                  <a:pt x="1060704" y="0"/>
                </a:lnTo>
                <a:lnTo>
                  <a:pt x="1591056" y="146304"/>
                </a:lnTo>
                <a:lnTo>
                  <a:pt x="2121408"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2" name="Connector 41"/>
          <p:cNvCxnSpPr/>
          <p:nvPr/>
        </p:nvCxnSpPr>
        <p:spPr>
          <a:xfrm>
            <a:off x="7324344" y="218541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7196328" y="258775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44" name="Connector 43"/>
          <p:cNvCxnSpPr/>
          <p:nvPr/>
        </p:nvCxnSpPr>
        <p:spPr>
          <a:xfrm>
            <a:off x="8385048" y="218541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5" name="TextBox 44"/>
          <p:cNvSpPr txBox="1"/>
          <p:nvPr/>
        </p:nvSpPr>
        <p:spPr>
          <a:xfrm>
            <a:off x="8257031" y="258775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46" name="TextBox 45"/>
          <p:cNvSpPr txBox="1"/>
          <p:nvPr/>
        </p:nvSpPr>
        <p:spPr>
          <a:xfrm>
            <a:off x="6547104" y="2011680"/>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47" name="TextBox 46"/>
          <p:cNvSpPr txBox="1"/>
          <p:nvPr/>
        </p:nvSpPr>
        <p:spPr>
          <a:xfrm>
            <a:off x="8961120" y="2011680"/>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48" name="TextBox 47"/>
          <p:cNvSpPr txBox="1"/>
          <p:nvPr/>
        </p:nvSpPr>
        <p:spPr>
          <a:xfrm>
            <a:off x="9409176" y="2112264"/>
            <a:ext cx="1837943" cy="603504"/>
          </a:xfrm>
          <a:prstGeom prst="rect">
            <a:avLst/>
          </a:prstGeom>
          <a:noFill/>
          <a:effectLst/>
        </p:spPr>
        <p:txBody>
          <a:bodyPr wrap="square" lIns="22860" rIns="22860" tIns="0" bIns="0">
            <a:spAutoFit/>
          </a:bodyPr>
          <a:lstStyle/>
          <a:p>
            <a:pPr>
              <a:spcAft>
                <a:spcPts val="600"/>
              </a:spcAft>
              <a:defRPr sz="1300" b="1">
                <a:solidFill>
                  <a:srgbClr val="063584"/>
                </a:solidFill>
                <a:latin typeface="Microsoft YaHei"/>
              </a:defRPr>
            </a:pPr>
            <a:r>
              <a:t>300 W Xe</a:t>
            </a:r>
          </a:p>
          <a:p>
            <a:pPr>
              <a:spcAft>
                <a:spcPts val="600"/>
              </a:spcAft>
              <a:defRPr sz="1300" b="1">
                <a:solidFill>
                  <a:srgbClr val="063584"/>
                </a:solidFill>
                <a:latin typeface="Microsoft YaHei"/>
              </a:defRPr>
            </a:pPr>
            <a:r>
              <a:t>水相复合催化剂</a:t>
            </a:r>
          </a:p>
        </p:txBody>
      </p:sp>
      <p:cxnSp>
        <p:nvCxnSpPr>
          <p:cNvPr id="49" name="Connector 48"/>
          <p:cNvCxnSpPr/>
          <p:nvPr/>
        </p:nvCxnSpPr>
        <p:spPr>
          <a:xfrm>
            <a:off x="8577072" y="2880360"/>
            <a:ext cx="0" cy="32004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50" name="TextBox 49"/>
          <p:cNvSpPr txBox="1"/>
          <p:nvPr/>
        </p:nvSpPr>
        <p:spPr>
          <a:xfrm>
            <a:off x="6601968" y="3410712"/>
            <a:ext cx="4690872" cy="36576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氯释放 + 活性物种 + 聚合物 / 产物</a:t>
            </a:r>
          </a:p>
        </p:txBody>
      </p:sp>
      <p:sp>
        <p:nvSpPr>
          <p:cNvPr id="51" name="Rounded Rectangle 50"/>
          <p:cNvSpPr/>
          <p:nvPr/>
        </p:nvSpPr>
        <p:spPr>
          <a:xfrm>
            <a:off x="6547104" y="4005072"/>
            <a:ext cx="228600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6647688" y="4096511"/>
            <a:ext cx="2084831"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约 76.5% 转化</a:t>
            </a:r>
          </a:p>
        </p:txBody>
      </p:sp>
      <p:sp>
        <p:nvSpPr>
          <p:cNvPr id="53" name="TextBox 52"/>
          <p:cNvSpPr txBox="1"/>
          <p:nvPr/>
        </p:nvSpPr>
        <p:spPr>
          <a:xfrm>
            <a:off x="6647688" y="4425696"/>
            <a:ext cx="2084831"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原文所定义指标</a:t>
            </a:r>
          </a:p>
        </p:txBody>
      </p:sp>
      <p:sp>
        <p:nvSpPr>
          <p:cNvPr id="54" name="Rounded Rectangle 53"/>
          <p:cNvSpPr/>
          <p:nvPr/>
        </p:nvSpPr>
        <p:spPr>
          <a:xfrm>
            <a:off x="9043416" y="4005072"/>
            <a:ext cx="228600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144000" y="4096511"/>
            <a:ext cx="2084831"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约 14% 乙酸收率</a:t>
            </a:r>
          </a:p>
        </p:txBody>
      </p:sp>
      <p:sp>
        <p:nvSpPr>
          <p:cNvPr id="56" name="TextBox 55"/>
          <p:cNvSpPr txBox="1"/>
          <p:nvPr/>
        </p:nvSpPr>
        <p:spPr>
          <a:xfrm>
            <a:off x="9144000" y="4425696"/>
            <a:ext cx="2084831"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原文所定义指标</a:t>
            </a:r>
          </a:p>
        </p:txBody>
      </p:sp>
      <p:sp>
        <p:nvSpPr>
          <p:cNvPr id="57" name="TextBox 56"/>
          <p:cNvSpPr txBox="1"/>
          <p:nvPr/>
        </p:nvSpPr>
        <p:spPr>
          <a:xfrm>
            <a:off x="6583680" y="5001768"/>
            <a:ext cx="4681728" cy="566928"/>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前处理：正文 PVC 100 ℃、2 h。</a:t>
            </a:r>
          </a:p>
          <a:p>
            <a:pPr>
              <a:spcAft>
                <a:spcPts val="600"/>
              </a:spcAft>
              <a:defRPr sz="1350" b="1">
                <a:solidFill>
                  <a:srgbClr val="063584"/>
                </a:solidFill>
                <a:latin typeface="Microsoft YaHei"/>
              </a:defRPr>
            </a:pPr>
            <a:r>
              <a:t>GPC 曲线位于未取得的 SI；不是 EAQ/DCE。</a:t>
            </a:r>
          </a:p>
        </p:txBody>
      </p:sp>
      <p:sp>
        <p:nvSpPr>
          <p:cNvPr id="58" name="Rectangle 57"/>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Chevron 58"/>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文献启发</a:t>
            </a:r>
          </a:p>
        </p:txBody>
      </p:sp>
      <p:sp>
        <p:nvSpPr>
          <p:cNvPr id="61" name="TextBox 60"/>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可迁移的是“物种—氯—链长—产物”证据组合，而非完整照搬另一体系机理。</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科学问题：区分光敏组分、含氯介质与 PVC 自身的贡献</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核心不是预设 Cl· 唯一主导，而是判定活性来源及其与碳链变化的关联</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Xu et al., Nat. Rev. Methods Primers 2023, 3, 44. Huang &amp; Wang, J. Polym. Sci. 2024, 62, 969–997. Chen et al., Environ. Sci. Ecotechnol. 2024, 22, 100449.</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8</a:t>
            </a:r>
          </a:p>
        </p:txBody>
      </p:sp>
      <p:sp>
        <p:nvSpPr>
          <p:cNvPr id="7" name="Rounded Rectangle 6"/>
          <p:cNvSpPr/>
          <p:nvPr/>
        </p:nvSpPr>
        <p:spPr>
          <a:xfrm>
            <a:off x="438912" y="1417320"/>
            <a:ext cx="7406640" cy="2743200"/>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7351775"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7114031"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三类参与者与可独立检验的作用</a:t>
            </a:r>
          </a:p>
        </p:txBody>
      </p:sp>
      <p:sp>
        <p:nvSpPr>
          <p:cNvPr id="10" name="TextBox 9"/>
          <p:cNvSpPr txBox="1"/>
          <p:nvPr/>
        </p:nvSpPr>
        <p:spPr>
          <a:xfrm>
            <a:off x="658368" y="1975104"/>
            <a:ext cx="2075688" cy="320040"/>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EAQ 激发态</a:t>
            </a:r>
          </a:p>
        </p:txBody>
      </p:sp>
      <p:sp>
        <p:nvSpPr>
          <p:cNvPr id="11" name="TextBox 10"/>
          <p:cNvSpPr txBox="1"/>
          <p:nvPr/>
        </p:nvSpPr>
        <p:spPr>
          <a:xfrm>
            <a:off x="658368" y="2532888"/>
            <a:ext cx="2075688" cy="566928"/>
          </a:xfrm>
          <a:prstGeom prst="rect">
            <a:avLst/>
          </a:prstGeom>
          <a:noFill/>
          <a:effectLst/>
        </p:spPr>
        <p:txBody>
          <a:bodyPr wrap="square" lIns="22860" rIns="22860" tIns="0" bIns="0">
            <a:spAutoFit/>
          </a:bodyPr>
          <a:lstStyle/>
          <a:p>
            <a:pPr>
              <a:spcAft>
                <a:spcPts val="600"/>
              </a:spcAft>
              <a:defRPr sz="1500" b="0">
                <a:solidFill>
                  <a:srgbClr val="111111"/>
                </a:solidFill>
                <a:latin typeface="Microsoft YaHei"/>
              </a:defRPr>
            </a:pPr>
            <a:r>
              <a:t>HAT / ET / 氧相关过程</a:t>
            </a:r>
          </a:p>
        </p:txBody>
      </p:sp>
      <p:sp>
        <p:nvSpPr>
          <p:cNvPr id="12" name="TextBox 11"/>
          <p:cNvSpPr txBox="1"/>
          <p:nvPr/>
        </p:nvSpPr>
        <p:spPr>
          <a:xfrm>
            <a:off x="658368" y="3328416"/>
            <a:ext cx="2075688" cy="38404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吸光与稳定性对照</a:t>
            </a:r>
          </a:p>
        </p:txBody>
      </p:sp>
      <p:sp>
        <p:nvSpPr>
          <p:cNvPr id="13" name="TextBox 12"/>
          <p:cNvSpPr txBox="1"/>
          <p:nvPr/>
        </p:nvSpPr>
        <p:spPr>
          <a:xfrm>
            <a:off x="2990087" y="1975104"/>
            <a:ext cx="2075688" cy="320040"/>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DCE 介质</a:t>
            </a:r>
          </a:p>
        </p:txBody>
      </p:sp>
      <p:sp>
        <p:nvSpPr>
          <p:cNvPr id="14" name="TextBox 13"/>
          <p:cNvSpPr txBox="1"/>
          <p:nvPr/>
        </p:nvSpPr>
        <p:spPr>
          <a:xfrm>
            <a:off x="2990087" y="2532888"/>
            <a:ext cx="2075688" cy="566928"/>
          </a:xfrm>
          <a:prstGeom prst="rect">
            <a:avLst/>
          </a:prstGeom>
          <a:noFill/>
          <a:effectLst/>
        </p:spPr>
        <p:txBody>
          <a:bodyPr wrap="square" lIns="22860" rIns="22860" tIns="0" bIns="0">
            <a:spAutoFit/>
          </a:bodyPr>
          <a:lstStyle/>
          <a:p>
            <a:pPr>
              <a:spcAft>
                <a:spcPts val="600"/>
              </a:spcAft>
              <a:defRPr sz="1500" b="0">
                <a:solidFill>
                  <a:srgbClr val="111111"/>
                </a:solidFill>
                <a:latin typeface="Microsoft YaHei"/>
              </a:defRPr>
            </a:pPr>
            <a:r>
              <a:t>竞争供氢 / 背景转化</a:t>
            </a:r>
          </a:p>
        </p:txBody>
      </p:sp>
      <p:sp>
        <p:nvSpPr>
          <p:cNvPr id="15" name="TextBox 14"/>
          <p:cNvSpPr txBox="1"/>
          <p:nvPr/>
        </p:nvSpPr>
        <p:spPr>
          <a:xfrm>
            <a:off x="2990087" y="3328416"/>
            <a:ext cx="2075688" cy="38404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无底物溶剂空白</a:t>
            </a:r>
          </a:p>
        </p:txBody>
      </p:sp>
      <p:sp>
        <p:nvSpPr>
          <p:cNvPr id="16" name="TextBox 15"/>
          <p:cNvSpPr txBox="1"/>
          <p:nvPr/>
        </p:nvSpPr>
        <p:spPr>
          <a:xfrm>
            <a:off x="5321807" y="1975104"/>
            <a:ext cx="2075688" cy="320040"/>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PVC 含氯位点</a:t>
            </a:r>
          </a:p>
        </p:txBody>
      </p:sp>
      <p:sp>
        <p:nvSpPr>
          <p:cNvPr id="17" name="TextBox 16"/>
          <p:cNvSpPr txBox="1"/>
          <p:nvPr/>
        </p:nvSpPr>
        <p:spPr>
          <a:xfrm>
            <a:off x="5321807" y="2532888"/>
            <a:ext cx="2075688" cy="566928"/>
          </a:xfrm>
          <a:prstGeom prst="rect">
            <a:avLst/>
          </a:prstGeom>
          <a:noFill/>
          <a:effectLst/>
        </p:spPr>
        <p:txBody>
          <a:bodyPr wrap="square" lIns="22860" rIns="22860" tIns="0" bIns="0">
            <a:spAutoFit/>
          </a:bodyPr>
          <a:lstStyle/>
          <a:p>
            <a:pPr>
              <a:spcAft>
                <a:spcPts val="600"/>
              </a:spcAft>
              <a:defRPr sz="1500" b="0">
                <a:solidFill>
                  <a:srgbClr val="111111"/>
                </a:solidFill>
                <a:latin typeface="Microsoft YaHei"/>
              </a:defRPr>
            </a:pPr>
            <a:r>
              <a:t>脱氯 / 氧化 / 交联 / 裂解</a:t>
            </a:r>
          </a:p>
        </p:txBody>
      </p:sp>
      <p:sp>
        <p:nvSpPr>
          <p:cNvPr id="18" name="TextBox 17"/>
          <p:cNvSpPr txBox="1"/>
          <p:nvPr/>
        </p:nvSpPr>
        <p:spPr>
          <a:xfrm>
            <a:off x="5321807" y="3328416"/>
            <a:ext cx="2075688" cy="38404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氯平衡与链长证据</a:t>
            </a:r>
          </a:p>
        </p:txBody>
      </p:sp>
      <p:sp>
        <p:nvSpPr>
          <p:cNvPr id="19" name="Rounded Rectangle 18"/>
          <p:cNvSpPr/>
          <p:nvPr/>
        </p:nvSpPr>
        <p:spPr>
          <a:xfrm>
            <a:off x="8055864" y="1417320"/>
            <a:ext cx="3584448" cy="274320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8083296" y="1444752"/>
            <a:ext cx="352958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02168" y="1495044"/>
            <a:ext cx="3291839"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必须区分的化学命题</a:t>
            </a:r>
          </a:p>
        </p:txBody>
      </p:sp>
      <p:sp>
        <p:nvSpPr>
          <p:cNvPr id="22" name="TextBox 21"/>
          <p:cNvSpPr txBox="1"/>
          <p:nvPr/>
        </p:nvSpPr>
        <p:spPr>
          <a:xfrm>
            <a:off x="8266175" y="1965960"/>
            <a:ext cx="3154680" cy="1700784"/>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脱氯 ≠ 游离 Cl·</a:t>
            </a:r>
          </a:p>
          <a:p>
            <a:pPr>
              <a:spcAft>
                <a:spcPts val="600"/>
              </a:spcAft>
              <a:defRPr sz="1800" b="1">
                <a:solidFill>
                  <a:srgbClr val="063584"/>
                </a:solidFill>
                <a:latin typeface="Microsoft YaHei"/>
              </a:defRPr>
            </a:pPr>
            <a:r>
              <a:t>C–Cl 变化 ≠ C–C 断裂</a:t>
            </a:r>
          </a:p>
          <a:p>
            <a:pPr>
              <a:spcAft>
                <a:spcPts val="600"/>
              </a:spcAft>
              <a:defRPr sz="1800" b="1">
                <a:solidFill>
                  <a:srgbClr val="063584"/>
                </a:solidFill>
                <a:latin typeface="Microsoft YaHei"/>
              </a:defRPr>
            </a:pPr>
            <a:r>
              <a:t>含氧结构 ≠ 分子量下降</a:t>
            </a:r>
          </a:p>
          <a:p>
            <a:pPr>
              <a:spcAft>
                <a:spcPts val="600"/>
              </a:spcAft>
              <a:defRPr sz="1800" b="1">
                <a:solidFill>
                  <a:srgbClr val="063584"/>
                </a:solidFill>
                <a:latin typeface="Microsoft YaHei"/>
              </a:defRPr>
            </a:pPr>
            <a:r>
              <a:t>模型转化 ≠ PVC 降解</a:t>
            </a:r>
          </a:p>
        </p:txBody>
      </p:sp>
      <p:sp>
        <p:nvSpPr>
          <p:cNvPr id="23" name="Rounded Rectangle 22"/>
          <p:cNvSpPr/>
          <p:nvPr/>
        </p:nvSpPr>
        <p:spPr>
          <a:xfrm>
            <a:off x="438912" y="4361688"/>
            <a:ext cx="11201400" cy="138074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unded Rectangle 23"/>
          <p:cNvSpPr/>
          <p:nvPr/>
        </p:nvSpPr>
        <p:spPr>
          <a:xfrm>
            <a:off x="466344" y="4389120"/>
            <a:ext cx="111465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585216" y="4439412"/>
            <a:ext cx="109087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模型的价值与边界</a:t>
            </a:r>
          </a:p>
        </p:txBody>
      </p:sp>
      <p:sp>
        <p:nvSpPr>
          <p:cNvPr id="26" name="TextBox 25"/>
          <p:cNvSpPr txBox="1"/>
          <p:nvPr/>
        </p:nvSpPr>
        <p:spPr>
          <a:xfrm>
            <a:off x="749808" y="4937760"/>
            <a:ext cx="4764024" cy="411480"/>
          </a:xfrm>
          <a:prstGeom prst="rect">
            <a:avLst/>
          </a:prstGeom>
          <a:noFill/>
          <a:effectLst/>
        </p:spPr>
        <p:txBody>
          <a:bodyPr wrap="square" lIns="22860" rIns="22860" tIns="0" bIns="0">
            <a:spAutoFit/>
          </a:bodyPr>
          <a:lstStyle/>
          <a:p>
            <a:pPr>
              <a:spcAft>
                <a:spcPts val="600"/>
              </a:spcAft>
              <a:defRPr sz="1700" b="1">
                <a:solidFill>
                  <a:srgbClr val="111111"/>
                </a:solidFill>
                <a:latin typeface="Microsoft YaHei"/>
              </a:defRPr>
            </a:pPr>
            <a:r>
              <a:t>2-氯戊烷：局部 C–Cl / C–H，产物易解析</a:t>
            </a:r>
          </a:p>
        </p:txBody>
      </p:sp>
      <p:sp>
        <p:nvSpPr>
          <p:cNvPr id="27" name="TextBox 26"/>
          <p:cNvSpPr txBox="1"/>
          <p:nvPr/>
        </p:nvSpPr>
        <p:spPr>
          <a:xfrm>
            <a:off x="5870448" y="4937760"/>
            <a:ext cx="5394960" cy="411480"/>
          </a:xfrm>
          <a:prstGeom prst="rect">
            <a:avLst/>
          </a:prstGeom>
          <a:noFill/>
          <a:effectLst/>
        </p:spPr>
        <p:txBody>
          <a:bodyPr wrap="square" lIns="22860" rIns="22860" tIns="0" bIns="0">
            <a:spAutoFit/>
          </a:bodyPr>
          <a:lstStyle/>
          <a:p>
            <a:pPr>
              <a:spcAft>
                <a:spcPts val="600"/>
              </a:spcAft>
              <a:defRPr sz="1700" b="1">
                <a:solidFill>
                  <a:srgbClr val="111111"/>
                </a:solidFill>
                <a:latin typeface="Microsoft YaHei"/>
              </a:defRPr>
            </a:pPr>
            <a:r>
              <a:t>PVC：连续位点、缺陷、溶胀与 O₂ 扩散</a:t>
            </a:r>
          </a:p>
        </p:txBody>
      </p:sp>
      <p:sp>
        <p:nvSpPr>
          <p:cNvPr id="28" name="Rectangle 27"/>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Chevron 28"/>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1" name="TextBox 30"/>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用简单模型拆解局部化学，再以聚合物的独立测量检验主链变化。</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研究策略：以可解析的局部反应逐级连接到 PVC 转化</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每一级增加结构复杂度，并保留相同的产物与物料判据</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Huang &amp; Wang, J. Polym. Sci. 2024, 62, 969–997.</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9</a:t>
            </a:r>
          </a:p>
        </p:txBody>
      </p:sp>
      <p:sp>
        <p:nvSpPr>
          <p:cNvPr id="7" name="Rounded Rectangle 6"/>
          <p:cNvSpPr/>
          <p:nvPr/>
        </p:nvSpPr>
        <p:spPr>
          <a:xfrm>
            <a:off x="438912" y="1499616"/>
            <a:ext cx="2606040" cy="285292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527048"/>
            <a:ext cx="25511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577339"/>
            <a:ext cx="23134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EAQ 光化学体系</a:t>
            </a:r>
          </a:p>
        </p:txBody>
      </p:sp>
      <p:sp>
        <p:nvSpPr>
          <p:cNvPr id="10" name="Oval 9"/>
          <p:cNvSpPr/>
          <p:nvPr/>
        </p:nvSpPr>
        <p:spPr>
          <a:xfrm>
            <a:off x="603503" y="2121408"/>
            <a:ext cx="310896" cy="31089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08075" y="2130551"/>
            <a:ext cx="301752" cy="301752"/>
          </a:xfrm>
          <a:prstGeom prst="rect">
            <a:avLst/>
          </a:prstGeom>
          <a:noFill/>
          <a:effectLst/>
        </p:spPr>
        <p:txBody>
          <a:bodyPr wrap="square" lIns="22860" rIns="22860" tIns="0" bIns="0">
            <a:spAutoFit/>
          </a:bodyPr>
          <a:lstStyle/>
          <a:p>
            <a:pPr algn="ctr">
              <a:spcAft>
                <a:spcPts val="600"/>
              </a:spcAft>
              <a:defRPr sz="1500" b="1">
                <a:solidFill>
                  <a:srgbClr val="FFFFFF"/>
                </a:solidFill>
                <a:latin typeface="Microsoft YaHei"/>
              </a:defRPr>
            </a:pPr>
            <a:r>
              <a:t>1</a:t>
            </a:r>
          </a:p>
        </p:txBody>
      </p:sp>
      <p:sp>
        <p:nvSpPr>
          <p:cNvPr id="12" name="TextBox 11"/>
          <p:cNvSpPr txBox="1"/>
          <p:nvPr/>
        </p:nvSpPr>
        <p:spPr>
          <a:xfrm>
            <a:off x="1033271" y="2148840"/>
            <a:ext cx="1828800" cy="65836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吸光、光敏增益与稳定性</a:t>
            </a:r>
          </a:p>
        </p:txBody>
      </p:sp>
      <p:sp>
        <p:nvSpPr>
          <p:cNvPr id="13" name="TextBox 12"/>
          <p:cNvSpPr txBox="1"/>
          <p:nvPr/>
        </p:nvSpPr>
        <p:spPr>
          <a:xfrm>
            <a:off x="603503" y="3246120"/>
            <a:ext cx="2276856" cy="310896"/>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阶段输出</a:t>
            </a:r>
          </a:p>
        </p:txBody>
      </p:sp>
      <p:sp>
        <p:nvSpPr>
          <p:cNvPr id="14" name="TextBox 13"/>
          <p:cNvSpPr txBox="1"/>
          <p:nvPr/>
        </p:nvSpPr>
        <p:spPr>
          <a:xfrm>
            <a:off x="603503" y="3703320"/>
            <a:ext cx="2276856" cy="402336"/>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有效启动条件</a:t>
            </a:r>
          </a:p>
        </p:txBody>
      </p:sp>
      <p:cxnSp>
        <p:nvCxnSpPr>
          <p:cNvPr id="15" name="Connector 14"/>
          <p:cNvCxnSpPr/>
          <p:nvPr/>
        </p:nvCxnSpPr>
        <p:spPr>
          <a:xfrm>
            <a:off x="3063240" y="2834640"/>
            <a:ext cx="173736" cy="0"/>
          </a:xfrm>
          <a:prstGeom prst="line">
            <a:avLst/>
          </a:prstGeom>
          <a:ln w="1905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6" name="Rounded Rectangle 15"/>
          <p:cNvSpPr/>
          <p:nvPr/>
        </p:nvSpPr>
        <p:spPr>
          <a:xfrm>
            <a:off x="3264408" y="1499616"/>
            <a:ext cx="2606040" cy="285292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3291839" y="1527048"/>
            <a:ext cx="25511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3410711" y="1577339"/>
            <a:ext cx="23134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氯代烷烃模型</a:t>
            </a:r>
          </a:p>
        </p:txBody>
      </p:sp>
      <p:sp>
        <p:nvSpPr>
          <p:cNvPr id="19" name="Oval 18"/>
          <p:cNvSpPr/>
          <p:nvPr/>
        </p:nvSpPr>
        <p:spPr>
          <a:xfrm>
            <a:off x="3429000" y="2121408"/>
            <a:ext cx="310896" cy="31089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3433572" y="2130551"/>
            <a:ext cx="301752" cy="301752"/>
          </a:xfrm>
          <a:prstGeom prst="rect">
            <a:avLst/>
          </a:prstGeom>
          <a:noFill/>
          <a:effectLst/>
        </p:spPr>
        <p:txBody>
          <a:bodyPr wrap="square" lIns="22860" rIns="22860" tIns="0" bIns="0">
            <a:spAutoFit/>
          </a:bodyPr>
          <a:lstStyle/>
          <a:p>
            <a:pPr algn="ctr">
              <a:spcAft>
                <a:spcPts val="600"/>
              </a:spcAft>
              <a:defRPr sz="1500" b="1">
                <a:solidFill>
                  <a:srgbClr val="FFFFFF"/>
                </a:solidFill>
                <a:latin typeface="Microsoft YaHei"/>
              </a:defRPr>
            </a:pPr>
            <a:r>
              <a:t>2</a:t>
            </a:r>
          </a:p>
        </p:txBody>
      </p:sp>
      <p:sp>
        <p:nvSpPr>
          <p:cNvPr id="21" name="TextBox 20"/>
          <p:cNvSpPr txBox="1"/>
          <p:nvPr/>
        </p:nvSpPr>
        <p:spPr>
          <a:xfrm>
            <a:off x="3858768" y="2148840"/>
            <a:ext cx="1828800" cy="65836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局部 C–Cl / C–H 反应</a:t>
            </a:r>
          </a:p>
        </p:txBody>
      </p:sp>
      <p:sp>
        <p:nvSpPr>
          <p:cNvPr id="22" name="TextBox 21"/>
          <p:cNvSpPr txBox="1"/>
          <p:nvPr/>
        </p:nvSpPr>
        <p:spPr>
          <a:xfrm>
            <a:off x="3429000" y="3246120"/>
            <a:ext cx="2276856" cy="310896"/>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阶段输出</a:t>
            </a:r>
          </a:p>
        </p:txBody>
      </p:sp>
      <p:sp>
        <p:nvSpPr>
          <p:cNvPr id="23" name="TextBox 22"/>
          <p:cNvSpPr txBox="1"/>
          <p:nvPr/>
        </p:nvSpPr>
        <p:spPr>
          <a:xfrm>
            <a:off x="3429000" y="3703320"/>
            <a:ext cx="2276856" cy="402336"/>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产物确证与定量</a:t>
            </a:r>
          </a:p>
        </p:txBody>
      </p:sp>
      <p:cxnSp>
        <p:nvCxnSpPr>
          <p:cNvPr id="24" name="Connector 23"/>
          <p:cNvCxnSpPr/>
          <p:nvPr/>
        </p:nvCxnSpPr>
        <p:spPr>
          <a:xfrm>
            <a:off x="5888736" y="2834640"/>
            <a:ext cx="173736" cy="0"/>
          </a:xfrm>
          <a:prstGeom prst="line">
            <a:avLst/>
          </a:prstGeom>
          <a:ln w="1905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5" name="Rounded Rectangle 24"/>
          <p:cNvSpPr/>
          <p:nvPr/>
        </p:nvSpPr>
        <p:spPr>
          <a:xfrm>
            <a:off x="6089904" y="1499616"/>
            <a:ext cx="2606040" cy="285292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ounded Rectangle 25"/>
          <p:cNvSpPr/>
          <p:nvPr/>
        </p:nvSpPr>
        <p:spPr>
          <a:xfrm>
            <a:off x="6117336" y="1527048"/>
            <a:ext cx="25511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236208" y="1577339"/>
            <a:ext cx="23134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复杂含氯底物</a:t>
            </a:r>
          </a:p>
        </p:txBody>
      </p:sp>
      <p:sp>
        <p:nvSpPr>
          <p:cNvPr id="28" name="Oval 27"/>
          <p:cNvSpPr/>
          <p:nvPr/>
        </p:nvSpPr>
        <p:spPr>
          <a:xfrm>
            <a:off x="6254496" y="2121408"/>
            <a:ext cx="310896" cy="31089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259068" y="2130551"/>
            <a:ext cx="301752" cy="301752"/>
          </a:xfrm>
          <a:prstGeom prst="rect">
            <a:avLst/>
          </a:prstGeom>
          <a:noFill/>
          <a:effectLst/>
        </p:spPr>
        <p:txBody>
          <a:bodyPr wrap="square" lIns="22860" rIns="22860" tIns="0" bIns="0">
            <a:spAutoFit/>
          </a:bodyPr>
          <a:lstStyle/>
          <a:p>
            <a:pPr algn="ctr">
              <a:spcAft>
                <a:spcPts val="600"/>
              </a:spcAft>
              <a:defRPr sz="1500" b="1">
                <a:solidFill>
                  <a:srgbClr val="FFFFFF"/>
                </a:solidFill>
                <a:latin typeface="Microsoft YaHei"/>
              </a:defRPr>
            </a:pPr>
            <a:r>
              <a:t>3</a:t>
            </a:r>
          </a:p>
        </p:txBody>
      </p:sp>
      <p:sp>
        <p:nvSpPr>
          <p:cNvPr id="30" name="TextBox 29"/>
          <p:cNvSpPr txBox="1"/>
          <p:nvPr/>
        </p:nvSpPr>
        <p:spPr>
          <a:xfrm>
            <a:off x="6684264" y="2148840"/>
            <a:ext cx="1828800" cy="65836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氯代石蜡等连续位点</a:t>
            </a:r>
          </a:p>
        </p:txBody>
      </p:sp>
      <p:sp>
        <p:nvSpPr>
          <p:cNvPr id="31" name="TextBox 30"/>
          <p:cNvSpPr txBox="1"/>
          <p:nvPr/>
        </p:nvSpPr>
        <p:spPr>
          <a:xfrm>
            <a:off x="6254496" y="3246120"/>
            <a:ext cx="2276856" cy="310896"/>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阶段输出</a:t>
            </a:r>
          </a:p>
        </p:txBody>
      </p:sp>
      <p:sp>
        <p:nvSpPr>
          <p:cNvPr id="32" name="TextBox 31"/>
          <p:cNvSpPr txBox="1"/>
          <p:nvPr/>
        </p:nvSpPr>
        <p:spPr>
          <a:xfrm>
            <a:off x="6254496" y="3703320"/>
            <a:ext cx="2276856" cy="402336"/>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竞争反应与迁移范围</a:t>
            </a:r>
          </a:p>
        </p:txBody>
      </p:sp>
      <p:cxnSp>
        <p:nvCxnSpPr>
          <p:cNvPr id="33" name="Connector 32"/>
          <p:cNvCxnSpPr/>
          <p:nvPr/>
        </p:nvCxnSpPr>
        <p:spPr>
          <a:xfrm>
            <a:off x="8714232" y="2834640"/>
            <a:ext cx="173736" cy="0"/>
          </a:xfrm>
          <a:prstGeom prst="line">
            <a:avLst/>
          </a:prstGeom>
          <a:ln w="1905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4" name="Rounded Rectangle 33"/>
          <p:cNvSpPr/>
          <p:nvPr/>
        </p:nvSpPr>
        <p:spPr>
          <a:xfrm>
            <a:off x="8915400" y="1499616"/>
            <a:ext cx="2606040" cy="285292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ounded Rectangle 34"/>
          <p:cNvSpPr/>
          <p:nvPr/>
        </p:nvSpPr>
        <p:spPr>
          <a:xfrm>
            <a:off x="8942832" y="1527048"/>
            <a:ext cx="25511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9061704" y="1577339"/>
            <a:ext cx="23134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PVC 聚合物</a:t>
            </a:r>
          </a:p>
        </p:txBody>
      </p:sp>
      <p:sp>
        <p:nvSpPr>
          <p:cNvPr id="37" name="Oval 36"/>
          <p:cNvSpPr/>
          <p:nvPr/>
        </p:nvSpPr>
        <p:spPr>
          <a:xfrm>
            <a:off x="9079992" y="2121408"/>
            <a:ext cx="310896" cy="31089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9084564" y="2130551"/>
            <a:ext cx="301752" cy="301752"/>
          </a:xfrm>
          <a:prstGeom prst="rect">
            <a:avLst/>
          </a:prstGeom>
          <a:noFill/>
          <a:effectLst/>
        </p:spPr>
        <p:txBody>
          <a:bodyPr wrap="square" lIns="22860" rIns="22860" tIns="0" bIns="0">
            <a:spAutoFit/>
          </a:bodyPr>
          <a:lstStyle/>
          <a:p>
            <a:pPr algn="ctr">
              <a:spcAft>
                <a:spcPts val="600"/>
              </a:spcAft>
              <a:defRPr sz="1500" b="1">
                <a:solidFill>
                  <a:srgbClr val="FFFFFF"/>
                </a:solidFill>
                <a:latin typeface="Microsoft YaHei"/>
              </a:defRPr>
            </a:pPr>
            <a:r>
              <a:t>4</a:t>
            </a:r>
          </a:p>
        </p:txBody>
      </p:sp>
      <p:sp>
        <p:nvSpPr>
          <p:cNvPr id="39" name="TextBox 38"/>
          <p:cNvSpPr txBox="1"/>
          <p:nvPr/>
        </p:nvSpPr>
        <p:spPr>
          <a:xfrm>
            <a:off x="9509760" y="2148840"/>
            <a:ext cx="1828800" cy="65836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结构、相态与传质</a:t>
            </a:r>
          </a:p>
        </p:txBody>
      </p:sp>
      <p:sp>
        <p:nvSpPr>
          <p:cNvPr id="40" name="TextBox 39"/>
          <p:cNvSpPr txBox="1"/>
          <p:nvPr/>
        </p:nvSpPr>
        <p:spPr>
          <a:xfrm>
            <a:off x="9079992" y="3246120"/>
            <a:ext cx="2276856" cy="310896"/>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阶段输出</a:t>
            </a:r>
          </a:p>
        </p:txBody>
      </p:sp>
      <p:sp>
        <p:nvSpPr>
          <p:cNvPr id="41" name="TextBox 40"/>
          <p:cNvSpPr txBox="1"/>
          <p:nvPr/>
        </p:nvSpPr>
        <p:spPr>
          <a:xfrm>
            <a:off x="9079992" y="3703320"/>
            <a:ext cx="2276856" cy="402336"/>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氯与链长联合结果</a:t>
            </a:r>
          </a:p>
        </p:txBody>
      </p:sp>
      <p:sp>
        <p:nvSpPr>
          <p:cNvPr id="42" name="Rounded Rectangle 41"/>
          <p:cNvSpPr/>
          <p:nvPr/>
        </p:nvSpPr>
        <p:spPr>
          <a:xfrm>
            <a:off x="438912" y="4553712"/>
            <a:ext cx="11201400" cy="119786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ounded Rectangle 42"/>
          <p:cNvSpPr/>
          <p:nvPr/>
        </p:nvSpPr>
        <p:spPr>
          <a:xfrm>
            <a:off x="466344" y="4581144"/>
            <a:ext cx="111465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85216" y="4631436"/>
            <a:ext cx="109087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贯穿所有底物的分析主线</a:t>
            </a:r>
          </a:p>
        </p:txBody>
      </p:sp>
      <p:sp>
        <p:nvSpPr>
          <p:cNvPr id="45" name="TextBox 44"/>
          <p:cNvSpPr txBox="1"/>
          <p:nvPr/>
        </p:nvSpPr>
        <p:spPr>
          <a:xfrm>
            <a:off x="713232" y="5129784"/>
            <a:ext cx="2496312" cy="365760"/>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真实产物与回收率</a:t>
            </a:r>
          </a:p>
        </p:txBody>
      </p:sp>
      <p:sp>
        <p:nvSpPr>
          <p:cNvPr id="46" name="TextBox 45"/>
          <p:cNvSpPr txBox="1"/>
          <p:nvPr/>
        </p:nvSpPr>
        <p:spPr>
          <a:xfrm>
            <a:off x="3456432" y="5129784"/>
            <a:ext cx="2496312" cy="365760"/>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可重复的定量</a:t>
            </a:r>
          </a:p>
        </p:txBody>
      </p:sp>
      <p:sp>
        <p:nvSpPr>
          <p:cNvPr id="47" name="TextBox 46"/>
          <p:cNvSpPr txBox="1"/>
          <p:nvPr/>
        </p:nvSpPr>
        <p:spPr>
          <a:xfrm>
            <a:off x="6199632" y="5129784"/>
            <a:ext cx="2496312" cy="365760"/>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自由基与氧的作用</a:t>
            </a:r>
          </a:p>
        </p:txBody>
      </p:sp>
      <p:sp>
        <p:nvSpPr>
          <p:cNvPr id="48" name="TextBox 47"/>
          <p:cNvSpPr txBox="1"/>
          <p:nvPr/>
        </p:nvSpPr>
        <p:spPr>
          <a:xfrm>
            <a:off x="8942832" y="5129784"/>
            <a:ext cx="2496312" cy="365760"/>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氯去向与链长变化</a:t>
            </a:r>
          </a:p>
        </p:txBody>
      </p:sp>
      <p:sp>
        <p:nvSpPr>
          <p:cNvPr id="49" name="Rectangle 48"/>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Chevron 49"/>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2" name="TextBox 51"/>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先把模型结果讲清楚，再推进 PVC；不以更高表观转化率替代分析可靠性。</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预想机理：AQ 攫氢再生与 PVC 自由基氧化耦合</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实线：一般文献过程；虚线：本体系合理推测；“?”：关键证据缺口。R· 表示碳中心自由基。</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Gardette et al., Macromolecules 1989, 22, 2576–2581. Chen et al., Environ. Sci. Ecotechnol. 2024, 22, 100449. Su et al., Angew. Chem. Int. Ed. 2026, e5578835.</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10</a:t>
            </a:r>
          </a:p>
        </p:txBody>
      </p:sp>
      <p:sp>
        <p:nvSpPr>
          <p:cNvPr id="7" name="Rounded Rectangle 6"/>
          <p:cNvSpPr/>
          <p:nvPr/>
        </p:nvSpPr>
        <p:spPr>
          <a:xfrm>
            <a:off x="438912" y="1417320"/>
            <a:ext cx="3136392"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081528"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2843784"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AQ 攫氢—再氧化小循环</a:t>
            </a:r>
          </a:p>
        </p:txBody>
      </p:sp>
      <p:sp>
        <p:nvSpPr>
          <p:cNvPr id="10" name="Rounded Rectangle 9"/>
          <p:cNvSpPr/>
          <p:nvPr/>
        </p:nvSpPr>
        <p:spPr>
          <a:xfrm>
            <a:off x="3767328" y="1417320"/>
            <a:ext cx="7872983"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3794760" y="1444752"/>
            <a:ext cx="7818119"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3913632" y="1495044"/>
            <a:ext cx="7580375"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PVC 活化—氧化—潜在链裂解（工作假说）</a:t>
            </a:r>
          </a:p>
        </p:txBody>
      </p:sp>
      <p:sp>
        <p:nvSpPr>
          <p:cNvPr id="13" name="Freeform 12"/>
          <p:cNvSpPr/>
          <p:nvPr/>
        </p:nvSpPr>
        <p:spPr>
          <a:xfrm>
            <a:off x="2333080" y="2454544"/>
            <a:ext cx="482577" cy="574752"/>
          </a:xfrm>
          <a:custGeom>
            <a:avLst/>
            <a:gdLst/>
            <a:ahLst/>
            <a:cxnLst/>
            <a:rect l="l" t="t" r="r" b="b"/>
            <a:pathLst>
              <a:path w="482577" h="574752">
                <a:moveTo>
                  <a:pt x="0" y="0"/>
                </a:moveTo>
                <a:lnTo>
                  <a:pt x="16469" y="7477"/>
                </a:lnTo>
                <a:lnTo>
                  <a:pt x="32768" y="15279"/>
                </a:lnTo>
                <a:lnTo>
                  <a:pt x="48891" y="23404"/>
                </a:lnTo>
                <a:lnTo>
                  <a:pt x="64830" y="31849"/>
                </a:lnTo>
                <a:lnTo>
                  <a:pt x="80578" y="40609"/>
                </a:lnTo>
                <a:lnTo>
                  <a:pt x="96128" y="49681"/>
                </a:lnTo>
                <a:lnTo>
                  <a:pt x="111474" y="59061"/>
                </a:lnTo>
                <a:lnTo>
                  <a:pt x="126608" y="68744"/>
                </a:lnTo>
                <a:lnTo>
                  <a:pt x="141523" y="78726"/>
                </a:lnTo>
                <a:lnTo>
                  <a:pt x="156214" y="89004"/>
                </a:lnTo>
                <a:lnTo>
                  <a:pt x="170674" y="99571"/>
                </a:lnTo>
                <a:lnTo>
                  <a:pt x="184896" y="110424"/>
                </a:lnTo>
                <a:lnTo>
                  <a:pt x="198874" y="121558"/>
                </a:lnTo>
                <a:lnTo>
                  <a:pt x="212602" y="132968"/>
                </a:lnTo>
                <a:lnTo>
                  <a:pt x="226073" y="144649"/>
                </a:lnTo>
                <a:lnTo>
                  <a:pt x="239283" y="156595"/>
                </a:lnTo>
                <a:lnTo>
                  <a:pt x="252224" y="168802"/>
                </a:lnTo>
                <a:lnTo>
                  <a:pt x="264892" y="181264"/>
                </a:lnTo>
                <a:lnTo>
                  <a:pt x="277280" y="193976"/>
                </a:lnTo>
                <a:lnTo>
                  <a:pt x="289384" y="206931"/>
                </a:lnTo>
                <a:lnTo>
                  <a:pt x="301197" y="220125"/>
                </a:lnTo>
                <a:lnTo>
                  <a:pt x="312716" y="233551"/>
                </a:lnTo>
                <a:lnTo>
                  <a:pt x="323933" y="247203"/>
                </a:lnTo>
                <a:lnTo>
                  <a:pt x="334845" y="261076"/>
                </a:lnTo>
                <a:lnTo>
                  <a:pt x="345447" y="275163"/>
                </a:lnTo>
                <a:lnTo>
                  <a:pt x="355734" y="289458"/>
                </a:lnTo>
                <a:lnTo>
                  <a:pt x="365702" y="303955"/>
                </a:lnTo>
                <a:lnTo>
                  <a:pt x="375346" y="318647"/>
                </a:lnTo>
                <a:lnTo>
                  <a:pt x="384661" y="333528"/>
                </a:lnTo>
                <a:lnTo>
                  <a:pt x="393644" y="348591"/>
                </a:lnTo>
                <a:lnTo>
                  <a:pt x="402291" y="363829"/>
                </a:lnTo>
                <a:lnTo>
                  <a:pt x="410598" y="379237"/>
                </a:lnTo>
                <a:lnTo>
                  <a:pt x="418562" y="394806"/>
                </a:lnTo>
                <a:lnTo>
                  <a:pt x="426178" y="410531"/>
                </a:lnTo>
                <a:lnTo>
                  <a:pt x="433443" y="426404"/>
                </a:lnTo>
                <a:lnTo>
                  <a:pt x="440355" y="442418"/>
                </a:lnTo>
                <a:lnTo>
                  <a:pt x="446909" y="458566"/>
                </a:lnTo>
                <a:lnTo>
                  <a:pt x="453104" y="474841"/>
                </a:lnTo>
                <a:lnTo>
                  <a:pt x="458937" y="491236"/>
                </a:lnTo>
                <a:lnTo>
                  <a:pt x="464404" y="507744"/>
                </a:lnTo>
                <a:lnTo>
                  <a:pt x="469504" y="524357"/>
                </a:lnTo>
                <a:lnTo>
                  <a:pt x="474234" y="541067"/>
                </a:lnTo>
                <a:lnTo>
                  <a:pt x="478592" y="557868"/>
                </a:lnTo>
                <a:lnTo>
                  <a:pt x="482577" y="574752"/>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Freeform 13"/>
          <p:cNvSpPr/>
          <p:nvPr/>
        </p:nvSpPr>
        <p:spPr>
          <a:xfrm>
            <a:off x="2319283" y="3441010"/>
            <a:ext cx="477399" cy="511201"/>
          </a:xfrm>
          <a:custGeom>
            <a:avLst/>
            <a:gdLst/>
            <a:ahLst/>
            <a:cxnLst/>
            <a:rect l="l" t="t" r="r" b="b"/>
            <a:pathLst>
              <a:path w="477399" h="511201">
                <a:moveTo>
                  <a:pt x="477399" y="0"/>
                </a:moveTo>
                <a:lnTo>
                  <a:pt x="472306" y="15250"/>
                </a:lnTo>
                <a:lnTo>
                  <a:pt x="466901" y="30404"/>
                </a:lnTo>
                <a:lnTo>
                  <a:pt x="461186" y="45455"/>
                </a:lnTo>
                <a:lnTo>
                  <a:pt x="455164" y="60398"/>
                </a:lnTo>
                <a:lnTo>
                  <a:pt x="448836" y="75227"/>
                </a:lnTo>
                <a:lnTo>
                  <a:pt x="442205" y="89937"/>
                </a:lnTo>
                <a:lnTo>
                  <a:pt x="435274" y="104523"/>
                </a:lnTo>
                <a:lnTo>
                  <a:pt x="428044" y="118977"/>
                </a:lnTo>
                <a:lnTo>
                  <a:pt x="420520" y="133296"/>
                </a:lnTo>
                <a:lnTo>
                  <a:pt x="412703" y="147474"/>
                </a:lnTo>
                <a:lnTo>
                  <a:pt x="404596" y="161505"/>
                </a:lnTo>
                <a:lnTo>
                  <a:pt x="396204" y="175384"/>
                </a:lnTo>
                <a:lnTo>
                  <a:pt x="387528" y="189107"/>
                </a:lnTo>
                <a:lnTo>
                  <a:pt x="378572" y="202666"/>
                </a:lnTo>
                <a:lnTo>
                  <a:pt x="369340" y="216059"/>
                </a:lnTo>
                <a:lnTo>
                  <a:pt x="359835" y="229278"/>
                </a:lnTo>
                <a:lnTo>
                  <a:pt x="350060" y="242321"/>
                </a:lnTo>
                <a:lnTo>
                  <a:pt x="340020" y="255180"/>
                </a:lnTo>
                <a:lnTo>
                  <a:pt x="329718" y="267853"/>
                </a:lnTo>
                <a:lnTo>
                  <a:pt x="319158" y="280333"/>
                </a:lnTo>
                <a:lnTo>
                  <a:pt x="308344" y="292617"/>
                </a:lnTo>
                <a:lnTo>
                  <a:pt x="297279" y="304699"/>
                </a:lnTo>
                <a:lnTo>
                  <a:pt x="285969" y="316576"/>
                </a:lnTo>
                <a:lnTo>
                  <a:pt x="274418" y="328241"/>
                </a:lnTo>
                <a:lnTo>
                  <a:pt x="262629" y="339692"/>
                </a:lnTo>
                <a:lnTo>
                  <a:pt x="250608" y="350924"/>
                </a:lnTo>
                <a:lnTo>
                  <a:pt x="238358" y="361932"/>
                </a:lnTo>
                <a:lnTo>
                  <a:pt x="225885" y="372712"/>
                </a:lnTo>
                <a:lnTo>
                  <a:pt x="213194" y="383261"/>
                </a:lnTo>
                <a:lnTo>
                  <a:pt x="200288" y="393574"/>
                </a:lnTo>
                <a:lnTo>
                  <a:pt x="187173" y="403648"/>
                </a:lnTo>
                <a:lnTo>
                  <a:pt x="173854" y="413478"/>
                </a:lnTo>
                <a:lnTo>
                  <a:pt x="160335" y="423061"/>
                </a:lnTo>
                <a:lnTo>
                  <a:pt x="146623" y="432394"/>
                </a:lnTo>
                <a:lnTo>
                  <a:pt x="132722" y="441472"/>
                </a:lnTo>
                <a:lnTo>
                  <a:pt x="118637" y="450292"/>
                </a:lnTo>
                <a:lnTo>
                  <a:pt x="104374" y="458852"/>
                </a:lnTo>
                <a:lnTo>
                  <a:pt x="89938" y="467147"/>
                </a:lnTo>
                <a:lnTo>
                  <a:pt x="75334" y="475175"/>
                </a:lnTo>
                <a:lnTo>
                  <a:pt x="60569" y="482932"/>
                </a:lnTo>
                <a:lnTo>
                  <a:pt x="45647" y="490416"/>
                </a:lnTo>
                <a:lnTo>
                  <a:pt x="30575" y="497624"/>
                </a:lnTo>
                <a:lnTo>
                  <a:pt x="15357" y="504553"/>
                </a:lnTo>
                <a:lnTo>
                  <a:pt x="0" y="511201"/>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Freeform 14"/>
          <p:cNvSpPr/>
          <p:nvPr/>
        </p:nvSpPr>
        <p:spPr>
          <a:xfrm>
            <a:off x="1097304" y="2442861"/>
            <a:ext cx="529235" cy="1484169"/>
          </a:xfrm>
          <a:custGeom>
            <a:avLst/>
            <a:gdLst/>
            <a:ahLst/>
            <a:cxnLst/>
            <a:rect l="l" t="t" r="r" b="b"/>
            <a:pathLst>
              <a:path w="529235" h="1484169">
                <a:moveTo>
                  <a:pt x="460835" y="1484169"/>
                </a:moveTo>
                <a:lnTo>
                  <a:pt x="422139" y="1463457"/>
                </a:lnTo>
                <a:lnTo>
                  <a:pt x="384611" y="1440897"/>
                </a:lnTo>
                <a:lnTo>
                  <a:pt x="348351" y="1416547"/>
                </a:lnTo>
                <a:lnTo>
                  <a:pt x="313453" y="1390473"/>
                </a:lnTo>
                <a:lnTo>
                  <a:pt x="280008" y="1362742"/>
                </a:lnTo>
                <a:lnTo>
                  <a:pt x="248104" y="1333427"/>
                </a:lnTo>
                <a:lnTo>
                  <a:pt x="217824" y="1302604"/>
                </a:lnTo>
                <a:lnTo>
                  <a:pt x="189249" y="1270354"/>
                </a:lnTo>
                <a:lnTo>
                  <a:pt x="162452" y="1236762"/>
                </a:lnTo>
                <a:lnTo>
                  <a:pt x="137503" y="1201915"/>
                </a:lnTo>
                <a:lnTo>
                  <a:pt x="114469" y="1165905"/>
                </a:lnTo>
                <a:lnTo>
                  <a:pt x="93408" y="1128826"/>
                </a:lnTo>
                <a:lnTo>
                  <a:pt x="74378" y="1090775"/>
                </a:lnTo>
                <a:lnTo>
                  <a:pt x="57426" y="1051851"/>
                </a:lnTo>
                <a:lnTo>
                  <a:pt x="42598" y="1012158"/>
                </a:lnTo>
                <a:lnTo>
                  <a:pt x="29933" y="971797"/>
                </a:lnTo>
                <a:lnTo>
                  <a:pt x="19463" y="930876"/>
                </a:lnTo>
                <a:lnTo>
                  <a:pt x="11216" y="889501"/>
                </a:lnTo>
                <a:lnTo>
                  <a:pt x="5214" y="847781"/>
                </a:lnTo>
                <a:lnTo>
                  <a:pt x="1472" y="805824"/>
                </a:lnTo>
                <a:lnTo>
                  <a:pt x="0" y="763741"/>
                </a:lnTo>
                <a:lnTo>
                  <a:pt x="802" y="721641"/>
                </a:lnTo>
                <a:lnTo>
                  <a:pt x="3876" y="679636"/>
                </a:lnTo>
                <a:lnTo>
                  <a:pt x="9214" y="637835"/>
                </a:lnTo>
                <a:lnTo>
                  <a:pt x="16802" y="596347"/>
                </a:lnTo>
                <a:lnTo>
                  <a:pt x="26619" y="555281"/>
                </a:lnTo>
                <a:lnTo>
                  <a:pt x="38641" y="514744"/>
                </a:lnTo>
                <a:lnTo>
                  <a:pt x="52836" y="474843"/>
                </a:lnTo>
                <a:lnTo>
                  <a:pt x="69166" y="435682"/>
                </a:lnTo>
                <a:lnTo>
                  <a:pt x="87589" y="397363"/>
                </a:lnTo>
                <a:lnTo>
                  <a:pt x="108057" y="359988"/>
                </a:lnTo>
                <a:lnTo>
                  <a:pt x="130516" y="323653"/>
                </a:lnTo>
                <a:lnTo>
                  <a:pt x="154907" y="288454"/>
                </a:lnTo>
                <a:lnTo>
                  <a:pt x="181167" y="254483"/>
                </a:lnTo>
                <a:lnTo>
                  <a:pt x="209226" y="221829"/>
                </a:lnTo>
                <a:lnTo>
                  <a:pt x="239012" y="190577"/>
                </a:lnTo>
                <a:lnTo>
                  <a:pt x="270446" y="160809"/>
                </a:lnTo>
                <a:lnTo>
                  <a:pt x="303446" y="132604"/>
                </a:lnTo>
                <a:lnTo>
                  <a:pt x="337925" y="106034"/>
                </a:lnTo>
                <a:lnTo>
                  <a:pt x="373794" y="81170"/>
                </a:lnTo>
                <a:lnTo>
                  <a:pt x="410958" y="58076"/>
                </a:lnTo>
                <a:lnTo>
                  <a:pt x="449321" y="36814"/>
                </a:lnTo>
                <a:lnTo>
                  <a:pt x="488781" y="17438"/>
                </a:lnTo>
                <a:lnTo>
                  <a:pt x="529235" y="0"/>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444752" y="2130552"/>
            <a:ext cx="1060704" cy="384048"/>
          </a:xfrm>
          <a:prstGeom prst="rect">
            <a:avLst/>
          </a:prstGeom>
          <a:noFill/>
          <a:effectLst/>
        </p:spPr>
        <p:txBody>
          <a:bodyPr wrap="square" lIns="22860" rIns="22860" tIns="0" bIns="0">
            <a:spAutoFit/>
          </a:bodyPr>
          <a:lstStyle/>
          <a:p>
            <a:pPr algn="ctr">
              <a:spcAft>
                <a:spcPts val="600"/>
              </a:spcAft>
              <a:defRPr sz="2500" b="1">
                <a:solidFill>
                  <a:srgbClr val="063584"/>
                </a:solidFill>
                <a:latin typeface="Microsoft YaHei"/>
              </a:defRPr>
            </a:pPr>
            <a:r>
              <a:t>AQ</a:t>
            </a:r>
          </a:p>
        </p:txBody>
      </p:sp>
      <p:sp>
        <p:nvSpPr>
          <p:cNvPr id="17" name="TextBox 16"/>
          <p:cNvSpPr txBox="1"/>
          <p:nvPr/>
        </p:nvSpPr>
        <p:spPr>
          <a:xfrm>
            <a:off x="2551176" y="3026664"/>
            <a:ext cx="914400" cy="393192"/>
          </a:xfrm>
          <a:prstGeom prst="rect">
            <a:avLst/>
          </a:prstGeom>
          <a:noFill/>
          <a:effectLst/>
        </p:spPr>
        <p:txBody>
          <a:bodyPr wrap="square" lIns="22860" rIns="22860" tIns="0" bIns="0">
            <a:spAutoFit/>
          </a:bodyPr>
          <a:lstStyle/>
          <a:p>
            <a:pPr>
              <a:spcAft>
                <a:spcPts val="600"/>
              </a:spcAft>
              <a:defRPr sz="2300" b="1">
                <a:solidFill>
                  <a:srgbClr val="063584"/>
                </a:solidFill>
                <a:latin typeface="Microsoft YaHei"/>
              </a:defRPr>
            </a:pPr>
            <a:r>
              <a:t>AQ*</a:t>
            </a:r>
          </a:p>
        </p:txBody>
      </p:sp>
      <p:sp>
        <p:nvSpPr>
          <p:cNvPr id="18" name="TextBox 17"/>
          <p:cNvSpPr txBox="1"/>
          <p:nvPr/>
        </p:nvSpPr>
        <p:spPr>
          <a:xfrm>
            <a:off x="941832" y="4069080"/>
            <a:ext cx="2194560" cy="393192"/>
          </a:xfrm>
          <a:prstGeom prst="rect">
            <a:avLst/>
          </a:prstGeom>
          <a:noFill/>
          <a:effectLst/>
        </p:spPr>
        <p:txBody>
          <a:bodyPr wrap="square" lIns="22860" rIns="22860" tIns="0" bIns="0">
            <a:spAutoFit/>
          </a:bodyPr>
          <a:lstStyle/>
          <a:p>
            <a:pPr algn="ctr">
              <a:spcAft>
                <a:spcPts val="600"/>
              </a:spcAft>
              <a:defRPr sz="1900" b="1">
                <a:solidFill>
                  <a:srgbClr val="063584"/>
                </a:solidFill>
                <a:latin typeface="Microsoft YaHei"/>
              </a:defRPr>
            </a:pPr>
            <a:r>
              <a:t>AQH· / AHQ</a:t>
            </a:r>
          </a:p>
        </p:txBody>
      </p:sp>
      <p:sp>
        <p:nvSpPr>
          <p:cNvPr id="19" name="TextBox 18"/>
          <p:cNvSpPr txBox="1"/>
          <p:nvPr/>
        </p:nvSpPr>
        <p:spPr>
          <a:xfrm>
            <a:off x="2633472" y="2542032"/>
            <a:ext cx="548640" cy="283464"/>
          </a:xfrm>
          <a:prstGeom prst="rect">
            <a:avLst/>
          </a:prstGeom>
          <a:noFill/>
          <a:effectLst/>
        </p:spPr>
        <p:txBody>
          <a:bodyPr wrap="square" lIns="22860" rIns="22860" tIns="0" bIns="0">
            <a:spAutoFit/>
          </a:bodyPr>
          <a:lstStyle/>
          <a:p>
            <a:pPr>
              <a:spcAft>
                <a:spcPts val="600"/>
              </a:spcAft>
              <a:defRPr sz="1800" b="1">
                <a:solidFill>
                  <a:srgbClr val="111111"/>
                </a:solidFill>
                <a:latin typeface="Microsoft YaHei"/>
              </a:defRPr>
            </a:pPr>
            <a:r>
              <a:t>hν</a:t>
            </a:r>
          </a:p>
        </p:txBody>
      </p:sp>
      <p:sp>
        <p:nvSpPr>
          <p:cNvPr id="20" name="TextBox 19"/>
          <p:cNvSpPr txBox="1"/>
          <p:nvPr/>
        </p:nvSpPr>
        <p:spPr>
          <a:xfrm>
            <a:off x="2770632" y="3694176"/>
            <a:ext cx="722376" cy="521207"/>
          </a:xfrm>
          <a:prstGeom prst="rect">
            <a:avLst/>
          </a:prstGeom>
          <a:noFill/>
          <a:effectLst/>
        </p:spPr>
        <p:txBody>
          <a:bodyPr wrap="square" lIns="22860" rIns="22860" tIns="0" bIns="0">
            <a:spAutoFit/>
          </a:bodyPr>
          <a:lstStyle/>
          <a:p>
            <a:pPr>
              <a:spcAft>
                <a:spcPts val="600"/>
              </a:spcAft>
              <a:defRPr sz="1100" b="0">
                <a:solidFill>
                  <a:srgbClr val="111111"/>
                </a:solidFill>
                <a:latin typeface="Microsoft YaHei"/>
              </a:defRPr>
            </a:pPr>
            <a:r>
              <a:t>R–H</a:t>
            </a:r>
          </a:p>
          <a:p>
            <a:pPr>
              <a:spcAft>
                <a:spcPts val="600"/>
              </a:spcAft>
              <a:defRPr sz="1100" b="0">
                <a:solidFill>
                  <a:srgbClr val="111111"/>
                </a:solidFill>
                <a:latin typeface="Microsoft YaHei"/>
              </a:defRPr>
            </a:pPr>
            <a:r>
              <a:t>HAT / ET</a:t>
            </a:r>
          </a:p>
        </p:txBody>
      </p:sp>
      <p:sp>
        <p:nvSpPr>
          <p:cNvPr id="21" name="TextBox 20"/>
          <p:cNvSpPr txBox="1"/>
          <p:nvPr/>
        </p:nvSpPr>
        <p:spPr>
          <a:xfrm>
            <a:off x="521207" y="2980944"/>
            <a:ext cx="502920" cy="29260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O₂</a:t>
            </a:r>
          </a:p>
        </p:txBody>
      </p:sp>
      <p:sp>
        <p:nvSpPr>
          <p:cNvPr id="22" name="TextBox 21"/>
          <p:cNvSpPr txBox="1"/>
          <p:nvPr/>
        </p:nvSpPr>
        <p:spPr>
          <a:xfrm>
            <a:off x="448056" y="3520440"/>
            <a:ext cx="658368" cy="502920"/>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再氧化</a:t>
            </a:r>
          </a:p>
          <a:p>
            <a:pPr>
              <a:spcAft>
                <a:spcPts val="600"/>
              </a:spcAft>
              <a:defRPr sz="1000" b="0">
                <a:solidFill>
                  <a:srgbClr val="566273"/>
                </a:solidFill>
                <a:latin typeface="Microsoft YaHei"/>
              </a:defRPr>
            </a:pPr>
            <a:r>
              <a:t>恢复 AQ</a:t>
            </a:r>
          </a:p>
        </p:txBody>
      </p:sp>
      <p:sp>
        <p:nvSpPr>
          <p:cNvPr id="23" name="TextBox 22"/>
          <p:cNvSpPr txBox="1"/>
          <p:nvPr/>
        </p:nvSpPr>
        <p:spPr>
          <a:xfrm>
            <a:off x="1362456" y="3017520"/>
            <a:ext cx="1143000" cy="594360"/>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攫氢</a:t>
            </a:r>
          </a:p>
          <a:p>
            <a:pPr algn="ctr">
              <a:spcAft>
                <a:spcPts val="600"/>
              </a:spcAft>
              <a:defRPr sz="1600" b="1">
                <a:solidFill>
                  <a:srgbClr val="111111"/>
                </a:solidFill>
                <a:latin typeface="Microsoft YaHei"/>
              </a:defRPr>
            </a:pPr>
            <a:r>
              <a:t>再生</a:t>
            </a:r>
          </a:p>
        </p:txBody>
      </p:sp>
      <p:sp>
        <p:nvSpPr>
          <p:cNvPr id="24" name="TextBox 23"/>
          <p:cNvSpPr txBox="1"/>
          <p:nvPr/>
        </p:nvSpPr>
        <p:spPr>
          <a:xfrm>
            <a:off x="694944" y="4937760"/>
            <a:ext cx="2834640" cy="457200"/>
          </a:xfrm>
          <a:prstGeom prst="rect">
            <a:avLst/>
          </a:prstGeom>
          <a:noFill/>
          <a:effectLst/>
        </p:spPr>
        <p:txBody>
          <a:bodyPr wrap="square" lIns="22860" rIns="22860" tIns="0" bIns="0">
            <a:spAutoFit/>
          </a:bodyPr>
          <a:lstStyle/>
          <a:p>
            <a:pPr>
              <a:spcAft>
                <a:spcPts val="600"/>
              </a:spcAft>
              <a:defRPr sz="1100" b="0">
                <a:solidFill>
                  <a:srgbClr val="566273"/>
                </a:solidFill>
                <a:latin typeface="Microsoft YaHei"/>
              </a:defRPr>
            </a:pPr>
            <a:r>
              <a:t>AQ* + O₂ → ROS ?</a:t>
            </a:r>
          </a:p>
          <a:p>
            <a:pPr>
              <a:spcAft>
                <a:spcPts val="600"/>
              </a:spcAft>
              <a:defRPr sz="1100" b="0">
                <a:solidFill>
                  <a:srgbClr val="566273"/>
                </a:solidFill>
                <a:latin typeface="Microsoft YaHei"/>
              </a:defRPr>
            </a:pPr>
            <a:r>
              <a:t>AQ* + DCE / 模型 → 竞争转化 ?</a:t>
            </a:r>
          </a:p>
        </p:txBody>
      </p:sp>
      <p:sp>
        <p:nvSpPr>
          <p:cNvPr id="25" name="Freeform 24"/>
          <p:cNvSpPr/>
          <p:nvPr/>
        </p:nvSpPr>
        <p:spPr>
          <a:xfrm>
            <a:off x="4956048" y="1920240"/>
            <a:ext cx="5212080" cy="173736"/>
          </a:xfrm>
          <a:custGeom>
            <a:avLst/>
            <a:gdLst/>
            <a:ahLst/>
            <a:cxnLst/>
            <a:rect l="l" t="t" r="r" b="b"/>
            <a:pathLst>
              <a:path w="5212080" h="173736">
                <a:moveTo>
                  <a:pt x="0" y="0"/>
                </a:moveTo>
                <a:lnTo>
                  <a:pt x="521208" y="173736"/>
                </a:lnTo>
                <a:lnTo>
                  <a:pt x="1042416" y="0"/>
                </a:lnTo>
                <a:lnTo>
                  <a:pt x="1563624" y="173736"/>
                </a:lnTo>
                <a:lnTo>
                  <a:pt x="2084831" y="0"/>
                </a:lnTo>
                <a:lnTo>
                  <a:pt x="2606040" y="173736"/>
                </a:lnTo>
                <a:lnTo>
                  <a:pt x="3127248" y="0"/>
                </a:lnTo>
                <a:lnTo>
                  <a:pt x="3648456" y="173736"/>
                </a:lnTo>
                <a:lnTo>
                  <a:pt x="4169664" y="0"/>
                </a:lnTo>
                <a:lnTo>
                  <a:pt x="4690872" y="173736"/>
                </a:lnTo>
                <a:lnTo>
                  <a:pt x="5212080"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6" name="Connector 25"/>
          <p:cNvCxnSpPr/>
          <p:nvPr/>
        </p:nvCxnSpPr>
        <p:spPr>
          <a:xfrm>
            <a:off x="5477256"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5349240"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28" name="Connector 27"/>
          <p:cNvCxnSpPr/>
          <p:nvPr/>
        </p:nvCxnSpPr>
        <p:spPr>
          <a:xfrm>
            <a:off x="6519672"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391656"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0" name="Connector 29"/>
          <p:cNvCxnSpPr/>
          <p:nvPr/>
        </p:nvCxnSpPr>
        <p:spPr>
          <a:xfrm>
            <a:off x="7562088"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7434071"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2" name="Connector 31"/>
          <p:cNvCxnSpPr/>
          <p:nvPr/>
        </p:nvCxnSpPr>
        <p:spPr>
          <a:xfrm>
            <a:off x="8604504"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8476488"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4" name="Connector 33"/>
          <p:cNvCxnSpPr/>
          <p:nvPr/>
        </p:nvCxnSpPr>
        <p:spPr>
          <a:xfrm>
            <a:off x="9646920"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5" name="TextBox 34"/>
          <p:cNvSpPr txBox="1"/>
          <p:nvPr/>
        </p:nvSpPr>
        <p:spPr>
          <a:xfrm>
            <a:off x="9518904"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36" name="TextBox 35"/>
          <p:cNvSpPr txBox="1"/>
          <p:nvPr/>
        </p:nvSpPr>
        <p:spPr>
          <a:xfrm>
            <a:off x="4709160" y="1892808"/>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37" name="TextBox 36"/>
          <p:cNvSpPr txBox="1"/>
          <p:nvPr/>
        </p:nvSpPr>
        <p:spPr>
          <a:xfrm>
            <a:off x="10213848" y="1892808"/>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38" name="TextBox 37"/>
          <p:cNvSpPr txBox="1"/>
          <p:nvPr/>
        </p:nvSpPr>
        <p:spPr>
          <a:xfrm>
            <a:off x="4453128" y="2935224"/>
            <a:ext cx="2286000" cy="301752"/>
          </a:xfrm>
          <a:prstGeom prst="rect">
            <a:avLst/>
          </a:prstGeom>
          <a:noFill/>
          <a:effectLst/>
        </p:spPr>
        <p:txBody>
          <a:bodyPr wrap="square" lIns="22860" rIns="22860" tIns="0" bIns="0">
            <a:spAutoFit/>
          </a:bodyPr>
          <a:lstStyle/>
          <a:p>
            <a:pPr>
              <a:spcAft>
                <a:spcPts val="600"/>
              </a:spcAft>
              <a:defRPr sz="1600" b="0">
                <a:solidFill>
                  <a:srgbClr val="063584"/>
                </a:solidFill>
                <a:latin typeface="Microsoft YaHei"/>
              </a:defRPr>
            </a:pPr>
            <a:r>
              <a:t>AQ* 攫氢 ?</a:t>
            </a:r>
          </a:p>
        </p:txBody>
      </p:sp>
      <p:sp>
        <p:nvSpPr>
          <p:cNvPr id="39" name="TextBox 38"/>
          <p:cNvSpPr txBox="1"/>
          <p:nvPr/>
        </p:nvSpPr>
        <p:spPr>
          <a:xfrm>
            <a:off x="9153144" y="2935224"/>
            <a:ext cx="2240280" cy="301752"/>
          </a:xfrm>
          <a:prstGeom prst="rect">
            <a:avLst/>
          </a:prstGeom>
          <a:noFill/>
          <a:effectLst/>
        </p:spPr>
        <p:txBody>
          <a:bodyPr wrap="square" lIns="22860" rIns="22860" tIns="0" bIns="0">
            <a:spAutoFit/>
          </a:bodyPr>
          <a:lstStyle/>
          <a:p>
            <a:pPr>
              <a:spcAft>
                <a:spcPts val="600"/>
              </a:spcAft>
              <a:defRPr sz="1600" b="0">
                <a:solidFill>
                  <a:srgbClr val="063584"/>
                </a:solidFill>
                <a:latin typeface="Microsoft YaHei"/>
              </a:defRPr>
            </a:pPr>
            <a:r>
              <a:t>C–Cl 活化 ?</a:t>
            </a:r>
          </a:p>
        </p:txBody>
      </p:sp>
      <p:cxnSp>
        <p:nvCxnSpPr>
          <p:cNvPr id="40" name="Connector 39"/>
          <p:cNvCxnSpPr/>
          <p:nvPr/>
        </p:nvCxnSpPr>
        <p:spPr>
          <a:xfrm flipH="1">
            <a:off x="5916168" y="2752344"/>
            <a:ext cx="484632" cy="521208"/>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41" name="Connector 40"/>
          <p:cNvCxnSpPr/>
          <p:nvPr/>
        </p:nvCxnSpPr>
        <p:spPr>
          <a:xfrm>
            <a:off x="9902952" y="2752344"/>
            <a:ext cx="484632" cy="521208"/>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42" name="TextBox 41"/>
          <p:cNvSpPr txBox="1"/>
          <p:nvPr/>
        </p:nvSpPr>
        <p:spPr>
          <a:xfrm>
            <a:off x="5358384" y="3355848"/>
            <a:ext cx="1188720" cy="411480"/>
          </a:xfrm>
          <a:prstGeom prst="rect">
            <a:avLst/>
          </a:prstGeom>
          <a:noFill/>
          <a:effectLst/>
        </p:spPr>
        <p:txBody>
          <a:bodyPr wrap="square" lIns="22860" rIns="22860" tIns="0" bIns="0">
            <a:spAutoFit/>
          </a:bodyPr>
          <a:lstStyle/>
          <a:p>
            <a:pPr algn="ctr">
              <a:spcAft>
                <a:spcPts val="600"/>
              </a:spcAft>
              <a:defRPr sz="2900" b="1">
                <a:solidFill>
                  <a:srgbClr val="111111"/>
                </a:solidFill>
                <a:latin typeface="Microsoft YaHei"/>
              </a:defRPr>
            </a:pPr>
            <a:r>
              <a:t>R·</a:t>
            </a:r>
          </a:p>
        </p:txBody>
      </p:sp>
      <p:sp>
        <p:nvSpPr>
          <p:cNvPr id="43" name="TextBox 42"/>
          <p:cNvSpPr txBox="1"/>
          <p:nvPr/>
        </p:nvSpPr>
        <p:spPr>
          <a:xfrm>
            <a:off x="9976104" y="3355848"/>
            <a:ext cx="1371600" cy="411480"/>
          </a:xfrm>
          <a:prstGeom prst="rect">
            <a:avLst/>
          </a:prstGeom>
          <a:noFill/>
          <a:effectLst/>
        </p:spPr>
        <p:txBody>
          <a:bodyPr wrap="square" lIns="22860" rIns="22860" tIns="0" bIns="0">
            <a:spAutoFit/>
          </a:bodyPr>
          <a:lstStyle/>
          <a:p>
            <a:pPr algn="ctr">
              <a:spcAft>
                <a:spcPts val="600"/>
              </a:spcAft>
              <a:defRPr sz="2600" b="1">
                <a:solidFill>
                  <a:srgbClr val="C00000"/>
                </a:solidFill>
                <a:latin typeface="Microsoft YaHei"/>
              </a:defRPr>
            </a:pPr>
            <a:r>
              <a:t>Cl· ?</a:t>
            </a:r>
          </a:p>
        </p:txBody>
      </p:sp>
      <p:cxnSp>
        <p:nvCxnSpPr>
          <p:cNvPr id="44" name="Connector 43"/>
          <p:cNvCxnSpPr/>
          <p:nvPr/>
        </p:nvCxnSpPr>
        <p:spPr>
          <a:xfrm flipH="1">
            <a:off x="6830568" y="3584448"/>
            <a:ext cx="2688336" cy="0"/>
          </a:xfrm>
          <a:prstGeom prst="line">
            <a:avLst/>
          </a:prstGeom>
          <a:ln w="17780">
            <a:solidFill>
              <a:srgbClr val="C00000"/>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45" name="TextBox 44"/>
          <p:cNvSpPr txBox="1"/>
          <p:nvPr/>
        </p:nvSpPr>
        <p:spPr>
          <a:xfrm>
            <a:off x="7406640" y="3200400"/>
            <a:ext cx="1508760" cy="274320"/>
          </a:xfrm>
          <a:prstGeom prst="rect">
            <a:avLst/>
          </a:prstGeom>
          <a:noFill/>
          <a:effectLst/>
        </p:spPr>
        <p:txBody>
          <a:bodyPr wrap="square" lIns="22860" rIns="22860" tIns="0" bIns="0">
            <a:spAutoFit/>
          </a:bodyPr>
          <a:lstStyle/>
          <a:p>
            <a:pPr algn="ctr">
              <a:spcAft>
                <a:spcPts val="600"/>
              </a:spcAft>
              <a:defRPr sz="1600" b="1">
                <a:solidFill>
                  <a:srgbClr val="C00000"/>
                </a:solidFill>
                <a:latin typeface="Microsoft YaHei"/>
              </a:defRPr>
            </a:pPr>
            <a:r>
              <a:t>HAT ?</a:t>
            </a:r>
          </a:p>
        </p:txBody>
      </p:sp>
      <p:sp>
        <p:nvSpPr>
          <p:cNvPr id="46" name="TextBox 45"/>
          <p:cNvSpPr txBox="1"/>
          <p:nvPr/>
        </p:nvSpPr>
        <p:spPr>
          <a:xfrm>
            <a:off x="6949440" y="3767328"/>
            <a:ext cx="2697480" cy="237744"/>
          </a:xfrm>
          <a:prstGeom prst="rect">
            <a:avLst/>
          </a:prstGeom>
          <a:noFill/>
          <a:effectLst/>
        </p:spPr>
        <p:txBody>
          <a:bodyPr wrap="square" lIns="22860" rIns="22860" tIns="0" bIns="0">
            <a:spAutoFit/>
          </a:bodyPr>
          <a:lstStyle/>
          <a:p>
            <a:pPr algn="ctr">
              <a:spcAft>
                <a:spcPts val="600"/>
              </a:spcAft>
              <a:defRPr sz="1100" b="0">
                <a:solidFill>
                  <a:srgbClr val="566273"/>
                </a:solidFill>
                <a:latin typeface="Microsoft YaHei"/>
              </a:defRPr>
            </a:pPr>
            <a:r>
              <a:t>Cl· + R–H → HCl + R·</a:t>
            </a:r>
          </a:p>
        </p:txBody>
      </p:sp>
      <p:cxnSp>
        <p:nvCxnSpPr>
          <p:cNvPr id="47" name="Connector 46"/>
          <p:cNvCxnSpPr/>
          <p:nvPr/>
        </p:nvCxnSpPr>
        <p:spPr>
          <a:xfrm>
            <a:off x="5925312" y="3886200"/>
            <a:ext cx="0" cy="301752"/>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48" name="TextBox 47"/>
          <p:cNvSpPr txBox="1"/>
          <p:nvPr/>
        </p:nvSpPr>
        <p:spPr>
          <a:xfrm>
            <a:off x="6190488" y="3941063"/>
            <a:ext cx="822960" cy="26517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 O₂</a:t>
            </a:r>
          </a:p>
        </p:txBody>
      </p:sp>
      <p:sp>
        <p:nvSpPr>
          <p:cNvPr id="49" name="TextBox 48"/>
          <p:cNvSpPr txBox="1"/>
          <p:nvPr/>
        </p:nvSpPr>
        <p:spPr>
          <a:xfrm>
            <a:off x="5084064" y="4315968"/>
            <a:ext cx="1691640" cy="393192"/>
          </a:xfrm>
          <a:prstGeom prst="rect">
            <a:avLst/>
          </a:prstGeom>
          <a:noFill/>
          <a:effectLst/>
        </p:spPr>
        <p:txBody>
          <a:bodyPr wrap="square" lIns="22860" rIns="22860" tIns="0" bIns="0">
            <a:spAutoFit/>
          </a:bodyPr>
          <a:lstStyle/>
          <a:p>
            <a:pPr algn="ctr">
              <a:spcAft>
                <a:spcPts val="600"/>
              </a:spcAft>
              <a:defRPr sz="2300" b="1">
                <a:solidFill>
                  <a:srgbClr val="111111"/>
                </a:solidFill>
                <a:latin typeface="Microsoft YaHei"/>
              </a:defRPr>
            </a:pPr>
            <a:r>
              <a:t>ROO·</a:t>
            </a:r>
          </a:p>
        </p:txBody>
      </p:sp>
      <p:cxnSp>
        <p:nvCxnSpPr>
          <p:cNvPr id="50" name="Connector 49"/>
          <p:cNvCxnSpPr/>
          <p:nvPr/>
        </p:nvCxnSpPr>
        <p:spPr>
          <a:xfrm>
            <a:off x="6839712" y="4526280"/>
            <a:ext cx="429768" cy="0"/>
          </a:xfrm>
          <a:prstGeom prst="line">
            <a:avLst/>
          </a:prstGeom>
          <a:ln w="1651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351775" y="4315968"/>
            <a:ext cx="1828800" cy="393192"/>
          </a:xfrm>
          <a:prstGeom prst="rect">
            <a:avLst/>
          </a:prstGeom>
          <a:noFill/>
          <a:effectLst/>
        </p:spPr>
        <p:txBody>
          <a:bodyPr wrap="square" lIns="22860" rIns="22860" tIns="0" bIns="0">
            <a:spAutoFit/>
          </a:bodyPr>
          <a:lstStyle/>
          <a:p>
            <a:pPr algn="ctr">
              <a:spcAft>
                <a:spcPts val="600"/>
              </a:spcAft>
              <a:defRPr sz="2300" b="1">
                <a:solidFill>
                  <a:srgbClr val="111111"/>
                </a:solidFill>
                <a:latin typeface="Microsoft YaHei"/>
              </a:defRPr>
            </a:pPr>
            <a:r>
              <a:t>ROOH</a:t>
            </a:r>
          </a:p>
        </p:txBody>
      </p:sp>
      <p:cxnSp>
        <p:nvCxnSpPr>
          <p:cNvPr id="52" name="Connector 51"/>
          <p:cNvCxnSpPr/>
          <p:nvPr/>
        </p:nvCxnSpPr>
        <p:spPr>
          <a:xfrm>
            <a:off x="9226296" y="4526280"/>
            <a:ext cx="429768" cy="0"/>
          </a:xfrm>
          <a:prstGeom prst="line">
            <a:avLst/>
          </a:prstGeom>
          <a:ln w="1651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9784080" y="4315968"/>
            <a:ext cx="1645920" cy="393192"/>
          </a:xfrm>
          <a:prstGeom prst="rect">
            <a:avLst/>
          </a:prstGeom>
          <a:noFill/>
          <a:effectLst/>
        </p:spPr>
        <p:txBody>
          <a:bodyPr wrap="square" lIns="22860" rIns="22860" tIns="0" bIns="0">
            <a:spAutoFit/>
          </a:bodyPr>
          <a:lstStyle/>
          <a:p>
            <a:pPr algn="ctr">
              <a:spcAft>
                <a:spcPts val="600"/>
              </a:spcAft>
              <a:defRPr sz="2300" b="1">
                <a:solidFill>
                  <a:srgbClr val="111111"/>
                </a:solidFill>
                <a:latin typeface="Microsoft YaHei"/>
              </a:defRPr>
            </a:pPr>
            <a:r>
              <a:t>RO·</a:t>
            </a:r>
          </a:p>
        </p:txBody>
      </p:sp>
      <p:sp>
        <p:nvSpPr>
          <p:cNvPr id="54" name="TextBox 53"/>
          <p:cNvSpPr txBox="1"/>
          <p:nvPr/>
        </p:nvSpPr>
        <p:spPr>
          <a:xfrm>
            <a:off x="9299448" y="4937760"/>
            <a:ext cx="1920240" cy="228600"/>
          </a:xfrm>
          <a:prstGeom prst="rect">
            <a:avLst/>
          </a:prstGeom>
          <a:noFill/>
          <a:effectLst/>
        </p:spPr>
        <p:txBody>
          <a:bodyPr wrap="square" lIns="22860" rIns="22860" tIns="0" bIns="0">
            <a:spAutoFit/>
          </a:bodyPr>
          <a:lstStyle/>
          <a:p>
            <a:pPr algn="ctr">
              <a:spcAft>
                <a:spcPts val="600"/>
              </a:spcAft>
              <a:defRPr sz="1200" b="1">
                <a:solidFill>
                  <a:srgbClr val="063584"/>
                </a:solidFill>
                <a:latin typeface="Microsoft YaHei"/>
              </a:defRPr>
            </a:pPr>
            <a:r>
              <a:t>后续 β-裂解 ?</a:t>
            </a:r>
          </a:p>
        </p:txBody>
      </p:sp>
      <p:sp>
        <p:nvSpPr>
          <p:cNvPr id="55" name="TextBox 54"/>
          <p:cNvSpPr txBox="1"/>
          <p:nvPr/>
        </p:nvSpPr>
        <p:spPr>
          <a:xfrm>
            <a:off x="4389120" y="5358384"/>
            <a:ext cx="7132320" cy="283464"/>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R¹–CH(O·)–CH₂–R² → R¹–CHO + ·CH₂–R²</a:t>
            </a:r>
          </a:p>
        </p:txBody>
      </p:sp>
      <p:sp>
        <p:nvSpPr>
          <p:cNvPr id="56" name="Rectangle 55"/>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Chevron 56"/>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9" name="TextBox 58"/>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工作假说不等于已证实循环；需区分供氢体、ROS、含氯物种与链裂解的实际贡献。</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前期探索：2-氯戊烷实验先检验局部含氯位点的反应</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实际已开展：2-氯戊烷 / EAQ / DCE，365 nm，6 h，比较四种气氛；其余参数不擅自补全</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实验条件：用户原始 PPT，第8页；装置为可编辑示意，非照片。</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11</a:t>
            </a:r>
          </a:p>
        </p:txBody>
      </p:sp>
      <p:sp>
        <p:nvSpPr>
          <p:cNvPr id="7" name="Rounded Rectangle 6"/>
          <p:cNvSpPr/>
          <p:nvPr/>
        </p:nvSpPr>
        <p:spPr>
          <a:xfrm>
            <a:off x="438912" y="1417320"/>
            <a:ext cx="3950208"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89534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3657600"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底物、介质与反应装置</a:t>
            </a:r>
          </a:p>
        </p:txBody>
      </p:sp>
      <p:sp>
        <p:nvSpPr>
          <p:cNvPr id="10" name="TextBox 9"/>
          <p:cNvSpPr txBox="1"/>
          <p:nvPr/>
        </p:nvSpPr>
        <p:spPr>
          <a:xfrm>
            <a:off x="649224" y="1929384"/>
            <a:ext cx="3538728" cy="384048"/>
          </a:xfrm>
          <a:prstGeom prst="rect">
            <a:avLst/>
          </a:prstGeom>
          <a:noFill/>
          <a:effectLst/>
        </p:spPr>
        <p:txBody>
          <a:bodyPr wrap="square" lIns="22860" rIns="22860" tIns="0" bIns="0">
            <a:spAutoFit/>
          </a:bodyPr>
          <a:lstStyle/>
          <a:p>
            <a:pPr>
              <a:spcAft>
                <a:spcPts val="600"/>
              </a:spcAft>
              <a:defRPr sz="1900" b="1">
                <a:solidFill>
                  <a:srgbClr val="111111"/>
                </a:solidFill>
                <a:latin typeface="Microsoft YaHei"/>
              </a:defRPr>
            </a:pPr>
            <a:r>
              <a:t>CH₃–CH(Cl)–CH₂–CH₂–CH₃</a:t>
            </a:r>
          </a:p>
        </p:txBody>
      </p:sp>
      <p:sp>
        <p:nvSpPr>
          <p:cNvPr id="11" name="TextBox 10"/>
          <p:cNvSpPr txBox="1"/>
          <p:nvPr/>
        </p:nvSpPr>
        <p:spPr>
          <a:xfrm>
            <a:off x="649224" y="2551176"/>
            <a:ext cx="3538728" cy="301752"/>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底物：2-氯戊烷</a:t>
            </a:r>
          </a:p>
        </p:txBody>
      </p:sp>
      <p:sp>
        <p:nvSpPr>
          <p:cNvPr id="12" name="TextBox 11"/>
          <p:cNvSpPr txBox="1"/>
          <p:nvPr/>
        </p:nvSpPr>
        <p:spPr>
          <a:xfrm>
            <a:off x="649224" y="2999232"/>
            <a:ext cx="3538728" cy="384048"/>
          </a:xfrm>
          <a:prstGeom prst="rect">
            <a:avLst/>
          </a:prstGeom>
          <a:noFill/>
          <a:effectLst/>
        </p:spPr>
        <p:txBody>
          <a:bodyPr wrap="square" lIns="22860" rIns="22860" tIns="0" bIns="0">
            <a:spAutoFit/>
          </a:bodyPr>
          <a:lstStyle/>
          <a:p>
            <a:pPr>
              <a:spcAft>
                <a:spcPts val="600"/>
              </a:spcAft>
              <a:defRPr sz="2300" b="1">
                <a:solidFill>
                  <a:srgbClr val="111111"/>
                </a:solidFill>
                <a:latin typeface="Microsoft YaHei"/>
              </a:defRPr>
            </a:pPr>
            <a:r>
              <a:t>Cl–CH₂–CH₂–Cl</a:t>
            </a:r>
          </a:p>
        </p:txBody>
      </p:sp>
      <p:sp>
        <p:nvSpPr>
          <p:cNvPr id="13" name="TextBox 12"/>
          <p:cNvSpPr txBox="1"/>
          <p:nvPr/>
        </p:nvSpPr>
        <p:spPr>
          <a:xfrm>
            <a:off x="649224" y="3529584"/>
            <a:ext cx="3538728" cy="301752"/>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介质：1,2-二氯乙烷（DCE）</a:t>
            </a:r>
          </a:p>
        </p:txBody>
      </p:sp>
      <p:sp>
        <p:nvSpPr>
          <p:cNvPr id="14" name="Rectangle 13"/>
          <p:cNvSpPr/>
          <p:nvPr/>
        </p:nvSpPr>
        <p:spPr>
          <a:xfrm>
            <a:off x="941832" y="4133087"/>
            <a:ext cx="402336" cy="896112"/>
          </a:xfrm>
          <a:prstGeom prst="rect">
            <a:avLst/>
          </a:prstGeom>
          <a:solidFill>
            <a:srgbClr val="FFFFFF"/>
          </a:solidFill>
          <a:ln w="16510">
            <a:solidFill>
              <a:srgbClr val="8EA4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941832" y="4599432"/>
            <a:ext cx="402336" cy="429768"/>
          </a:xfrm>
          <a:prstGeom prst="rect">
            <a:avLst/>
          </a:prstGeom>
          <a:solidFill>
            <a:srgbClr val="DCE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914400" y="4032504"/>
            <a:ext cx="457200" cy="109728"/>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flipV="1">
            <a:off x="1143000" y="5138928"/>
            <a:ext cx="0" cy="310896"/>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8" name="Rectangle 17"/>
          <p:cNvSpPr/>
          <p:nvPr/>
        </p:nvSpPr>
        <p:spPr>
          <a:xfrm>
            <a:off x="1920240" y="4133087"/>
            <a:ext cx="402336" cy="896112"/>
          </a:xfrm>
          <a:prstGeom prst="rect">
            <a:avLst/>
          </a:prstGeom>
          <a:solidFill>
            <a:srgbClr val="FFFFFF"/>
          </a:solidFill>
          <a:ln w="16510">
            <a:solidFill>
              <a:srgbClr val="8EA4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1920240" y="4599432"/>
            <a:ext cx="402336" cy="429768"/>
          </a:xfrm>
          <a:prstGeom prst="rect">
            <a:avLst/>
          </a:prstGeom>
          <a:solidFill>
            <a:srgbClr val="DCE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1892808" y="4032504"/>
            <a:ext cx="457200" cy="109728"/>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 name="Connector 20"/>
          <p:cNvCxnSpPr/>
          <p:nvPr/>
        </p:nvCxnSpPr>
        <p:spPr>
          <a:xfrm flipV="1">
            <a:off x="2121408" y="5138928"/>
            <a:ext cx="0" cy="310896"/>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2" name="Rectangle 21"/>
          <p:cNvSpPr/>
          <p:nvPr/>
        </p:nvSpPr>
        <p:spPr>
          <a:xfrm>
            <a:off x="2898648" y="4133087"/>
            <a:ext cx="402336" cy="896112"/>
          </a:xfrm>
          <a:prstGeom prst="rect">
            <a:avLst/>
          </a:prstGeom>
          <a:solidFill>
            <a:srgbClr val="FFFFFF"/>
          </a:solidFill>
          <a:ln w="16510">
            <a:solidFill>
              <a:srgbClr val="8EA4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2898648" y="4599432"/>
            <a:ext cx="402336" cy="429768"/>
          </a:xfrm>
          <a:prstGeom prst="rect">
            <a:avLst/>
          </a:prstGeom>
          <a:solidFill>
            <a:srgbClr val="DCE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2871216" y="4032504"/>
            <a:ext cx="457200" cy="109728"/>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5" name="Connector 24"/>
          <p:cNvCxnSpPr/>
          <p:nvPr/>
        </p:nvCxnSpPr>
        <p:spPr>
          <a:xfrm flipV="1">
            <a:off x="3099816" y="5138928"/>
            <a:ext cx="0" cy="310896"/>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685800" y="5532120"/>
            <a:ext cx="3438144" cy="201168"/>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光照 · 气氛控制 · 定时取样</a:t>
            </a:r>
          </a:p>
        </p:txBody>
      </p:sp>
      <p:sp>
        <p:nvSpPr>
          <p:cNvPr id="27" name="Rounded Rectangle 26"/>
          <p:cNvSpPr/>
          <p:nvPr/>
        </p:nvSpPr>
        <p:spPr>
          <a:xfrm>
            <a:off x="4599432" y="1417320"/>
            <a:ext cx="7040880" cy="335584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4626864" y="1444752"/>
            <a:ext cx="698601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745736" y="1495044"/>
            <a:ext cx="674827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实际记录的实验条件</a:t>
            </a:r>
          </a:p>
        </p:txBody>
      </p:sp>
      <p:graphicFrame>
        <p:nvGraphicFramePr>
          <p:cNvPr id="30" name="Table 29"/>
          <p:cNvGraphicFramePr>
            <a:graphicFrameLocks noGrp="1"/>
          </p:cNvGraphicFramePr>
          <p:nvPr/>
        </p:nvGraphicFramePr>
        <p:xfrm>
          <a:off x="4736592" y="1947672"/>
          <a:ext cx="6766560" cy="2642616"/>
        </p:xfrm>
        <a:graphic>
          <a:graphicData uri="http://schemas.openxmlformats.org/drawingml/2006/table">
            <a:tbl>
              <a:tblPr firstRow="1" bandRow="1">
                <a:tableStyleId>{5C22544A-7EE6-4342-B048-85BDC9FD1C3A}</a:tableStyleId>
              </a:tblPr>
              <a:tblGrid>
                <a:gridCol w="1965960"/>
                <a:gridCol w="4800600"/>
              </a:tblGrid>
              <a:tr h="440436">
                <a:tc>
                  <a:txBody>
                    <a:bodyPr/>
                    <a:lstStyle/>
                    <a:p>
                      <a:pPr>
                        <a:defRPr sz="1500" b="1">
                          <a:solidFill>
                            <a:srgbClr val="FFFFFF"/>
                          </a:solidFill>
                          <a:latin typeface="Microsoft YaHei"/>
                        </a:defRPr>
                      </a:pPr>
                      <a:r>
                        <a:t>参数</a:t>
                      </a:r>
                    </a:p>
                  </a:txBody>
                  <a:tcPr marL="91440" marR="64008" marT="64008" marB="45720">
                    <a:solidFill>
                      <a:srgbClr val="063584"/>
                    </a:solidFill>
                  </a:tcPr>
                </a:tc>
                <a:tc>
                  <a:txBody>
                    <a:bodyPr/>
                    <a:lstStyle/>
                    <a:p>
                      <a:pPr>
                        <a:defRPr sz="1500" b="1">
                          <a:solidFill>
                            <a:srgbClr val="FFFFFF"/>
                          </a:solidFill>
                          <a:latin typeface="Microsoft YaHei"/>
                        </a:defRPr>
                      </a:pPr>
                      <a:r>
                        <a:t>已记录内容</a:t>
                      </a:r>
                    </a:p>
                  </a:txBody>
                  <a:tcPr marL="91440" marR="64008" marT="64008" marB="45720">
                    <a:solidFill>
                      <a:srgbClr val="063584"/>
                    </a:solidFill>
                  </a:tcPr>
                </a:tc>
              </a:tr>
              <a:tr h="440436">
                <a:tc>
                  <a:txBody>
                    <a:bodyPr/>
                    <a:lstStyle/>
                    <a:p>
                      <a:pPr>
                        <a:defRPr sz="1500" b="0">
                          <a:solidFill>
                            <a:srgbClr val="111111"/>
                          </a:solidFill>
                          <a:latin typeface="Microsoft YaHei"/>
                        </a:defRPr>
                      </a:pPr>
                      <a:r>
                        <a:t>底物用量</a:t>
                      </a:r>
                    </a:p>
                  </a:txBody>
                  <a:tcPr marL="91440" marR="64008" marT="64008" marB="45720">
                    <a:solidFill>
                      <a:srgbClr val="FFFFFF"/>
                    </a:solidFill>
                  </a:tcPr>
                </a:tc>
                <a:tc>
                  <a:txBody>
                    <a:bodyPr/>
                    <a:lstStyle/>
                    <a:p>
                      <a:pPr>
                        <a:defRPr sz="1500" b="0">
                          <a:solidFill>
                            <a:srgbClr val="111111"/>
                          </a:solidFill>
                          <a:latin typeface="Microsoft YaHei"/>
                        </a:defRPr>
                      </a:pPr>
                      <a:r>
                        <a:t>2-氯戊烷，0.5 mmol</a:t>
                      </a:r>
                    </a:p>
                  </a:txBody>
                  <a:tcPr marL="91440" marR="64008" marT="64008" marB="45720">
                    <a:solidFill>
                      <a:srgbClr val="FFFFFF"/>
                    </a:solidFill>
                  </a:tcPr>
                </a:tc>
              </a:tr>
              <a:tr h="440436">
                <a:tc>
                  <a:txBody>
                    <a:bodyPr/>
                    <a:lstStyle/>
                    <a:p>
                      <a:pPr>
                        <a:defRPr sz="1500" b="0">
                          <a:solidFill>
                            <a:srgbClr val="111111"/>
                          </a:solidFill>
                          <a:latin typeface="Microsoft YaHei"/>
                        </a:defRPr>
                      </a:pPr>
                      <a:r>
                        <a:t>光敏组分</a:t>
                      </a:r>
                    </a:p>
                  </a:txBody>
                  <a:tcPr marL="91440" marR="64008" marT="64008" marB="45720">
                    <a:solidFill>
                      <a:srgbClr val="EDF3FF"/>
                    </a:solidFill>
                  </a:tcPr>
                </a:tc>
                <a:tc>
                  <a:txBody>
                    <a:bodyPr/>
                    <a:lstStyle/>
                    <a:p>
                      <a:pPr>
                        <a:defRPr sz="1500" b="0">
                          <a:solidFill>
                            <a:srgbClr val="111111"/>
                          </a:solidFill>
                          <a:latin typeface="Microsoft YaHei"/>
                        </a:defRPr>
                      </a:pPr>
                      <a:r>
                        <a:t>乙基蒽醌，5 mg/mL</a:t>
                      </a:r>
                    </a:p>
                  </a:txBody>
                  <a:tcPr marL="91440" marR="64008" marT="64008" marB="45720">
                    <a:solidFill>
                      <a:srgbClr val="EDF3FF"/>
                    </a:solidFill>
                  </a:tcPr>
                </a:tc>
              </a:tr>
              <a:tr h="440436">
                <a:tc>
                  <a:txBody>
                    <a:bodyPr/>
                    <a:lstStyle/>
                    <a:p>
                      <a:pPr>
                        <a:defRPr sz="1500" b="0">
                          <a:solidFill>
                            <a:srgbClr val="111111"/>
                          </a:solidFill>
                          <a:latin typeface="Microsoft YaHei"/>
                        </a:defRPr>
                      </a:pPr>
                      <a:r>
                        <a:t>介质体积</a:t>
                      </a:r>
                    </a:p>
                  </a:txBody>
                  <a:tcPr marL="91440" marR="64008" marT="64008" marB="45720">
                    <a:solidFill>
                      <a:srgbClr val="FFFFFF"/>
                    </a:solidFill>
                  </a:tcPr>
                </a:tc>
                <a:tc>
                  <a:txBody>
                    <a:bodyPr/>
                    <a:lstStyle/>
                    <a:p>
                      <a:pPr>
                        <a:defRPr sz="1500" b="0">
                          <a:solidFill>
                            <a:srgbClr val="111111"/>
                          </a:solidFill>
                          <a:latin typeface="Microsoft YaHei"/>
                        </a:defRPr>
                      </a:pPr>
                      <a:r>
                        <a:t>DCE，4 mL</a:t>
                      </a:r>
                    </a:p>
                  </a:txBody>
                  <a:tcPr marL="91440" marR="64008" marT="64008" marB="45720">
                    <a:solidFill>
                      <a:srgbClr val="FFFFFF"/>
                    </a:solidFill>
                  </a:tcPr>
                </a:tc>
              </a:tr>
              <a:tr h="440436">
                <a:tc>
                  <a:txBody>
                    <a:bodyPr/>
                    <a:lstStyle/>
                    <a:p>
                      <a:pPr>
                        <a:defRPr sz="1500" b="0">
                          <a:solidFill>
                            <a:srgbClr val="111111"/>
                          </a:solidFill>
                          <a:latin typeface="Microsoft YaHei"/>
                        </a:defRPr>
                      </a:pPr>
                      <a:r>
                        <a:t>光源 / 时间</a:t>
                      </a:r>
                    </a:p>
                  </a:txBody>
                  <a:tcPr marL="91440" marR="64008" marT="64008" marB="45720">
                    <a:solidFill>
                      <a:srgbClr val="EDF3FF"/>
                    </a:solidFill>
                  </a:tcPr>
                </a:tc>
                <a:tc>
                  <a:txBody>
                    <a:bodyPr/>
                    <a:lstStyle/>
                    <a:p>
                      <a:pPr>
                        <a:defRPr sz="1500" b="0">
                          <a:solidFill>
                            <a:srgbClr val="111111"/>
                          </a:solidFill>
                          <a:latin typeface="Microsoft YaHei"/>
                        </a:defRPr>
                      </a:pPr>
                      <a:r>
                        <a:t>365 nm，6 h</a:t>
                      </a:r>
                    </a:p>
                  </a:txBody>
                  <a:tcPr marL="91440" marR="64008" marT="64008" marB="45720">
                    <a:solidFill>
                      <a:srgbClr val="EDF3FF"/>
                    </a:solidFill>
                  </a:tcPr>
                </a:tc>
              </a:tr>
              <a:tr h="440436">
                <a:tc>
                  <a:txBody>
                    <a:bodyPr/>
                    <a:lstStyle/>
                    <a:p>
                      <a:pPr>
                        <a:defRPr sz="1500" b="0">
                          <a:solidFill>
                            <a:srgbClr val="111111"/>
                          </a:solidFill>
                          <a:latin typeface="Microsoft YaHei"/>
                        </a:defRPr>
                      </a:pPr>
                      <a:r>
                        <a:t>气氛条件</a:t>
                      </a:r>
                    </a:p>
                  </a:txBody>
                  <a:tcPr marL="91440" marR="64008" marT="64008" marB="45720">
                    <a:solidFill>
                      <a:srgbClr val="FFFFFF"/>
                    </a:solidFill>
                  </a:tcPr>
                </a:tc>
                <a:tc>
                  <a:txBody>
                    <a:bodyPr/>
                    <a:lstStyle/>
                    <a:p>
                      <a:pPr>
                        <a:defRPr sz="1500" b="0">
                          <a:solidFill>
                            <a:srgbClr val="111111"/>
                          </a:solidFill>
                          <a:latin typeface="Microsoft YaHei"/>
                        </a:defRPr>
                      </a:pPr>
                      <a:r>
                        <a:t>O₂ / O₂ 鼓泡 / N₂ / 空气</a:t>
                      </a:r>
                    </a:p>
                  </a:txBody>
                  <a:tcPr marL="91440" marR="64008" marT="64008" marB="45720">
                    <a:solidFill>
                      <a:srgbClr val="FFFFFF"/>
                    </a:solidFill>
                  </a:tcPr>
                </a:tc>
              </a:tr>
            </a:tbl>
          </a:graphicData>
        </a:graphic>
      </p:graphicFrame>
      <p:sp>
        <p:nvSpPr>
          <p:cNvPr id="31" name="Rounded Rectangle 30"/>
          <p:cNvSpPr/>
          <p:nvPr/>
        </p:nvSpPr>
        <p:spPr>
          <a:xfrm>
            <a:off x="4599432" y="4974336"/>
            <a:ext cx="7040880" cy="77724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800600" y="5111496"/>
            <a:ext cx="6601968" cy="457200"/>
          </a:xfrm>
          <a:prstGeom prst="rect">
            <a:avLst/>
          </a:prstGeom>
          <a:noFill/>
          <a:effectLst/>
        </p:spPr>
        <p:txBody>
          <a:bodyPr wrap="square" lIns="22860" rIns="22860" tIns="0" bIns="0">
            <a:spAutoFit/>
          </a:bodyPr>
          <a:lstStyle/>
          <a:p>
            <a:pPr>
              <a:spcAft>
                <a:spcPts val="600"/>
              </a:spcAft>
              <a:defRPr sz="1400" b="1">
                <a:solidFill>
                  <a:srgbClr val="063584"/>
                </a:solidFill>
                <a:latin typeface="Microsoft YaHei"/>
              </a:defRPr>
            </a:pPr>
            <a:r>
              <a:t>光通量、实际温度、试剂身份及定量方法待核实；</a:t>
            </a:r>
          </a:p>
          <a:p>
            <a:pPr>
              <a:spcAft>
                <a:spcPts val="600"/>
              </a:spcAft>
              <a:defRPr sz="1400" b="1">
                <a:solidFill>
                  <a:srgbClr val="063584"/>
                </a:solidFill>
                <a:latin typeface="Microsoft YaHei"/>
              </a:defRPr>
            </a:pPr>
            <a:r>
              <a:t>常温常压是研究目标，不补写为已测量结果。</a:t>
            </a:r>
          </a:p>
        </p:txBody>
      </p:sp>
      <p:sp>
        <p:nvSpPr>
          <p:cNvPr id="33" name="Rectangle 32"/>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Chevron 33"/>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6" name="TextBox 35"/>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先保留真实条件与缺口，再判断所记录的转化率及产物信号。</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实验观察：已有转化记录，预期产物仍未得到可靠确认</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底物消耗、候选信号与目标产物收率属于不同证据层级，不相互替代</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数据：用户原始实验 PPT，第8页；候选结构与计算方法尚待复核。</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12</a:t>
            </a:r>
          </a:p>
        </p:txBody>
      </p:sp>
      <p:sp>
        <p:nvSpPr>
          <p:cNvPr id="7" name="Rounded Rectangle 6"/>
          <p:cNvSpPr/>
          <p:nvPr/>
        </p:nvSpPr>
        <p:spPr>
          <a:xfrm>
            <a:off x="438912" y="1417320"/>
            <a:ext cx="4727448" cy="348386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467258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4434840"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四种气氛下已记录的转化率 / %</a:t>
            </a:r>
          </a:p>
        </p:txBody>
      </p:sp>
      <p:graphicFrame>
        <p:nvGraphicFramePr>
          <p:cNvPr id="10" name="Chart 9"/>
          <p:cNvGraphicFramePr>
            <a:graphicFrameLocks noGrp="1"/>
          </p:cNvGraphicFramePr>
          <p:nvPr/>
        </p:nvGraphicFramePr>
        <p:xfrm>
          <a:off x="621792" y="1984248"/>
          <a:ext cx="4361688" cy="2670048"/>
        </p:xfrm>
        <a:graphic>
          <a:graphicData uri="http://schemas.openxmlformats.org/drawingml/2006/chart">
            <c:chart xmlns:c="http://schemas.openxmlformats.org/drawingml/2006/chart" r:id="rId2"/>
          </a:graphicData>
        </a:graphic>
      </p:graphicFrame>
      <p:sp>
        <p:nvSpPr>
          <p:cNvPr id="11" name="Rounded Rectangle 10"/>
          <p:cNvSpPr/>
          <p:nvPr/>
        </p:nvSpPr>
        <p:spPr>
          <a:xfrm>
            <a:off x="5376672" y="1417320"/>
            <a:ext cx="6263640" cy="348386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5404104" y="1444752"/>
            <a:ext cx="62087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5522976" y="1495044"/>
            <a:ext cx="59710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候选产物：原始定性记录</a:t>
            </a:r>
          </a:p>
        </p:txBody>
      </p:sp>
      <p:graphicFrame>
        <p:nvGraphicFramePr>
          <p:cNvPr id="14" name="Table 13"/>
          <p:cNvGraphicFramePr>
            <a:graphicFrameLocks noGrp="1"/>
          </p:cNvGraphicFramePr>
          <p:nvPr/>
        </p:nvGraphicFramePr>
        <p:xfrm>
          <a:off x="5504688" y="1947672"/>
          <a:ext cx="5998464" cy="2697480"/>
        </p:xfrm>
        <a:graphic>
          <a:graphicData uri="http://schemas.openxmlformats.org/drawingml/2006/table">
            <a:tbl>
              <a:tblPr firstRow="1" bandRow="1">
                <a:tableStyleId>{5C22544A-7EE6-4342-B048-85BDC9FD1C3A}</a:tableStyleId>
              </a:tblPr>
              <a:tblGrid>
                <a:gridCol w="2011680"/>
                <a:gridCol w="1188720"/>
                <a:gridCol w="1097280"/>
                <a:gridCol w="914400"/>
                <a:gridCol w="786384"/>
              </a:tblGrid>
              <a:tr h="385354">
                <a:tc>
                  <a:txBody>
                    <a:bodyPr/>
                    <a:lstStyle/>
                    <a:p>
                      <a:pPr>
                        <a:defRPr sz="1050" b="1">
                          <a:solidFill>
                            <a:srgbClr val="FFFFFF"/>
                          </a:solidFill>
                          <a:latin typeface="Microsoft YaHei"/>
                        </a:defRPr>
                      </a:pPr>
                      <a:r>
                        <a:t>条件</a:t>
                      </a:r>
                    </a:p>
                  </a:txBody>
                  <a:tcPr marL="91440" marR="64008" marT="64008" marB="45720">
                    <a:solidFill>
                      <a:srgbClr val="063584"/>
                    </a:solidFill>
                  </a:tcPr>
                </a:tc>
                <a:tc>
                  <a:txBody>
                    <a:bodyPr/>
                    <a:lstStyle/>
                    <a:p>
                      <a:pPr>
                        <a:defRPr sz="1050" b="1">
                          <a:solidFill>
                            <a:srgbClr val="FFFFFF"/>
                          </a:solidFill>
                          <a:latin typeface="Microsoft YaHei"/>
                        </a:defRPr>
                      </a:pPr>
                      <a:r>
                        <a:t>2,4-二氯戊烷</a:t>
                      </a:r>
                    </a:p>
                  </a:txBody>
                  <a:tcPr marL="91440" marR="64008" marT="64008" marB="45720">
                    <a:solidFill>
                      <a:srgbClr val="063584"/>
                    </a:solidFill>
                  </a:tcPr>
                </a:tc>
                <a:tc>
                  <a:txBody>
                    <a:bodyPr/>
                    <a:lstStyle/>
                    <a:p>
                      <a:pPr>
                        <a:defRPr sz="1050" b="1">
                          <a:solidFill>
                            <a:srgbClr val="FFFFFF"/>
                          </a:solidFill>
                          <a:latin typeface="Microsoft YaHei"/>
                        </a:defRPr>
                      </a:pPr>
                      <a:r>
                        <a:t>四氯丁烷类</a:t>
                      </a:r>
                    </a:p>
                  </a:txBody>
                  <a:tcPr marL="91440" marR="64008" marT="64008" marB="45720">
                    <a:solidFill>
                      <a:srgbClr val="063584"/>
                    </a:solidFill>
                  </a:tcPr>
                </a:tc>
                <a:tc>
                  <a:txBody>
                    <a:bodyPr/>
                    <a:lstStyle/>
                    <a:p>
                      <a:pPr>
                        <a:defRPr sz="1050" b="1">
                          <a:solidFill>
                            <a:srgbClr val="FFFFFF"/>
                          </a:solidFill>
                          <a:latin typeface="Microsoft YaHei"/>
                        </a:defRPr>
                      </a:pPr>
                      <a:r>
                        <a:t>氯乙酸</a:t>
                      </a:r>
                    </a:p>
                  </a:txBody>
                  <a:tcPr marL="91440" marR="64008" marT="64008" marB="45720">
                    <a:solidFill>
                      <a:srgbClr val="063584"/>
                    </a:solidFill>
                  </a:tcPr>
                </a:tc>
                <a:tc>
                  <a:txBody>
                    <a:bodyPr/>
                    <a:lstStyle/>
                    <a:p>
                      <a:pPr>
                        <a:defRPr sz="1050" b="1">
                          <a:solidFill>
                            <a:srgbClr val="FFFFFF"/>
                          </a:solidFill>
                          <a:latin typeface="Microsoft YaHei"/>
                        </a:defRPr>
                      </a:pPr>
                      <a:r>
                        <a:t>未知</a:t>
                      </a:r>
                    </a:p>
                  </a:txBody>
                  <a:tcPr marL="91440" marR="64008" marT="64008" marB="45720">
                    <a:solidFill>
                      <a:srgbClr val="063584"/>
                    </a:solidFill>
                  </a:tcPr>
                </a:tc>
              </a:tr>
              <a:tr h="385354">
                <a:tc>
                  <a:txBody>
                    <a:bodyPr/>
                    <a:lstStyle/>
                    <a:p>
                      <a:pPr>
                        <a:defRPr sz="1050" b="0">
                          <a:solidFill>
                            <a:srgbClr val="111111"/>
                          </a:solidFill>
                          <a:latin typeface="Microsoft YaHei"/>
                        </a:defRPr>
                      </a:pPr>
                      <a:r>
                        <a:t>O₂</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r>
              <a:tr h="385354">
                <a:tc>
                  <a:txBody>
                    <a:bodyPr/>
                    <a:lstStyle/>
                    <a:p>
                      <a:pPr>
                        <a:defRPr sz="1050" b="0">
                          <a:solidFill>
                            <a:srgbClr val="111111"/>
                          </a:solidFill>
                          <a:latin typeface="Microsoft YaHei"/>
                        </a:defRPr>
                      </a:pPr>
                      <a:r>
                        <a:t>O₂ 鼓泡</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r>
              <a:tr h="385354">
                <a:tc>
                  <a:txBody>
                    <a:bodyPr/>
                    <a:lstStyle/>
                    <a:p>
                      <a:pPr>
                        <a:defRPr sz="1050" b="0">
                          <a:solidFill>
                            <a:srgbClr val="111111"/>
                          </a:solidFill>
                          <a:latin typeface="Microsoft YaHei"/>
                        </a:defRPr>
                      </a:pPr>
                      <a:r>
                        <a:t>N₂</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n.d.</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r>
              <a:tr h="385354">
                <a:tc>
                  <a:txBody>
                    <a:bodyPr/>
                    <a:lstStyle/>
                    <a:p>
                      <a:pPr>
                        <a:defRPr sz="1050" b="0">
                          <a:solidFill>
                            <a:srgbClr val="111111"/>
                          </a:solidFill>
                          <a:latin typeface="Microsoft YaHei"/>
                        </a:defRPr>
                      </a:pPr>
                      <a:r>
                        <a:t>空气</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n.d.</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r>
              <a:tr h="385354">
                <a:tc>
                  <a:txBody>
                    <a:bodyPr/>
                    <a:lstStyle/>
                    <a:p>
                      <a:pPr>
                        <a:defRPr sz="1050" b="0">
                          <a:solidFill>
                            <a:srgbClr val="111111"/>
                          </a:solidFill>
                          <a:latin typeface="Microsoft YaHei"/>
                        </a:defRPr>
                      </a:pPr>
                      <a:r>
                        <a:t>乙腈 / 各气氛</a:t>
                      </a:r>
                    </a:p>
                  </a:txBody>
                  <a:tcPr marL="91440" marR="64008" marT="64008" marB="45720">
                    <a:solidFill>
                      <a:srgbClr val="FFFFFF"/>
                    </a:solidFill>
                  </a:tcPr>
                </a:tc>
                <a:tc>
                  <a:txBody>
                    <a:bodyPr/>
                    <a:lstStyle/>
                    <a:p>
                      <a:pPr>
                        <a:defRPr sz="1050" b="0">
                          <a:solidFill>
                            <a:srgbClr val="111111"/>
                          </a:solidFill>
                          <a:latin typeface="Microsoft YaHei"/>
                        </a:defRPr>
                      </a:pPr>
                      <a:r>
                        <a:t>n.d.</a:t>
                      </a:r>
                    </a:p>
                  </a:txBody>
                  <a:tcPr marL="91440" marR="64008" marT="64008" marB="45720">
                    <a:solidFill>
                      <a:srgbClr val="FFFFFF"/>
                    </a:solidFill>
                  </a:tcPr>
                </a:tc>
                <a:tc>
                  <a:txBody>
                    <a:bodyPr/>
                    <a:lstStyle/>
                    <a:p>
                      <a:pPr>
                        <a:defRPr sz="1050" b="0">
                          <a:solidFill>
                            <a:srgbClr val="111111"/>
                          </a:solidFill>
                          <a:latin typeface="Microsoft YaHei"/>
                        </a:defRPr>
                      </a:pPr>
                      <a:r>
                        <a:t>n.d.</a:t>
                      </a:r>
                    </a:p>
                  </a:txBody>
                  <a:tcPr marL="91440" marR="64008" marT="64008" marB="45720">
                    <a:solidFill>
                      <a:srgbClr val="FFFFFF"/>
                    </a:solidFill>
                  </a:tcPr>
                </a:tc>
                <a:tc>
                  <a:txBody>
                    <a:bodyPr/>
                    <a:lstStyle/>
                    <a:p>
                      <a:pPr>
                        <a:defRPr sz="1050" b="0">
                          <a:solidFill>
                            <a:srgbClr val="111111"/>
                          </a:solidFill>
                          <a:latin typeface="Microsoft YaHei"/>
                        </a:defRPr>
                      </a:pPr>
                      <a:r>
                        <a:t>n.d.</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r>
              <a:tr h="385356">
                <a:tc>
                  <a:txBody>
                    <a:bodyPr/>
                    <a:lstStyle/>
                    <a:p>
                      <a:pPr>
                        <a:defRPr sz="1050" b="0">
                          <a:solidFill>
                            <a:srgbClr val="111111"/>
                          </a:solidFill>
                          <a:latin typeface="Microsoft YaHei"/>
                        </a:defRPr>
                      </a:pPr>
                      <a:r>
                        <a:t>乙腈 / 2.5 mmol 2-CP</a:t>
                      </a:r>
                    </a:p>
                  </a:txBody>
                  <a:tcPr marL="91440" marR="64008" marT="64008" marB="45720">
                    <a:solidFill>
                      <a:srgbClr val="EDF3FF"/>
                    </a:solidFill>
                  </a:tcPr>
                </a:tc>
                <a:tc>
                  <a:txBody>
                    <a:bodyPr/>
                    <a:lstStyle/>
                    <a:p>
                      <a:pPr>
                        <a:defRPr sz="1050" b="0">
                          <a:solidFill>
                            <a:srgbClr val="111111"/>
                          </a:solidFill>
                          <a:latin typeface="Microsoft YaHei"/>
                        </a:defRPr>
                      </a:pPr>
                      <a:r>
                        <a:t>n.d.</a:t>
                      </a:r>
                    </a:p>
                  </a:txBody>
                  <a:tcPr marL="91440" marR="64008" marT="64008" marB="45720">
                    <a:solidFill>
                      <a:srgbClr val="EDF3FF"/>
                    </a:solidFill>
                  </a:tcPr>
                </a:tc>
                <a:tc>
                  <a:txBody>
                    <a:bodyPr/>
                    <a:lstStyle/>
                    <a:p>
                      <a:pPr>
                        <a:defRPr sz="1050" b="0">
                          <a:solidFill>
                            <a:srgbClr val="111111"/>
                          </a:solidFill>
                          <a:latin typeface="Microsoft YaHei"/>
                        </a:defRPr>
                      </a:pPr>
                      <a:r>
                        <a:t>n.d.</a:t>
                      </a:r>
                    </a:p>
                  </a:txBody>
                  <a:tcPr marL="91440" marR="64008" marT="64008" marB="45720">
                    <a:solidFill>
                      <a:srgbClr val="EDF3FF"/>
                    </a:solidFill>
                  </a:tcPr>
                </a:tc>
                <a:tc>
                  <a:txBody>
                    <a:bodyPr/>
                    <a:lstStyle/>
                    <a:p>
                      <a:pPr>
                        <a:defRPr sz="1050" b="0">
                          <a:solidFill>
                            <a:srgbClr val="111111"/>
                          </a:solidFill>
                          <a:latin typeface="Microsoft YaHei"/>
                        </a:defRPr>
                      </a:pPr>
                      <a:r>
                        <a:t>n.d.</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r>
            </a:tbl>
          </a:graphicData>
        </a:graphic>
      </p:graphicFrame>
      <p:sp>
        <p:nvSpPr>
          <p:cNvPr id="15" name="Rounded Rectangle 14"/>
          <p:cNvSpPr/>
          <p:nvPr/>
        </p:nvSpPr>
        <p:spPr>
          <a:xfrm>
            <a:off x="438912" y="5093208"/>
            <a:ext cx="11201400" cy="658368"/>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40080" y="5221224"/>
            <a:ext cx="5239512" cy="429768"/>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定量缺口：计算式、内标、响应校准未提供。</a:t>
            </a:r>
          </a:p>
          <a:p>
            <a:pPr>
              <a:spcAft>
                <a:spcPts val="600"/>
              </a:spcAft>
              <a:defRPr sz="1350" b="1">
                <a:solidFill>
                  <a:srgbClr val="063584"/>
                </a:solidFill>
                <a:latin typeface="Microsoft YaHei"/>
              </a:defRPr>
            </a:pPr>
            <a:r>
              <a:t>无平行实验信息，不添加误差线。</a:t>
            </a:r>
          </a:p>
        </p:txBody>
      </p:sp>
      <p:sp>
        <p:nvSpPr>
          <p:cNvPr id="17" name="TextBox 16"/>
          <p:cNvSpPr txBox="1"/>
          <p:nvPr/>
        </p:nvSpPr>
        <p:spPr>
          <a:xfrm>
            <a:off x="5971032" y="5221224"/>
            <a:ext cx="5376672" cy="429768"/>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定性缺口：候选峰归属待标准品确认。</a:t>
            </a:r>
          </a:p>
          <a:p>
            <a:pPr>
              <a:spcAft>
                <a:spcPts val="600"/>
              </a:spcAft>
              <a:defRPr sz="1350" b="1">
                <a:solidFill>
                  <a:srgbClr val="063584"/>
                </a:solidFill>
                <a:latin typeface="Microsoft YaHei"/>
              </a:defRPr>
            </a:pPr>
            <a:r>
              <a:t>保留 √、n.d. 与 /，不将其解释为收率。</a:t>
            </a:r>
          </a:p>
        </p:txBody>
      </p:sp>
      <p:sp>
        <p:nvSpPr>
          <p:cNvPr id="18" name="Rectangle 17"/>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Chevron 18"/>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21" name="TextBox 20"/>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当前优先任务是核对“消耗—产物—物料”的对应关系，而非直接优化转化率。</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问题分析：溶剂相关信号要求重新检查初始活化与分析归属</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观察：预期模型产物未明确确认；DCE 相关候选信号出现；乙腈中未见同类明确产物</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实验观察：用户补充说明与原始记录；下列解释均为待验证假说。</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13</a:t>
            </a:r>
          </a:p>
        </p:txBody>
      </p:sp>
      <p:sp>
        <p:nvSpPr>
          <p:cNvPr id="7" name="Rounded Rectangle 6"/>
          <p:cNvSpPr/>
          <p:nvPr/>
        </p:nvSpPr>
        <p:spPr>
          <a:xfrm>
            <a:off x="438912" y="1417320"/>
            <a:ext cx="3602736"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39496" y="1508760"/>
            <a:ext cx="3401568"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现象一：目标产物未确认</a:t>
            </a:r>
          </a:p>
        </p:txBody>
      </p:sp>
      <p:sp>
        <p:nvSpPr>
          <p:cNvPr id="9" name="TextBox 8"/>
          <p:cNvSpPr txBox="1"/>
          <p:nvPr/>
        </p:nvSpPr>
        <p:spPr>
          <a:xfrm>
            <a:off x="539496" y="1837944"/>
            <a:ext cx="3401568"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不能以底物消耗替代结构确证</a:t>
            </a:r>
          </a:p>
        </p:txBody>
      </p:sp>
      <p:sp>
        <p:nvSpPr>
          <p:cNvPr id="10" name="Rounded Rectangle 9"/>
          <p:cNvSpPr/>
          <p:nvPr/>
        </p:nvSpPr>
        <p:spPr>
          <a:xfrm>
            <a:off x="4242816" y="1417320"/>
            <a:ext cx="3602736"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343400" y="1508760"/>
            <a:ext cx="3401568"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现象二：介质相关信号</a:t>
            </a:r>
          </a:p>
        </p:txBody>
      </p:sp>
      <p:sp>
        <p:nvSpPr>
          <p:cNvPr id="12" name="TextBox 11"/>
          <p:cNvSpPr txBox="1"/>
          <p:nvPr/>
        </p:nvSpPr>
        <p:spPr>
          <a:xfrm>
            <a:off x="4343400" y="1837944"/>
            <a:ext cx="3401568"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DCE 可能不是惰性背景</a:t>
            </a:r>
          </a:p>
        </p:txBody>
      </p:sp>
      <p:sp>
        <p:nvSpPr>
          <p:cNvPr id="13" name="Rounded Rectangle 12"/>
          <p:cNvSpPr/>
          <p:nvPr/>
        </p:nvSpPr>
        <p:spPr>
          <a:xfrm>
            <a:off x="8037575" y="1417320"/>
            <a:ext cx="3602736"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138159" y="1508760"/>
            <a:ext cx="3401568"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现象三：换介质后差异明显</a:t>
            </a:r>
          </a:p>
        </p:txBody>
      </p:sp>
      <p:sp>
        <p:nvSpPr>
          <p:cNvPr id="15" name="TextBox 14"/>
          <p:cNvSpPr txBox="1"/>
          <p:nvPr/>
        </p:nvSpPr>
        <p:spPr>
          <a:xfrm>
            <a:off x="8138159" y="1837944"/>
            <a:ext cx="3401568"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化学参与与物理性质需要分离</a:t>
            </a:r>
          </a:p>
        </p:txBody>
      </p:sp>
      <p:graphicFrame>
        <p:nvGraphicFramePr>
          <p:cNvPr id="16" name="Table 15"/>
          <p:cNvGraphicFramePr>
            <a:graphicFrameLocks noGrp="1"/>
          </p:cNvGraphicFramePr>
          <p:nvPr/>
        </p:nvGraphicFramePr>
        <p:xfrm>
          <a:off x="438912" y="2432304"/>
          <a:ext cx="11201400" cy="3319272"/>
        </p:xfrm>
        <a:graphic>
          <a:graphicData uri="http://schemas.openxmlformats.org/drawingml/2006/table">
            <a:tbl>
              <a:tblPr firstRow="1" bandRow="1">
                <a:tableStyleId>{5C22544A-7EE6-4342-B048-85BDC9FD1C3A}</a:tableStyleId>
              </a:tblPr>
              <a:tblGrid>
                <a:gridCol w="2697480"/>
                <a:gridCol w="3931920"/>
                <a:gridCol w="4572000"/>
              </a:tblGrid>
              <a:tr h="474181">
                <a:tc>
                  <a:txBody>
                    <a:bodyPr/>
                    <a:lstStyle/>
                    <a:p>
                      <a:pPr>
                        <a:defRPr sz="1400" b="1">
                          <a:solidFill>
                            <a:srgbClr val="FFFFFF"/>
                          </a:solidFill>
                          <a:latin typeface="Microsoft YaHei"/>
                        </a:defRPr>
                      </a:pPr>
                      <a:r>
                        <a:t>竞争解释</a:t>
                      </a:r>
                    </a:p>
                  </a:txBody>
                  <a:tcPr marL="91440" marR="64008" marT="64008" marB="45720">
                    <a:solidFill>
                      <a:srgbClr val="063584"/>
                    </a:solidFill>
                  </a:tcPr>
                </a:tc>
                <a:tc>
                  <a:txBody>
                    <a:bodyPr/>
                    <a:lstStyle/>
                    <a:p>
                      <a:pPr>
                        <a:defRPr sz="1400" b="1">
                          <a:solidFill>
                            <a:srgbClr val="FFFFFF"/>
                          </a:solidFill>
                          <a:latin typeface="Microsoft YaHei"/>
                        </a:defRPr>
                      </a:pPr>
                      <a:r>
                        <a:t>分析重点</a:t>
                      </a:r>
                    </a:p>
                  </a:txBody>
                  <a:tcPr marL="91440" marR="64008" marT="64008" marB="45720">
                    <a:solidFill>
                      <a:srgbClr val="063584"/>
                    </a:solidFill>
                  </a:tcPr>
                </a:tc>
                <a:tc>
                  <a:txBody>
                    <a:bodyPr/>
                    <a:lstStyle/>
                    <a:p>
                      <a:pPr>
                        <a:defRPr sz="1400" b="1">
                          <a:solidFill>
                            <a:srgbClr val="FFFFFF"/>
                          </a:solidFill>
                          <a:latin typeface="Microsoft YaHei"/>
                        </a:defRPr>
                      </a:pPr>
                      <a:r>
                        <a:t>区分实验</a:t>
                      </a:r>
                    </a:p>
                  </a:txBody>
                  <a:tcPr marL="91440" marR="64008" marT="64008" marB="45720">
                    <a:solidFill>
                      <a:srgbClr val="063584"/>
                    </a:solidFill>
                  </a:tcPr>
                </a:tc>
              </a:tr>
              <a:tr h="474181">
                <a:tc>
                  <a:txBody>
                    <a:bodyPr/>
                    <a:lstStyle/>
                    <a:p>
                      <a:pPr>
                        <a:defRPr sz="1400" b="0">
                          <a:solidFill>
                            <a:srgbClr val="111111"/>
                          </a:solidFill>
                          <a:latin typeface="Microsoft YaHei"/>
                        </a:defRPr>
                      </a:pPr>
                      <a:r>
                        <a:t>DCE 本身反应</a:t>
                      </a:r>
                    </a:p>
                  </a:txBody>
                  <a:tcPr marL="91440" marR="64008" marT="64008" marB="45720">
                    <a:solidFill>
                      <a:srgbClr val="FFFFFF"/>
                    </a:solidFill>
                  </a:tcPr>
                </a:tc>
                <a:tc>
                  <a:txBody>
                    <a:bodyPr/>
                    <a:lstStyle/>
                    <a:p>
                      <a:pPr>
                        <a:defRPr sz="1400" b="0">
                          <a:solidFill>
                            <a:srgbClr val="111111"/>
                          </a:solidFill>
                          <a:latin typeface="Microsoft YaHei"/>
                        </a:defRPr>
                      </a:pPr>
                      <a:r>
                        <a:t>介质可能产生背景 / 副产物</a:t>
                      </a:r>
                    </a:p>
                  </a:txBody>
                  <a:tcPr marL="91440" marR="64008" marT="64008" marB="45720">
                    <a:solidFill>
                      <a:srgbClr val="FFFFFF"/>
                    </a:solidFill>
                  </a:tcPr>
                </a:tc>
                <a:tc>
                  <a:txBody>
                    <a:bodyPr/>
                    <a:lstStyle/>
                    <a:p>
                      <a:pPr>
                        <a:defRPr sz="1400" b="0">
                          <a:solidFill>
                            <a:srgbClr val="111111"/>
                          </a:solidFill>
                          <a:latin typeface="Microsoft YaHei"/>
                        </a:defRPr>
                      </a:pPr>
                      <a:r>
                        <a:t>无底物 DCE + EAQ 光照空白</a:t>
                      </a:r>
                    </a:p>
                  </a:txBody>
                  <a:tcPr marL="91440" marR="64008" marT="64008" marB="45720">
                    <a:solidFill>
                      <a:srgbClr val="FFFFFF"/>
                    </a:solidFill>
                  </a:tcPr>
                </a:tc>
              </a:tr>
              <a:tr h="474181">
                <a:tc>
                  <a:txBody>
                    <a:bodyPr/>
                    <a:lstStyle/>
                    <a:p>
                      <a:pPr>
                        <a:defRPr sz="1400" b="0">
                          <a:solidFill>
                            <a:srgbClr val="111111"/>
                          </a:solidFill>
                          <a:latin typeface="Microsoft YaHei"/>
                        </a:defRPr>
                      </a:pPr>
                      <a:r>
                        <a:t>EAQ* 与溶剂优先作用</a:t>
                      </a:r>
                    </a:p>
                  </a:txBody>
                  <a:tcPr marL="91440" marR="64008" marT="64008" marB="45720">
                    <a:solidFill>
                      <a:srgbClr val="EDF3FF"/>
                    </a:solidFill>
                  </a:tcPr>
                </a:tc>
                <a:tc>
                  <a:txBody>
                    <a:bodyPr/>
                    <a:lstStyle/>
                    <a:p>
                      <a:pPr>
                        <a:defRPr sz="1400" b="0">
                          <a:solidFill>
                            <a:srgbClr val="111111"/>
                          </a:solidFill>
                          <a:latin typeface="Microsoft YaHei"/>
                        </a:defRPr>
                      </a:pPr>
                      <a:r>
                        <a:t>浓度与激发态相互作用竞争</a:t>
                      </a:r>
                    </a:p>
                  </a:txBody>
                  <a:tcPr marL="91440" marR="64008" marT="64008" marB="45720">
                    <a:solidFill>
                      <a:srgbClr val="EDF3FF"/>
                    </a:solidFill>
                  </a:tcPr>
                </a:tc>
                <a:tc>
                  <a:txBody>
                    <a:bodyPr/>
                    <a:lstStyle/>
                    <a:p>
                      <a:pPr>
                        <a:defRPr sz="1400" b="0">
                          <a:solidFill>
                            <a:srgbClr val="111111"/>
                          </a:solidFill>
                          <a:latin typeface="Microsoft YaHei"/>
                        </a:defRPr>
                      </a:pPr>
                      <a:r>
                        <a:t>吸收 / 必要时瞬态测量；配对介质</a:t>
                      </a:r>
                    </a:p>
                  </a:txBody>
                  <a:tcPr marL="91440" marR="64008" marT="64008" marB="45720">
                    <a:solidFill>
                      <a:srgbClr val="EDF3FF"/>
                    </a:solidFill>
                  </a:tcPr>
                </a:tc>
              </a:tr>
              <a:tr h="474181">
                <a:tc>
                  <a:txBody>
                    <a:bodyPr/>
                    <a:lstStyle/>
                    <a:p>
                      <a:pPr>
                        <a:defRPr sz="1400" b="0">
                          <a:solidFill>
                            <a:srgbClr val="111111"/>
                          </a:solidFill>
                          <a:latin typeface="Microsoft YaHei"/>
                        </a:defRPr>
                      </a:pPr>
                      <a:r>
                        <a:t>模型初始活化不足</a:t>
                      </a:r>
                    </a:p>
                  </a:txBody>
                  <a:tcPr marL="91440" marR="64008" marT="64008" marB="45720">
                    <a:solidFill>
                      <a:srgbClr val="FFFFFF"/>
                    </a:solidFill>
                  </a:tcPr>
                </a:tc>
                <a:tc>
                  <a:txBody>
                    <a:bodyPr/>
                    <a:lstStyle/>
                    <a:p>
                      <a:pPr>
                        <a:defRPr sz="1400" b="0">
                          <a:solidFill>
                            <a:srgbClr val="111111"/>
                          </a:solidFill>
                          <a:latin typeface="Microsoft YaHei"/>
                        </a:defRPr>
                      </a:pPr>
                      <a:r>
                        <a:t>底物未有效进入预想路径</a:t>
                      </a:r>
                    </a:p>
                  </a:txBody>
                  <a:tcPr marL="91440" marR="64008" marT="64008" marB="45720">
                    <a:solidFill>
                      <a:srgbClr val="FFFFFF"/>
                    </a:solidFill>
                  </a:tcPr>
                </a:tc>
                <a:tc>
                  <a:txBody>
                    <a:bodyPr/>
                    <a:lstStyle/>
                    <a:p>
                      <a:pPr>
                        <a:defRPr sz="1400" b="0">
                          <a:solidFill>
                            <a:srgbClr val="111111"/>
                          </a:solidFill>
                          <a:latin typeface="Microsoft YaHei"/>
                        </a:defRPr>
                      </a:pPr>
                      <a:r>
                        <a:t>底物回收、浓度与时间曲线</a:t>
                      </a:r>
                    </a:p>
                  </a:txBody>
                  <a:tcPr marL="91440" marR="64008" marT="64008" marB="45720">
                    <a:solidFill>
                      <a:srgbClr val="FFFFFF"/>
                    </a:solidFill>
                  </a:tcPr>
                </a:tc>
              </a:tr>
              <a:tr h="474181">
                <a:tc>
                  <a:txBody>
                    <a:bodyPr/>
                    <a:lstStyle/>
                    <a:p>
                      <a:pPr>
                        <a:defRPr sz="1400" b="0">
                          <a:solidFill>
                            <a:srgbClr val="111111"/>
                          </a:solidFill>
                          <a:latin typeface="Microsoft YaHei"/>
                        </a:defRPr>
                      </a:pPr>
                      <a:r>
                        <a:t>产物未被当前方法识别</a:t>
                      </a:r>
                    </a:p>
                  </a:txBody>
                  <a:tcPr marL="91440" marR="64008" marT="64008" marB="45720">
                    <a:solidFill>
                      <a:srgbClr val="EDF3FF"/>
                    </a:solidFill>
                  </a:tcPr>
                </a:tc>
                <a:tc>
                  <a:txBody>
                    <a:bodyPr/>
                    <a:lstStyle/>
                    <a:p>
                      <a:pPr>
                        <a:defRPr sz="1400" b="0">
                          <a:solidFill>
                            <a:srgbClr val="111111"/>
                          </a:solidFill>
                          <a:latin typeface="Microsoft YaHei"/>
                        </a:defRPr>
                      </a:pPr>
                      <a:r>
                        <a:t>挥发性、极性或不稳定组分漏检</a:t>
                      </a:r>
                    </a:p>
                  </a:txBody>
                  <a:tcPr marL="91440" marR="64008" marT="64008" marB="45720">
                    <a:solidFill>
                      <a:srgbClr val="EDF3FF"/>
                    </a:solidFill>
                  </a:tcPr>
                </a:tc>
                <a:tc>
                  <a:txBody>
                    <a:bodyPr/>
                    <a:lstStyle/>
                    <a:p>
                      <a:pPr>
                        <a:defRPr sz="1400" b="0">
                          <a:solidFill>
                            <a:srgbClr val="111111"/>
                          </a:solidFill>
                          <a:latin typeface="Microsoft YaHei"/>
                        </a:defRPr>
                      </a:pPr>
                      <a:r>
                        <a:t>标准品、检测窗口与加标回收</a:t>
                      </a:r>
                    </a:p>
                  </a:txBody>
                  <a:tcPr marL="91440" marR="64008" marT="64008" marB="45720">
                    <a:solidFill>
                      <a:srgbClr val="EDF3FF"/>
                    </a:solidFill>
                  </a:tcPr>
                </a:tc>
              </a:tr>
              <a:tr h="474181">
                <a:tc>
                  <a:txBody>
                    <a:bodyPr/>
                    <a:lstStyle/>
                    <a:p>
                      <a:pPr>
                        <a:defRPr sz="1400" b="0">
                          <a:solidFill>
                            <a:srgbClr val="111111"/>
                          </a:solidFill>
                          <a:latin typeface="Microsoft YaHei"/>
                        </a:defRPr>
                      </a:pPr>
                      <a:r>
                        <a:t>氧气改变路径</a:t>
                      </a:r>
                    </a:p>
                  </a:txBody>
                  <a:tcPr marL="91440" marR="64008" marT="64008" marB="45720">
                    <a:solidFill>
                      <a:srgbClr val="FFFFFF"/>
                    </a:solidFill>
                  </a:tcPr>
                </a:tc>
                <a:tc>
                  <a:txBody>
                    <a:bodyPr/>
                    <a:lstStyle/>
                    <a:p>
                      <a:pPr>
                        <a:defRPr sz="1400" b="0">
                          <a:solidFill>
                            <a:srgbClr val="111111"/>
                          </a:solidFill>
                          <a:latin typeface="Microsoft YaHei"/>
                        </a:defRPr>
                      </a:pPr>
                      <a:r>
                        <a:t>氧参与、猝灭或传质影响结果</a:t>
                      </a:r>
                    </a:p>
                  </a:txBody>
                  <a:tcPr marL="91440" marR="64008" marT="64008" marB="45720">
                    <a:solidFill>
                      <a:srgbClr val="FFFFFF"/>
                    </a:solidFill>
                  </a:tcPr>
                </a:tc>
                <a:tc>
                  <a:txBody>
                    <a:bodyPr/>
                    <a:lstStyle/>
                    <a:p>
                      <a:pPr>
                        <a:defRPr sz="1400" b="0">
                          <a:solidFill>
                            <a:srgbClr val="111111"/>
                          </a:solidFill>
                          <a:latin typeface="Microsoft YaHei"/>
                        </a:defRPr>
                      </a:pPr>
                      <a:r>
                        <a:t>O₂ / N₂ 配对与氧化产物分析</a:t>
                      </a:r>
                    </a:p>
                  </a:txBody>
                  <a:tcPr marL="91440" marR="64008" marT="64008" marB="45720">
                    <a:solidFill>
                      <a:srgbClr val="FFFFFF"/>
                    </a:solidFill>
                  </a:tcPr>
                </a:tc>
              </a:tr>
              <a:tr h="474186">
                <a:tc>
                  <a:txBody>
                    <a:bodyPr/>
                    <a:lstStyle/>
                    <a:p>
                      <a:pPr>
                        <a:defRPr sz="1400" b="0">
                          <a:solidFill>
                            <a:srgbClr val="111111"/>
                          </a:solidFill>
                          <a:latin typeface="Microsoft YaHei"/>
                        </a:defRPr>
                      </a:pPr>
                      <a:r>
                        <a:t>转化率仍需方法学复核</a:t>
                      </a:r>
                    </a:p>
                  </a:txBody>
                  <a:tcPr marL="91440" marR="64008" marT="64008" marB="45720">
                    <a:solidFill>
                      <a:srgbClr val="EDF3FF"/>
                    </a:solidFill>
                  </a:tcPr>
                </a:tc>
                <a:tc>
                  <a:txBody>
                    <a:bodyPr/>
                    <a:lstStyle/>
                    <a:p>
                      <a:pPr>
                        <a:defRPr sz="1400" b="0">
                          <a:solidFill>
                            <a:srgbClr val="111111"/>
                          </a:solidFill>
                          <a:latin typeface="Microsoft YaHei"/>
                        </a:defRPr>
                      </a:pPr>
                      <a:r>
                        <a:t>峰重叠、响应因子或内标偏差</a:t>
                      </a:r>
                    </a:p>
                  </a:txBody>
                  <a:tcPr marL="91440" marR="64008" marT="64008" marB="45720">
                    <a:solidFill>
                      <a:srgbClr val="EDF3FF"/>
                    </a:solidFill>
                  </a:tcPr>
                </a:tc>
                <a:tc>
                  <a:txBody>
                    <a:bodyPr/>
                    <a:lstStyle/>
                    <a:p>
                      <a:pPr>
                        <a:defRPr sz="1400" b="0">
                          <a:solidFill>
                            <a:srgbClr val="111111"/>
                          </a:solidFill>
                          <a:latin typeface="Microsoft YaHei"/>
                        </a:defRPr>
                      </a:pPr>
                      <a:r>
                        <a:t>重审原始色谱与校准曲线</a:t>
                      </a:r>
                    </a:p>
                  </a:txBody>
                  <a:tcPr marL="91440" marR="64008" marT="64008" marB="45720">
                    <a:solidFill>
                      <a:srgbClr val="EDF3FF"/>
                    </a:solidFill>
                  </a:tcPr>
                </a:tc>
              </a:tr>
            </a:tbl>
          </a:graphicData>
        </a:graphic>
      </p:graphicFrame>
      <p:sp>
        <p:nvSpPr>
          <p:cNvPr id="17" name="Rectangle 16"/>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Chevron 17"/>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20" name="TextBox 19"/>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六种解释允许并存，先用空白与分析验证缩小范围，再决定反应条件优化。</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机理修正：将介质竞争纳入与目标底物并行的反应网络</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保留 AQ 激发与氧相关反应的合理入口，暂不指定单一供氢体或唯一活性物种</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Chen et al., Environ. Sci. Ecotechnol. 2024, 22, 100449. Su et al., Angew. Chem. Int. Ed. 2026, e5578835.；本课题支路均待验证。</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14</a:t>
            </a:r>
          </a:p>
        </p:txBody>
      </p:sp>
      <p:sp>
        <p:nvSpPr>
          <p:cNvPr id="7" name="Rounded Rectangle 6"/>
          <p:cNvSpPr/>
          <p:nvPr/>
        </p:nvSpPr>
        <p:spPr>
          <a:xfrm>
            <a:off x="438912" y="1417320"/>
            <a:ext cx="11201400" cy="93268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111465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109087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共同入口</a:t>
            </a:r>
          </a:p>
        </p:txBody>
      </p:sp>
      <p:sp>
        <p:nvSpPr>
          <p:cNvPr id="10" name="TextBox 9"/>
          <p:cNvSpPr txBox="1"/>
          <p:nvPr/>
        </p:nvSpPr>
        <p:spPr>
          <a:xfrm>
            <a:off x="795528" y="1911095"/>
            <a:ext cx="3794760" cy="292608"/>
          </a:xfrm>
          <a:prstGeom prst="rect">
            <a:avLst/>
          </a:prstGeom>
          <a:noFill/>
          <a:effectLst/>
        </p:spPr>
        <p:txBody>
          <a:bodyPr wrap="square" lIns="22860" rIns="22860" tIns="0" bIns="0">
            <a:spAutoFit/>
          </a:bodyPr>
          <a:lstStyle/>
          <a:p>
            <a:pPr>
              <a:spcAft>
                <a:spcPts val="600"/>
              </a:spcAft>
              <a:defRPr sz="2200" b="1">
                <a:solidFill>
                  <a:srgbClr val="063584"/>
                </a:solidFill>
                <a:latin typeface="Microsoft YaHei"/>
              </a:defRPr>
            </a:pPr>
            <a:r>
              <a:t>EAQ ─hν / ISC→ ³EAQ*</a:t>
            </a:r>
          </a:p>
        </p:txBody>
      </p:sp>
      <p:sp>
        <p:nvSpPr>
          <p:cNvPr id="11" name="TextBox 10"/>
          <p:cNvSpPr txBox="1"/>
          <p:nvPr/>
        </p:nvSpPr>
        <p:spPr>
          <a:xfrm>
            <a:off x="5148072" y="1911095"/>
            <a:ext cx="5897880" cy="292608"/>
          </a:xfrm>
          <a:prstGeom prst="rect">
            <a:avLst/>
          </a:prstGeom>
          <a:noFill/>
          <a:effectLst/>
        </p:spPr>
        <p:txBody>
          <a:bodyPr wrap="square" lIns="22860" rIns="22860" tIns="0" bIns="0">
            <a:spAutoFit/>
          </a:bodyPr>
          <a:lstStyle/>
          <a:p>
            <a:pPr>
              <a:spcAft>
                <a:spcPts val="600"/>
              </a:spcAft>
              <a:defRPr sz="1700" b="1">
                <a:solidFill>
                  <a:srgbClr val="111111"/>
                </a:solidFill>
                <a:latin typeface="Microsoft YaHei"/>
              </a:defRPr>
            </a:pPr>
            <a:r>
              <a:t>分流取决于吸光、浓度、反应性与氧条件</a:t>
            </a:r>
          </a:p>
        </p:txBody>
      </p:sp>
      <p:cxnSp>
        <p:nvCxnSpPr>
          <p:cNvPr id="12" name="Connector 11"/>
          <p:cNvCxnSpPr/>
          <p:nvPr/>
        </p:nvCxnSpPr>
        <p:spPr>
          <a:xfrm>
            <a:off x="2057400" y="2560320"/>
            <a:ext cx="0" cy="329184"/>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a:off x="6071616" y="2560320"/>
            <a:ext cx="0" cy="329184"/>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10040112" y="2560320"/>
            <a:ext cx="0" cy="329184"/>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15" name="Rounded Rectangle 14"/>
          <p:cNvSpPr/>
          <p:nvPr/>
        </p:nvSpPr>
        <p:spPr>
          <a:xfrm>
            <a:off x="438912" y="3072384"/>
            <a:ext cx="3602736" cy="2679192"/>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466344" y="3099815"/>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85216" y="3150108"/>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目标底物支路</a:t>
            </a:r>
          </a:p>
        </p:txBody>
      </p:sp>
      <p:sp>
        <p:nvSpPr>
          <p:cNvPr id="18" name="TextBox 17"/>
          <p:cNvSpPr txBox="1"/>
          <p:nvPr/>
        </p:nvSpPr>
        <p:spPr>
          <a:xfrm>
            <a:off x="612647" y="3675887"/>
            <a:ext cx="3255264" cy="429768"/>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模型 / PVC → R·</a:t>
            </a:r>
          </a:p>
        </p:txBody>
      </p:sp>
      <p:sp>
        <p:nvSpPr>
          <p:cNvPr id="19" name="TextBox 18"/>
          <p:cNvSpPr txBox="1"/>
          <p:nvPr/>
        </p:nvSpPr>
        <p:spPr>
          <a:xfrm>
            <a:off x="612647" y="4425696"/>
            <a:ext cx="3255264" cy="557784"/>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R· + O₂ → ROO· → 含氧结构</a:t>
            </a:r>
          </a:p>
        </p:txBody>
      </p:sp>
      <p:sp>
        <p:nvSpPr>
          <p:cNvPr id="20" name="TextBox 19"/>
          <p:cNvSpPr txBox="1"/>
          <p:nvPr/>
        </p:nvSpPr>
        <p:spPr>
          <a:xfrm>
            <a:off x="612647" y="5266944"/>
            <a:ext cx="3255264" cy="310896"/>
          </a:xfrm>
          <a:prstGeom prst="rect">
            <a:avLst/>
          </a:prstGeom>
          <a:noFill/>
          <a:effectLst/>
        </p:spPr>
        <p:txBody>
          <a:bodyPr wrap="square" lIns="22860" rIns="22860" tIns="0" bIns="0">
            <a:spAutoFit/>
          </a:bodyPr>
          <a:lstStyle/>
          <a:p>
            <a:pPr algn="ctr">
              <a:spcAft>
                <a:spcPts val="600"/>
              </a:spcAft>
              <a:defRPr sz="1170" b="0">
                <a:solidFill>
                  <a:srgbClr val="566273"/>
                </a:solidFill>
                <a:latin typeface="Microsoft YaHei"/>
              </a:defRPr>
            </a:pPr>
            <a:r>
              <a:t>依据：一般反应性；本体系待证</a:t>
            </a:r>
          </a:p>
        </p:txBody>
      </p:sp>
      <p:sp>
        <p:nvSpPr>
          <p:cNvPr id="21" name="Rounded Rectangle 20"/>
          <p:cNvSpPr/>
          <p:nvPr/>
        </p:nvSpPr>
        <p:spPr>
          <a:xfrm>
            <a:off x="4233672" y="3072384"/>
            <a:ext cx="3602736" cy="2679192"/>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4261104" y="3099815"/>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379976" y="3150108"/>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介质竞争支路</a:t>
            </a:r>
          </a:p>
        </p:txBody>
      </p:sp>
      <p:sp>
        <p:nvSpPr>
          <p:cNvPr id="24" name="TextBox 23"/>
          <p:cNvSpPr txBox="1"/>
          <p:nvPr/>
        </p:nvSpPr>
        <p:spPr>
          <a:xfrm>
            <a:off x="4407408" y="3675887"/>
            <a:ext cx="3255264" cy="429768"/>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DCE → 介质衍生物种</a:t>
            </a:r>
          </a:p>
        </p:txBody>
      </p:sp>
      <p:sp>
        <p:nvSpPr>
          <p:cNvPr id="25" name="TextBox 24"/>
          <p:cNvSpPr txBox="1"/>
          <p:nvPr/>
        </p:nvSpPr>
        <p:spPr>
          <a:xfrm>
            <a:off x="4407408" y="4425696"/>
            <a:ext cx="3255264" cy="557784"/>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候选副产物 / 光敏组分消耗</a:t>
            </a:r>
          </a:p>
        </p:txBody>
      </p:sp>
      <p:sp>
        <p:nvSpPr>
          <p:cNvPr id="26" name="TextBox 25"/>
          <p:cNvSpPr txBox="1"/>
          <p:nvPr/>
        </p:nvSpPr>
        <p:spPr>
          <a:xfrm>
            <a:off x="4407408" y="5266944"/>
            <a:ext cx="3255264" cy="310896"/>
          </a:xfrm>
          <a:prstGeom prst="rect">
            <a:avLst/>
          </a:prstGeom>
          <a:noFill/>
          <a:effectLst/>
        </p:spPr>
        <p:txBody>
          <a:bodyPr wrap="square" lIns="22860" rIns="22860" tIns="0" bIns="0">
            <a:spAutoFit/>
          </a:bodyPr>
          <a:lstStyle/>
          <a:p>
            <a:pPr algn="ctr">
              <a:spcAft>
                <a:spcPts val="600"/>
              </a:spcAft>
              <a:defRPr sz="1170" b="0">
                <a:solidFill>
                  <a:srgbClr val="566273"/>
                </a:solidFill>
                <a:latin typeface="Microsoft YaHei"/>
              </a:defRPr>
            </a:pPr>
            <a:r>
              <a:t>依据：已有候选信号；来源待证</a:t>
            </a:r>
          </a:p>
        </p:txBody>
      </p:sp>
      <p:sp>
        <p:nvSpPr>
          <p:cNvPr id="27" name="Rounded Rectangle 26"/>
          <p:cNvSpPr/>
          <p:nvPr/>
        </p:nvSpPr>
        <p:spPr>
          <a:xfrm>
            <a:off x="8028432" y="3072384"/>
            <a:ext cx="3602736" cy="2679192"/>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8055864" y="3099815"/>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8174736" y="3150108"/>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氧与含氯物种支路</a:t>
            </a:r>
          </a:p>
        </p:txBody>
      </p:sp>
      <p:sp>
        <p:nvSpPr>
          <p:cNvPr id="30" name="TextBox 29"/>
          <p:cNvSpPr txBox="1"/>
          <p:nvPr/>
        </p:nvSpPr>
        <p:spPr>
          <a:xfrm>
            <a:off x="8202168" y="3675887"/>
            <a:ext cx="3255264" cy="429768"/>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ROS / Cl· 的候选参与</a:t>
            </a:r>
          </a:p>
        </p:txBody>
      </p:sp>
      <p:sp>
        <p:nvSpPr>
          <p:cNvPr id="31" name="TextBox 30"/>
          <p:cNvSpPr txBox="1"/>
          <p:nvPr/>
        </p:nvSpPr>
        <p:spPr>
          <a:xfrm>
            <a:off x="8202168" y="4425696"/>
            <a:ext cx="3255264" cy="557784"/>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影响启动、HAT 与后续路径</a:t>
            </a:r>
          </a:p>
        </p:txBody>
      </p:sp>
      <p:sp>
        <p:nvSpPr>
          <p:cNvPr id="32" name="TextBox 31"/>
          <p:cNvSpPr txBox="1"/>
          <p:nvPr/>
        </p:nvSpPr>
        <p:spPr>
          <a:xfrm>
            <a:off x="8202168" y="5266944"/>
            <a:ext cx="3255264" cy="310896"/>
          </a:xfrm>
          <a:prstGeom prst="rect">
            <a:avLst/>
          </a:prstGeom>
          <a:noFill/>
          <a:effectLst/>
        </p:spPr>
        <p:txBody>
          <a:bodyPr wrap="square" lIns="22860" rIns="22860" tIns="0" bIns="0">
            <a:spAutoFit/>
          </a:bodyPr>
          <a:lstStyle/>
          <a:p>
            <a:pPr algn="ctr">
              <a:spcAft>
                <a:spcPts val="600"/>
              </a:spcAft>
              <a:defRPr sz="1170" b="0">
                <a:solidFill>
                  <a:srgbClr val="566273"/>
                </a:solidFill>
                <a:latin typeface="Microsoft YaHei"/>
              </a:defRPr>
            </a:pPr>
            <a:r>
              <a:t>依据：相关文献；本体系待证</a:t>
            </a:r>
          </a:p>
        </p:txBody>
      </p:sp>
      <p:sp>
        <p:nvSpPr>
          <p:cNvPr id="33" name="Rectangle 32"/>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Chevron 33"/>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6" name="TextBox 35"/>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修正的是竞争路径与证据等级，不将任何候选支路包装成已经成立的催化循环。</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第一轮实验先拆分光、EAQ、介质和氧的作用</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所有组采用统一内标、校准、时间与温度记录；一次只改变一个主要因素</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15</a:t>
            </a:r>
          </a:p>
        </p:txBody>
      </p:sp>
      <p:sp>
        <p:nvSpPr>
          <p:cNvPr id="7" name="Rounded Rectangle 6"/>
          <p:cNvSpPr/>
          <p:nvPr/>
        </p:nvSpPr>
        <p:spPr>
          <a:xfrm>
            <a:off x="438912" y="1417320"/>
            <a:ext cx="5477256" cy="2066543"/>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54223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51846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光照 / 暗反应</a:t>
            </a:r>
          </a:p>
        </p:txBody>
      </p:sp>
      <p:sp>
        <p:nvSpPr>
          <p:cNvPr id="10" name="Oval 9"/>
          <p:cNvSpPr/>
          <p:nvPr/>
        </p:nvSpPr>
        <p:spPr>
          <a:xfrm>
            <a:off x="621792" y="197510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26364" y="198424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12" name="TextBox 11"/>
          <p:cNvSpPr txBox="1"/>
          <p:nvPr/>
        </p:nvSpPr>
        <p:spPr>
          <a:xfrm>
            <a:off x="1005840" y="1984248"/>
            <a:ext cx="4599432" cy="347472"/>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识别光驱动贡献</a:t>
            </a:r>
          </a:p>
        </p:txBody>
      </p:sp>
      <p:sp>
        <p:nvSpPr>
          <p:cNvPr id="13" name="TextBox 12"/>
          <p:cNvSpPr txBox="1"/>
          <p:nvPr/>
        </p:nvSpPr>
        <p:spPr>
          <a:xfrm>
            <a:off x="640080" y="2523744"/>
            <a:ext cx="5074920" cy="33832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同温、同取样；记录有效光通量</a:t>
            </a:r>
          </a:p>
        </p:txBody>
      </p:sp>
      <p:sp>
        <p:nvSpPr>
          <p:cNvPr id="14" name="TextBox 13"/>
          <p:cNvSpPr txBox="1"/>
          <p:nvPr/>
        </p:nvSpPr>
        <p:spPr>
          <a:xfrm>
            <a:off x="640080" y="2999232"/>
            <a:ext cx="5074920" cy="29260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观察：底物回收与产物净生成</a:t>
            </a:r>
          </a:p>
        </p:txBody>
      </p:sp>
      <p:sp>
        <p:nvSpPr>
          <p:cNvPr id="15" name="Rounded Rectangle 14"/>
          <p:cNvSpPr/>
          <p:nvPr/>
        </p:nvSpPr>
        <p:spPr>
          <a:xfrm>
            <a:off x="6163056" y="1417320"/>
            <a:ext cx="5477256" cy="2066543"/>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6190488" y="1444752"/>
            <a:ext cx="54223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309360" y="1495044"/>
            <a:ext cx="51846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有 / 无 EAQ；AQ / EAQ</a:t>
            </a:r>
          </a:p>
        </p:txBody>
      </p:sp>
      <p:sp>
        <p:nvSpPr>
          <p:cNvPr id="18" name="Oval 17"/>
          <p:cNvSpPr/>
          <p:nvPr/>
        </p:nvSpPr>
        <p:spPr>
          <a:xfrm>
            <a:off x="6345936" y="197510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350508" y="198424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20" name="TextBox 19"/>
          <p:cNvSpPr txBox="1"/>
          <p:nvPr/>
        </p:nvSpPr>
        <p:spPr>
          <a:xfrm>
            <a:off x="6729984" y="1984248"/>
            <a:ext cx="4599432" cy="347472"/>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量化光敏增益与取代基影响</a:t>
            </a:r>
          </a:p>
        </p:txBody>
      </p:sp>
      <p:sp>
        <p:nvSpPr>
          <p:cNvPr id="21" name="TextBox 20"/>
          <p:cNvSpPr txBox="1"/>
          <p:nvPr/>
        </p:nvSpPr>
        <p:spPr>
          <a:xfrm>
            <a:off x="6364224" y="2523744"/>
            <a:ext cx="5074920" cy="33832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匹配吸收；检查光敏剂稳定性</a:t>
            </a:r>
          </a:p>
        </p:txBody>
      </p:sp>
      <p:sp>
        <p:nvSpPr>
          <p:cNvPr id="22" name="TextBox 21"/>
          <p:cNvSpPr txBox="1"/>
          <p:nvPr/>
        </p:nvSpPr>
        <p:spPr>
          <a:xfrm>
            <a:off x="6364224" y="2999232"/>
            <a:ext cx="5074920" cy="29260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观察：相对空白的净变化</a:t>
            </a:r>
          </a:p>
        </p:txBody>
      </p:sp>
      <p:sp>
        <p:nvSpPr>
          <p:cNvPr id="23" name="Rounded Rectangle 22"/>
          <p:cNvSpPr/>
          <p:nvPr/>
        </p:nvSpPr>
        <p:spPr>
          <a:xfrm>
            <a:off x="438912" y="3685032"/>
            <a:ext cx="5477256" cy="2066543"/>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unded Rectangle 23"/>
          <p:cNvSpPr/>
          <p:nvPr/>
        </p:nvSpPr>
        <p:spPr>
          <a:xfrm>
            <a:off x="466344" y="3712464"/>
            <a:ext cx="54223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585216" y="3762756"/>
            <a:ext cx="51846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DCE / 非氯配对介质</a:t>
            </a:r>
          </a:p>
        </p:txBody>
      </p:sp>
      <p:sp>
        <p:nvSpPr>
          <p:cNvPr id="26" name="Oval 25"/>
          <p:cNvSpPr/>
          <p:nvPr/>
        </p:nvSpPr>
        <p:spPr>
          <a:xfrm>
            <a:off x="621792" y="4242816"/>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26364" y="4251960"/>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28" name="TextBox 27"/>
          <p:cNvSpPr txBox="1"/>
          <p:nvPr/>
        </p:nvSpPr>
        <p:spPr>
          <a:xfrm>
            <a:off x="1005840" y="4251960"/>
            <a:ext cx="4599432" cy="347472"/>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区分介质反应与物理效应</a:t>
            </a:r>
          </a:p>
        </p:txBody>
      </p:sp>
      <p:sp>
        <p:nvSpPr>
          <p:cNvPr id="29" name="TextBox 28"/>
          <p:cNvSpPr txBox="1"/>
          <p:nvPr/>
        </p:nvSpPr>
        <p:spPr>
          <a:xfrm>
            <a:off x="640080" y="4791456"/>
            <a:ext cx="5074920" cy="33832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控制溶解性、浓度与吸光</a:t>
            </a:r>
          </a:p>
        </p:txBody>
      </p:sp>
      <p:sp>
        <p:nvSpPr>
          <p:cNvPr id="30" name="TextBox 29"/>
          <p:cNvSpPr txBox="1"/>
          <p:nvPr/>
        </p:nvSpPr>
        <p:spPr>
          <a:xfrm>
            <a:off x="640080" y="5266944"/>
            <a:ext cx="5074920" cy="29260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观察：相同候选产物的来源</a:t>
            </a:r>
          </a:p>
        </p:txBody>
      </p:sp>
      <p:sp>
        <p:nvSpPr>
          <p:cNvPr id="31" name="Rounded Rectangle 30"/>
          <p:cNvSpPr/>
          <p:nvPr/>
        </p:nvSpPr>
        <p:spPr>
          <a:xfrm>
            <a:off x="6163056" y="3685032"/>
            <a:ext cx="5477256" cy="2066543"/>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6190488" y="3712464"/>
            <a:ext cx="54223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6309360" y="3762756"/>
            <a:ext cx="51846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O₂ / N₂ / 空气</a:t>
            </a:r>
          </a:p>
        </p:txBody>
      </p:sp>
      <p:sp>
        <p:nvSpPr>
          <p:cNvPr id="34" name="Oval 33"/>
          <p:cNvSpPr/>
          <p:nvPr/>
        </p:nvSpPr>
        <p:spPr>
          <a:xfrm>
            <a:off x="6345936" y="4242816"/>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6350508" y="4251960"/>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4</a:t>
            </a:r>
          </a:p>
        </p:txBody>
      </p:sp>
      <p:sp>
        <p:nvSpPr>
          <p:cNvPr id="36" name="TextBox 35"/>
          <p:cNvSpPr txBox="1"/>
          <p:nvPr/>
        </p:nvSpPr>
        <p:spPr>
          <a:xfrm>
            <a:off x="6729984" y="4251960"/>
            <a:ext cx="4599432" cy="347472"/>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分离氧作用与供气传质影响</a:t>
            </a:r>
          </a:p>
        </p:txBody>
      </p:sp>
      <p:sp>
        <p:nvSpPr>
          <p:cNvPr id="37" name="TextBox 36"/>
          <p:cNvSpPr txBox="1"/>
          <p:nvPr/>
        </p:nvSpPr>
        <p:spPr>
          <a:xfrm>
            <a:off x="6364224" y="4791456"/>
            <a:ext cx="5074920" cy="33832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残余氧、供气方式与搅拌一致</a:t>
            </a:r>
          </a:p>
        </p:txBody>
      </p:sp>
      <p:sp>
        <p:nvSpPr>
          <p:cNvPr id="38" name="TextBox 37"/>
          <p:cNvSpPr txBox="1"/>
          <p:nvPr/>
        </p:nvSpPr>
        <p:spPr>
          <a:xfrm>
            <a:off x="6364224" y="5266944"/>
            <a:ext cx="5074920" cy="29260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观察：速率与产物分布变化</a:t>
            </a:r>
          </a:p>
        </p:txBody>
      </p:sp>
      <p:sp>
        <p:nvSpPr>
          <p:cNvPr id="39" name="Rectangle 38"/>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Chevron 39"/>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42" name="TextBox 41"/>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确认必要条件与介质背景后，再对特定自由基与再生路径作机制归属。</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第二轮实验以物种、氯与链长证据交叉约束机制</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不以单一捕获剂抑制或一条阳性信号作为完整机理证明</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Gardette et al., Macromolecules 1989, 22, 2576–2581. Qin et al., Appl. Catal. B: Environ. 2024, 341, 123355. Su et al., Angew. Chem. Int. Ed. 2026, e5578835.</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16</a:t>
            </a:r>
          </a:p>
        </p:txBody>
      </p:sp>
      <p:sp>
        <p:nvSpPr>
          <p:cNvPr id="7" name="Rounded Rectangle 6"/>
          <p:cNvSpPr/>
          <p:nvPr/>
        </p:nvSpPr>
        <p:spPr>
          <a:xfrm>
            <a:off x="438912" y="1417320"/>
            <a:ext cx="3602736" cy="340156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自由基 / ROS</a:t>
            </a:r>
          </a:p>
        </p:txBody>
      </p:sp>
      <p:sp>
        <p:nvSpPr>
          <p:cNvPr id="10" name="TextBox 9"/>
          <p:cNvSpPr txBox="1"/>
          <p:nvPr/>
        </p:nvSpPr>
        <p:spPr>
          <a:xfrm>
            <a:off x="603503" y="2020824"/>
            <a:ext cx="3273552" cy="64008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R· + 捕获剂 → 加合物</a:t>
            </a:r>
          </a:p>
        </p:txBody>
      </p:sp>
      <p:cxnSp>
        <p:nvCxnSpPr>
          <p:cNvPr id="11" name="Connector 10"/>
          <p:cNvCxnSpPr/>
          <p:nvPr/>
        </p:nvCxnSpPr>
        <p:spPr>
          <a:xfrm>
            <a:off x="2240280" y="2807208"/>
            <a:ext cx="0" cy="27432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03503" y="3264408"/>
            <a:ext cx="3273552" cy="393192"/>
          </a:xfrm>
          <a:prstGeom prst="rect">
            <a:avLst/>
          </a:prstGeom>
          <a:noFill/>
          <a:effectLst/>
        </p:spPr>
        <p:txBody>
          <a:bodyPr wrap="square" lIns="22860" rIns="22860" tIns="0" bIns="0">
            <a:spAutoFit/>
          </a:bodyPr>
          <a:lstStyle/>
          <a:p>
            <a:pPr algn="ctr">
              <a:spcAft>
                <a:spcPts val="600"/>
              </a:spcAft>
              <a:defRPr sz="1900" b="1">
                <a:solidFill>
                  <a:srgbClr val="063584"/>
                </a:solidFill>
                <a:latin typeface="Microsoft YaHei"/>
              </a:defRPr>
            </a:pPr>
            <a:r>
              <a:t>EPR + 化学捕获</a:t>
            </a:r>
          </a:p>
        </p:txBody>
      </p:sp>
      <p:sp>
        <p:nvSpPr>
          <p:cNvPr id="13" name="TextBox 12"/>
          <p:cNvSpPr txBox="1"/>
          <p:nvPr/>
        </p:nvSpPr>
        <p:spPr>
          <a:xfrm>
            <a:off x="603503" y="3913632"/>
            <a:ext cx="3273552" cy="603504"/>
          </a:xfrm>
          <a:prstGeom prst="rect">
            <a:avLst/>
          </a:prstGeom>
          <a:noFill/>
          <a:effectLst/>
        </p:spPr>
        <p:txBody>
          <a:bodyPr wrap="square" lIns="22860" rIns="22860" tIns="0" bIns="0">
            <a:spAutoFit/>
          </a:bodyPr>
          <a:lstStyle/>
          <a:p>
            <a:pPr algn="ctr">
              <a:spcAft>
                <a:spcPts val="600"/>
              </a:spcAft>
              <a:defRPr sz="1400" b="0">
                <a:solidFill>
                  <a:srgbClr val="566273"/>
                </a:solidFill>
                <a:latin typeface="Microsoft YaHei"/>
              </a:defRPr>
            </a:pPr>
            <a:r>
              <a:t>探针空白、模拟与选择性</a:t>
            </a:r>
          </a:p>
          <a:p>
            <a:pPr algn="ctr">
              <a:spcAft>
                <a:spcPts val="600"/>
              </a:spcAft>
              <a:defRPr sz="1400" b="0">
                <a:solidFill>
                  <a:srgbClr val="566273"/>
                </a:solidFill>
                <a:latin typeface="Microsoft YaHei"/>
              </a:defRPr>
            </a:pPr>
            <a:r>
              <a:t>区分 Cl·、R· 和氧相关物种</a:t>
            </a:r>
          </a:p>
        </p:txBody>
      </p:sp>
      <p:sp>
        <p:nvSpPr>
          <p:cNvPr id="14" name="Rounded Rectangle 13"/>
          <p:cNvSpPr/>
          <p:nvPr/>
        </p:nvSpPr>
        <p:spPr>
          <a:xfrm>
            <a:off x="4233672" y="1417320"/>
            <a:ext cx="3602736" cy="340156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4261104" y="1444752"/>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379976" y="1495044"/>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氯的去向</a:t>
            </a:r>
          </a:p>
        </p:txBody>
      </p:sp>
      <p:sp>
        <p:nvSpPr>
          <p:cNvPr id="17" name="TextBox 16"/>
          <p:cNvSpPr txBox="1"/>
          <p:nvPr/>
        </p:nvSpPr>
        <p:spPr>
          <a:xfrm>
            <a:off x="4398264" y="2020824"/>
            <a:ext cx="3273552" cy="64008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C–Cl → 含氯产物 / Cl⁻</a:t>
            </a:r>
          </a:p>
        </p:txBody>
      </p:sp>
      <p:cxnSp>
        <p:nvCxnSpPr>
          <p:cNvPr id="18" name="Connector 17"/>
          <p:cNvCxnSpPr/>
          <p:nvPr/>
        </p:nvCxnSpPr>
        <p:spPr>
          <a:xfrm>
            <a:off x="6035040" y="2807208"/>
            <a:ext cx="0" cy="27432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4398264" y="3264408"/>
            <a:ext cx="3273552" cy="393192"/>
          </a:xfrm>
          <a:prstGeom prst="rect">
            <a:avLst/>
          </a:prstGeom>
          <a:noFill/>
          <a:effectLst/>
        </p:spPr>
        <p:txBody>
          <a:bodyPr wrap="square" lIns="22860" rIns="22860" tIns="0" bIns="0">
            <a:spAutoFit/>
          </a:bodyPr>
          <a:lstStyle/>
          <a:p>
            <a:pPr algn="ctr">
              <a:spcAft>
                <a:spcPts val="600"/>
              </a:spcAft>
              <a:defRPr sz="1900" b="1">
                <a:solidFill>
                  <a:srgbClr val="063584"/>
                </a:solidFill>
                <a:latin typeface="Microsoft YaHei"/>
              </a:defRPr>
            </a:pPr>
            <a:r>
              <a:t>Cl⁻ + 总氯 / 有机氯</a:t>
            </a:r>
          </a:p>
        </p:txBody>
      </p:sp>
      <p:sp>
        <p:nvSpPr>
          <p:cNvPr id="20" name="TextBox 19"/>
          <p:cNvSpPr txBox="1"/>
          <p:nvPr/>
        </p:nvSpPr>
        <p:spPr>
          <a:xfrm>
            <a:off x="4398264" y="3913632"/>
            <a:ext cx="3273552" cy="603504"/>
          </a:xfrm>
          <a:prstGeom prst="rect">
            <a:avLst/>
          </a:prstGeom>
          <a:noFill/>
          <a:effectLst/>
        </p:spPr>
        <p:txBody>
          <a:bodyPr wrap="square" lIns="22860" rIns="22860" tIns="0" bIns="0">
            <a:spAutoFit/>
          </a:bodyPr>
          <a:lstStyle/>
          <a:p>
            <a:pPr algn="ctr">
              <a:spcAft>
                <a:spcPts val="600"/>
              </a:spcAft>
              <a:defRPr sz="1400" b="0">
                <a:solidFill>
                  <a:srgbClr val="566273"/>
                </a:solidFill>
                <a:latin typeface="Microsoft YaHei"/>
              </a:defRPr>
            </a:pPr>
            <a:r>
              <a:t>覆盖固、液、气相回收</a:t>
            </a:r>
          </a:p>
          <a:p>
            <a:pPr algn="ctr">
              <a:spcAft>
                <a:spcPts val="600"/>
              </a:spcAft>
              <a:defRPr sz="1400" b="0">
                <a:solidFill>
                  <a:srgbClr val="566273"/>
                </a:solidFill>
                <a:latin typeface="Microsoft YaHei"/>
              </a:defRPr>
            </a:pPr>
            <a:r>
              <a:t>Cl⁻ 释放不直接证明 Cl·</a:t>
            </a:r>
          </a:p>
        </p:txBody>
      </p:sp>
      <p:sp>
        <p:nvSpPr>
          <p:cNvPr id="21" name="Rounded Rectangle 20"/>
          <p:cNvSpPr/>
          <p:nvPr/>
        </p:nvSpPr>
        <p:spPr>
          <a:xfrm>
            <a:off x="8028432" y="1417320"/>
            <a:ext cx="3602736" cy="340156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8055864" y="1444752"/>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174736" y="1495044"/>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聚合物链变化</a:t>
            </a:r>
          </a:p>
        </p:txBody>
      </p:sp>
      <p:sp>
        <p:nvSpPr>
          <p:cNvPr id="24" name="TextBox 23"/>
          <p:cNvSpPr txBox="1"/>
          <p:nvPr/>
        </p:nvSpPr>
        <p:spPr>
          <a:xfrm>
            <a:off x="8193024" y="2020824"/>
            <a:ext cx="3273552" cy="64008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长链 → 低聚物 / 凝胶</a:t>
            </a:r>
          </a:p>
        </p:txBody>
      </p:sp>
      <p:cxnSp>
        <p:nvCxnSpPr>
          <p:cNvPr id="25" name="Connector 24"/>
          <p:cNvCxnSpPr/>
          <p:nvPr/>
        </p:nvCxnSpPr>
        <p:spPr>
          <a:xfrm>
            <a:off x="9829800" y="2807208"/>
            <a:ext cx="0" cy="27432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8193024" y="3264408"/>
            <a:ext cx="3273552" cy="393192"/>
          </a:xfrm>
          <a:prstGeom prst="rect">
            <a:avLst/>
          </a:prstGeom>
          <a:noFill/>
          <a:effectLst/>
        </p:spPr>
        <p:txBody>
          <a:bodyPr wrap="square" lIns="22860" rIns="22860" tIns="0" bIns="0">
            <a:spAutoFit/>
          </a:bodyPr>
          <a:lstStyle/>
          <a:p>
            <a:pPr algn="ctr">
              <a:spcAft>
                <a:spcPts val="600"/>
              </a:spcAft>
              <a:defRPr sz="1900" b="1">
                <a:solidFill>
                  <a:srgbClr val="063584"/>
                </a:solidFill>
                <a:latin typeface="Microsoft YaHei"/>
              </a:defRPr>
            </a:pPr>
            <a:r>
              <a:t>SEC/GPC + 凝胶分数</a:t>
            </a:r>
          </a:p>
        </p:txBody>
      </p:sp>
      <p:sp>
        <p:nvSpPr>
          <p:cNvPr id="27" name="TextBox 26"/>
          <p:cNvSpPr txBox="1"/>
          <p:nvPr/>
        </p:nvSpPr>
        <p:spPr>
          <a:xfrm>
            <a:off x="8193024" y="3913632"/>
            <a:ext cx="3273552" cy="603504"/>
          </a:xfrm>
          <a:prstGeom prst="rect">
            <a:avLst/>
          </a:prstGeom>
          <a:noFill/>
          <a:effectLst/>
        </p:spPr>
        <p:txBody>
          <a:bodyPr wrap="square" lIns="22860" rIns="22860" tIns="0" bIns="0">
            <a:spAutoFit/>
          </a:bodyPr>
          <a:lstStyle/>
          <a:p>
            <a:pPr algn="ctr">
              <a:spcAft>
                <a:spcPts val="600"/>
              </a:spcAft>
              <a:defRPr sz="1400" b="0">
                <a:solidFill>
                  <a:srgbClr val="566273"/>
                </a:solidFill>
                <a:latin typeface="Microsoft YaHei"/>
              </a:defRPr>
            </a:pPr>
            <a:r>
              <a:t>兼顾可溶与不溶组分</a:t>
            </a:r>
          </a:p>
          <a:p>
            <a:pPr algn="ctr">
              <a:spcAft>
                <a:spcPts val="600"/>
              </a:spcAft>
              <a:defRPr sz="1400" b="0">
                <a:solidFill>
                  <a:srgbClr val="566273"/>
                </a:solidFill>
                <a:latin typeface="Microsoft YaHei"/>
              </a:defRPr>
            </a:pPr>
            <a:r>
              <a:t>官能团变化不替代链长证据</a:t>
            </a:r>
          </a:p>
        </p:txBody>
      </p:sp>
      <p:sp>
        <p:nvSpPr>
          <p:cNvPr id="28" name="Rounded Rectangle 27"/>
          <p:cNvSpPr/>
          <p:nvPr/>
        </p:nvSpPr>
        <p:spPr>
          <a:xfrm>
            <a:off x="438912" y="5020056"/>
            <a:ext cx="1120140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58368" y="5184648"/>
            <a:ext cx="10744200" cy="393192"/>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共同闭环：GC-MS / 标准品 / NMR 确认产物与定量；跟踪 EAQ 组分以检验稳定性与再生。</a:t>
            </a:r>
          </a:p>
        </p:txBody>
      </p:sp>
      <p:sp>
        <p:nvSpPr>
          <p:cNvPr id="30" name="Rectangle 29"/>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Chevron 30"/>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3" name="TextBox 32"/>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物种识别、物料去向、链长与产物相互约束，才能支持 PVC 主链断裂的机制解释。</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下一步实验按分析确认、底物扩展和机制检验逐级推进</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以阶段输出作为推进判据；先完成最有区分度的实验，避免堆叠缺少归属的阳性结果</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17</a:t>
            </a:r>
          </a:p>
        </p:txBody>
      </p:sp>
      <p:cxnSp>
        <p:nvCxnSpPr>
          <p:cNvPr id="7" name="Connector 6"/>
          <p:cNvCxnSpPr/>
          <p:nvPr/>
        </p:nvCxnSpPr>
        <p:spPr>
          <a:xfrm>
            <a:off x="896112" y="1901952"/>
            <a:ext cx="10232136" cy="0"/>
          </a:xfrm>
          <a:prstGeom prst="line">
            <a:avLst/>
          </a:prstGeom>
          <a:ln w="254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8" name="Oval 7"/>
          <p:cNvSpPr/>
          <p:nvPr/>
        </p:nvSpPr>
        <p:spPr>
          <a:xfrm>
            <a:off x="1298448"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303019"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1</a:t>
            </a:r>
          </a:p>
        </p:txBody>
      </p:sp>
      <p:sp>
        <p:nvSpPr>
          <p:cNvPr id="10" name="TextBox 9"/>
          <p:cNvSpPr txBox="1"/>
          <p:nvPr/>
        </p:nvSpPr>
        <p:spPr>
          <a:xfrm>
            <a:off x="484632"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确认分析</a:t>
            </a:r>
          </a:p>
        </p:txBody>
      </p:sp>
      <p:sp>
        <p:nvSpPr>
          <p:cNvPr id="11" name="TextBox 10"/>
          <p:cNvSpPr txBox="1"/>
          <p:nvPr/>
        </p:nvSpPr>
        <p:spPr>
          <a:xfrm>
            <a:off x="484632"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原始色谱、峰归属</a:t>
            </a:r>
          </a:p>
          <a:p>
            <a:pPr algn="ctr">
              <a:spcAft>
                <a:spcPts val="600"/>
              </a:spcAft>
              <a:defRPr sz="1600" b="0">
                <a:solidFill>
                  <a:srgbClr val="111111"/>
                </a:solidFill>
                <a:latin typeface="Microsoft YaHei"/>
              </a:defRPr>
            </a:pPr>
            <a:r>
              <a:t>内标、校准、回收率</a:t>
            </a:r>
          </a:p>
        </p:txBody>
      </p:sp>
      <p:cxnSp>
        <p:nvCxnSpPr>
          <p:cNvPr id="12" name="Connector 11"/>
          <p:cNvCxnSpPr/>
          <p:nvPr/>
        </p:nvCxnSpPr>
        <p:spPr>
          <a:xfrm>
            <a:off x="640080"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484632"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产物与底物消耗可对应</a:t>
            </a:r>
          </a:p>
        </p:txBody>
      </p:sp>
      <p:sp>
        <p:nvSpPr>
          <p:cNvPr id="14" name="Oval 13"/>
          <p:cNvSpPr/>
          <p:nvPr/>
        </p:nvSpPr>
        <p:spPr>
          <a:xfrm>
            <a:off x="3575303"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3579876"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2</a:t>
            </a:r>
          </a:p>
        </p:txBody>
      </p:sp>
      <p:sp>
        <p:nvSpPr>
          <p:cNvPr id="16" name="TextBox 15"/>
          <p:cNvSpPr txBox="1"/>
          <p:nvPr/>
        </p:nvSpPr>
        <p:spPr>
          <a:xfrm>
            <a:off x="2761488"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优化模型</a:t>
            </a:r>
          </a:p>
        </p:txBody>
      </p:sp>
      <p:sp>
        <p:nvSpPr>
          <p:cNvPr id="17" name="TextBox 16"/>
          <p:cNvSpPr txBox="1"/>
          <p:nvPr/>
        </p:nvSpPr>
        <p:spPr>
          <a:xfrm>
            <a:off x="2761488"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2-氯己烷等模型</a:t>
            </a:r>
          </a:p>
          <a:p>
            <a:pPr algn="ctr">
              <a:spcAft>
                <a:spcPts val="600"/>
              </a:spcAft>
              <a:defRPr sz="1600" b="0">
                <a:solidFill>
                  <a:srgbClr val="111111"/>
                </a:solidFill>
                <a:latin typeface="Microsoft YaHei"/>
              </a:defRPr>
            </a:pPr>
            <a:r>
              <a:t>介质、波长与气氛</a:t>
            </a:r>
          </a:p>
        </p:txBody>
      </p:sp>
      <p:cxnSp>
        <p:nvCxnSpPr>
          <p:cNvPr id="18" name="Connector 17"/>
          <p:cNvCxnSpPr/>
          <p:nvPr/>
        </p:nvCxnSpPr>
        <p:spPr>
          <a:xfrm>
            <a:off x="2916936"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2761488"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可重复的局部反应</a:t>
            </a:r>
          </a:p>
        </p:txBody>
      </p:sp>
      <p:sp>
        <p:nvSpPr>
          <p:cNvPr id="20" name="Oval 19"/>
          <p:cNvSpPr/>
          <p:nvPr/>
        </p:nvSpPr>
        <p:spPr>
          <a:xfrm>
            <a:off x="5852160"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856732"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3</a:t>
            </a:r>
          </a:p>
        </p:txBody>
      </p:sp>
      <p:sp>
        <p:nvSpPr>
          <p:cNvPr id="22" name="TextBox 21"/>
          <p:cNvSpPr txBox="1"/>
          <p:nvPr/>
        </p:nvSpPr>
        <p:spPr>
          <a:xfrm>
            <a:off x="5038344"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扩展底物</a:t>
            </a:r>
          </a:p>
        </p:txBody>
      </p:sp>
      <p:sp>
        <p:nvSpPr>
          <p:cNvPr id="23" name="TextBox 22"/>
          <p:cNvSpPr txBox="1"/>
          <p:nvPr/>
        </p:nvSpPr>
        <p:spPr>
          <a:xfrm>
            <a:off x="5038344"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氯代石蜡等</a:t>
            </a:r>
          </a:p>
          <a:p>
            <a:pPr algn="ctr">
              <a:spcAft>
                <a:spcPts val="600"/>
              </a:spcAft>
              <a:defRPr sz="1600" b="0">
                <a:solidFill>
                  <a:srgbClr val="111111"/>
                </a:solidFill>
                <a:latin typeface="Microsoft YaHei"/>
              </a:defRPr>
            </a:pPr>
            <a:r>
              <a:t>连续含氯位点</a:t>
            </a:r>
          </a:p>
        </p:txBody>
      </p:sp>
      <p:cxnSp>
        <p:nvCxnSpPr>
          <p:cNvPr id="24" name="Connector 23"/>
          <p:cNvCxnSpPr/>
          <p:nvPr/>
        </p:nvCxnSpPr>
        <p:spPr>
          <a:xfrm>
            <a:off x="5193792"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5038344"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模型结论的适用范围</a:t>
            </a:r>
          </a:p>
        </p:txBody>
      </p:sp>
      <p:sp>
        <p:nvSpPr>
          <p:cNvPr id="26" name="Oval 25"/>
          <p:cNvSpPr/>
          <p:nvPr/>
        </p:nvSpPr>
        <p:spPr>
          <a:xfrm>
            <a:off x="8129016"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8133588"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4</a:t>
            </a:r>
          </a:p>
        </p:txBody>
      </p:sp>
      <p:sp>
        <p:nvSpPr>
          <p:cNvPr id="28" name="TextBox 27"/>
          <p:cNvSpPr txBox="1"/>
          <p:nvPr/>
        </p:nvSpPr>
        <p:spPr>
          <a:xfrm>
            <a:off x="7315200"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进入 PVC</a:t>
            </a:r>
          </a:p>
        </p:txBody>
      </p:sp>
      <p:sp>
        <p:nvSpPr>
          <p:cNvPr id="29" name="TextBox 28"/>
          <p:cNvSpPr txBox="1"/>
          <p:nvPr/>
        </p:nvSpPr>
        <p:spPr>
          <a:xfrm>
            <a:off x="7315200"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氯平衡、SEC/GPC</a:t>
            </a:r>
          </a:p>
          <a:p>
            <a:pPr algn="ctr">
              <a:spcAft>
                <a:spcPts val="600"/>
              </a:spcAft>
              <a:defRPr sz="1600" b="0">
                <a:solidFill>
                  <a:srgbClr val="111111"/>
                </a:solidFill>
                <a:latin typeface="Microsoft YaHei"/>
              </a:defRPr>
            </a:pPr>
            <a:r>
              <a:t>凝胶与产物分析</a:t>
            </a:r>
          </a:p>
        </p:txBody>
      </p:sp>
      <p:cxnSp>
        <p:nvCxnSpPr>
          <p:cNvPr id="30" name="Connector 29"/>
          <p:cNvCxnSpPr/>
          <p:nvPr/>
        </p:nvCxnSpPr>
        <p:spPr>
          <a:xfrm>
            <a:off x="7470648"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7315200"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独立判断主链变化</a:t>
            </a:r>
          </a:p>
        </p:txBody>
      </p:sp>
      <p:sp>
        <p:nvSpPr>
          <p:cNvPr id="32" name="Oval 31"/>
          <p:cNvSpPr/>
          <p:nvPr/>
        </p:nvSpPr>
        <p:spPr>
          <a:xfrm>
            <a:off x="10405872"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10410444"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5</a:t>
            </a:r>
          </a:p>
        </p:txBody>
      </p:sp>
      <p:sp>
        <p:nvSpPr>
          <p:cNvPr id="34" name="TextBox 33"/>
          <p:cNvSpPr txBox="1"/>
          <p:nvPr/>
        </p:nvSpPr>
        <p:spPr>
          <a:xfrm>
            <a:off x="9592056"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完善机制</a:t>
            </a:r>
          </a:p>
        </p:txBody>
      </p:sp>
      <p:sp>
        <p:nvSpPr>
          <p:cNvPr id="35" name="TextBox 34"/>
          <p:cNvSpPr txBox="1"/>
          <p:nvPr/>
        </p:nvSpPr>
        <p:spPr>
          <a:xfrm>
            <a:off x="9592056"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EPR、稳定性</a:t>
            </a:r>
          </a:p>
          <a:p>
            <a:pPr algn="ctr">
              <a:spcAft>
                <a:spcPts val="600"/>
              </a:spcAft>
              <a:defRPr sz="1600" b="0">
                <a:solidFill>
                  <a:srgbClr val="111111"/>
                </a:solidFill>
                <a:latin typeface="Microsoft YaHei"/>
              </a:defRPr>
            </a:pPr>
            <a:r>
              <a:t>必要时激发态测量</a:t>
            </a:r>
          </a:p>
        </p:txBody>
      </p:sp>
      <p:cxnSp>
        <p:nvCxnSpPr>
          <p:cNvPr id="36" name="Connector 35"/>
          <p:cNvCxnSpPr/>
          <p:nvPr/>
        </p:nvCxnSpPr>
        <p:spPr>
          <a:xfrm>
            <a:off x="9747504"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37" name="TextBox 36"/>
          <p:cNvSpPr txBox="1"/>
          <p:nvPr/>
        </p:nvSpPr>
        <p:spPr>
          <a:xfrm>
            <a:off x="9592056"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支持或否定候选路径</a:t>
            </a:r>
          </a:p>
        </p:txBody>
      </p:sp>
      <p:sp>
        <p:nvSpPr>
          <p:cNvPr id="38" name="Rounded Rectangle 37"/>
          <p:cNvSpPr/>
          <p:nvPr/>
        </p:nvSpPr>
        <p:spPr>
          <a:xfrm>
            <a:off x="438912" y="5349240"/>
            <a:ext cx="11201400" cy="402336"/>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658368" y="5431536"/>
            <a:ext cx="10744200" cy="228600"/>
          </a:xfrm>
          <a:prstGeom prst="rect">
            <a:avLst/>
          </a:prstGeom>
          <a:noFill/>
          <a:effectLst/>
        </p:spPr>
        <p:txBody>
          <a:bodyPr wrap="square" lIns="22860" rIns="22860" tIns="0" bIns="0">
            <a:spAutoFit/>
          </a:bodyPr>
          <a:lstStyle/>
          <a:p>
            <a:pPr>
              <a:spcAft>
                <a:spcPts val="600"/>
              </a:spcAft>
              <a:defRPr sz="1450" b="1">
                <a:solidFill>
                  <a:srgbClr val="C00000"/>
                </a:solidFill>
                <a:latin typeface="Microsoft YaHei"/>
              </a:defRPr>
            </a:pPr>
            <a:r>
              <a:t>当前优先：无底物 DCE 空白 + 标准品与加标回收 + 转化率计算复核。</a:t>
            </a:r>
          </a:p>
        </p:txBody>
      </p:sp>
      <p:sp>
        <p:nvSpPr>
          <p:cNvPr id="40" name="Rectangle 39"/>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Chevron 40"/>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43" name="TextBox 42"/>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先让现有模型结果可信、可重复，再增加底物复杂度与机制解析深度。</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优先实验：空白与加标回收可先分离三类竞争解释</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沿用现有分析方法，在相同光照、气氛与取样条件下比较；先建立信号来源判据</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18</a:t>
            </a:r>
          </a:p>
        </p:txBody>
      </p:sp>
      <p:sp>
        <p:nvSpPr>
          <p:cNvPr id="7" name="Rounded Rectangle 6"/>
          <p:cNvSpPr/>
          <p:nvPr/>
        </p:nvSpPr>
        <p:spPr>
          <a:xfrm>
            <a:off x="438912" y="1417320"/>
            <a:ext cx="5084064"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502920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479145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最小实验组合与记录项</a:t>
            </a:r>
          </a:p>
        </p:txBody>
      </p:sp>
      <p:graphicFrame>
        <p:nvGraphicFramePr>
          <p:cNvPr id="10" name="Table 9"/>
          <p:cNvGraphicFramePr>
            <a:graphicFrameLocks noGrp="1"/>
          </p:cNvGraphicFramePr>
          <p:nvPr/>
        </p:nvGraphicFramePr>
        <p:xfrm>
          <a:off x="594360" y="1965960"/>
          <a:ext cx="4773168" cy="2395728"/>
        </p:xfrm>
        <a:graphic>
          <a:graphicData uri="http://schemas.openxmlformats.org/drawingml/2006/table">
            <a:tbl>
              <a:tblPr firstRow="1" bandRow="1">
                <a:tableStyleId>{5C22544A-7EE6-4342-B048-85BDC9FD1C3A}</a:tableStyleId>
              </a:tblPr>
              <a:tblGrid>
                <a:gridCol w="2642616"/>
                <a:gridCol w="2130552"/>
              </a:tblGrid>
              <a:tr h="479145">
                <a:tc>
                  <a:txBody>
                    <a:bodyPr/>
                    <a:lstStyle/>
                    <a:p>
                      <a:pPr>
                        <a:defRPr sz="1350" b="1">
                          <a:solidFill>
                            <a:srgbClr val="FFFFFF"/>
                          </a:solidFill>
                          <a:latin typeface="Microsoft YaHei"/>
                        </a:defRPr>
                      </a:pPr>
                      <a:r>
                        <a:t>实验组</a:t>
                      </a:r>
                    </a:p>
                  </a:txBody>
                  <a:tcPr marL="91440" marR="64008" marT="64008" marB="45720">
                    <a:solidFill>
                      <a:srgbClr val="063584"/>
                    </a:solidFill>
                  </a:tcPr>
                </a:tc>
                <a:tc>
                  <a:txBody>
                    <a:bodyPr/>
                    <a:lstStyle/>
                    <a:p>
                      <a:pPr>
                        <a:defRPr sz="1350" b="1">
                          <a:solidFill>
                            <a:srgbClr val="FFFFFF"/>
                          </a:solidFill>
                          <a:latin typeface="Microsoft YaHei"/>
                        </a:defRPr>
                      </a:pPr>
                      <a:r>
                        <a:t>用途</a:t>
                      </a:r>
                    </a:p>
                  </a:txBody>
                  <a:tcPr marL="91440" marR="64008" marT="64008" marB="45720">
                    <a:solidFill>
                      <a:srgbClr val="063584"/>
                    </a:solidFill>
                  </a:tcPr>
                </a:tc>
              </a:tr>
              <a:tr h="479145">
                <a:tc>
                  <a:txBody>
                    <a:bodyPr/>
                    <a:lstStyle/>
                    <a:p>
                      <a:pPr>
                        <a:defRPr sz="1350" b="0">
                          <a:solidFill>
                            <a:srgbClr val="111111"/>
                          </a:solidFill>
                          <a:latin typeface="Microsoft YaHei"/>
                        </a:defRPr>
                      </a:pPr>
                      <a:r>
                        <a:t>完整反应体系</a:t>
                      </a:r>
                    </a:p>
                  </a:txBody>
                  <a:tcPr marL="91440" marR="64008" marT="64008" marB="45720">
                    <a:solidFill>
                      <a:srgbClr val="FFFFFF"/>
                    </a:solidFill>
                  </a:tcPr>
                </a:tc>
                <a:tc>
                  <a:txBody>
                    <a:bodyPr/>
                    <a:lstStyle/>
                    <a:p>
                      <a:pPr>
                        <a:defRPr sz="1350" b="0">
                          <a:solidFill>
                            <a:srgbClr val="111111"/>
                          </a:solidFill>
                          <a:latin typeface="Microsoft YaHei"/>
                        </a:defRPr>
                      </a:pPr>
                      <a:r>
                        <a:t>记录模型消耗与候选信号</a:t>
                      </a:r>
                    </a:p>
                  </a:txBody>
                  <a:tcPr marL="91440" marR="64008" marT="64008" marB="45720">
                    <a:solidFill>
                      <a:srgbClr val="FFFFFF"/>
                    </a:solidFill>
                  </a:tcPr>
                </a:tc>
              </a:tr>
              <a:tr h="479145">
                <a:tc>
                  <a:txBody>
                    <a:bodyPr/>
                    <a:lstStyle/>
                    <a:p>
                      <a:pPr>
                        <a:defRPr sz="1350" b="0">
                          <a:solidFill>
                            <a:srgbClr val="111111"/>
                          </a:solidFill>
                          <a:latin typeface="Microsoft YaHei"/>
                        </a:defRPr>
                      </a:pPr>
                      <a:r>
                        <a:t>无底物：DCE + EAQ + 光</a:t>
                      </a:r>
                    </a:p>
                  </a:txBody>
                  <a:tcPr marL="91440" marR="64008" marT="64008" marB="45720">
                    <a:solidFill>
                      <a:srgbClr val="EDF3FF"/>
                    </a:solidFill>
                  </a:tcPr>
                </a:tc>
                <a:tc>
                  <a:txBody>
                    <a:bodyPr/>
                    <a:lstStyle/>
                    <a:p>
                      <a:pPr>
                        <a:defRPr sz="1350" b="0">
                          <a:solidFill>
                            <a:srgbClr val="111111"/>
                          </a:solidFill>
                          <a:latin typeface="Microsoft YaHei"/>
                        </a:defRPr>
                      </a:pPr>
                      <a:r>
                        <a:t>检查介质背景产物</a:t>
                      </a:r>
                    </a:p>
                  </a:txBody>
                  <a:tcPr marL="91440" marR="64008" marT="64008" marB="45720">
                    <a:solidFill>
                      <a:srgbClr val="EDF3FF"/>
                    </a:solidFill>
                  </a:tcPr>
                </a:tc>
              </a:tr>
              <a:tr h="479145">
                <a:tc>
                  <a:txBody>
                    <a:bodyPr/>
                    <a:lstStyle/>
                    <a:p>
                      <a:pPr>
                        <a:defRPr sz="1350" b="0">
                          <a:solidFill>
                            <a:srgbClr val="111111"/>
                          </a:solidFill>
                          <a:latin typeface="Microsoft YaHei"/>
                        </a:defRPr>
                      </a:pPr>
                      <a:r>
                        <a:t>无 EAQ：底物 + DCE + 光</a:t>
                      </a:r>
                    </a:p>
                  </a:txBody>
                  <a:tcPr marL="91440" marR="64008" marT="64008" marB="45720">
                    <a:solidFill>
                      <a:srgbClr val="FFFFFF"/>
                    </a:solidFill>
                  </a:tcPr>
                </a:tc>
                <a:tc>
                  <a:txBody>
                    <a:bodyPr/>
                    <a:lstStyle/>
                    <a:p>
                      <a:pPr>
                        <a:defRPr sz="1350" b="0">
                          <a:solidFill>
                            <a:srgbClr val="111111"/>
                          </a:solidFill>
                          <a:latin typeface="Microsoft YaHei"/>
                        </a:defRPr>
                      </a:pPr>
                      <a:r>
                        <a:t>检查背景光反应</a:t>
                      </a:r>
                    </a:p>
                  </a:txBody>
                  <a:tcPr marL="91440" marR="64008" marT="64008" marB="45720">
                    <a:solidFill>
                      <a:srgbClr val="FFFFFF"/>
                    </a:solidFill>
                  </a:tcPr>
                </a:tc>
              </a:tr>
              <a:tr h="479148">
                <a:tc>
                  <a:txBody>
                    <a:bodyPr/>
                    <a:lstStyle/>
                    <a:p>
                      <a:pPr>
                        <a:defRPr sz="1350" b="0">
                          <a:solidFill>
                            <a:srgbClr val="111111"/>
                          </a:solidFill>
                          <a:latin typeface="Microsoft YaHei"/>
                        </a:defRPr>
                      </a:pPr>
                      <a:r>
                        <a:t>未反应样品加标 / 回收</a:t>
                      </a:r>
                    </a:p>
                  </a:txBody>
                  <a:tcPr marL="91440" marR="64008" marT="64008" marB="45720">
                    <a:solidFill>
                      <a:srgbClr val="EDF3FF"/>
                    </a:solidFill>
                  </a:tcPr>
                </a:tc>
                <a:tc>
                  <a:txBody>
                    <a:bodyPr/>
                    <a:lstStyle/>
                    <a:p>
                      <a:pPr>
                        <a:defRPr sz="1350" b="0">
                          <a:solidFill>
                            <a:srgbClr val="111111"/>
                          </a:solidFill>
                          <a:latin typeface="Microsoft YaHei"/>
                        </a:defRPr>
                      </a:pPr>
                      <a:r>
                        <a:t>检查响应、回收率与漏检</a:t>
                      </a:r>
                    </a:p>
                  </a:txBody>
                  <a:tcPr marL="91440" marR="64008" marT="64008" marB="45720">
                    <a:solidFill>
                      <a:srgbClr val="EDF3FF"/>
                    </a:solidFill>
                  </a:tcPr>
                </a:tc>
              </a:tr>
            </a:tbl>
          </a:graphicData>
        </a:graphic>
      </p:graphicFrame>
      <p:sp>
        <p:nvSpPr>
          <p:cNvPr id="11" name="TextBox 10"/>
          <p:cNvSpPr txBox="1"/>
          <p:nvPr/>
        </p:nvSpPr>
        <p:spPr>
          <a:xfrm>
            <a:off x="713232" y="4663440"/>
            <a:ext cx="4507992" cy="749808"/>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共同记录：原始色谱、保留时间、内标、</a:t>
            </a:r>
          </a:p>
          <a:p>
            <a:pPr>
              <a:spcAft>
                <a:spcPts val="600"/>
              </a:spcAft>
              <a:defRPr sz="1500" b="1">
                <a:solidFill>
                  <a:srgbClr val="063584"/>
                </a:solidFill>
                <a:latin typeface="Microsoft YaHei"/>
              </a:defRPr>
            </a:pPr>
            <a:r>
              <a:t>响应校准、回收率与质量去向。</a:t>
            </a:r>
          </a:p>
        </p:txBody>
      </p:sp>
      <p:sp>
        <p:nvSpPr>
          <p:cNvPr id="12" name="Rounded Rectangle 11"/>
          <p:cNvSpPr/>
          <p:nvPr/>
        </p:nvSpPr>
        <p:spPr>
          <a:xfrm>
            <a:off x="5733288" y="1417320"/>
            <a:ext cx="5907024"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ounded Rectangle 12"/>
          <p:cNvSpPr/>
          <p:nvPr/>
        </p:nvSpPr>
        <p:spPr>
          <a:xfrm>
            <a:off x="5760720" y="1444752"/>
            <a:ext cx="585216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879592" y="1495044"/>
            <a:ext cx="561441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结果—解释—后续动作</a:t>
            </a:r>
          </a:p>
        </p:txBody>
      </p:sp>
      <p:sp>
        <p:nvSpPr>
          <p:cNvPr id="15" name="Oval 14"/>
          <p:cNvSpPr/>
          <p:nvPr/>
        </p:nvSpPr>
        <p:spPr>
          <a:xfrm>
            <a:off x="5961888" y="1965960"/>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966459" y="1975103"/>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17" name="TextBox 16"/>
          <p:cNvSpPr txBox="1"/>
          <p:nvPr/>
        </p:nvSpPr>
        <p:spPr>
          <a:xfrm>
            <a:off x="6345936" y="1965960"/>
            <a:ext cx="5001768" cy="35661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空白出现同类候选物</a:t>
            </a:r>
          </a:p>
        </p:txBody>
      </p:sp>
      <p:sp>
        <p:nvSpPr>
          <p:cNvPr id="18" name="TextBox 17"/>
          <p:cNvSpPr txBox="1"/>
          <p:nvPr/>
        </p:nvSpPr>
        <p:spPr>
          <a:xfrm>
            <a:off x="6345936" y="2395728"/>
            <a:ext cx="5001768" cy="292608"/>
          </a:xfrm>
          <a:prstGeom prst="rect">
            <a:avLst/>
          </a:prstGeom>
          <a:noFill/>
          <a:effectLst/>
        </p:spPr>
        <p:txBody>
          <a:bodyPr wrap="square" lIns="22860" rIns="22860" tIns="0" bIns="0">
            <a:spAutoFit/>
          </a:bodyPr>
          <a:lstStyle/>
          <a:p>
            <a:pPr>
              <a:spcAft>
                <a:spcPts val="600"/>
              </a:spcAft>
              <a:defRPr sz="1450" b="1">
                <a:solidFill>
                  <a:srgbClr val="111111"/>
                </a:solidFill>
                <a:latin typeface="Microsoft YaHei"/>
              </a:defRPr>
            </a:pPr>
            <a:r>
              <a:t>优先支持介质来源</a:t>
            </a:r>
          </a:p>
        </p:txBody>
      </p:sp>
      <p:sp>
        <p:nvSpPr>
          <p:cNvPr id="19" name="TextBox 18"/>
          <p:cNvSpPr txBox="1"/>
          <p:nvPr/>
        </p:nvSpPr>
        <p:spPr>
          <a:xfrm>
            <a:off x="6345936" y="2779776"/>
            <a:ext cx="5001768" cy="237744"/>
          </a:xfrm>
          <a:prstGeom prst="rect">
            <a:avLst/>
          </a:prstGeom>
          <a:noFill/>
          <a:effectLst/>
        </p:spPr>
        <p:txBody>
          <a:bodyPr wrap="square" lIns="22860" rIns="22860" tIns="0" bIns="0">
            <a:spAutoFit/>
          </a:bodyPr>
          <a:lstStyle/>
          <a:p>
            <a:pPr>
              <a:spcAft>
                <a:spcPts val="600"/>
              </a:spcAft>
              <a:defRPr sz="1350" b="0">
                <a:solidFill>
                  <a:srgbClr val="C00000"/>
                </a:solidFill>
                <a:latin typeface="Microsoft YaHei"/>
              </a:defRPr>
            </a:pPr>
            <a:r>
              <a:t>先做结构确证与背景扣除</a:t>
            </a:r>
          </a:p>
        </p:txBody>
      </p:sp>
      <p:sp>
        <p:nvSpPr>
          <p:cNvPr id="20" name="Oval 19"/>
          <p:cNvSpPr/>
          <p:nvPr/>
        </p:nvSpPr>
        <p:spPr>
          <a:xfrm>
            <a:off x="5961888" y="3099815"/>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966459" y="3108959"/>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22" name="TextBox 21"/>
          <p:cNvSpPr txBox="1"/>
          <p:nvPr/>
        </p:nvSpPr>
        <p:spPr>
          <a:xfrm>
            <a:off x="6345936" y="3099815"/>
            <a:ext cx="5001768" cy="35661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加标回收或校准异常</a:t>
            </a:r>
          </a:p>
        </p:txBody>
      </p:sp>
      <p:sp>
        <p:nvSpPr>
          <p:cNvPr id="23" name="TextBox 22"/>
          <p:cNvSpPr txBox="1"/>
          <p:nvPr/>
        </p:nvSpPr>
        <p:spPr>
          <a:xfrm>
            <a:off x="6345936" y="3529583"/>
            <a:ext cx="5001768" cy="292608"/>
          </a:xfrm>
          <a:prstGeom prst="rect">
            <a:avLst/>
          </a:prstGeom>
          <a:noFill/>
          <a:effectLst/>
        </p:spPr>
        <p:txBody>
          <a:bodyPr wrap="square" lIns="22860" rIns="22860" tIns="0" bIns="0">
            <a:spAutoFit/>
          </a:bodyPr>
          <a:lstStyle/>
          <a:p>
            <a:pPr>
              <a:spcAft>
                <a:spcPts val="600"/>
              </a:spcAft>
              <a:defRPr sz="1450" b="1">
                <a:solidFill>
                  <a:srgbClr val="111111"/>
                </a:solidFill>
                <a:latin typeface="Microsoft YaHei"/>
              </a:defRPr>
            </a:pPr>
            <a:r>
              <a:t>优先排查分析方法</a:t>
            </a:r>
          </a:p>
        </p:txBody>
      </p:sp>
      <p:sp>
        <p:nvSpPr>
          <p:cNvPr id="24" name="TextBox 23"/>
          <p:cNvSpPr txBox="1"/>
          <p:nvPr/>
        </p:nvSpPr>
        <p:spPr>
          <a:xfrm>
            <a:off x="6345936" y="3913631"/>
            <a:ext cx="5001768" cy="237744"/>
          </a:xfrm>
          <a:prstGeom prst="rect">
            <a:avLst/>
          </a:prstGeom>
          <a:noFill/>
          <a:effectLst/>
        </p:spPr>
        <p:txBody>
          <a:bodyPr wrap="square" lIns="22860" rIns="22860" tIns="0" bIns="0">
            <a:spAutoFit/>
          </a:bodyPr>
          <a:lstStyle/>
          <a:p>
            <a:pPr>
              <a:spcAft>
                <a:spcPts val="600"/>
              </a:spcAft>
              <a:defRPr sz="1350" b="0">
                <a:solidFill>
                  <a:srgbClr val="C00000"/>
                </a:solidFill>
                <a:latin typeface="Microsoft YaHei"/>
              </a:defRPr>
            </a:pPr>
            <a:r>
              <a:t>修正方法后再比较转化率</a:t>
            </a:r>
          </a:p>
        </p:txBody>
      </p:sp>
      <p:sp>
        <p:nvSpPr>
          <p:cNvPr id="25" name="Oval 24"/>
          <p:cNvSpPr/>
          <p:nvPr/>
        </p:nvSpPr>
        <p:spPr>
          <a:xfrm>
            <a:off x="5961888" y="4233672"/>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966459" y="4242816"/>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27" name="TextBox 26"/>
          <p:cNvSpPr txBox="1"/>
          <p:nvPr/>
        </p:nvSpPr>
        <p:spPr>
          <a:xfrm>
            <a:off x="6345936" y="4233672"/>
            <a:ext cx="5001768" cy="35661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底物消耗与产物可对应</a:t>
            </a:r>
          </a:p>
        </p:txBody>
      </p:sp>
      <p:sp>
        <p:nvSpPr>
          <p:cNvPr id="28" name="TextBox 27"/>
          <p:cNvSpPr txBox="1"/>
          <p:nvPr/>
        </p:nvSpPr>
        <p:spPr>
          <a:xfrm>
            <a:off x="6345936" y="4663440"/>
            <a:ext cx="5001768" cy="292608"/>
          </a:xfrm>
          <a:prstGeom prst="rect">
            <a:avLst/>
          </a:prstGeom>
          <a:noFill/>
          <a:effectLst/>
        </p:spPr>
        <p:txBody>
          <a:bodyPr wrap="square" lIns="22860" rIns="22860" tIns="0" bIns="0">
            <a:spAutoFit/>
          </a:bodyPr>
          <a:lstStyle/>
          <a:p>
            <a:pPr>
              <a:spcAft>
                <a:spcPts val="600"/>
              </a:spcAft>
              <a:defRPr sz="1450" b="1">
                <a:solidFill>
                  <a:srgbClr val="111111"/>
                </a:solidFill>
                <a:latin typeface="Microsoft YaHei"/>
              </a:defRPr>
            </a:pPr>
            <a:r>
              <a:t>支持真实模型转化</a:t>
            </a:r>
          </a:p>
        </p:txBody>
      </p:sp>
      <p:sp>
        <p:nvSpPr>
          <p:cNvPr id="29" name="TextBox 28"/>
          <p:cNvSpPr txBox="1"/>
          <p:nvPr/>
        </p:nvSpPr>
        <p:spPr>
          <a:xfrm>
            <a:off x="6345936" y="5047488"/>
            <a:ext cx="5001768" cy="237744"/>
          </a:xfrm>
          <a:prstGeom prst="rect">
            <a:avLst/>
          </a:prstGeom>
          <a:noFill/>
          <a:effectLst/>
        </p:spPr>
        <p:txBody>
          <a:bodyPr wrap="square" lIns="22860" rIns="22860" tIns="0" bIns="0">
            <a:spAutoFit/>
          </a:bodyPr>
          <a:lstStyle/>
          <a:p>
            <a:pPr>
              <a:spcAft>
                <a:spcPts val="600"/>
              </a:spcAft>
              <a:defRPr sz="1350" b="0">
                <a:solidFill>
                  <a:srgbClr val="C00000"/>
                </a:solidFill>
                <a:latin typeface="Microsoft YaHei"/>
              </a:defRPr>
            </a:pPr>
            <a:r>
              <a:t>再进入物种、选择性与条件优化</a:t>
            </a:r>
          </a:p>
        </p:txBody>
      </p:sp>
      <p:sp>
        <p:nvSpPr>
          <p:cNvPr id="30" name="Rectangle 29"/>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Chevron 30"/>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近期重点</a:t>
            </a:r>
          </a:p>
        </p:txBody>
      </p:sp>
      <p:sp>
        <p:nvSpPr>
          <p:cNvPr id="33" name="TextBox 32"/>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这组实验先缩小解释空间，结果本身仍不能单独鉴定 Cl· 或证明 PVC 断链。</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总结：以模型异常修正假说，以独立证据验证 PVC 转化</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研究依据、实际观察和后续证据明确分层，避免将探索阶段包装成已建立的降解体系</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19</a:t>
            </a:r>
          </a:p>
        </p:txBody>
      </p:sp>
      <p:sp>
        <p:nvSpPr>
          <p:cNvPr id="7" name="Rounded Rectangle 6"/>
          <p:cNvSpPr/>
          <p:nvPr/>
        </p:nvSpPr>
        <p:spPr>
          <a:xfrm>
            <a:off x="438912" y="1417320"/>
            <a:ext cx="3712463"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657599"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3419855"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已经具备的研究依据</a:t>
            </a:r>
          </a:p>
        </p:txBody>
      </p:sp>
      <p:sp>
        <p:nvSpPr>
          <p:cNvPr id="10" name="Oval 9"/>
          <p:cNvSpPr/>
          <p:nvPr/>
        </p:nvSpPr>
        <p:spPr>
          <a:xfrm>
            <a:off x="676656" y="1993392"/>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81228" y="2002536"/>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12" name="TextBox 11"/>
          <p:cNvSpPr txBox="1"/>
          <p:nvPr/>
        </p:nvSpPr>
        <p:spPr>
          <a:xfrm>
            <a:off x="1024128" y="1993392"/>
            <a:ext cx="2907792"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自由基过程可参与老化</a:t>
            </a:r>
          </a:p>
        </p:txBody>
      </p:sp>
      <p:sp>
        <p:nvSpPr>
          <p:cNvPr id="13" name="TextBox 12"/>
          <p:cNvSpPr txBox="1"/>
          <p:nvPr/>
        </p:nvSpPr>
        <p:spPr>
          <a:xfrm>
            <a:off x="1024128" y="2359152"/>
            <a:ext cx="2907792"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早期光氧化研究提供</a:t>
            </a:r>
          </a:p>
          <a:p>
            <a:pPr>
              <a:spcAft>
                <a:spcPts val="600"/>
              </a:spcAft>
              <a:defRPr sz="1450" b="0">
                <a:solidFill>
                  <a:srgbClr val="111111"/>
                </a:solidFill>
                <a:latin typeface="Microsoft YaHei"/>
              </a:defRPr>
            </a:pPr>
            <a:r>
              <a:t>活化与氧化链反应入口。</a:t>
            </a:r>
          </a:p>
        </p:txBody>
      </p:sp>
      <p:sp>
        <p:nvSpPr>
          <p:cNvPr id="14" name="Oval 13"/>
          <p:cNvSpPr/>
          <p:nvPr/>
        </p:nvSpPr>
        <p:spPr>
          <a:xfrm>
            <a:off x="676656" y="3236976"/>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81228" y="3246120"/>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16" name="TextBox 15"/>
          <p:cNvSpPr txBox="1"/>
          <p:nvPr/>
        </p:nvSpPr>
        <p:spPr>
          <a:xfrm>
            <a:off x="1024128" y="3236976"/>
            <a:ext cx="2907792"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AQ 与介质具有可研究性</a:t>
            </a:r>
          </a:p>
        </p:txBody>
      </p:sp>
      <p:sp>
        <p:nvSpPr>
          <p:cNvPr id="17" name="TextBox 16"/>
          <p:cNvSpPr txBox="1"/>
          <p:nvPr/>
        </p:nvSpPr>
        <p:spPr>
          <a:xfrm>
            <a:off x="1024128" y="3602736"/>
            <a:ext cx="2907792"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AQ 光化学与聚合物文献</a:t>
            </a:r>
          </a:p>
          <a:p>
            <a:pPr>
              <a:spcAft>
                <a:spcPts val="600"/>
              </a:spcAft>
              <a:defRPr sz="1450" b="0">
                <a:solidFill>
                  <a:srgbClr val="111111"/>
                </a:solidFill>
                <a:latin typeface="Microsoft YaHei"/>
              </a:defRPr>
            </a:pPr>
            <a:r>
              <a:t>支持提出候选机制。</a:t>
            </a:r>
          </a:p>
        </p:txBody>
      </p:sp>
      <p:sp>
        <p:nvSpPr>
          <p:cNvPr id="18" name="Oval 17"/>
          <p:cNvSpPr/>
          <p:nvPr/>
        </p:nvSpPr>
        <p:spPr>
          <a:xfrm>
            <a:off x="676656" y="448970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81228" y="449884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20" name="TextBox 19"/>
          <p:cNvSpPr txBox="1"/>
          <p:nvPr/>
        </p:nvSpPr>
        <p:spPr>
          <a:xfrm>
            <a:off x="1024128" y="4489704"/>
            <a:ext cx="2907792"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现有结果需要重新关联</a:t>
            </a:r>
          </a:p>
        </p:txBody>
      </p:sp>
      <p:sp>
        <p:nvSpPr>
          <p:cNvPr id="21" name="TextBox 20"/>
          <p:cNvSpPr txBox="1"/>
          <p:nvPr/>
        </p:nvSpPr>
        <p:spPr>
          <a:xfrm>
            <a:off x="1024128" y="4855464"/>
            <a:ext cx="2907792"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转化记录存在，但目标</a:t>
            </a:r>
          </a:p>
          <a:p>
            <a:pPr>
              <a:spcAft>
                <a:spcPts val="600"/>
              </a:spcAft>
              <a:defRPr sz="1450" b="0">
                <a:solidFill>
                  <a:srgbClr val="111111"/>
                </a:solidFill>
                <a:latin typeface="Microsoft YaHei"/>
              </a:defRPr>
            </a:pPr>
            <a:r>
              <a:t>产物和信号来源未明确。</a:t>
            </a:r>
          </a:p>
        </p:txBody>
      </p:sp>
      <p:sp>
        <p:nvSpPr>
          <p:cNvPr id="22" name="Rounded Rectangle 21"/>
          <p:cNvSpPr/>
          <p:nvPr/>
        </p:nvSpPr>
        <p:spPr>
          <a:xfrm>
            <a:off x="4361688" y="1417320"/>
            <a:ext cx="3337560"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ounded Rectangle 22"/>
          <p:cNvSpPr/>
          <p:nvPr/>
        </p:nvSpPr>
        <p:spPr>
          <a:xfrm>
            <a:off x="4389120" y="1444752"/>
            <a:ext cx="328269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507992" y="1495044"/>
            <a:ext cx="304495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由预想走向修正</a:t>
            </a:r>
          </a:p>
        </p:txBody>
      </p:sp>
      <p:sp>
        <p:nvSpPr>
          <p:cNvPr id="25" name="TextBox 24"/>
          <p:cNvSpPr txBox="1"/>
          <p:nvPr/>
        </p:nvSpPr>
        <p:spPr>
          <a:xfrm>
            <a:off x="4572000" y="1993392"/>
            <a:ext cx="2916936" cy="411480"/>
          </a:xfrm>
          <a:prstGeom prst="rect">
            <a:avLst/>
          </a:prstGeom>
          <a:noFill/>
          <a:effectLst/>
        </p:spPr>
        <p:txBody>
          <a:bodyPr wrap="square" lIns="22860" rIns="22860" tIns="0" bIns="0">
            <a:spAutoFit/>
          </a:bodyPr>
          <a:lstStyle/>
          <a:p>
            <a:pPr algn="ctr">
              <a:spcAft>
                <a:spcPts val="600"/>
              </a:spcAft>
              <a:defRPr sz="1700" b="1">
                <a:solidFill>
                  <a:srgbClr val="063584"/>
                </a:solidFill>
                <a:latin typeface="Microsoft YaHei"/>
              </a:defRPr>
            </a:pPr>
            <a:r>
              <a:t>AQ 启动的候选网络</a:t>
            </a:r>
          </a:p>
        </p:txBody>
      </p:sp>
      <p:cxnSp>
        <p:nvCxnSpPr>
          <p:cNvPr id="26" name="Connector 25"/>
          <p:cNvCxnSpPr/>
          <p:nvPr/>
        </p:nvCxnSpPr>
        <p:spPr>
          <a:xfrm>
            <a:off x="6025896" y="2478024"/>
            <a:ext cx="0" cy="246888"/>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4572000" y="2834640"/>
            <a:ext cx="2916936" cy="411480"/>
          </a:xfrm>
          <a:prstGeom prst="rect">
            <a:avLst/>
          </a:prstGeom>
          <a:noFill/>
          <a:effectLst/>
        </p:spPr>
        <p:txBody>
          <a:bodyPr wrap="square" lIns="22860" rIns="22860" tIns="0" bIns="0">
            <a:spAutoFit/>
          </a:bodyPr>
          <a:lstStyle/>
          <a:p>
            <a:pPr algn="ctr">
              <a:spcAft>
                <a:spcPts val="600"/>
              </a:spcAft>
              <a:defRPr sz="1700" b="1">
                <a:solidFill>
                  <a:srgbClr val="111111"/>
                </a:solidFill>
                <a:latin typeface="Microsoft YaHei"/>
              </a:defRPr>
            </a:pPr>
            <a:r>
              <a:t>实验出现介质相关信号</a:t>
            </a:r>
          </a:p>
        </p:txBody>
      </p:sp>
      <p:cxnSp>
        <p:nvCxnSpPr>
          <p:cNvPr id="28" name="Connector 27"/>
          <p:cNvCxnSpPr/>
          <p:nvPr/>
        </p:nvCxnSpPr>
        <p:spPr>
          <a:xfrm>
            <a:off x="6025896" y="3319272"/>
            <a:ext cx="0" cy="246888"/>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4572000" y="3675888"/>
            <a:ext cx="2916936" cy="411480"/>
          </a:xfrm>
          <a:prstGeom prst="rect">
            <a:avLst/>
          </a:prstGeom>
          <a:noFill/>
          <a:effectLst/>
        </p:spPr>
        <p:txBody>
          <a:bodyPr wrap="square" lIns="22860" rIns="22860" tIns="0" bIns="0">
            <a:spAutoFit/>
          </a:bodyPr>
          <a:lstStyle/>
          <a:p>
            <a:pPr algn="ctr">
              <a:spcAft>
                <a:spcPts val="600"/>
              </a:spcAft>
              <a:defRPr sz="1700" b="1">
                <a:solidFill>
                  <a:srgbClr val="111111"/>
                </a:solidFill>
                <a:latin typeface="Microsoft YaHei"/>
              </a:defRPr>
            </a:pPr>
            <a:r>
              <a:t>加入竞争路径与分析缺口</a:t>
            </a:r>
          </a:p>
        </p:txBody>
      </p:sp>
      <p:cxnSp>
        <p:nvCxnSpPr>
          <p:cNvPr id="30" name="Connector 29"/>
          <p:cNvCxnSpPr/>
          <p:nvPr/>
        </p:nvCxnSpPr>
        <p:spPr>
          <a:xfrm>
            <a:off x="6025896" y="4160520"/>
            <a:ext cx="0" cy="246888"/>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4572000" y="4517136"/>
            <a:ext cx="2916936" cy="411480"/>
          </a:xfrm>
          <a:prstGeom prst="rect">
            <a:avLst/>
          </a:prstGeom>
          <a:noFill/>
          <a:effectLst/>
        </p:spPr>
        <p:txBody>
          <a:bodyPr wrap="square" lIns="22860" rIns="22860" tIns="0" bIns="0">
            <a:spAutoFit/>
          </a:bodyPr>
          <a:lstStyle/>
          <a:p>
            <a:pPr algn="ctr">
              <a:spcAft>
                <a:spcPts val="600"/>
              </a:spcAft>
              <a:defRPr sz="1700" b="1">
                <a:solidFill>
                  <a:srgbClr val="063584"/>
                </a:solidFill>
                <a:latin typeface="Microsoft YaHei"/>
              </a:defRPr>
            </a:pPr>
            <a:r>
              <a:t>以对照筛选真实路径</a:t>
            </a:r>
          </a:p>
        </p:txBody>
      </p:sp>
      <p:sp>
        <p:nvSpPr>
          <p:cNvPr id="32" name="Rounded Rectangle 31"/>
          <p:cNvSpPr/>
          <p:nvPr/>
        </p:nvSpPr>
        <p:spPr>
          <a:xfrm>
            <a:off x="7909560" y="1417320"/>
            <a:ext cx="3730752"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ounded Rectangle 32"/>
          <p:cNvSpPr/>
          <p:nvPr/>
        </p:nvSpPr>
        <p:spPr>
          <a:xfrm>
            <a:off x="7936992" y="1444752"/>
            <a:ext cx="3675888"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055864" y="1495044"/>
            <a:ext cx="3438144"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下一阶段的关键交付</a:t>
            </a:r>
          </a:p>
        </p:txBody>
      </p:sp>
      <p:sp>
        <p:nvSpPr>
          <p:cNvPr id="35" name="Oval 34"/>
          <p:cNvSpPr/>
          <p:nvPr/>
        </p:nvSpPr>
        <p:spPr>
          <a:xfrm>
            <a:off x="8147304" y="1993392"/>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8151876" y="2002536"/>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37" name="TextBox 36"/>
          <p:cNvSpPr txBox="1"/>
          <p:nvPr/>
        </p:nvSpPr>
        <p:spPr>
          <a:xfrm>
            <a:off x="8494776" y="1993392"/>
            <a:ext cx="2916936"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可靠模型反应</a:t>
            </a:r>
          </a:p>
        </p:txBody>
      </p:sp>
      <p:sp>
        <p:nvSpPr>
          <p:cNvPr id="38" name="TextBox 37"/>
          <p:cNvSpPr txBox="1"/>
          <p:nvPr/>
        </p:nvSpPr>
        <p:spPr>
          <a:xfrm>
            <a:off x="8494776" y="2359152"/>
            <a:ext cx="2916936"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标准品、定量、溶剂空白</a:t>
            </a:r>
          </a:p>
          <a:p>
            <a:pPr>
              <a:spcAft>
                <a:spcPts val="600"/>
              </a:spcAft>
              <a:defRPr sz="1450" b="0">
                <a:solidFill>
                  <a:srgbClr val="111111"/>
                </a:solidFill>
                <a:latin typeface="Microsoft YaHei"/>
              </a:defRPr>
            </a:pPr>
            <a:r>
              <a:t>与可重复的产物对应。</a:t>
            </a:r>
          </a:p>
        </p:txBody>
      </p:sp>
      <p:sp>
        <p:nvSpPr>
          <p:cNvPr id="39" name="Oval 38"/>
          <p:cNvSpPr/>
          <p:nvPr/>
        </p:nvSpPr>
        <p:spPr>
          <a:xfrm>
            <a:off x="8147304" y="330098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8151876" y="3310127"/>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41" name="TextBox 40"/>
          <p:cNvSpPr txBox="1"/>
          <p:nvPr/>
        </p:nvSpPr>
        <p:spPr>
          <a:xfrm>
            <a:off x="8494776" y="3300984"/>
            <a:ext cx="2916936"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PVC 主链变化证据</a:t>
            </a:r>
          </a:p>
        </p:txBody>
      </p:sp>
      <p:sp>
        <p:nvSpPr>
          <p:cNvPr id="42" name="TextBox 41"/>
          <p:cNvSpPr txBox="1"/>
          <p:nvPr/>
        </p:nvSpPr>
        <p:spPr>
          <a:xfrm>
            <a:off x="8494776" y="3666744"/>
            <a:ext cx="2916936"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氯平衡 + 链长 + 凝胶</a:t>
            </a:r>
          </a:p>
          <a:p>
            <a:pPr>
              <a:spcAft>
                <a:spcPts val="600"/>
              </a:spcAft>
              <a:defRPr sz="1450" b="0">
                <a:solidFill>
                  <a:srgbClr val="111111"/>
                </a:solidFill>
                <a:latin typeface="Microsoft YaHei"/>
              </a:defRPr>
            </a:pPr>
            <a:r>
              <a:t>与产物组成联合测量。</a:t>
            </a:r>
          </a:p>
        </p:txBody>
      </p:sp>
      <p:sp>
        <p:nvSpPr>
          <p:cNvPr id="43" name="Oval 42"/>
          <p:cNvSpPr/>
          <p:nvPr/>
        </p:nvSpPr>
        <p:spPr>
          <a:xfrm>
            <a:off x="8147304" y="4617720"/>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8151876" y="4626864"/>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45" name="TextBox 44"/>
          <p:cNvSpPr txBox="1"/>
          <p:nvPr/>
        </p:nvSpPr>
        <p:spPr>
          <a:xfrm>
            <a:off x="8494776" y="4617720"/>
            <a:ext cx="2916936"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可证伪的机制解释</a:t>
            </a:r>
          </a:p>
        </p:txBody>
      </p:sp>
      <p:sp>
        <p:nvSpPr>
          <p:cNvPr id="46" name="TextBox 45"/>
          <p:cNvSpPr txBox="1"/>
          <p:nvPr/>
        </p:nvSpPr>
        <p:spPr>
          <a:xfrm>
            <a:off x="8494776" y="4983480"/>
            <a:ext cx="2916936"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不预设唯一自由基，</a:t>
            </a:r>
          </a:p>
          <a:p>
            <a:pPr>
              <a:spcAft>
                <a:spcPts val="600"/>
              </a:spcAft>
              <a:defRPr sz="1450" b="0">
                <a:solidFill>
                  <a:srgbClr val="111111"/>
                </a:solidFill>
                <a:latin typeface="Microsoft YaHei"/>
              </a:defRPr>
            </a:pPr>
            <a:r>
              <a:t>允许关键支路被否定。</a:t>
            </a:r>
          </a:p>
        </p:txBody>
      </p:sp>
      <p:sp>
        <p:nvSpPr>
          <p:cNvPr id="47" name="Rectangle 46"/>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Chevron 47"/>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0" name="TextBox 49"/>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研究目标保持不变：探索有机光敏体系；研究结论必须随证据逐步建立。</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参考文献：按实际支持的论点使用，并保留核验边界</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六篇上传全文已查阅；AQ 原始研究线索仅二次引用；在线检索与 DOI 解析受网络 403 限制</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20</a:t>
            </a:r>
          </a:p>
        </p:txBody>
      </p:sp>
      <p:sp>
        <p:nvSpPr>
          <p:cNvPr id="7" name="Oval 6"/>
          <p:cNvSpPr/>
          <p:nvPr/>
        </p:nvSpPr>
        <p:spPr>
          <a:xfrm>
            <a:off x="475488" y="148132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80060" y="1490472"/>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1</a:t>
            </a:r>
          </a:p>
        </p:txBody>
      </p:sp>
      <p:sp>
        <p:nvSpPr>
          <p:cNvPr id="9" name="TextBox 8"/>
          <p:cNvSpPr txBox="1"/>
          <p:nvPr/>
        </p:nvSpPr>
        <p:spPr>
          <a:xfrm>
            <a:off x="832104" y="145389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Xu, S.; Han, Z.; Yuan, K.; et al. Nat. Rev. Methods Primers 2023, 3, 44.</a:t>
            </a:r>
          </a:p>
        </p:txBody>
      </p:sp>
      <p:sp>
        <p:nvSpPr>
          <p:cNvPr id="10" name="TextBox 9"/>
          <p:cNvSpPr txBox="1"/>
          <p:nvPr/>
        </p:nvSpPr>
        <p:spPr>
          <a:xfrm>
            <a:off x="832104" y="165506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Upcycling chlorinated waste plastics.</a:t>
            </a:r>
          </a:p>
        </p:txBody>
      </p:sp>
      <p:sp>
        <p:nvSpPr>
          <p:cNvPr id="11" name="TextBox 10"/>
          <p:cNvSpPr txBox="1"/>
          <p:nvPr/>
        </p:nvSpPr>
        <p:spPr>
          <a:xfrm>
            <a:off x="832104" y="187452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2"/>
              </a:rPr>
              <a:t>https://doi.org/10.1038/s43586-023-00227-w</a:t>
            </a:r>
          </a:p>
        </p:txBody>
      </p:sp>
      <p:sp>
        <p:nvSpPr>
          <p:cNvPr id="12" name="TextBox 11"/>
          <p:cNvSpPr txBox="1"/>
          <p:nvPr/>
        </p:nvSpPr>
        <p:spPr>
          <a:xfrm>
            <a:off x="6702552" y="187452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PVC 氯管理与升级利用</a:t>
            </a:r>
          </a:p>
        </p:txBody>
      </p:sp>
      <p:sp>
        <p:nvSpPr>
          <p:cNvPr id="13" name="Oval 12"/>
          <p:cNvSpPr/>
          <p:nvPr/>
        </p:nvSpPr>
        <p:spPr>
          <a:xfrm>
            <a:off x="475488" y="207568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0060" y="2084831"/>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2</a:t>
            </a:r>
          </a:p>
        </p:txBody>
      </p:sp>
      <p:sp>
        <p:nvSpPr>
          <p:cNvPr id="15" name="TextBox 14"/>
          <p:cNvSpPr txBox="1"/>
          <p:nvPr/>
        </p:nvSpPr>
        <p:spPr>
          <a:xfrm>
            <a:off x="832104" y="204825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Gardette, J.-L.; Gaumet, S.; Lemaire, J. Macromolecules 1989, 22, 2576–2581.</a:t>
            </a:r>
          </a:p>
        </p:txBody>
      </p:sp>
      <p:sp>
        <p:nvSpPr>
          <p:cNvPr id="16" name="TextBox 15"/>
          <p:cNvSpPr txBox="1"/>
          <p:nvPr/>
        </p:nvSpPr>
        <p:spPr>
          <a:xfrm>
            <a:off x="832104" y="224942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Photooxidation of poly(vinyl chloride). 1. A reexamination of the mechanism.</a:t>
            </a:r>
          </a:p>
        </p:txBody>
      </p:sp>
      <p:sp>
        <p:nvSpPr>
          <p:cNvPr id="17" name="TextBox 16"/>
          <p:cNvSpPr txBox="1"/>
          <p:nvPr/>
        </p:nvSpPr>
        <p:spPr>
          <a:xfrm>
            <a:off x="832104" y="246888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3"/>
              </a:rPr>
              <a:t>https://doi.org/10.1021/ma00196a005</a:t>
            </a:r>
          </a:p>
        </p:txBody>
      </p:sp>
      <p:sp>
        <p:nvSpPr>
          <p:cNvPr id="18" name="TextBox 17"/>
          <p:cNvSpPr txBox="1"/>
          <p:nvPr/>
        </p:nvSpPr>
        <p:spPr>
          <a:xfrm>
            <a:off x="6702552" y="246888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光氧化产物与机制讨论</a:t>
            </a:r>
          </a:p>
        </p:txBody>
      </p:sp>
      <p:sp>
        <p:nvSpPr>
          <p:cNvPr id="19" name="Oval 18"/>
          <p:cNvSpPr/>
          <p:nvPr/>
        </p:nvSpPr>
        <p:spPr>
          <a:xfrm>
            <a:off x="475488" y="267004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80060" y="2679191"/>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3</a:t>
            </a:r>
          </a:p>
        </p:txBody>
      </p:sp>
      <p:sp>
        <p:nvSpPr>
          <p:cNvPr id="21" name="TextBox 20"/>
          <p:cNvSpPr txBox="1"/>
          <p:nvPr/>
        </p:nvSpPr>
        <p:spPr>
          <a:xfrm>
            <a:off x="832104" y="264261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Huang, Z.; Wang, H. J. Polym. Sci. 2024, 62, 969–997.</a:t>
            </a:r>
          </a:p>
        </p:txBody>
      </p:sp>
      <p:sp>
        <p:nvSpPr>
          <p:cNvPr id="22" name="TextBox 21"/>
          <p:cNvSpPr txBox="1"/>
          <p:nvPr/>
        </p:nvSpPr>
        <p:spPr>
          <a:xfrm>
            <a:off x="832104" y="284378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A review on photochemical effects of common plastics and their related applications.</a:t>
            </a:r>
          </a:p>
        </p:txBody>
      </p:sp>
      <p:sp>
        <p:nvSpPr>
          <p:cNvPr id="23" name="TextBox 22"/>
          <p:cNvSpPr txBox="1"/>
          <p:nvPr/>
        </p:nvSpPr>
        <p:spPr>
          <a:xfrm>
            <a:off x="832104" y="306324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4"/>
              </a:rPr>
              <a:t>https://doi.org/10.1002/pol.20230322</a:t>
            </a:r>
          </a:p>
        </p:txBody>
      </p:sp>
      <p:sp>
        <p:nvSpPr>
          <p:cNvPr id="24" name="TextBox 23"/>
          <p:cNvSpPr txBox="1"/>
          <p:nvPr/>
        </p:nvSpPr>
        <p:spPr>
          <a:xfrm>
            <a:off x="6702552" y="306324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聚合物吸光、结构与相态</a:t>
            </a:r>
          </a:p>
        </p:txBody>
      </p:sp>
      <p:sp>
        <p:nvSpPr>
          <p:cNvPr id="25" name="Oval 24"/>
          <p:cNvSpPr/>
          <p:nvPr/>
        </p:nvSpPr>
        <p:spPr>
          <a:xfrm>
            <a:off x="475488" y="326440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80060" y="3273551"/>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4</a:t>
            </a:r>
          </a:p>
        </p:txBody>
      </p:sp>
      <p:sp>
        <p:nvSpPr>
          <p:cNvPr id="27" name="TextBox 26"/>
          <p:cNvSpPr txBox="1"/>
          <p:nvPr/>
        </p:nvSpPr>
        <p:spPr>
          <a:xfrm>
            <a:off x="832104" y="323697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Chen, C.-X.; Yang, S.-S.; Pang, J.-W.; et al. Environ. Sci. Ecotechnol. 2024, 22, 100449.</a:t>
            </a:r>
          </a:p>
        </p:txBody>
      </p:sp>
      <p:sp>
        <p:nvSpPr>
          <p:cNvPr id="28" name="TextBox 27"/>
          <p:cNvSpPr txBox="1"/>
          <p:nvPr/>
        </p:nvSpPr>
        <p:spPr>
          <a:xfrm>
            <a:off x="832104" y="343814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Anthraquinones-based photocatalysis: A comprehensive review.</a:t>
            </a:r>
          </a:p>
        </p:txBody>
      </p:sp>
      <p:sp>
        <p:nvSpPr>
          <p:cNvPr id="29" name="TextBox 28"/>
          <p:cNvSpPr txBox="1"/>
          <p:nvPr/>
        </p:nvSpPr>
        <p:spPr>
          <a:xfrm>
            <a:off x="832104" y="365760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5"/>
              </a:rPr>
              <a:t>https://doi.org/10.1016/j.ese.2024.100449</a:t>
            </a:r>
          </a:p>
        </p:txBody>
      </p:sp>
      <p:sp>
        <p:nvSpPr>
          <p:cNvPr id="30" name="TextBox 29"/>
          <p:cNvSpPr txBox="1"/>
          <p:nvPr/>
        </p:nvSpPr>
        <p:spPr>
          <a:xfrm>
            <a:off x="6702552" y="365760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AQ 激发态与氧相关过程</a:t>
            </a:r>
          </a:p>
        </p:txBody>
      </p:sp>
      <p:sp>
        <p:nvSpPr>
          <p:cNvPr id="31" name="Oval 30"/>
          <p:cNvSpPr/>
          <p:nvPr/>
        </p:nvSpPr>
        <p:spPr>
          <a:xfrm>
            <a:off x="475488" y="385876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80060" y="3867912"/>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5</a:t>
            </a:r>
          </a:p>
        </p:txBody>
      </p:sp>
      <p:sp>
        <p:nvSpPr>
          <p:cNvPr id="33" name="TextBox 32"/>
          <p:cNvSpPr txBox="1"/>
          <p:nvPr/>
        </p:nvSpPr>
        <p:spPr>
          <a:xfrm>
            <a:off x="832104" y="383133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Qin, J.; Dou, Y.; Zhou, J.; et al. Appl. Catal. B: Environ. 2024, 341, 123355.</a:t>
            </a:r>
          </a:p>
        </p:txBody>
      </p:sp>
      <p:sp>
        <p:nvSpPr>
          <p:cNvPr id="34" name="TextBox 33"/>
          <p:cNvSpPr txBox="1"/>
          <p:nvPr/>
        </p:nvSpPr>
        <p:spPr>
          <a:xfrm>
            <a:off x="832104" y="403250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Encapsulation of carbon-nanodots into metal-organic frameworks for boosting photocatalytic upcycling of polyvinyl chloride plastic.</a:t>
            </a:r>
          </a:p>
        </p:txBody>
      </p:sp>
      <p:sp>
        <p:nvSpPr>
          <p:cNvPr id="35" name="TextBox 34"/>
          <p:cNvSpPr txBox="1"/>
          <p:nvPr/>
        </p:nvSpPr>
        <p:spPr>
          <a:xfrm>
            <a:off x="832104" y="425196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6"/>
              </a:rPr>
              <a:t>https://doi.org/10.1016/j.apcatb.2023.123355</a:t>
            </a:r>
          </a:p>
        </p:txBody>
      </p:sp>
      <p:sp>
        <p:nvSpPr>
          <p:cNvPr id="36" name="TextBox 35"/>
          <p:cNvSpPr txBox="1"/>
          <p:nvPr/>
        </p:nvSpPr>
        <p:spPr>
          <a:xfrm>
            <a:off x="6702552" y="425196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PVC 联合证据与条件差异</a:t>
            </a:r>
          </a:p>
        </p:txBody>
      </p:sp>
      <p:sp>
        <p:nvSpPr>
          <p:cNvPr id="37" name="Oval 36"/>
          <p:cNvSpPr/>
          <p:nvPr/>
        </p:nvSpPr>
        <p:spPr>
          <a:xfrm>
            <a:off x="475488" y="445312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80060" y="4462272"/>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6</a:t>
            </a:r>
          </a:p>
        </p:txBody>
      </p:sp>
      <p:sp>
        <p:nvSpPr>
          <p:cNvPr id="39" name="TextBox 38"/>
          <p:cNvSpPr txBox="1"/>
          <p:nvPr/>
        </p:nvSpPr>
        <p:spPr>
          <a:xfrm>
            <a:off x="832104" y="442569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Su, K.; Gao, T.; Liu, H.; et al. Angew. Chem. Int. Ed. 2026, e5578835.</a:t>
            </a:r>
          </a:p>
        </p:txBody>
      </p:sp>
      <p:sp>
        <p:nvSpPr>
          <p:cNvPr id="40" name="TextBox 39"/>
          <p:cNvSpPr txBox="1"/>
          <p:nvPr/>
        </p:nvSpPr>
        <p:spPr>
          <a:xfrm>
            <a:off x="832104" y="462686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Photocracking of Polystyrene into Aromatic Products in CH₂Cl₂.</a:t>
            </a:r>
          </a:p>
        </p:txBody>
      </p:sp>
      <p:sp>
        <p:nvSpPr>
          <p:cNvPr id="41" name="TextBox 40"/>
          <p:cNvSpPr txBox="1"/>
          <p:nvPr/>
        </p:nvSpPr>
        <p:spPr>
          <a:xfrm>
            <a:off x="832104" y="484632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7"/>
              </a:rPr>
              <a:t>https://doi.org/10.1002/anie.5578835</a:t>
            </a:r>
          </a:p>
        </p:txBody>
      </p:sp>
      <p:sp>
        <p:nvSpPr>
          <p:cNvPr id="42" name="TextBox 41"/>
          <p:cNvSpPr txBox="1"/>
          <p:nvPr/>
        </p:nvSpPr>
        <p:spPr>
          <a:xfrm>
            <a:off x="6702552" y="484632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介质、Cl· 与链长证据</a:t>
            </a:r>
          </a:p>
        </p:txBody>
      </p:sp>
      <p:sp>
        <p:nvSpPr>
          <p:cNvPr id="43" name="Oval 42"/>
          <p:cNvSpPr/>
          <p:nvPr/>
        </p:nvSpPr>
        <p:spPr>
          <a:xfrm>
            <a:off x="475488" y="504748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480060" y="5056632"/>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7</a:t>
            </a:r>
          </a:p>
        </p:txBody>
      </p:sp>
      <p:sp>
        <p:nvSpPr>
          <p:cNvPr id="45" name="TextBox 44"/>
          <p:cNvSpPr txBox="1"/>
          <p:nvPr/>
        </p:nvSpPr>
        <p:spPr>
          <a:xfrm>
            <a:off x="832104" y="502005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Ren, M. G.; Mao, M.; Duan, X. Y.; Song, Q. H. J. Photochem. Photobiol. A: Chem. 2011, 217, 164–168.</a:t>
            </a:r>
          </a:p>
        </p:txBody>
      </p:sp>
      <p:sp>
        <p:nvSpPr>
          <p:cNvPr id="46" name="TextBox 45"/>
          <p:cNvSpPr txBox="1"/>
          <p:nvPr/>
        </p:nvSpPr>
        <p:spPr>
          <a:xfrm>
            <a:off x="832104" y="522122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Hydrogen peroxide synthesis by direct photoreduction of 2-ethylanthraquinone in aerated solutions.</a:t>
            </a:r>
          </a:p>
        </p:txBody>
      </p:sp>
      <p:sp>
        <p:nvSpPr>
          <p:cNvPr id="47" name="TextBox 46"/>
          <p:cNvSpPr txBox="1"/>
          <p:nvPr/>
        </p:nvSpPr>
        <p:spPr>
          <a:xfrm>
            <a:off x="832104" y="5440680"/>
            <a:ext cx="1051560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据 Chen 综述 Ref.98；原文 / DOI 未取得；不补写未核实 DOI。</a:t>
            </a:r>
          </a:p>
        </p:txBody>
      </p:sp>
      <p:sp>
        <p:nvSpPr>
          <p:cNvPr id="48" name="Rectangle 47"/>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Chevron 48"/>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1" name="TextBox 50"/>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文献支持提出机制，不替代本体系的物种检测、物料平衡和主链变化证据。</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感谢聆听，敬请各位老师批评指正</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5" name="TextBox 4"/>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21</a:t>
            </a:r>
          </a:p>
        </p:txBody>
      </p:sp>
      <p:sp>
        <p:nvSpPr>
          <p:cNvPr id="6" name="Rounded Rectangle 5"/>
          <p:cNvSpPr/>
          <p:nvPr/>
        </p:nvSpPr>
        <p:spPr>
          <a:xfrm>
            <a:off x="438912" y="1234440"/>
            <a:ext cx="11201400" cy="449884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005840" y="1783080"/>
            <a:ext cx="10058400" cy="594360"/>
          </a:xfrm>
          <a:prstGeom prst="rect">
            <a:avLst/>
          </a:prstGeom>
          <a:noFill/>
          <a:effectLst/>
        </p:spPr>
        <p:txBody>
          <a:bodyPr wrap="square" lIns="22860" rIns="22860" tIns="0" bIns="0">
            <a:spAutoFit/>
          </a:bodyPr>
          <a:lstStyle/>
          <a:p>
            <a:pPr algn="ctr">
              <a:spcAft>
                <a:spcPts val="600"/>
              </a:spcAft>
              <a:defRPr sz="3800" b="1">
                <a:solidFill>
                  <a:srgbClr val="063584"/>
                </a:solidFill>
                <a:latin typeface="Microsoft YaHei"/>
              </a:defRPr>
            </a:pPr>
            <a:r>
              <a:t>THANK YOU</a:t>
            </a:r>
          </a:p>
        </p:txBody>
      </p:sp>
      <p:sp>
        <p:nvSpPr>
          <p:cNvPr id="8" name="Freeform 7"/>
          <p:cNvSpPr/>
          <p:nvPr/>
        </p:nvSpPr>
        <p:spPr>
          <a:xfrm>
            <a:off x="2761488" y="3008376"/>
            <a:ext cx="6675120" cy="219456"/>
          </a:xfrm>
          <a:custGeom>
            <a:avLst/>
            <a:gdLst/>
            <a:ahLst/>
            <a:cxnLst/>
            <a:rect l="l" t="t" r="r" b="b"/>
            <a:pathLst>
              <a:path w="6675120" h="219456">
                <a:moveTo>
                  <a:pt x="0" y="0"/>
                </a:moveTo>
                <a:lnTo>
                  <a:pt x="667512" y="219456"/>
                </a:lnTo>
                <a:lnTo>
                  <a:pt x="1335024" y="0"/>
                </a:lnTo>
                <a:lnTo>
                  <a:pt x="2002536" y="219456"/>
                </a:lnTo>
                <a:lnTo>
                  <a:pt x="2670048" y="0"/>
                </a:lnTo>
                <a:lnTo>
                  <a:pt x="3337560" y="219456"/>
                </a:lnTo>
                <a:lnTo>
                  <a:pt x="4005072" y="0"/>
                </a:lnTo>
                <a:lnTo>
                  <a:pt x="4672583" y="219456"/>
                </a:lnTo>
                <a:lnTo>
                  <a:pt x="5340095" y="0"/>
                </a:lnTo>
                <a:lnTo>
                  <a:pt x="6007608" y="219456"/>
                </a:lnTo>
                <a:lnTo>
                  <a:pt x="6675120"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3429000"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3300984"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1" name="Connector 10"/>
          <p:cNvCxnSpPr/>
          <p:nvPr/>
        </p:nvCxnSpPr>
        <p:spPr>
          <a:xfrm>
            <a:off x="4764024"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4636008"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3" name="Connector 12"/>
          <p:cNvCxnSpPr/>
          <p:nvPr/>
        </p:nvCxnSpPr>
        <p:spPr>
          <a:xfrm>
            <a:off x="6099048"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5971032"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5" name="Connector 14"/>
          <p:cNvCxnSpPr/>
          <p:nvPr/>
        </p:nvCxnSpPr>
        <p:spPr>
          <a:xfrm>
            <a:off x="7434071"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306055"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7" name="Connector 16"/>
          <p:cNvCxnSpPr/>
          <p:nvPr/>
        </p:nvCxnSpPr>
        <p:spPr>
          <a:xfrm>
            <a:off x="8769096"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8641080"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19" name="TextBox 18"/>
          <p:cNvSpPr txBox="1"/>
          <p:nvPr/>
        </p:nvSpPr>
        <p:spPr>
          <a:xfrm>
            <a:off x="2514600" y="2980944"/>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20" name="TextBox 19"/>
          <p:cNvSpPr txBox="1"/>
          <p:nvPr/>
        </p:nvSpPr>
        <p:spPr>
          <a:xfrm>
            <a:off x="9482328" y="2980944"/>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21" name="TextBox 20"/>
          <p:cNvSpPr txBox="1"/>
          <p:nvPr/>
        </p:nvSpPr>
        <p:spPr>
          <a:xfrm>
            <a:off x="1024128" y="4700016"/>
            <a:ext cx="10040112" cy="393192"/>
          </a:xfrm>
          <a:prstGeom prst="rect">
            <a:avLst/>
          </a:prstGeom>
          <a:noFill/>
          <a:effectLst/>
        </p:spPr>
        <p:txBody>
          <a:bodyPr wrap="square" lIns="22860" rIns="22860" tIns="0" bIns="0">
            <a:spAutoFit/>
          </a:bodyPr>
          <a:lstStyle/>
          <a:p>
            <a:pPr algn="ctr">
              <a:spcAft>
                <a:spcPts val="600"/>
              </a:spcAft>
              <a:defRPr sz="2100" b="1">
                <a:solidFill>
                  <a:srgbClr val="063584"/>
                </a:solidFill>
                <a:latin typeface="Microsoft YaHei"/>
              </a:defRPr>
            </a:pPr>
            <a:r>
              <a:t>佟可心  ·  北京工业大学</a:t>
            </a:r>
          </a:p>
        </p:txBody>
      </p:sp>
      <p:sp>
        <p:nvSpPr>
          <p:cNvPr id="22" name="Rectangle 21"/>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Chevron 22"/>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讨论</a:t>
            </a:r>
          </a:p>
        </p:txBody>
      </p:sp>
      <p:sp>
        <p:nvSpPr>
          <p:cNvPr id="25" name="TextBox 24"/>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期待对实验优先级、分析方法及机理证据提出建议。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