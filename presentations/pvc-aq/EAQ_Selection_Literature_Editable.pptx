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承接上一页PS/二氯甲烷光裂解文献。上一页只说明含氯介质和活性物种可能促进聚合物断链，不能证明PVC、DCE或EAQ体系会自动复制该机理，因此本课题仍需要一个可控的光化学入口。左侧保留Chen等2024年综述Figure 2b中2-乙基蒽醌的原始循环：2-EAQ吸光后从供氢体获得氢，形成半醌/氢化态物种，并在氧气参与下恢复EAQ、生成H2O2。右侧第一点来自综述第2.1节：AQ在合适波长下由单重态经系间窜越形成较长寿命三重态，可参与I型或II型光化学过程。第二点来自综述有机合成部分与Figure 7a：AQ类分子能够通过HAT或ET-PT活化烃类C-H并生成碳中心自由基；Figure 7a具体使用AQ-COOH和对二甲苯，不是EAQ/PVC的直接证据。第三点说明2-EAQ和氧气之间存在再生循环，但不能据此宣称EAQ直接活化PVC C-Cl键或释放Cl自由基。讲解衔接：下一页进入本课题工作假说，分别画出EAQ循环、底物/溶剂竞争和PVC可能氧化断链支路。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67160" cy="49377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光敏组分选择：乙基蒽醌提供可循环的自由基入口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2004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承接上一页：聚合物断链路径具有文献可行性；本页解决如何在 PVC 体系中主动、可调地启动反应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98448"/>
            <a:ext cx="11548872" cy="56692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444752"/>
            <a:ext cx="2578608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40" b="1">
                <a:solidFill>
                  <a:srgbClr val="063584"/>
                </a:solidFill>
                <a:latin typeface="Microsoft YaHei"/>
              </a:defRPr>
            </a:pPr>
            <a:r>
              <a:t>PS / CH₂Cl₂：活性物种可促断链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1581912"/>
            <a:ext cx="493776" cy="0"/>
          </a:xfrm>
          <a:prstGeom prst="line">
            <a:avLst/>
          </a:prstGeom>
          <a:ln w="2159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76472" y="1435608"/>
            <a:ext cx="4005072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040" b="1">
                <a:solidFill>
                  <a:srgbClr val="111111"/>
                </a:solidFill>
                <a:latin typeface="Microsoft YaHei"/>
              </a:defRPr>
            </a:pPr>
            <a:r>
              <a:t>PVC / 模型底物在 365 nm 下能否直接进入同一路径尚不确定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00416" y="1581912"/>
            <a:ext cx="484632" cy="0"/>
          </a:xfrm>
          <a:prstGeom prst="line">
            <a:avLst/>
          </a:prstGeom>
          <a:ln w="2159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76488" y="1389888"/>
            <a:ext cx="3108960" cy="33832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40" b="1">
                <a:solidFill>
                  <a:srgbClr val="063584"/>
                </a:solidFill>
                <a:latin typeface="Microsoft YaHei"/>
              </a:defRPr>
            </a:pPr>
            <a:r>
              <a:t>需要 EAQ 承担“吸光—活化—再生”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029968"/>
            <a:ext cx="4590288" cy="38130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7784" y="2221992"/>
            <a:ext cx="4114800" cy="329184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286000"/>
            <a:ext cx="393192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320" b="1">
                <a:solidFill>
                  <a:srgbClr val="063584"/>
                </a:solidFill>
                <a:latin typeface="Microsoft YaHei"/>
              </a:defRPr>
            </a:pPr>
            <a:r>
              <a:t>2-乙基蒽醌文献循环｜供氢体—EAQ—O₂</a:t>
            </a:r>
          </a:p>
        </p:txBody>
      </p:sp>
      <p:pic>
        <p:nvPicPr>
          <p:cNvPr id="14" name="Picture 13" descr="fig2b_eaq_cycl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688336"/>
            <a:ext cx="4069080" cy="1947672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594360" y="4709160"/>
            <a:ext cx="4023360" cy="27432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120" b="0">
                <a:solidFill>
                  <a:srgbClr val="111111"/>
                </a:solidFill>
                <a:latin typeface="Microsoft YaHei"/>
              </a:defRPr>
            </a:pPr>
            <a:r>
              <a:t>2-EAQ 吸光后从供氢体获得氢；还原态物种再与 O₂ 反应并恢复 EAQ。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" y="5138928"/>
            <a:ext cx="1207008" cy="4846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5212080"/>
            <a:ext cx="1133856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60" b="1">
                <a:solidFill>
                  <a:srgbClr val="063584"/>
                </a:solidFill>
                <a:latin typeface="Microsoft YaHei"/>
              </a:defRPr>
            </a:pPr>
            <a:r>
              <a:t>有机光敏剂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422392"/>
            <a:ext cx="1133856" cy="13716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780" b="0">
                <a:solidFill>
                  <a:srgbClr val="566273"/>
                </a:solidFill>
                <a:latin typeface="Microsoft YaHei"/>
              </a:defRPr>
            </a:pPr>
            <a:r>
              <a:t>不依赖贵金属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38528" y="5138928"/>
            <a:ext cx="1207008" cy="4846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75104" y="5212080"/>
            <a:ext cx="1133856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60" b="1">
                <a:solidFill>
                  <a:srgbClr val="063584"/>
                </a:solidFill>
                <a:latin typeface="Microsoft YaHei"/>
              </a:defRPr>
            </a:pPr>
            <a:r>
              <a:t>真实使用 EAQ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5104" y="5422392"/>
            <a:ext cx="1133856" cy="13716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780" b="0">
                <a:solidFill>
                  <a:srgbClr val="566273"/>
                </a:solidFill>
                <a:latin typeface="Microsoft YaHei"/>
              </a:defRPr>
            </a:pPr>
            <a:r>
              <a:t>不是未取代 AQ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00984" y="5138928"/>
            <a:ext cx="1207008" cy="48463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5212080"/>
            <a:ext cx="1133856" cy="16459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960" b="1">
                <a:solidFill>
                  <a:srgbClr val="063584"/>
                </a:solidFill>
                <a:latin typeface="Microsoft YaHei"/>
              </a:defRPr>
            </a:pPr>
            <a:r>
              <a:t>氧气可参与再生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422392"/>
            <a:ext cx="1133856" cy="13716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780" b="0">
                <a:solidFill>
                  <a:srgbClr val="566273"/>
                </a:solidFill>
                <a:latin typeface="Microsoft YaHei"/>
              </a:defRPr>
            </a:pPr>
            <a:r>
              <a:t>具备循环基础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660136"/>
            <a:ext cx="4050791" cy="11887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780" b="0">
                <a:solidFill>
                  <a:srgbClr val="566273"/>
                </a:solidFill>
                <a:latin typeface="Microsoft YaHei"/>
              </a:defRPr>
            </a:pPr>
            <a:r>
              <a:t>Chen et al. 2024, Fig. 2b；原图引自其 Ref. 99。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2029968"/>
            <a:ext cx="6748272" cy="78638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02936" y="2240279"/>
            <a:ext cx="365760" cy="365760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6088" y="2322576"/>
            <a:ext cx="219456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139696"/>
            <a:ext cx="1965960" cy="22860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620" b="1">
                <a:solidFill>
                  <a:srgbClr val="063584"/>
                </a:solidFill>
                <a:latin typeface="Microsoft YaHei"/>
              </a:defRPr>
            </a:pPr>
            <a:r>
              <a:t>建立光化学入口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148840"/>
            <a:ext cx="4114800" cy="210312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420" b="1">
                <a:solidFill>
                  <a:srgbClr val="063584"/>
                </a:solidFill>
                <a:latin typeface="Arial"/>
              </a:defRPr>
            </a:pPr>
            <a:r>
              <a:t>EAQ → ¹EAQ* ─ISC→ ³EAQ*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2468880"/>
            <a:ext cx="5925312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090" b="0">
                <a:solidFill>
                  <a:srgbClr val="566273"/>
                </a:solidFill>
                <a:latin typeface="Microsoft YaHei"/>
              </a:defRPr>
            </a:pPr>
            <a:r>
              <a:t>AQ 类分子在合适波长下形成较长寿命三重态，为能量、电子或氢转移提供时间窗口。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2980944"/>
            <a:ext cx="6748272" cy="16002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02936" y="3200400"/>
            <a:ext cx="365760" cy="365760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6088" y="3282696"/>
            <a:ext cx="219456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3090672"/>
            <a:ext cx="2834640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620" b="1">
                <a:solidFill>
                  <a:srgbClr val="063584"/>
                </a:solidFill>
                <a:latin typeface="Microsoft YaHei"/>
              </a:defRPr>
            </a:pPr>
            <a:r>
              <a:t>生成底物碳中心自由基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3456432"/>
            <a:ext cx="2852928" cy="466344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111111"/>
                </a:solidFill>
                <a:latin typeface="Microsoft YaHei"/>
              </a:defRPr>
            </a:pPr>
            <a:r>
              <a:t>综述总结 AQ 类光催化剂可通过 HAT/ET–PT 活化烃类 C–H；对二甲苯体系给出苄基自由基路径。</a:t>
            </a:r>
          </a:p>
        </p:txBody>
      </p:sp>
      <p:pic>
        <p:nvPicPr>
          <p:cNvPr id="37" name="Picture 36" descr="fig7a_hat_in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3145536"/>
            <a:ext cx="2926080" cy="1188720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8659368" y="4361688"/>
            <a:ext cx="2880360" cy="12801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750" b="0">
                <a:solidFill>
                  <a:srgbClr val="566273"/>
                </a:solidFill>
                <a:latin typeface="Microsoft YaHei"/>
              </a:defRPr>
            </a:pPr>
            <a:r>
              <a:t>AQ-COOH / PX，Fig. 7a；作为 HAT 文献先例。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4745736"/>
            <a:ext cx="6748272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02936" y="4946904"/>
            <a:ext cx="365760" cy="365760"/>
          </a:xfrm>
          <a:prstGeom prst="ellipse">
            <a:avLst/>
          </a:prstGeom>
          <a:solidFill>
            <a:srgbClr val="063584"/>
          </a:solidFill>
          <a:ln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76088" y="5029200"/>
            <a:ext cx="219456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855464"/>
            <a:ext cx="2468880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620" b="1">
                <a:solidFill>
                  <a:srgbClr val="063584"/>
                </a:solidFill>
                <a:latin typeface="Microsoft YaHei"/>
              </a:defRPr>
            </a:pPr>
            <a:r>
              <a:t>与 O₂ 耦合并再生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4864608"/>
            <a:ext cx="3520440" cy="219456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130" b="1">
                <a:solidFill>
                  <a:srgbClr val="063584"/>
                </a:solidFill>
                <a:latin typeface="Arial"/>
              </a:defRPr>
            </a:pPr>
            <a:r>
              <a:t>EAQH· / EAQH₂ + O₂ → EAQ + HOO· / H₂O₂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239512"/>
            <a:ext cx="5870448" cy="36576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566273"/>
                </a:solidFill>
                <a:latin typeface="Microsoft YaHei"/>
              </a:defRPr>
            </a:pPr>
            <a:r>
              <a:t>2-EAQ 文献证明“攫氢—氧化再生”可以形成循环；这支持其作为光敏入口，但不等于已证明 EAQ 可直接活化 PVC 的 C–Cl 键。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evron 45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选择依据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6099048"/>
            <a:ext cx="9528048" cy="24688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1260" b="1">
                <a:solidFill>
                  <a:srgbClr val="C00000"/>
                </a:solidFill>
                <a:latin typeface="Microsoft YaHei"/>
              </a:defRPr>
            </a:pPr>
            <a:r>
              <a:t>上一页证明“活性物种可促断链”；EAQ 提供“吸光—HAT/电子转移—O₂ 再生”的可调入口，因此选作候选光敏组分。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2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Chen et al., Environ. Sci. Ecotechnol. 2024, 22, 100449; Jiang et al., Renew. Energy 2021, 174, 928–938.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18288" rIns="18288" tIns="0" bIns="0">
            <a:spAutoFit/>
          </a:bodyPr>
          <a:lstStyle/>
          <a:p>
            <a:pPr algn="r">
              <a:spcAft>
                <a:spcPts val="2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