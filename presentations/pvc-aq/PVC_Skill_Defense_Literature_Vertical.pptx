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76" r:id="rId28"/>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背景页重建，配色沿用上一版科研答辩模板。左上展示PVC的结构和制品特点，左下区分机械、热化学和光化学处理。右侧将含氯塑料的化学升级利用按碳化、官能化、裂解或偶联、溶剂处理、解聚或低分子化及新材料/闭环利用分类。各路径是概念示意，不表示同一反应闭合循环，也不表示EAQ体系已完成这些转化；溶剂处理属于加工或分离路径，不能直接等同于C–C断裂。所有结构、图标、路径、文字和箭头均为原生可编辑对象，原照片位置改为可编辑装置/材料示意。文献：Xu et al., Upcycling chlorinated waste plastics, Nat.Rev.Methods Primers2023,3,44, DOI10.1038/s43586-023-00227-w。下一页从早期PVC光老化研究引出自由基反应的调控思路。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保留Gardette等1989年Macromolecules论文印刷页2580的原始机制图，避免重绘造成结构或箭头误差。原图中的波数属于该文献的产物归属，并非此前删除的用户PVC红外数据。Gardette论文的直接工作是解析PVC光氧化老化机理；这一研究方向总体服务于材料耐久性与稳定化认识，因此讲解时可表述为“早期研究希望理解并抑制老化”，不宜把该论文直接说成稳定剂设计研究。右侧将文献启发转化为本课题自上而下的三步验证路径：第一步用光暗、有无EAQ及DCE空白核实光敏增益并排除溶剂自身反应；第二步结合EPR、自由基捕获和气氛对照识别Cl自由基及氧相关物种的贡献；第三步通过氯平衡、产物分析与SEC/GPC链长变化，区分脱氯、氧化和真正的主链断裂。该路径不预设Cl自由基已经被证明，也不把官能团变化直接等同于聚合物降解。建议下一页先介绍二氯甲烷中氯自由基促进PS光裂解的最新文献，证明“含氯介质—氯自由基—聚合物断裂”具有文献先例；之后再引出EAQ作为本课题调节反应入口的候选光敏剂。</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第二张图片重建，所有结构、弯箭、自由基点、表格和文字均为PowerPoint原生对象。按用户原图恢复Nu、负电荷、离去基团标记与相同位置的C=C。七条弯箭与三条反应箭头各为独立单一原生形状；弯箭使用真正三次贝塞尔路径，鱼钩箭头单边钩与曲线在同一路径中，不再由分离线段拼接。第一行为亲核取代示意：亲核试剂Nu以孤对电子进攻碳，C–Cl键电子对转移给氯，生成Cl负离子，不画成游离氯自由基。第二行为均裂：从C–Cl键分别向碳和氯使用单电子鱼钩箭头，得到碳中心自由基和Cl自由基；该图只说明路径定义，不代表本体系或所有PVC位点在365纳米下都发生此步。第三行为碱促进消除示意，B负离子取邻位H，C–H键电子形成C=C，C–Cl键电子对给氯，产物为HB和Cl负离子；名称脱HCl表示净消除，不将其等同于碱条件直接释放游离HCl。热消除的具体机制可能不同。右侧414、332、328千焦每摩尔精确保留用户图数值，但原始出处和适用结构未提供，因此标注示意参考值及来源待核，不能当作PVC各位点实测BDE，也不能用4千焦差异普遍排序或推定365纳米必然光解。文献Xu2023和Huang2024支持路径区分与吸光/激发态的必要性，不冒充这组BDE数值的原始出处。下一页接早期PVC光老化的文献认识，以区分路径可能性与本体系证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回收与化学升级利用路径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回收利用路径多样，化学结构转化为高值利用提供新的研究方向</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DOI: 10.1038/s43586-023-00227-w</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320040" y="1325880"/>
            <a:ext cx="6227064" cy="174650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53312"/>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0360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PVC：重要的含氯通用塑料</a:t>
            </a:r>
          </a:p>
        </p:txBody>
      </p:sp>
      <p:sp>
        <p:nvSpPr>
          <p:cNvPr id="10" name="Freeform 9"/>
          <p:cNvSpPr/>
          <p:nvPr/>
        </p:nvSpPr>
        <p:spPr>
          <a:xfrm>
            <a:off x="713232" y="1901952"/>
            <a:ext cx="1700783" cy="118872"/>
          </a:xfrm>
          <a:custGeom>
            <a:avLst/>
            <a:gdLst/>
            <a:ahLst/>
            <a:cxnLst/>
            <a:rect l="l" t="t" r="r" b="b"/>
            <a:pathLst>
              <a:path w="1700783" h="118872">
                <a:moveTo>
                  <a:pt x="0" y="0"/>
                </a:moveTo>
                <a:lnTo>
                  <a:pt x="283464" y="118872"/>
                </a:lnTo>
                <a:lnTo>
                  <a:pt x="566928" y="0"/>
                </a:lnTo>
                <a:lnTo>
                  <a:pt x="850392" y="118872"/>
                </a:lnTo>
                <a:lnTo>
                  <a:pt x="1133856" y="0"/>
                </a:lnTo>
                <a:lnTo>
                  <a:pt x="1417320" y="118872"/>
                </a:lnTo>
                <a:lnTo>
                  <a:pt x="1700783"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996696"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905256"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3" name="Connector 12"/>
          <p:cNvCxnSpPr/>
          <p:nvPr/>
        </p:nvCxnSpPr>
        <p:spPr>
          <a:xfrm>
            <a:off x="1563624"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1472184"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5" name="Connector 14"/>
          <p:cNvCxnSpPr/>
          <p:nvPr/>
        </p:nvCxnSpPr>
        <p:spPr>
          <a:xfrm>
            <a:off x="2130552"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039112"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sp>
        <p:nvSpPr>
          <p:cNvPr id="17" name="Freeform 16"/>
          <p:cNvSpPr/>
          <p:nvPr/>
        </p:nvSpPr>
        <p:spPr>
          <a:xfrm>
            <a:off x="576072" y="1746504"/>
            <a:ext cx="82296" cy="822960"/>
          </a:xfrm>
          <a:custGeom>
            <a:avLst/>
            <a:gdLst/>
            <a:ahLst/>
            <a:cxnLst/>
            <a:rect l="l" t="t" r="r" b="b"/>
            <a:pathLst>
              <a:path w="82296" h="822960">
                <a:moveTo>
                  <a:pt x="82296" y="0"/>
                </a:moveTo>
                <a:lnTo>
                  <a:pt x="0" y="0"/>
                </a:lnTo>
                <a:lnTo>
                  <a:pt x="0" y="822960"/>
                </a:lnTo>
                <a:lnTo>
                  <a:pt x="82296"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2514600" y="1746504"/>
            <a:ext cx="82296" cy="822960"/>
          </a:xfrm>
          <a:custGeom>
            <a:avLst/>
            <a:gdLst/>
            <a:ahLst/>
            <a:cxnLst/>
            <a:rect l="l" t="t" r="r" b="b"/>
            <a:pathLst>
              <a:path w="82296" h="822960">
                <a:moveTo>
                  <a:pt x="0" y="0"/>
                </a:moveTo>
                <a:lnTo>
                  <a:pt x="82296" y="0"/>
                </a:lnTo>
                <a:lnTo>
                  <a:pt x="82296" y="822960"/>
                </a:lnTo>
                <a:lnTo>
                  <a:pt x="0"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24328" y="2423160"/>
            <a:ext cx="201168" cy="210312"/>
          </a:xfrm>
          <a:prstGeom prst="rect">
            <a:avLst/>
          </a:prstGeom>
          <a:noFill/>
          <a:effectLst/>
        </p:spPr>
        <p:txBody>
          <a:bodyPr wrap="square" lIns="22860" rIns="22860" tIns="0" bIns="0">
            <a:spAutoFit/>
          </a:bodyPr>
          <a:lstStyle/>
          <a:p>
            <a:pPr>
              <a:spcAft>
                <a:spcPts val="600"/>
              </a:spcAft>
              <a:defRPr sz="1200" b="0">
                <a:solidFill>
                  <a:srgbClr val="111111"/>
                </a:solidFill>
                <a:latin typeface="Arial"/>
              </a:defRPr>
            </a:pPr>
            <a:r>
              <a:t>n</a:t>
            </a:r>
          </a:p>
        </p:txBody>
      </p:sp>
      <p:sp>
        <p:nvSpPr>
          <p:cNvPr id="20" name="TextBox 19"/>
          <p:cNvSpPr txBox="1"/>
          <p:nvPr/>
        </p:nvSpPr>
        <p:spPr>
          <a:xfrm>
            <a:off x="658368" y="2734056"/>
            <a:ext cx="2011680" cy="210312"/>
          </a:xfrm>
          <a:prstGeom prst="rect">
            <a:avLst/>
          </a:prstGeom>
          <a:noFill/>
          <a:effectLst/>
        </p:spPr>
        <p:txBody>
          <a:bodyPr wrap="square" lIns="22860" rIns="22860" tIns="0" bIns="0">
            <a:spAutoFit/>
          </a:bodyPr>
          <a:lstStyle/>
          <a:p>
            <a:pPr algn="ctr">
              <a:spcAft>
                <a:spcPts val="600"/>
              </a:spcAft>
              <a:defRPr sz="1250" b="1">
                <a:solidFill>
                  <a:srgbClr val="063584"/>
                </a:solidFill>
                <a:latin typeface="Microsoft YaHei"/>
              </a:defRPr>
            </a:pPr>
            <a:r>
              <a:t>PVC 结构单元</a:t>
            </a:r>
          </a:p>
        </p:txBody>
      </p:sp>
      <p:sp>
        <p:nvSpPr>
          <p:cNvPr id="21" name="Oval 20"/>
          <p:cNvSpPr/>
          <p:nvPr/>
        </p:nvSpPr>
        <p:spPr>
          <a:xfrm>
            <a:off x="2956255" y="1822399"/>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154680" y="1783080"/>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产量大、应用广泛</a:t>
            </a:r>
          </a:p>
        </p:txBody>
      </p:sp>
      <p:sp>
        <p:nvSpPr>
          <p:cNvPr id="23" name="Oval 22"/>
          <p:cNvSpPr/>
          <p:nvPr/>
        </p:nvSpPr>
        <p:spPr>
          <a:xfrm>
            <a:off x="2956255" y="2115007"/>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80" y="2075688"/>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含有大量 C–Cl 键，具有独特的化学结构</a:t>
            </a:r>
          </a:p>
        </p:txBody>
      </p:sp>
      <p:sp>
        <p:nvSpPr>
          <p:cNvPr id="25" name="Oval 24"/>
          <p:cNvSpPr/>
          <p:nvPr/>
        </p:nvSpPr>
        <p:spPr>
          <a:xfrm>
            <a:off x="2956255" y="2407615"/>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154680" y="2368296"/>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实际制品含增塑剂、稳定剂等多种添加剂</a:t>
            </a:r>
          </a:p>
        </p:txBody>
      </p:sp>
      <p:sp>
        <p:nvSpPr>
          <p:cNvPr id="27" name="Oval 26"/>
          <p:cNvSpPr/>
          <p:nvPr/>
        </p:nvSpPr>
        <p:spPr>
          <a:xfrm>
            <a:off x="2956255" y="2700223"/>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54680" y="2660904"/>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回收与化学转化需协同管理氯与碳骨架</a:t>
            </a:r>
          </a:p>
        </p:txBody>
      </p:sp>
      <p:sp>
        <p:nvSpPr>
          <p:cNvPr id="29" name="Rounded Rectangle 28"/>
          <p:cNvSpPr/>
          <p:nvPr/>
        </p:nvSpPr>
        <p:spPr>
          <a:xfrm>
            <a:off x="320040" y="3246120"/>
            <a:ext cx="6227064" cy="25054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347472" y="3273551"/>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66344" y="332384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的主要回收与转化方式</a:t>
            </a:r>
          </a:p>
        </p:txBody>
      </p:sp>
      <p:sp>
        <p:nvSpPr>
          <p:cNvPr id="32" name="Rounded Rectangle 31"/>
          <p:cNvSpPr/>
          <p:nvPr/>
        </p:nvSpPr>
        <p:spPr>
          <a:xfrm>
            <a:off x="438912" y="3685032"/>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754562" y="3815974"/>
            <a:ext cx="159838" cy="159837"/>
          </a:xfrm>
          <a:custGeom>
            <a:avLst/>
            <a:gdLst/>
            <a:ahLst/>
            <a:cxnLst/>
            <a:rect l="l" t="t" r="r" b="b"/>
            <a:pathLst>
              <a:path w="159838" h="159837">
                <a:moveTo>
                  <a:pt x="0" y="0"/>
                </a:moveTo>
                <a:lnTo>
                  <a:pt x="5705" y="101"/>
                </a:lnTo>
                <a:lnTo>
                  <a:pt x="11403" y="407"/>
                </a:lnTo>
                <a:lnTo>
                  <a:pt x="17086" y="915"/>
                </a:lnTo>
                <a:lnTo>
                  <a:pt x="22748" y="1626"/>
                </a:lnTo>
                <a:lnTo>
                  <a:pt x="28380" y="2539"/>
                </a:lnTo>
                <a:lnTo>
                  <a:pt x="33976" y="3652"/>
                </a:lnTo>
                <a:lnTo>
                  <a:pt x="39529" y="4965"/>
                </a:lnTo>
                <a:lnTo>
                  <a:pt x="45032" y="6474"/>
                </a:lnTo>
                <a:lnTo>
                  <a:pt x="50477" y="8179"/>
                </a:lnTo>
                <a:lnTo>
                  <a:pt x="55858" y="10077"/>
                </a:lnTo>
                <a:lnTo>
                  <a:pt x="61167" y="12166"/>
                </a:lnTo>
                <a:lnTo>
                  <a:pt x="66399" y="14444"/>
                </a:lnTo>
                <a:lnTo>
                  <a:pt x="71546" y="16906"/>
                </a:lnTo>
                <a:lnTo>
                  <a:pt x="76602" y="19551"/>
                </a:lnTo>
                <a:lnTo>
                  <a:pt x="81560" y="22375"/>
                </a:lnTo>
                <a:lnTo>
                  <a:pt x="86415" y="25373"/>
                </a:lnTo>
                <a:lnTo>
                  <a:pt x="91159" y="28543"/>
                </a:lnTo>
                <a:lnTo>
                  <a:pt x="95787" y="31880"/>
                </a:lnTo>
                <a:lnTo>
                  <a:pt x="100293" y="35381"/>
                </a:lnTo>
                <a:lnTo>
                  <a:pt x="104671" y="39040"/>
                </a:lnTo>
                <a:lnTo>
                  <a:pt x="108916" y="42853"/>
                </a:lnTo>
                <a:lnTo>
                  <a:pt x="113022" y="46815"/>
                </a:lnTo>
                <a:lnTo>
                  <a:pt x="116984" y="50921"/>
                </a:lnTo>
                <a:lnTo>
                  <a:pt x="120797" y="55166"/>
                </a:lnTo>
                <a:lnTo>
                  <a:pt x="124456" y="59544"/>
                </a:lnTo>
                <a:lnTo>
                  <a:pt x="127957" y="64050"/>
                </a:lnTo>
                <a:lnTo>
                  <a:pt x="131294" y="68678"/>
                </a:lnTo>
                <a:lnTo>
                  <a:pt x="134464" y="73422"/>
                </a:lnTo>
                <a:lnTo>
                  <a:pt x="137463" y="78277"/>
                </a:lnTo>
                <a:lnTo>
                  <a:pt x="140286" y="83235"/>
                </a:lnTo>
                <a:lnTo>
                  <a:pt x="142931" y="88291"/>
                </a:lnTo>
                <a:lnTo>
                  <a:pt x="145393" y="93438"/>
                </a:lnTo>
                <a:lnTo>
                  <a:pt x="147671" y="98670"/>
                </a:lnTo>
                <a:lnTo>
                  <a:pt x="149760" y="103979"/>
                </a:lnTo>
                <a:lnTo>
                  <a:pt x="151658" y="109360"/>
                </a:lnTo>
                <a:lnTo>
                  <a:pt x="153363" y="114805"/>
                </a:lnTo>
                <a:lnTo>
                  <a:pt x="154873" y="120308"/>
                </a:lnTo>
                <a:lnTo>
                  <a:pt x="156185" y="125861"/>
                </a:lnTo>
                <a:lnTo>
                  <a:pt x="157298" y="131457"/>
                </a:lnTo>
                <a:lnTo>
                  <a:pt x="158211" y="137090"/>
                </a:lnTo>
                <a:lnTo>
                  <a:pt x="158922" y="142751"/>
                </a:lnTo>
                <a:lnTo>
                  <a:pt x="159430" y="148434"/>
                </a:lnTo>
                <a:lnTo>
                  <a:pt x="159736" y="154132"/>
                </a:lnTo>
                <a:lnTo>
                  <a:pt x="159838" y="159837"/>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674644" y="4055729"/>
            <a:ext cx="218341" cy="79908"/>
          </a:xfrm>
          <a:custGeom>
            <a:avLst/>
            <a:gdLst/>
            <a:ahLst/>
            <a:cxnLst/>
            <a:rect l="l" t="t" r="r" b="b"/>
            <a:pathLst>
              <a:path w="218341" h="79908">
                <a:moveTo>
                  <a:pt x="218341" y="0"/>
                </a:moveTo>
                <a:lnTo>
                  <a:pt x="215401" y="4890"/>
                </a:lnTo>
                <a:lnTo>
                  <a:pt x="212287" y="9672"/>
                </a:lnTo>
                <a:lnTo>
                  <a:pt x="209005" y="14339"/>
                </a:lnTo>
                <a:lnTo>
                  <a:pt x="205559" y="18886"/>
                </a:lnTo>
                <a:lnTo>
                  <a:pt x="201952" y="23308"/>
                </a:lnTo>
                <a:lnTo>
                  <a:pt x="198190" y="27598"/>
                </a:lnTo>
                <a:lnTo>
                  <a:pt x="194277" y="31751"/>
                </a:lnTo>
                <a:lnTo>
                  <a:pt x="190219" y="35761"/>
                </a:lnTo>
                <a:lnTo>
                  <a:pt x="186019" y="39624"/>
                </a:lnTo>
                <a:lnTo>
                  <a:pt x="181685" y="43335"/>
                </a:lnTo>
                <a:lnTo>
                  <a:pt x="177221" y="46889"/>
                </a:lnTo>
                <a:lnTo>
                  <a:pt x="172633" y="50281"/>
                </a:lnTo>
                <a:lnTo>
                  <a:pt x="167927" y="53507"/>
                </a:lnTo>
                <a:lnTo>
                  <a:pt x="163108" y="56564"/>
                </a:lnTo>
                <a:lnTo>
                  <a:pt x="158184" y="59446"/>
                </a:lnTo>
                <a:lnTo>
                  <a:pt x="153160" y="62151"/>
                </a:lnTo>
                <a:lnTo>
                  <a:pt x="148043" y="64674"/>
                </a:lnTo>
                <a:lnTo>
                  <a:pt x="142838" y="67014"/>
                </a:lnTo>
                <a:lnTo>
                  <a:pt x="137554" y="69166"/>
                </a:lnTo>
                <a:lnTo>
                  <a:pt x="132196" y="71128"/>
                </a:lnTo>
                <a:lnTo>
                  <a:pt x="126771" y="72898"/>
                </a:lnTo>
                <a:lnTo>
                  <a:pt x="121287" y="74473"/>
                </a:lnTo>
                <a:lnTo>
                  <a:pt x="115750" y="75851"/>
                </a:lnTo>
                <a:lnTo>
                  <a:pt x="110168" y="77030"/>
                </a:lnTo>
                <a:lnTo>
                  <a:pt x="104547" y="78010"/>
                </a:lnTo>
                <a:lnTo>
                  <a:pt x="98894" y="78788"/>
                </a:lnTo>
                <a:lnTo>
                  <a:pt x="93217" y="79365"/>
                </a:lnTo>
                <a:lnTo>
                  <a:pt x="87524" y="79738"/>
                </a:lnTo>
                <a:lnTo>
                  <a:pt x="81820" y="79908"/>
                </a:lnTo>
                <a:lnTo>
                  <a:pt x="76115" y="79874"/>
                </a:lnTo>
                <a:lnTo>
                  <a:pt x="70414" y="79636"/>
                </a:lnTo>
                <a:lnTo>
                  <a:pt x="64725" y="79195"/>
                </a:lnTo>
                <a:lnTo>
                  <a:pt x="59055" y="78551"/>
                </a:lnTo>
                <a:lnTo>
                  <a:pt x="53413" y="77706"/>
                </a:lnTo>
                <a:lnTo>
                  <a:pt x="47804" y="76659"/>
                </a:lnTo>
                <a:lnTo>
                  <a:pt x="42235" y="75413"/>
                </a:lnTo>
                <a:lnTo>
                  <a:pt x="36715" y="73969"/>
                </a:lnTo>
                <a:lnTo>
                  <a:pt x="31250" y="72329"/>
                </a:lnTo>
                <a:lnTo>
                  <a:pt x="25847" y="70495"/>
                </a:lnTo>
                <a:lnTo>
                  <a:pt x="20513" y="68469"/>
                </a:lnTo>
                <a:lnTo>
                  <a:pt x="15254" y="66254"/>
                </a:lnTo>
                <a:lnTo>
                  <a:pt x="10078" y="63853"/>
                </a:lnTo>
                <a:lnTo>
                  <a:pt x="4991" y="61269"/>
                </a:lnTo>
                <a:lnTo>
                  <a:pt x="0" y="58505"/>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94737" y="3837388"/>
            <a:ext cx="79907" cy="218341"/>
          </a:xfrm>
          <a:custGeom>
            <a:avLst/>
            <a:gdLst/>
            <a:ahLst/>
            <a:cxnLst/>
            <a:rect l="l" t="t" r="r" b="b"/>
            <a:pathLst>
              <a:path w="79907" h="218341">
                <a:moveTo>
                  <a:pt x="21402" y="218341"/>
                </a:moveTo>
                <a:lnTo>
                  <a:pt x="18638" y="213350"/>
                </a:lnTo>
                <a:lnTo>
                  <a:pt x="16054" y="208263"/>
                </a:lnTo>
                <a:lnTo>
                  <a:pt x="13653" y="203087"/>
                </a:lnTo>
                <a:lnTo>
                  <a:pt x="11438" y="197828"/>
                </a:lnTo>
                <a:lnTo>
                  <a:pt x="9412" y="192494"/>
                </a:lnTo>
                <a:lnTo>
                  <a:pt x="7578" y="187091"/>
                </a:lnTo>
                <a:lnTo>
                  <a:pt x="5938" y="181626"/>
                </a:lnTo>
                <a:lnTo>
                  <a:pt x="4494" y="176106"/>
                </a:lnTo>
                <a:lnTo>
                  <a:pt x="3248" y="170538"/>
                </a:lnTo>
                <a:lnTo>
                  <a:pt x="2201" y="164928"/>
                </a:lnTo>
                <a:lnTo>
                  <a:pt x="1356" y="159286"/>
                </a:lnTo>
                <a:lnTo>
                  <a:pt x="712" y="153616"/>
                </a:lnTo>
                <a:lnTo>
                  <a:pt x="271" y="147927"/>
                </a:lnTo>
                <a:lnTo>
                  <a:pt x="34" y="142226"/>
                </a:lnTo>
                <a:lnTo>
                  <a:pt x="0" y="136521"/>
                </a:lnTo>
                <a:lnTo>
                  <a:pt x="169" y="130817"/>
                </a:lnTo>
                <a:lnTo>
                  <a:pt x="542" y="125124"/>
                </a:lnTo>
                <a:lnTo>
                  <a:pt x="1119" y="119447"/>
                </a:lnTo>
                <a:lnTo>
                  <a:pt x="1897" y="113794"/>
                </a:lnTo>
                <a:lnTo>
                  <a:pt x="2877" y="108173"/>
                </a:lnTo>
                <a:lnTo>
                  <a:pt x="4056" y="102591"/>
                </a:lnTo>
                <a:lnTo>
                  <a:pt x="5435" y="97054"/>
                </a:lnTo>
                <a:lnTo>
                  <a:pt x="7010" y="91570"/>
                </a:lnTo>
                <a:lnTo>
                  <a:pt x="8779" y="86145"/>
                </a:lnTo>
                <a:lnTo>
                  <a:pt x="10741" y="80787"/>
                </a:lnTo>
                <a:lnTo>
                  <a:pt x="12893" y="75503"/>
                </a:lnTo>
                <a:lnTo>
                  <a:pt x="15233" y="70299"/>
                </a:lnTo>
                <a:lnTo>
                  <a:pt x="17756" y="65181"/>
                </a:lnTo>
                <a:lnTo>
                  <a:pt x="20461" y="60157"/>
                </a:lnTo>
                <a:lnTo>
                  <a:pt x="23343" y="55233"/>
                </a:lnTo>
                <a:lnTo>
                  <a:pt x="26400" y="50414"/>
                </a:lnTo>
                <a:lnTo>
                  <a:pt x="29626" y="45708"/>
                </a:lnTo>
                <a:lnTo>
                  <a:pt x="33018" y="41120"/>
                </a:lnTo>
                <a:lnTo>
                  <a:pt x="36572" y="36656"/>
                </a:lnTo>
                <a:lnTo>
                  <a:pt x="40283" y="32322"/>
                </a:lnTo>
                <a:lnTo>
                  <a:pt x="44146" y="28122"/>
                </a:lnTo>
                <a:lnTo>
                  <a:pt x="48156" y="24064"/>
                </a:lnTo>
                <a:lnTo>
                  <a:pt x="52309" y="20151"/>
                </a:lnTo>
                <a:lnTo>
                  <a:pt x="56599" y="16389"/>
                </a:lnTo>
                <a:lnTo>
                  <a:pt x="61021" y="12782"/>
                </a:lnTo>
                <a:lnTo>
                  <a:pt x="65568" y="9336"/>
                </a:lnTo>
                <a:lnTo>
                  <a:pt x="70235" y="6054"/>
                </a:lnTo>
                <a:lnTo>
                  <a:pt x="75017" y="2940"/>
                </a:lnTo>
                <a:lnTo>
                  <a:pt x="79907"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97280" y="3758184"/>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机械回收</a:t>
            </a:r>
          </a:p>
        </p:txBody>
      </p:sp>
      <p:sp>
        <p:nvSpPr>
          <p:cNvPr id="37" name="TextBox 36"/>
          <p:cNvSpPr txBox="1"/>
          <p:nvPr/>
        </p:nvSpPr>
        <p:spPr>
          <a:xfrm>
            <a:off x="1097280" y="4078224"/>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分选、清洗、再加工</a:t>
            </a:r>
          </a:p>
        </p:txBody>
      </p:sp>
      <p:sp>
        <p:nvSpPr>
          <p:cNvPr id="38" name="Freeform 37"/>
          <p:cNvSpPr/>
          <p:nvPr/>
        </p:nvSpPr>
        <p:spPr>
          <a:xfrm>
            <a:off x="2663281" y="3805275"/>
            <a:ext cx="138257" cy="120975"/>
          </a:xfrm>
          <a:custGeom>
            <a:avLst/>
            <a:gdLst/>
            <a:ahLst/>
            <a:cxnLst/>
            <a:rect l="l" t="t" r="r" b="b"/>
            <a:pathLst>
              <a:path w="138257" h="120975">
                <a:moveTo>
                  <a:pt x="11521" y="11522"/>
                </a:moveTo>
                <a:lnTo>
                  <a:pt x="115214" y="0"/>
                </a:lnTo>
                <a:lnTo>
                  <a:pt x="138257" y="80650"/>
                </a:lnTo>
                <a:lnTo>
                  <a:pt x="69129" y="120975"/>
                </a:lnTo>
                <a:lnTo>
                  <a:pt x="0" y="69129"/>
                </a:lnTo>
                <a:lnTo>
                  <a:pt x="11521" y="11522"/>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2836103" y="3822557"/>
            <a:ext cx="138257" cy="120975"/>
          </a:xfrm>
          <a:custGeom>
            <a:avLst/>
            <a:gdLst/>
            <a:ahLst/>
            <a:cxnLst/>
            <a:rect l="l" t="t" r="r" b="b"/>
            <a:pathLst>
              <a:path w="138257" h="120975">
                <a:moveTo>
                  <a:pt x="11521" y="11522"/>
                </a:moveTo>
                <a:lnTo>
                  <a:pt x="115214" y="0"/>
                </a:lnTo>
                <a:lnTo>
                  <a:pt x="138257" y="80650"/>
                </a:lnTo>
                <a:lnTo>
                  <a:pt x="69128" y="120975"/>
                </a:lnTo>
                <a:lnTo>
                  <a:pt x="0" y="69129"/>
                </a:lnTo>
                <a:lnTo>
                  <a:pt x="11521" y="11522"/>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2743931" y="3937772"/>
            <a:ext cx="138257" cy="120975"/>
          </a:xfrm>
          <a:custGeom>
            <a:avLst/>
            <a:gdLst/>
            <a:ahLst/>
            <a:cxnLst/>
            <a:rect l="l" t="t" r="r" b="b"/>
            <a:pathLst>
              <a:path w="138257" h="120975">
                <a:moveTo>
                  <a:pt x="11521" y="11521"/>
                </a:moveTo>
                <a:lnTo>
                  <a:pt x="115214" y="0"/>
                </a:lnTo>
                <a:lnTo>
                  <a:pt x="138257" y="80650"/>
                </a:lnTo>
                <a:lnTo>
                  <a:pt x="69129"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2928274" y="3955054"/>
            <a:ext cx="138257" cy="120975"/>
          </a:xfrm>
          <a:custGeom>
            <a:avLst/>
            <a:gdLst/>
            <a:ahLst/>
            <a:cxnLst/>
            <a:rect l="l" t="t" r="r" b="b"/>
            <a:pathLst>
              <a:path w="138257" h="120975">
                <a:moveTo>
                  <a:pt x="11522" y="11521"/>
                </a:moveTo>
                <a:lnTo>
                  <a:pt x="115214" y="0"/>
                </a:lnTo>
                <a:lnTo>
                  <a:pt x="138257" y="80650"/>
                </a:lnTo>
                <a:lnTo>
                  <a:pt x="69129" y="120975"/>
                </a:lnTo>
                <a:lnTo>
                  <a:pt x="0" y="69128"/>
                </a:lnTo>
                <a:lnTo>
                  <a:pt x="11522"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2651760" y="4041465"/>
            <a:ext cx="138257" cy="120975"/>
          </a:xfrm>
          <a:custGeom>
            <a:avLst/>
            <a:gdLst/>
            <a:ahLst/>
            <a:cxnLst/>
            <a:rect l="l" t="t" r="r" b="b"/>
            <a:pathLst>
              <a:path w="138257" h="120975">
                <a:moveTo>
                  <a:pt x="11521" y="11521"/>
                </a:moveTo>
                <a:lnTo>
                  <a:pt x="115214" y="0"/>
                </a:lnTo>
                <a:lnTo>
                  <a:pt x="138257" y="80650"/>
                </a:lnTo>
                <a:lnTo>
                  <a:pt x="69128"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2847624" y="4076029"/>
            <a:ext cx="138257" cy="120975"/>
          </a:xfrm>
          <a:custGeom>
            <a:avLst/>
            <a:gdLst/>
            <a:ahLst/>
            <a:cxnLst/>
            <a:rect l="l" t="t" r="r" b="b"/>
            <a:pathLst>
              <a:path w="138257" h="120975">
                <a:moveTo>
                  <a:pt x="11521" y="11521"/>
                </a:moveTo>
                <a:lnTo>
                  <a:pt x="115214" y="0"/>
                </a:lnTo>
                <a:lnTo>
                  <a:pt x="138257" y="80650"/>
                </a:lnTo>
                <a:lnTo>
                  <a:pt x="69129" y="120975"/>
                </a:lnTo>
                <a:lnTo>
                  <a:pt x="0" y="69129"/>
                </a:lnTo>
                <a:lnTo>
                  <a:pt x="11521"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3209544" y="3968496"/>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3675887" y="3730752"/>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侧重保留聚合物主体结构，实现材料循环利用</a:t>
            </a:r>
          </a:p>
        </p:txBody>
      </p:sp>
      <p:sp>
        <p:nvSpPr>
          <p:cNvPr id="46" name="TextBox 45"/>
          <p:cNvSpPr txBox="1"/>
          <p:nvPr/>
        </p:nvSpPr>
        <p:spPr>
          <a:xfrm>
            <a:off x="3675887" y="4105656"/>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关注：材料性能与循环质量</a:t>
            </a:r>
          </a:p>
        </p:txBody>
      </p:sp>
      <p:sp>
        <p:nvSpPr>
          <p:cNvPr id="47" name="Rounded Rectangle 46"/>
          <p:cNvSpPr/>
          <p:nvPr/>
        </p:nvSpPr>
        <p:spPr>
          <a:xfrm>
            <a:off x="438912" y="4352544"/>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88543" y="4667646"/>
            <a:ext cx="132039" cy="132039"/>
          </a:xfrm>
          <a:prstGeom prst="ellipse">
            <a:avLst/>
          </a:prstGeom>
          <a:solidFill>
            <a:srgbClr val="EDF3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712866"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796259"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712866" y="450433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754562" y="4559929"/>
            <a:ext cx="0" cy="145939"/>
          </a:xfrm>
          <a:prstGeom prst="line">
            <a:avLst/>
          </a:prstGeom>
          <a:ln w="2794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629472" y="4413991"/>
            <a:ext cx="20849"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844905" y="4413991"/>
            <a:ext cx="20848"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1097280" y="4425696"/>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热化学转化</a:t>
            </a:r>
          </a:p>
        </p:txBody>
      </p:sp>
      <p:sp>
        <p:nvSpPr>
          <p:cNvPr id="56" name="TextBox 55"/>
          <p:cNvSpPr txBox="1"/>
          <p:nvPr/>
        </p:nvSpPr>
        <p:spPr>
          <a:xfrm>
            <a:off x="1097280" y="4745736"/>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热裂解、催化裂解</a:t>
            </a:r>
          </a:p>
        </p:txBody>
      </p:sp>
      <p:sp>
        <p:nvSpPr>
          <p:cNvPr id="57" name="Can 56"/>
          <p:cNvSpPr/>
          <p:nvPr/>
        </p:nvSpPr>
        <p:spPr>
          <a:xfrm>
            <a:off x="2726649" y="4507351"/>
            <a:ext cx="276514" cy="264993"/>
          </a:xfrm>
          <a:prstGeom prst="can">
            <a:avLst/>
          </a:prstGeom>
          <a:solidFill>
            <a:srgbClr val="D8E5F6"/>
          </a:solidFill>
          <a:ln>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 name="Connector 57"/>
          <p:cNvCxnSpPr/>
          <p:nvPr/>
        </p:nvCxnSpPr>
        <p:spPr>
          <a:xfrm flipV="1">
            <a:off x="2864906" y="4438223"/>
            <a:ext cx="0" cy="69128"/>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2645999" y="4605284"/>
            <a:ext cx="5760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031967" y="4605284"/>
            <a:ext cx="5184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H="1">
            <a:off x="2755452"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2945556"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2726649" y="4852995"/>
            <a:ext cx="282275"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3209544" y="4636007"/>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3675887" y="4398264"/>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热驱动反应改变结构，获得燃料、化学品或单体</a:t>
            </a:r>
          </a:p>
        </p:txBody>
      </p:sp>
      <p:sp>
        <p:nvSpPr>
          <p:cNvPr id="66" name="TextBox 65"/>
          <p:cNvSpPr txBox="1"/>
          <p:nvPr/>
        </p:nvSpPr>
        <p:spPr>
          <a:xfrm>
            <a:off x="3675887" y="4773168"/>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关注：产物分布与过程控制</a:t>
            </a:r>
          </a:p>
        </p:txBody>
      </p:sp>
      <p:sp>
        <p:nvSpPr>
          <p:cNvPr id="67" name="Rounded Rectangle 66"/>
          <p:cNvSpPr/>
          <p:nvPr/>
        </p:nvSpPr>
        <p:spPr>
          <a:xfrm>
            <a:off x="438912" y="5020056"/>
            <a:ext cx="5989320" cy="594360"/>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0321" y="5157947"/>
            <a:ext cx="208483" cy="20848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a:off x="69201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81710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692017" y="5408127"/>
            <a:ext cx="125090"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712866" y="544287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00501"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857756"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754562" y="5408127"/>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a:off x="616970"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H="1">
            <a:off x="559978"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H="1" flipV="1">
            <a:off x="616970"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54562" y="5067604"/>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857756"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1097280" y="5093208"/>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光化学转化</a:t>
            </a:r>
          </a:p>
        </p:txBody>
      </p:sp>
      <p:sp>
        <p:nvSpPr>
          <p:cNvPr id="82" name="TextBox 81"/>
          <p:cNvSpPr txBox="1"/>
          <p:nvPr/>
        </p:nvSpPr>
        <p:spPr>
          <a:xfrm>
            <a:off x="1097280" y="5413248"/>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光催化、光氧化、光裂解</a:t>
            </a:r>
          </a:p>
        </p:txBody>
      </p:sp>
      <p:sp>
        <p:nvSpPr>
          <p:cNvPr id="83" name="Rectangle 82"/>
          <p:cNvSpPr/>
          <p:nvPr/>
        </p:nvSpPr>
        <p:spPr>
          <a:xfrm>
            <a:off x="2651760"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2651760"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643118"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Connector 85"/>
          <p:cNvCxnSpPr/>
          <p:nvPr/>
        </p:nvCxnSpPr>
        <p:spPr>
          <a:xfrm flipV="1">
            <a:off x="2692085"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2790017"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790017"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781376"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0" name="Connector 89"/>
          <p:cNvCxnSpPr/>
          <p:nvPr/>
        </p:nvCxnSpPr>
        <p:spPr>
          <a:xfrm flipV="1">
            <a:off x="2830342"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Rectangle 90"/>
          <p:cNvSpPr/>
          <p:nvPr/>
        </p:nvSpPr>
        <p:spPr>
          <a:xfrm>
            <a:off x="2928274"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2928274"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919633"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flipV="1">
            <a:off x="2968599"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3209544" y="5303520"/>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3675887" y="5065776"/>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利用光能启动或调控反应，实现结构转化与高值利用</a:t>
            </a:r>
          </a:p>
        </p:txBody>
      </p:sp>
      <p:sp>
        <p:nvSpPr>
          <p:cNvPr id="97" name="TextBox 96"/>
          <p:cNvSpPr txBox="1"/>
          <p:nvPr/>
        </p:nvSpPr>
        <p:spPr>
          <a:xfrm>
            <a:off x="3675887" y="5440680"/>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关注：机制与温和条件下的效率</a:t>
            </a:r>
          </a:p>
        </p:txBody>
      </p:sp>
      <p:sp>
        <p:nvSpPr>
          <p:cNvPr id="98" name="Rounded Rectangle 97"/>
          <p:cNvSpPr/>
          <p:nvPr/>
        </p:nvSpPr>
        <p:spPr>
          <a:xfrm>
            <a:off x="6757416" y="1325880"/>
            <a:ext cx="5111496" cy="442569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ounded Rectangle 98"/>
          <p:cNvSpPr/>
          <p:nvPr/>
        </p:nvSpPr>
        <p:spPr>
          <a:xfrm>
            <a:off x="6784848" y="1353312"/>
            <a:ext cx="505663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903720" y="1403604"/>
            <a:ext cx="481888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含氯塑料的化学升级利用路径（示意）</a:t>
            </a:r>
          </a:p>
        </p:txBody>
      </p:sp>
      <p:sp>
        <p:nvSpPr>
          <p:cNvPr id="101" name="Hexagon 100"/>
          <p:cNvSpPr/>
          <p:nvPr/>
        </p:nvSpPr>
        <p:spPr>
          <a:xfrm>
            <a:off x="8549640" y="3145536"/>
            <a:ext cx="1252728" cy="978408"/>
          </a:xfrm>
          <a:prstGeom prst="hexagon">
            <a:avLst/>
          </a:prstGeom>
          <a:solidFill>
            <a:srgbClr val="E2ED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8823960" y="3419856"/>
            <a:ext cx="685800" cy="91440"/>
          </a:xfrm>
          <a:custGeom>
            <a:avLst/>
            <a:gdLst/>
            <a:ahLst/>
            <a:cxnLst/>
            <a:rect l="l" t="t" r="r" b="b"/>
            <a:pathLst>
              <a:path w="685800" h="91440">
                <a:moveTo>
                  <a:pt x="0" y="0"/>
                </a:moveTo>
                <a:lnTo>
                  <a:pt x="137160" y="91440"/>
                </a:lnTo>
                <a:lnTo>
                  <a:pt x="274320" y="0"/>
                </a:lnTo>
                <a:lnTo>
                  <a:pt x="411480" y="91440"/>
                </a:lnTo>
                <a:lnTo>
                  <a:pt x="548640" y="0"/>
                </a:lnTo>
                <a:lnTo>
                  <a:pt x="685800" y="91440"/>
                </a:lnTo>
              </a:path>
            </a:pathLst>
          </a:custGeom>
          <a:noFill/>
          <a:ln w="2159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8686800" y="3703320"/>
            <a:ext cx="987552" cy="24688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PVC</a:t>
            </a:r>
          </a:p>
        </p:txBody>
      </p:sp>
      <p:sp>
        <p:nvSpPr>
          <p:cNvPr id="104" name="Freeform 103"/>
          <p:cNvSpPr/>
          <p:nvPr/>
        </p:nvSpPr>
        <p:spPr>
          <a:xfrm>
            <a:off x="8577072" y="2889504"/>
            <a:ext cx="228600" cy="292608"/>
          </a:xfrm>
          <a:custGeom>
            <a:avLst/>
            <a:gdLst/>
            <a:ahLst/>
            <a:cxnLst/>
            <a:rect l="l" t="t" r="r" b="b"/>
            <a:pathLst>
              <a:path w="228600" h="292608">
                <a:moveTo>
                  <a:pt x="228600" y="292608"/>
                </a:moveTo>
                <a:lnTo>
                  <a:pt x="109728" y="128016"/>
                </a:lnTo>
                <a:lnTo>
                  <a:pt x="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9418320" y="2468880"/>
            <a:ext cx="749808" cy="694944"/>
          </a:xfrm>
          <a:custGeom>
            <a:avLst/>
            <a:gdLst/>
            <a:ahLst/>
            <a:cxnLst/>
            <a:rect l="l" t="t" r="r" b="b"/>
            <a:pathLst>
              <a:path w="749808" h="694944">
                <a:moveTo>
                  <a:pt x="0" y="694944"/>
                </a:moveTo>
                <a:lnTo>
                  <a:pt x="365760" y="274320"/>
                </a:lnTo>
                <a:lnTo>
                  <a:pt x="749808"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9811512" y="3081528"/>
            <a:ext cx="777240" cy="384048"/>
          </a:xfrm>
          <a:custGeom>
            <a:avLst/>
            <a:gdLst/>
            <a:ahLst/>
            <a:cxnLst/>
            <a:rect l="l" t="t" r="r" b="b"/>
            <a:pathLst>
              <a:path w="777240" h="384048">
                <a:moveTo>
                  <a:pt x="0" y="384048"/>
                </a:moveTo>
                <a:lnTo>
                  <a:pt x="411480" y="137160"/>
                </a:lnTo>
                <a:lnTo>
                  <a:pt x="77724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9802368" y="3785615"/>
            <a:ext cx="777240" cy="356617"/>
          </a:xfrm>
          <a:custGeom>
            <a:avLst/>
            <a:gdLst/>
            <a:ahLst/>
            <a:cxnLst/>
            <a:rect l="l" t="t" r="r" b="b"/>
            <a:pathLst>
              <a:path w="777240" h="356617">
                <a:moveTo>
                  <a:pt x="0" y="0"/>
                </a:moveTo>
                <a:lnTo>
                  <a:pt x="420624" y="201169"/>
                </a:lnTo>
                <a:lnTo>
                  <a:pt x="777240" y="356617"/>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9390888" y="4096512"/>
            <a:ext cx="685800" cy="694944"/>
          </a:xfrm>
          <a:custGeom>
            <a:avLst/>
            <a:gdLst/>
            <a:ahLst/>
            <a:cxnLst/>
            <a:rect l="l" t="t" r="r" b="b"/>
            <a:pathLst>
              <a:path w="685800" h="694944">
                <a:moveTo>
                  <a:pt x="0" y="0"/>
                </a:moveTo>
                <a:lnTo>
                  <a:pt x="347472" y="411480"/>
                </a:lnTo>
                <a:lnTo>
                  <a:pt x="685800" y="694944"/>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8686800" y="4078224"/>
            <a:ext cx="82296" cy="667512"/>
          </a:xfrm>
          <a:custGeom>
            <a:avLst/>
            <a:gdLst/>
            <a:ahLst/>
            <a:cxnLst/>
            <a:rect l="l" t="t" r="r" b="b"/>
            <a:pathLst>
              <a:path w="82296" h="667512">
                <a:moveTo>
                  <a:pt x="82296" y="0"/>
                </a:moveTo>
                <a:lnTo>
                  <a:pt x="45720" y="420624"/>
                </a:lnTo>
                <a:lnTo>
                  <a:pt x="0" y="667512"/>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7434072"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434072"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2" name="Oval 111"/>
          <p:cNvSpPr/>
          <p:nvPr/>
        </p:nvSpPr>
        <p:spPr>
          <a:xfrm>
            <a:off x="7405908"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7494422"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flipH="1">
            <a:off x="7434072"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5" name="Oval 114"/>
          <p:cNvSpPr/>
          <p:nvPr/>
        </p:nvSpPr>
        <p:spPr>
          <a:xfrm>
            <a:off x="7466258"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a:off x="7434072"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7" name="Oval 116"/>
          <p:cNvSpPr/>
          <p:nvPr/>
        </p:nvSpPr>
        <p:spPr>
          <a:xfrm>
            <a:off x="7405908"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a:off x="7615123"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615123"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0" name="Oval 119"/>
          <p:cNvSpPr/>
          <p:nvPr/>
        </p:nvSpPr>
        <p:spPr>
          <a:xfrm>
            <a:off x="7586959"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a:off x="7675473"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a:off x="7615123"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3" name="Oval 122"/>
          <p:cNvSpPr/>
          <p:nvPr/>
        </p:nvSpPr>
        <p:spPr>
          <a:xfrm>
            <a:off x="7647310"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a:off x="7615123"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7586959"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a:off x="7796174"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7" name="Oval 126"/>
          <p:cNvSpPr/>
          <p:nvPr/>
        </p:nvSpPr>
        <p:spPr>
          <a:xfrm>
            <a:off x="7768010"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8" name="Connector 127"/>
          <p:cNvCxnSpPr/>
          <p:nvPr/>
        </p:nvCxnSpPr>
        <p:spPr>
          <a:xfrm flipH="1">
            <a:off x="7796174"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9" name="Oval 128"/>
          <p:cNvSpPr/>
          <p:nvPr/>
        </p:nvSpPr>
        <p:spPr>
          <a:xfrm>
            <a:off x="7828361"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768010"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7050024" y="2395728"/>
            <a:ext cx="1682496" cy="4480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新型聚合物</a:t>
            </a:r>
          </a:p>
          <a:p>
            <a:pPr algn="ctr">
              <a:spcAft>
                <a:spcPts val="600"/>
              </a:spcAft>
              <a:defRPr sz="1400" b="1">
                <a:solidFill>
                  <a:srgbClr val="063584"/>
                </a:solidFill>
                <a:latin typeface="Microsoft YaHei"/>
              </a:defRPr>
            </a:pPr>
            <a:r>
              <a:t>闭环利用</a:t>
            </a:r>
          </a:p>
        </p:txBody>
      </p:sp>
      <p:sp>
        <p:nvSpPr>
          <p:cNvPr id="132" name="TextBox 131"/>
          <p:cNvSpPr txBox="1"/>
          <p:nvPr/>
        </p:nvSpPr>
        <p:spPr>
          <a:xfrm>
            <a:off x="7050024" y="2971800"/>
            <a:ext cx="1408176" cy="438912"/>
          </a:xfrm>
          <a:prstGeom prst="rect">
            <a:avLst/>
          </a:prstGeom>
          <a:noFill/>
          <a:effectLst/>
        </p:spPr>
        <p:txBody>
          <a:bodyPr wrap="square" lIns="22860" rIns="22860" tIns="0" bIns="0">
            <a:spAutoFit/>
          </a:bodyPr>
          <a:lstStyle/>
          <a:p>
            <a:pPr algn="ctr">
              <a:spcAft>
                <a:spcPts val="600"/>
              </a:spcAft>
              <a:defRPr sz="1050" b="0">
                <a:solidFill>
                  <a:srgbClr val="566273"/>
                </a:solidFill>
                <a:latin typeface="Microsoft YaHei"/>
              </a:defRPr>
            </a:pPr>
            <a:r>
              <a:t>多路径协同</a:t>
            </a:r>
          </a:p>
          <a:p>
            <a:pPr algn="ctr">
              <a:spcAft>
                <a:spcPts val="600"/>
              </a:spcAft>
              <a:defRPr sz="1050" b="0">
                <a:solidFill>
                  <a:srgbClr val="566273"/>
                </a:solidFill>
                <a:latin typeface="Microsoft YaHei"/>
              </a:defRPr>
            </a:pPr>
            <a:r>
              <a:t>与材料循环</a:t>
            </a:r>
          </a:p>
        </p:txBody>
      </p:sp>
      <p:sp>
        <p:nvSpPr>
          <p:cNvPr id="133" name="Can 132"/>
          <p:cNvSpPr/>
          <p:nvPr/>
        </p:nvSpPr>
        <p:spPr>
          <a:xfrm>
            <a:off x="9893808" y="2008479"/>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an 133"/>
          <p:cNvSpPr/>
          <p:nvPr/>
        </p:nvSpPr>
        <p:spPr>
          <a:xfrm>
            <a:off x="10133838" y="1950872"/>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an 134"/>
          <p:cNvSpPr/>
          <p:nvPr/>
        </p:nvSpPr>
        <p:spPr>
          <a:xfrm>
            <a:off x="10009022" y="1778050"/>
            <a:ext cx="268833" cy="412851"/>
          </a:xfrm>
          <a:prstGeom prst="can">
            <a:avLst/>
          </a:prstGeom>
          <a:solidFill>
            <a:srgbClr val="AFC5E2"/>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10561320" y="1856231"/>
            <a:ext cx="1005840" cy="265176"/>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碳化</a:t>
            </a:r>
          </a:p>
        </p:txBody>
      </p:sp>
      <p:sp>
        <p:nvSpPr>
          <p:cNvPr id="137" name="TextBox 136"/>
          <p:cNvSpPr txBox="1"/>
          <p:nvPr/>
        </p:nvSpPr>
        <p:spPr>
          <a:xfrm>
            <a:off x="10561320" y="2231136"/>
            <a:ext cx="1060704" cy="393192"/>
          </a:xfrm>
          <a:prstGeom prst="rect">
            <a:avLst/>
          </a:prstGeom>
          <a:noFill/>
          <a:effectLst/>
        </p:spPr>
        <p:txBody>
          <a:bodyPr wrap="square" lIns="22860" rIns="22860" tIns="0" bIns="0">
            <a:spAutoFit/>
          </a:bodyPr>
          <a:lstStyle/>
          <a:p>
            <a:pPr>
              <a:spcAft>
                <a:spcPts val="600"/>
              </a:spcAft>
              <a:defRPr sz="1050" b="0">
                <a:solidFill>
                  <a:srgbClr val="566273"/>
                </a:solidFill>
                <a:latin typeface="Microsoft YaHei"/>
              </a:defRPr>
            </a:pPr>
            <a:r>
              <a:t>碳材料</a:t>
            </a:r>
          </a:p>
          <a:p>
            <a:pPr>
              <a:spcAft>
                <a:spcPts val="600"/>
              </a:spcAft>
              <a:defRPr sz="1050" b="0">
                <a:solidFill>
                  <a:srgbClr val="566273"/>
                </a:solidFill>
                <a:latin typeface="Microsoft YaHei"/>
              </a:defRPr>
            </a:pPr>
            <a:r>
              <a:t>功能材料</a:t>
            </a:r>
          </a:p>
        </p:txBody>
      </p:sp>
      <p:sp>
        <p:nvSpPr>
          <p:cNvPr id="138" name="Freeform 137"/>
          <p:cNvSpPr/>
          <p:nvPr/>
        </p:nvSpPr>
        <p:spPr>
          <a:xfrm>
            <a:off x="10963656" y="2796235"/>
            <a:ext cx="264809" cy="305775"/>
          </a:xfrm>
          <a:custGeom>
            <a:avLst/>
            <a:gdLst/>
            <a:ahLst/>
            <a:cxnLst/>
            <a:rect l="l" t="t" r="r" b="b"/>
            <a:pathLst>
              <a:path w="264809" h="305775">
                <a:moveTo>
                  <a:pt x="132405" y="0"/>
                </a:moveTo>
                <a:lnTo>
                  <a:pt x="264809" y="76444"/>
                </a:lnTo>
                <a:lnTo>
                  <a:pt x="264809" y="229331"/>
                </a:lnTo>
                <a:lnTo>
                  <a:pt x="132405" y="305775"/>
                </a:lnTo>
                <a:lnTo>
                  <a:pt x="0" y="229331"/>
                </a:lnTo>
                <a:lnTo>
                  <a:pt x="0" y="76444"/>
                </a:lnTo>
                <a:lnTo>
                  <a:pt x="13240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9" name="Connector 138"/>
          <p:cNvCxnSpPr/>
          <p:nvPr/>
        </p:nvCxnSpPr>
        <p:spPr>
          <a:xfrm>
            <a:off x="11096061" y="2839043"/>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a:off x="11096061" y="3004162"/>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11000729" y="2894083"/>
            <a:ext cx="0" cy="1100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11228100" y="2796235"/>
            <a:ext cx="138989" cy="7644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43" name="TextBox 142"/>
          <p:cNvSpPr txBox="1"/>
          <p:nvPr/>
        </p:nvSpPr>
        <p:spPr>
          <a:xfrm>
            <a:off x="11367089" y="2719791"/>
            <a:ext cx="277977" cy="166786"/>
          </a:xfrm>
          <a:prstGeom prst="rect">
            <a:avLst/>
          </a:prstGeom>
          <a:noFill/>
          <a:effectLst/>
        </p:spPr>
        <p:txBody>
          <a:bodyPr wrap="square" lIns="22860" rIns="22860" tIns="0" bIns="0">
            <a:spAutoFit/>
          </a:bodyPr>
          <a:lstStyle/>
          <a:p>
            <a:pPr>
              <a:spcAft>
                <a:spcPts val="600"/>
              </a:spcAft>
              <a:defRPr sz="836" b="1">
                <a:solidFill>
                  <a:srgbClr val="C00000"/>
                </a:solidFill>
                <a:latin typeface="Arial"/>
              </a:defRPr>
            </a:pPr>
            <a:r>
              <a:t>OH</a:t>
            </a:r>
          </a:p>
        </p:txBody>
      </p:sp>
      <p:sp>
        <p:nvSpPr>
          <p:cNvPr id="144" name="TextBox 143"/>
          <p:cNvSpPr txBox="1"/>
          <p:nvPr/>
        </p:nvSpPr>
        <p:spPr>
          <a:xfrm>
            <a:off x="10040112" y="2743200"/>
            <a:ext cx="1024128" cy="27432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官能化</a:t>
            </a:r>
          </a:p>
        </p:txBody>
      </p:sp>
      <p:sp>
        <p:nvSpPr>
          <p:cNvPr id="145" name="TextBox 144"/>
          <p:cNvSpPr txBox="1"/>
          <p:nvPr/>
        </p:nvSpPr>
        <p:spPr>
          <a:xfrm>
            <a:off x="10213848" y="3209544"/>
            <a:ext cx="1316736" cy="374904"/>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引入官能团</a:t>
            </a:r>
          </a:p>
          <a:p>
            <a:pPr>
              <a:spcAft>
                <a:spcPts val="600"/>
              </a:spcAft>
              <a:defRPr sz="1000" b="0">
                <a:solidFill>
                  <a:srgbClr val="566273"/>
                </a:solidFill>
                <a:latin typeface="Microsoft YaHei"/>
              </a:defRPr>
            </a:pPr>
            <a:r>
              <a:t>拓展材料功能</a:t>
            </a:r>
          </a:p>
        </p:txBody>
      </p:sp>
      <p:sp>
        <p:nvSpPr>
          <p:cNvPr id="146" name="Oval 145"/>
          <p:cNvSpPr/>
          <p:nvPr/>
        </p:nvSpPr>
        <p:spPr>
          <a:xfrm>
            <a:off x="11083991"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11274917"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1182746" y="3670767"/>
            <a:ext cx="217261"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H="1" flipV="1">
            <a:off x="11097158" y="3670767"/>
            <a:ext cx="204094"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0" name="TextBox 149"/>
          <p:cNvSpPr txBox="1"/>
          <p:nvPr/>
        </p:nvSpPr>
        <p:spPr>
          <a:xfrm>
            <a:off x="10149840" y="3685032"/>
            <a:ext cx="111556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裂解与偶联</a:t>
            </a:r>
          </a:p>
        </p:txBody>
      </p:sp>
      <p:sp>
        <p:nvSpPr>
          <p:cNvPr id="151" name="TextBox 150"/>
          <p:cNvSpPr txBox="1"/>
          <p:nvPr/>
        </p:nvSpPr>
        <p:spPr>
          <a:xfrm>
            <a:off x="10460736" y="4169663"/>
            <a:ext cx="1106424" cy="429768"/>
          </a:xfrm>
          <a:prstGeom prst="rect">
            <a:avLst/>
          </a:prstGeom>
          <a:noFill/>
          <a:effectLst/>
        </p:spPr>
        <p:txBody>
          <a:bodyPr wrap="square" lIns="22860" rIns="22860" tIns="0" bIns="0">
            <a:spAutoFit/>
          </a:bodyPr>
          <a:lstStyle/>
          <a:p>
            <a:pPr>
              <a:spcAft>
                <a:spcPts val="600"/>
              </a:spcAft>
              <a:defRPr sz="960" b="0">
                <a:solidFill>
                  <a:srgbClr val="566273"/>
                </a:solidFill>
                <a:latin typeface="Microsoft YaHei"/>
              </a:defRPr>
            </a:pPr>
            <a:r>
              <a:t>小分子化学品</a:t>
            </a:r>
          </a:p>
          <a:p>
            <a:pPr>
              <a:spcAft>
                <a:spcPts val="600"/>
              </a:spcAft>
              <a:defRPr sz="960" b="0">
                <a:solidFill>
                  <a:srgbClr val="566273"/>
                </a:solidFill>
                <a:latin typeface="Microsoft YaHei"/>
              </a:defRPr>
            </a:pPr>
            <a:r>
              <a:t>或新结构聚合物</a:t>
            </a:r>
          </a:p>
        </p:txBody>
      </p:sp>
      <p:sp>
        <p:nvSpPr>
          <p:cNvPr id="152" name="Freeform 151"/>
          <p:cNvSpPr/>
          <p:nvPr/>
        </p:nvSpPr>
        <p:spPr>
          <a:xfrm>
            <a:off x="10531327" y="4718304"/>
            <a:ext cx="487375" cy="494873"/>
          </a:xfrm>
          <a:custGeom>
            <a:avLst/>
            <a:gdLst/>
            <a:ahLst/>
            <a:cxnLst/>
            <a:rect l="l" t="t" r="r" b="b"/>
            <a:pathLst>
              <a:path w="487375" h="494873">
                <a:moveTo>
                  <a:pt x="164958" y="0"/>
                </a:moveTo>
                <a:lnTo>
                  <a:pt x="322418" y="0"/>
                </a:lnTo>
                <a:lnTo>
                  <a:pt x="322418" y="172455"/>
                </a:lnTo>
                <a:lnTo>
                  <a:pt x="487375" y="494873"/>
                </a:lnTo>
                <a:lnTo>
                  <a:pt x="0" y="494873"/>
                </a:lnTo>
                <a:lnTo>
                  <a:pt x="164958" y="172455"/>
                </a:lnTo>
                <a:lnTo>
                  <a:pt x="164958" y="0"/>
                </a:lnTo>
              </a:path>
            </a:pathLst>
          </a:custGeom>
          <a:solidFill>
            <a:srgbClr val="F6F9FE"/>
          </a:solidFill>
          <a:ln w="1778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Freeform 152"/>
          <p:cNvSpPr/>
          <p:nvPr/>
        </p:nvSpPr>
        <p:spPr>
          <a:xfrm>
            <a:off x="10531327" y="5040721"/>
            <a:ext cx="487375" cy="172456"/>
          </a:xfrm>
          <a:custGeom>
            <a:avLst/>
            <a:gdLst/>
            <a:ahLst/>
            <a:cxnLst/>
            <a:rect l="l" t="t" r="r" b="b"/>
            <a:pathLst>
              <a:path w="487375" h="172456">
                <a:moveTo>
                  <a:pt x="89977" y="0"/>
                </a:moveTo>
                <a:lnTo>
                  <a:pt x="397398" y="0"/>
                </a:lnTo>
                <a:lnTo>
                  <a:pt x="487375" y="172456"/>
                </a:lnTo>
                <a:lnTo>
                  <a:pt x="0" y="172456"/>
                </a:lnTo>
                <a:lnTo>
                  <a:pt x="89977" y="0"/>
                </a:lnTo>
              </a:path>
            </a:pathLst>
          </a:custGeom>
          <a:solidFill>
            <a:srgbClr val="C5D9F5"/>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Connector 153"/>
          <p:cNvCxnSpPr/>
          <p:nvPr/>
        </p:nvCxnSpPr>
        <p:spPr>
          <a:xfrm>
            <a:off x="10673791" y="4718304"/>
            <a:ext cx="202448"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5" name="TextBox 154"/>
          <p:cNvSpPr txBox="1"/>
          <p:nvPr/>
        </p:nvSpPr>
        <p:spPr>
          <a:xfrm>
            <a:off x="9592056" y="5084064"/>
            <a:ext cx="102412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溶剂处理</a:t>
            </a:r>
          </a:p>
        </p:txBody>
      </p:sp>
      <p:sp>
        <p:nvSpPr>
          <p:cNvPr id="156" name="TextBox 155"/>
          <p:cNvSpPr txBox="1"/>
          <p:nvPr/>
        </p:nvSpPr>
        <p:spPr>
          <a:xfrm>
            <a:off x="10634472" y="5312664"/>
            <a:ext cx="969264" cy="256032"/>
          </a:xfrm>
          <a:prstGeom prst="rect">
            <a:avLst/>
          </a:prstGeom>
          <a:noFill/>
          <a:effectLst/>
        </p:spPr>
        <p:txBody>
          <a:bodyPr wrap="square" lIns="22860" rIns="22860" tIns="0" bIns="0">
            <a:spAutoFit/>
          </a:bodyPr>
          <a:lstStyle/>
          <a:p>
            <a:pPr>
              <a:spcAft>
                <a:spcPts val="600"/>
              </a:spcAft>
              <a:defRPr sz="950" b="0">
                <a:solidFill>
                  <a:srgbClr val="566273"/>
                </a:solidFill>
                <a:latin typeface="Microsoft YaHei"/>
              </a:defRPr>
            </a:pPr>
            <a:r>
              <a:t>分离 / 再加工</a:t>
            </a:r>
          </a:p>
        </p:txBody>
      </p:sp>
      <p:cxnSp>
        <p:nvCxnSpPr>
          <p:cNvPr id="157" name="Connector 156"/>
          <p:cNvCxnSpPr/>
          <p:nvPr/>
        </p:nvCxnSpPr>
        <p:spPr>
          <a:xfrm>
            <a:off x="7360920" y="4965192"/>
            <a:ext cx="106984"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8" name="Oval 157"/>
          <p:cNvSpPr/>
          <p:nvPr/>
        </p:nvSpPr>
        <p:spPr>
          <a:xfrm>
            <a:off x="7332116"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Connector 158"/>
          <p:cNvCxnSpPr/>
          <p:nvPr/>
        </p:nvCxnSpPr>
        <p:spPr>
          <a:xfrm>
            <a:off x="7550200"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0" name="Oval 159"/>
          <p:cNvSpPr/>
          <p:nvPr/>
        </p:nvSpPr>
        <p:spPr>
          <a:xfrm>
            <a:off x="7521397"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1" name="Connector 160"/>
          <p:cNvCxnSpPr/>
          <p:nvPr/>
        </p:nvCxnSpPr>
        <p:spPr>
          <a:xfrm>
            <a:off x="7739481"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2" name="Oval 161"/>
          <p:cNvSpPr/>
          <p:nvPr/>
        </p:nvSpPr>
        <p:spPr>
          <a:xfrm>
            <a:off x="7710678"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TextBox 162"/>
          <p:cNvSpPr txBox="1"/>
          <p:nvPr/>
        </p:nvSpPr>
        <p:spPr>
          <a:xfrm>
            <a:off x="7360920" y="5170931"/>
            <a:ext cx="1110996" cy="172821"/>
          </a:xfrm>
          <a:prstGeom prst="rect">
            <a:avLst/>
          </a:prstGeom>
          <a:noFill/>
          <a:effectLst/>
        </p:spPr>
        <p:txBody>
          <a:bodyPr wrap="square" lIns="22860" rIns="22860" tIns="0" bIns="0">
            <a:spAutoFit/>
          </a:bodyPr>
          <a:lstStyle/>
          <a:p>
            <a:pPr>
              <a:spcAft>
                <a:spcPts val="600"/>
              </a:spcAft>
              <a:defRPr sz="810" b="0">
                <a:solidFill>
                  <a:srgbClr val="566273"/>
                </a:solidFill>
                <a:latin typeface="Microsoft YaHei"/>
              </a:defRPr>
            </a:pPr>
            <a:r>
              <a:t>低聚物 / 小分子</a:t>
            </a:r>
          </a:p>
        </p:txBody>
      </p:sp>
      <p:sp>
        <p:nvSpPr>
          <p:cNvPr id="164" name="TextBox 163"/>
          <p:cNvSpPr txBox="1"/>
          <p:nvPr/>
        </p:nvSpPr>
        <p:spPr>
          <a:xfrm>
            <a:off x="7050024" y="4535424"/>
            <a:ext cx="1636776"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解聚 / 低分子化</a:t>
            </a:r>
          </a:p>
        </p:txBody>
      </p:sp>
      <p:sp>
        <p:nvSpPr>
          <p:cNvPr id="165" name="TextBox 164"/>
          <p:cNvSpPr txBox="1"/>
          <p:nvPr/>
        </p:nvSpPr>
        <p:spPr>
          <a:xfrm>
            <a:off x="8412480" y="5486400"/>
            <a:ext cx="3209544" cy="155448"/>
          </a:xfrm>
          <a:prstGeom prst="rect">
            <a:avLst/>
          </a:prstGeom>
          <a:noFill/>
          <a:effectLst/>
        </p:spPr>
        <p:txBody>
          <a:bodyPr wrap="square" lIns="22860" rIns="22860" tIns="0" bIns="0">
            <a:spAutoFit/>
          </a:bodyPr>
          <a:lstStyle/>
          <a:p>
            <a:pPr algn="r">
              <a:spcAft>
                <a:spcPts val="600"/>
              </a:spcAft>
              <a:defRPr sz="930" b="0">
                <a:solidFill>
                  <a:srgbClr val="566273"/>
                </a:solidFill>
                <a:latin typeface="Microsoft YaHei"/>
              </a:defRPr>
            </a:pPr>
            <a:r>
              <a:t>路线分类示意，不代表本体系已实现。</a:t>
            </a:r>
          </a:p>
        </p:txBody>
      </p:sp>
      <p:sp>
        <p:nvSpPr>
          <p:cNvPr id="166" name="Rectangle 16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Chevron 16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研究切入点</a:t>
            </a:r>
          </a:p>
        </p:txBody>
      </p:sp>
      <p:sp>
        <p:nvSpPr>
          <p:cNvPr id="169" name="TextBox 16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本研究聚焦光敏组分参与的 PVC 光化学转化，探索温和条件下的自由基路径。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的 C–Cl 键转化路径及键能分析</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C–Cl 可经取代、均裂或消除转化；仅均裂可直接产生 Cl·，具体活化取决于结构、吸光与反应条件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机制分类参照 Xu et al., Nat. Rev. Methods Primers 2023, 3, 44；键能数值沿用用户图，原始出处待核。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320040" y="1344168"/>
            <a:ext cx="7461504"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71600"/>
            <a:ext cx="74066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21892"/>
            <a:ext cx="71688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中 C–Cl 键的三种主要转化路径</a:t>
            </a:r>
          </a:p>
        </p:txBody>
      </p:sp>
      <p:sp>
        <p:nvSpPr>
          <p:cNvPr id="10" name="Rounded Rectangle 9"/>
          <p:cNvSpPr/>
          <p:nvPr/>
        </p:nvSpPr>
        <p:spPr>
          <a:xfrm>
            <a:off x="7991856" y="1344168"/>
            <a:ext cx="3877056"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8019288" y="1371600"/>
            <a:ext cx="38221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0" y="1421892"/>
            <a:ext cx="35844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相关化学键的示意键能对比</a:t>
            </a:r>
          </a:p>
        </p:txBody>
      </p:sp>
      <p:sp>
        <p:nvSpPr>
          <p:cNvPr id="13" name="Rounded Rectangle 12"/>
          <p:cNvSpPr/>
          <p:nvPr/>
        </p:nvSpPr>
        <p:spPr>
          <a:xfrm>
            <a:off x="438912" y="1856231"/>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55040" y="1926640"/>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1500" y="1952243"/>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1</a:t>
            </a:r>
          </a:p>
        </p:txBody>
      </p:sp>
      <p:sp>
        <p:nvSpPr>
          <p:cNvPr id="16" name="TextBox 15"/>
          <p:cNvSpPr txBox="1"/>
          <p:nvPr/>
        </p:nvSpPr>
        <p:spPr>
          <a:xfrm>
            <a:off x="886968" y="1929384"/>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异裂 / 亲核取代脱氯</a:t>
            </a:r>
          </a:p>
        </p:txBody>
      </p:sp>
      <p:sp>
        <p:nvSpPr>
          <p:cNvPr id="17" name="TextBox 16"/>
          <p:cNvSpPr txBox="1"/>
          <p:nvPr/>
        </p:nvSpPr>
        <p:spPr>
          <a:xfrm>
            <a:off x="886968" y="2340863"/>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亲核试剂参与，C–Cl 极性断裂；氯以 Cl⁻ 形式离去。</a:t>
            </a:r>
          </a:p>
        </p:txBody>
      </p:sp>
      <p:sp>
        <p:nvSpPr>
          <p:cNvPr id="18" name="TextBox 17"/>
          <p:cNvSpPr txBox="1"/>
          <p:nvPr/>
        </p:nvSpPr>
        <p:spPr>
          <a:xfrm>
            <a:off x="5852160" y="2039112"/>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Cl⁻ 等含氯副产物</a:t>
            </a:r>
          </a:p>
          <a:p>
            <a:pPr>
              <a:spcAft>
                <a:spcPts val="600"/>
              </a:spcAft>
              <a:defRPr sz="1080" b="0">
                <a:solidFill>
                  <a:srgbClr val="063584"/>
                </a:solidFill>
                <a:latin typeface="Microsoft YaHei"/>
              </a:defRPr>
            </a:pPr>
            <a:r>
              <a:t>• 主链可保留或官能化</a:t>
            </a:r>
          </a:p>
          <a:p>
            <a:pPr>
              <a:spcAft>
                <a:spcPts val="600"/>
              </a:spcAft>
              <a:defRPr sz="1080" b="0">
                <a:solidFill>
                  <a:srgbClr val="063584"/>
                </a:solidFill>
                <a:latin typeface="Microsoft YaHei"/>
              </a:defRPr>
            </a:pPr>
            <a:r>
              <a:t>• 非 Cl· 直接生成路径</a:t>
            </a:r>
          </a:p>
        </p:txBody>
      </p:sp>
      <p:grpSp>
        <p:nvGrpSpPr>
          <p:cNvPr id="21" name="Path1_Substrate"/>
          <p:cNvGrpSpPr/>
          <p:nvPr/>
        </p:nvGrpSpPr>
        <p:grpSpPr>
          <a:xfrm>
            <a:off x="2820923" y="2189988"/>
            <a:ext cx="1234440" cy="617220"/>
            <a:chOff x="2820923" y="2189988"/>
            <a:chExt cx="1234440" cy="617220"/>
          </a:xfrm>
        </p:grpSpPr>
        <p:sp>
          <p:nvSpPr>
            <p:cNvPr id="19" name="Path1_Substrate_Bonds"/>
            <p:cNvSpPr/>
            <p:nvPr/>
          </p:nvSpPr>
          <p:spPr>
            <a:xfrm>
              <a:off x="2820923" y="2189988"/>
              <a:ext cx="1234440" cy="374904"/>
            </a:xfrm>
            <a:custGeom>
              <a:avLst/>
              <a:gdLst/>
              <a:ahLst/>
              <a:cxnLst/>
              <a:rect l="0" t="0" r="r" b="b"/>
              <a:pathLst>
                <a:path w="1234440" h="374904"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310127" y="2578608"/>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24" name="Path1_SubstitutedProduct"/>
          <p:cNvGrpSpPr/>
          <p:nvPr/>
        </p:nvGrpSpPr>
        <p:grpSpPr>
          <a:xfrm>
            <a:off x="4448556" y="2189988"/>
            <a:ext cx="1234439" cy="617220"/>
            <a:chOff x="4448556" y="2189988"/>
            <a:chExt cx="1234439" cy="617220"/>
          </a:xfrm>
        </p:grpSpPr>
        <p:sp>
          <p:nvSpPr>
            <p:cNvPr id="22" name="Path1_SubstitutedProduct_Bonds"/>
            <p:cNvSpPr/>
            <p:nvPr/>
          </p:nvSpPr>
          <p:spPr>
            <a:xfrm>
              <a:off x="4448556" y="2189988"/>
              <a:ext cx="1234439" cy="374904"/>
            </a:xfrm>
            <a:custGeom>
              <a:avLst/>
              <a:gdLst/>
              <a:ahLst/>
              <a:cxnLst/>
              <a:rect l="0" t="0" r="r" b="b"/>
              <a:pathLst>
                <a:path w="1234439" h="374904"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moveTo>
                    <a:pt x="617219" y="169164"/>
                  </a:moveTo>
                  <a:lnTo>
                    <a:pt x="617219"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0" y="2578608"/>
              <a:ext cx="402336" cy="228600"/>
            </a:xfrm>
            <a:prstGeom prst="rect">
              <a:avLst/>
            </a:prstGeom>
            <a:noFill/>
          </p:spPr>
          <p:txBody>
            <a:bodyPr wrap="square" lIns="22860" rIns="22860" tIns="0" bIns="0">
              <a:spAutoFit/>
            </a:bodyPr>
            <a:lstStyle/>
            <a:p>
              <a:pPr>
                <a:spcAft>
                  <a:spcPts val="600"/>
                </a:spcAft>
                <a:defRPr sz="1350" b="0">
                  <a:solidFill>
                    <a:srgbClr val="C00000"/>
                  </a:solidFill>
                  <a:latin typeface="Arial"/>
                </a:defRPr>
              </a:pPr>
              <a:r>
                <a:t>Nu</a:t>
              </a:r>
            </a:p>
          </p:txBody>
        </p:sp>
      </p:grpSp>
      <p:sp>
        <p:nvSpPr>
          <p:cNvPr id="25" name="TextBox 24"/>
          <p:cNvSpPr txBox="1"/>
          <p:nvPr/>
        </p:nvSpPr>
        <p:spPr>
          <a:xfrm>
            <a:off x="2962656" y="1879091"/>
            <a:ext cx="502920" cy="237744"/>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Nu</a:t>
            </a:r>
          </a:p>
        </p:txBody>
      </p:sp>
      <p:sp>
        <p:nvSpPr>
          <p:cNvPr id="26" name="Path1_NucleophileAttack"/>
          <p:cNvSpPr/>
          <p:nvPr/>
        </p:nvSpPr>
        <p:spPr>
          <a:xfrm>
            <a:off x="3223260" y="1988819"/>
            <a:ext cx="292608" cy="329183"/>
          </a:xfrm>
          <a:custGeom>
            <a:avLst/>
            <a:gdLst/>
            <a:ahLst/>
            <a:cxnLst/>
            <a:rect l="0" t="0" r="r" b="b"/>
            <a:pathLst>
              <a:path w="292608" h="329183" fill="none" stroke="1" extrusionOk="0">
                <a:moveTo>
                  <a:pt x="13716" y="22859"/>
                </a:moveTo>
                <a:cubicBezTo>
                  <a:pt x="224028" y="13716"/>
                  <a:pt x="278892" y="150876"/>
                  <a:pt x="214883" y="315467"/>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ath1_BondPairToChlorine"/>
          <p:cNvSpPr/>
          <p:nvPr/>
        </p:nvSpPr>
        <p:spPr>
          <a:xfrm>
            <a:off x="3442715" y="2427732"/>
            <a:ext cx="274319" cy="274320"/>
          </a:xfrm>
          <a:custGeom>
            <a:avLst/>
            <a:gdLst/>
            <a:ahLst/>
            <a:cxnLst/>
            <a:rect l="0" t="0" r="r" b="b"/>
            <a:pathLst>
              <a:path w="274319" h="274320" fill="none" stroke="1" extrusionOk="0">
                <a:moveTo>
                  <a:pt x="13716" y="32004"/>
                </a:moveTo>
                <a:cubicBezTo>
                  <a:pt x="242316" y="13716"/>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ath1_ReactionArrow"/>
          <p:cNvSpPr/>
          <p:nvPr/>
        </p:nvSpPr>
        <p:spPr>
          <a:xfrm>
            <a:off x="4082796" y="2345436"/>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1" name="LeavingGroup_Label"/>
          <p:cNvGrpSpPr/>
          <p:nvPr/>
        </p:nvGrpSpPr>
        <p:grpSpPr>
          <a:xfrm>
            <a:off x="4050791" y="2550261"/>
            <a:ext cx="566928" cy="247802"/>
            <a:chOff x="4050791" y="2550261"/>
            <a:chExt cx="566928" cy="247802"/>
          </a:xfrm>
        </p:grpSpPr>
        <p:sp>
          <p:nvSpPr>
            <p:cNvPr id="29" name="TextBox 28"/>
            <p:cNvSpPr txBox="1"/>
            <p:nvPr/>
          </p:nvSpPr>
          <p:spPr>
            <a:xfrm>
              <a:off x="4050791" y="2569463"/>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30" name="CircledNegativeCharge"/>
            <p:cNvSpPr/>
            <p:nvPr/>
          </p:nvSpPr>
          <p:spPr>
            <a:xfrm>
              <a:off x="4311396" y="2550261"/>
              <a:ext cx="137159" cy="137160"/>
            </a:xfrm>
            <a:custGeom>
              <a:avLst/>
              <a:gdLst/>
              <a:ahLst/>
              <a:cxnLst/>
              <a:rect l="0" t="0" r="r" b="b"/>
              <a:pathLst>
                <a:path w="137159" h="137160" fill="none" stroke="1" extrusionOk="0">
                  <a:moveTo>
                    <a:pt x="123443" y="68580"/>
                  </a:moveTo>
                  <a:cubicBezTo>
                    <a:pt x="123443" y="98880"/>
                    <a:pt x="98880" y="123444"/>
                    <a:pt x="68579" y="123444"/>
                  </a:cubicBezTo>
                  <a:cubicBezTo>
                    <a:pt x="38279" y="123444"/>
                    <a:pt x="13715" y="98880"/>
                    <a:pt x="13715" y="68580"/>
                  </a:cubicBezTo>
                  <a:cubicBezTo>
                    <a:pt x="13715" y="38279"/>
                    <a:pt x="38279" y="13716"/>
                    <a:pt x="68579" y="13716"/>
                  </a:cubicBezTo>
                  <a:cubicBezTo>
                    <a:pt x="98880" y="13716"/>
                    <a:pt x="123443" y="38279"/>
                    <a:pt x="123443" y="68580"/>
                  </a:cubicBezTo>
                  <a:moveTo>
                    <a:pt x="40233" y="68580"/>
                  </a:moveTo>
                  <a:lnTo>
                    <a:pt x="96926" y="68580"/>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2" name="Rounded Rectangle 31"/>
          <p:cNvSpPr/>
          <p:nvPr/>
        </p:nvSpPr>
        <p:spPr>
          <a:xfrm>
            <a:off x="438912" y="3163824"/>
            <a:ext cx="7223760" cy="1170432"/>
          </a:xfrm>
          <a:prstGeom prst="roundRect">
            <a:avLst>
              <a:gd name="adj" fmla="val 2500"/>
            </a:avLst>
          </a:prstGeom>
          <a:solidFill>
            <a:srgbClr val="FFF1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555040" y="3234232"/>
            <a:ext cx="224942" cy="224942"/>
          </a:xfrm>
          <a:prstGeom prst="ellipse">
            <a:avLst/>
          </a:prstGeom>
          <a:solidFill>
            <a:srgbClr val="C00000"/>
          </a:solidFill>
          <a:ln w="1397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71500" y="3259836"/>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2</a:t>
            </a:r>
          </a:p>
        </p:txBody>
      </p:sp>
      <p:sp>
        <p:nvSpPr>
          <p:cNvPr id="35" name="TextBox 34"/>
          <p:cNvSpPr txBox="1"/>
          <p:nvPr/>
        </p:nvSpPr>
        <p:spPr>
          <a:xfrm>
            <a:off x="886968" y="3236976"/>
            <a:ext cx="1956816" cy="320040"/>
          </a:xfrm>
          <a:prstGeom prst="rect">
            <a:avLst/>
          </a:prstGeom>
          <a:noFill/>
          <a:effectLst/>
        </p:spPr>
        <p:txBody>
          <a:bodyPr wrap="square" lIns="22860" rIns="22860" tIns="0" bIns="0">
            <a:spAutoFit/>
          </a:bodyPr>
          <a:lstStyle/>
          <a:p>
            <a:pPr>
              <a:spcAft>
                <a:spcPts val="600"/>
              </a:spcAft>
              <a:defRPr sz="1380" b="1">
                <a:solidFill>
                  <a:srgbClr val="C00000"/>
                </a:solidFill>
                <a:latin typeface="Microsoft YaHei"/>
              </a:defRPr>
            </a:pPr>
            <a:r>
              <a:t>C–Cl 键均裂脱氯</a:t>
            </a:r>
          </a:p>
        </p:txBody>
      </p:sp>
      <p:sp>
        <p:nvSpPr>
          <p:cNvPr id="36" name="TextBox 35"/>
          <p:cNvSpPr txBox="1"/>
          <p:nvPr/>
        </p:nvSpPr>
        <p:spPr>
          <a:xfrm>
            <a:off x="886968" y="3648456"/>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适当引发下发生均裂，生成碳自由基与 Cl·。</a:t>
            </a:r>
          </a:p>
        </p:txBody>
      </p:sp>
      <p:sp>
        <p:nvSpPr>
          <p:cNvPr id="37" name="TextBox 36"/>
          <p:cNvSpPr txBox="1"/>
          <p:nvPr/>
        </p:nvSpPr>
        <p:spPr>
          <a:xfrm>
            <a:off x="5852160" y="3346704"/>
            <a:ext cx="1673352" cy="877824"/>
          </a:xfrm>
          <a:prstGeom prst="rect">
            <a:avLst/>
          </a:prstGeom>
          <a:noFill/>
          <a:effectLst/>
        </p:spPr>
        <p:txBody>
          <a:bodyPr wrap="square" lIns="22860" rIns="22860" tIns="0" bIns="0">
            <a:spAutoFit/>
          </a:bodyPr>
          <a:lstStyle/>
          <a:p>
            <a:pPr>
              <a:spcAft>
                <a:spcPts val="600"/>
              </a:spcAft>
              <a:defRPr sz="1080" b="0">
                <a:solidFill>
                  <a:srgbClr val="C00000"/>
                </a:solidFill>
                <a:latin typeface="Microsoft YaHei"/>
              </a:defRPr>
            </a:pPr>
            <a:r>
              <a:t>• 可进入自由基链过程</a:t>
            </a:r>
          </a:p>
          <a:p>
            <a:pPr>
              <a:spcAft>
                <a:spcPts val="600"/>
              </a:spcAft>
              <a:defRPr sz="1080" b="0">
                <a:solidFill>
                  <a:srgbClr val="C00000"/>
                </a:solidFill>
                <a:latin typeface="Microsoft YaHei"/>
              </a:defRPr>
            </a:pPr>
            <a:r>
              <a:t>• 与氧化、断链可能关联</a:t>
            </a:r>
          </a:p>
          <a:p>
            <a:pPr>
              <a:spcAft>
                <a:spcPts val="600"/>
              </a:spcAft>
              <a:defRPr sz="1080" b="0">
                <a:solidFill>
                  <a:srgbClr val="C00000"/>
                </a:solidFill>
                <a:latin typeface="Microsoft YaHei"/>
              </a:defRPr>
            </a:pPr>
            <a:r>
              <a:t>• 本体系需直接物种证据</a:t>
            </a:r>
          </a:p>
        </p:txBody>
      </p:sp>
      <p:grpSp>
        <p:nvGrpSpPr>
          <p:cNvPr id="40" name="Path2_Substrate"/>
          <p:cNvGrpSpPr/>
          <p:nvPr/>
        </p:nvGrpSpPr>
        <p:grpSpPr>
          <a:xfrm>
            <a:off x="2820923" y="3497579"/>
            <a:ext cx="1234440" cy="617221"/>
            <a:chOff x="2820923" y="3497579"/>
            <a:chExt cx="1234440" cy="617221"/>
          </a:xfrm>
        </p:grpSpPr>
        <p:sp>
          <p:nvSpPr>
            <p:cNvPr id="38" name="Path2_Substrate_Bonds"/>
            <p:cNvSpPr/>
            <p:nvPr/>
          </p:nvSpPr>
          <p:spPr>
            <a:xfrm>
              <a:off x="2820923" y="3497579"/>
              <a:ext cx="1234440" cy="374903"/>
            </a:xfrm>
            <a:custGeom>
              <a:avLst/>
              <a:gdLst/>
              <a:ahLst/>
              <a:cxnLst/>
              <a:rect l="0" t="0" r="r" b="b"/>
              <a:pathLst>
                <a:path w="1234440" h="374903"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310127" y="3886200"/>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43" name="Path2_CarbonRadicalProduct"/>
          <p:cNvGrpSpPr/>
          <p:nvPr/>
        </p:nvGrpSpPr>
        <p:grpSpPr>
          <a:xfrm>
            <a:off x="4448556" y="3497579"/>
            <a:ext cx="1234439" cy="346558"/>
            <a:chOff x="4448556" y="3497579"/>
            <a:chExt cx="1234439" cy="346558"/>
          </a:xfrm>
        </p:grpSpPr>
        <p:sp>
          <p:nvSpPr>
            <p:cNvPr id="41" name="Path2_CarbonRadicalProduct_Bonds"/>
            <p:cNvSpPr/>
            <p:nvPr/>
          </p:nvSpPr>
          <p:spPr>
            <a:xfrm>
              <a:off x="4448556" y="3497579"/>
              <a:ext cx="1234439" cy="182879"/>
            </a:xfrm>
            <a:custGeom>
              <a:avLst/>
              <a:gdLst/>
              <a:ahLst/>
              <a:cxnLst/>
              <a:rect l="0" t="0" r="r" b="b"/>
              <a:pathLst>
                <a:path w="1234439" h="182879"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ath2_CarbonRadicalProduct_CarbonRadical"/>
            <p:cNvSpPr/>
            <p:nvPr/>
          </p:nvSpPr>
          <p:spPr>
            <a:xfrm>
              <a:off x="5045659" y="3803904"/>
              <a:ext cx="40233" cy="40233"/>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4" name="Path2_OneElectronToCarbon"/>
          <p:cNvSpPr/>
          <p:nvPr/>
        </p:nvSpPr>
        <p:spPr>
          <a:xfrm>
            <a:off x="3159252" y="3579875"/>
            <a:ext cx="274320" cy="210311"/>
          </a:xfrm>
          <a:custGeom>
            <a:avLst/>
            <a:gdLst/>
            <a:ahLst/>
            <a:cxnLst/>
            <a:rect l="0" t="0" r="r" b="b"/>
            <a:pathLst>
              <a:path w="274320" h="210311" fill="none" stroke="1" extrusionOk="0">
                <a:moveTo>
                  <a:pt x="260604" y="196596"/>
                </a:moveTo>
                <a:cubicBezTo>
                  <a:pt x="22859" y="187452"/>
                  <a:pt x="13716" y="13716"/>
                  <a:pt x="242316" y="68580"/>
                </a:cubicBezTo>
                <a:lnTo>
                  <a:pt x="167093" y="88141"/>
                </a:lnTo>
              </a:path>
            </a:pathLst>
          </a:custGeom>
          <a:noFill/>
          <a:ln w="1651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Path2_OneElectronToChlorine"/>
          <p:cNvSpPr/>
          <p:nvPr/>
        </p:nvSpPr>
        <p:spPr>
          <a:xfrm>
            <a:off x="3451860" y="3735324"/>
            <a:ext cx="265175" cy="274319"/>
          </a:xfrm>
          <a:custGeom>
            <a:avLst/>
            <a:gdLst/>
            <a:ahLst/>
            <a:cxnLst/>
            <a:rect l="0" t="0" r="r" b="b"/>
            <a:pathLst>
              <a:path w="265175" h="274319" fill="none" stroke="1" extrusionOk="0">
                <a:moveTo>
                  <a:pt x="13716" y="41147"/>
                </a:moveTo>
                <a:cubicBezTo>
                  <a:pt x="224027" y="13715"/>
                  <a:pt x="251459" y="196595"/>
                  <a:pt x="77723" y="260604"/>
                </a:cubicBezTo>
                <a:lnTo>
                  <a:pt x="129431" y="202574"/>
                </a:lnTo>
              </a:path>
            </a:pathLst>
          </a:custGeom>
          <a:no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Path2_ReactionArrow"/>
          <p:cNvSpPr/>
          <p:nvPr/>
        </p:nvSpPr>
        <p:spPr>
          <a:xfrm>
            <a:off x="4082796" y="3653027"/>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9" name="LeavingGroup_Label"/>
          <p:cNvGrpSpPr/>
          <p:nvPr/>
        </p:nvGrpSpPr>
        <p:grpSpPr>
          <a:xfrm>
            <a:off x="4050791" y="3877056"/>
            <a:ext cx="566928" cy="228600"/>
            <a:chOff x="4050791" y="3877056"/>
            <a:chExt cx="566928" cy="228600"/>
          </a:xfrm>
        </p:grpSpPr>
        <p:sp>
          <p:nvSpPr>
            <p:cNvPr id="47" name="TextBox 46"/>
            <p:cNvSpPr txBox="1"/>
            <p:nvPr/>
          </p:nvSpPr>
          <p:spPr>
            <a:xfrm>
              <a:off x="4050791" y="3877056"/>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48" name="Oval 47"/>
            <p:cNvSpPr/>
            <p:nvPr/>
          </p:nvSpPr>
          <p:spPr>
            <a:xfrm>
              <a:off x="4334255" y="3935577"/>
              <a:ext cx="30175" cy="30175"/>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0" name="Rounded Rectangle 49"/>
          <p:cNvSpPr/>
          <p:nvPr/>
        </p:nvSpPr>
        <p:spPr>
          <a:xfrm>
            <a:off x="438912" y="4471416"/>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555040" y="4541824"/>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71500" y="4567428"/>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3</a:t>
            </a:r>
          </a:p>
        </p:txBody>
      </p:sp>
      <p:sp>
        <p:nvSpPr>
          <p:cNvPr id="53" name="TextBox 52"/>
          <p:cNvSpPr txBox="1"/>
          <p:nvPr/>
        </p:nvSpPr>
        <p:spPr>
          <a:xfrm>
            <a:off x="886968" y="4544568"/>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脱 HCl（消除）</a:t>
            </a:r>
          </a:p>
        </p:txBody>
      </p:sp>
      <p:sp>
        <p:nvSpPr>
          <p:cNvPr id="54" name="TextBox 53"/>
          <p:cNvSpPr txBox="1"/>
          <p:nvPr/>
        </p:nvSpPr>
        <p:spPr>
          <a:xfrm>
            <a:off x="886968" y="4956048"/>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消除涉及邻位 C–H 与 C–Cl，形成不饱和结构。</a:t>
            </a:r>
          </a:p>
        </p:txBody>
      </p:sp>
      <p:sp>
        <p:nvSpPr>
          <p:cNvPr id="55" name="TextBox 54"/>
          <p:cNvSpPr txBox="1"/>
          <p:nvPr/>
        </p:nvSpPr>
        <p:spPr>
          <a:xfrm>
            <a:off x="5852160" y="4654296"/>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C=C 不饱和结构</a:t>
            </a:r>
          </a:p>
          <a:p>
            <a:pPr>
              <a:spcAft>
                <a:spcPts val="600"/>
              </a:spcAft>
              <a:defRPr sz="1080" b="0">
                <a:solidFill>
                  <a:srgbClr val="063584"/>
                </a:solidFill>
                <a:latin typeface="Microsoft YaHei"/>
              </a:defRPr>
            </a:pPr>
            <a:r>
              <a:t>• 可逐步形成共轭多烯</a:t>
            </a:r>
          </a:p>
          <a:p>
            <a:pPr>
              <a:spcAft>
                <a:spcPts val="600"/>
              </a:spcAft>
              <a:defRPr sz="1080" b="0">
                <a:solidFill>
                  <a:srgbClr val="063584"/>
                </a:solidFill>
                <a:latin typeface="Microsoft YaHei"/>
              </a:defRPr>
            </a:pPr>
            <a:r>
              <a:t>• 改变后续吸光与反应</a:t>
            </a:r>
          </a:p>
        </p:txBody>
      </p:sp>
      <p:grpSp>
        <p:nvGrpSpPr>
          <p:cNvPr id="59" name="Path3_BetaH_Substrate"/>
          <p:cNvGrpSpPr/>
          <p:nvPr/>
        </p:nvGrpSpPr>
        <p:grpSpPr>
          <a:xfrm>
            <a:off x="2820923" y="4485131"/>
            <a:ext cx="1234440" cy="937261"/>
            <a:chOff x="2820923" y="4485131"/>
            <a:chExt cx="1234440" cy="937261"/>
          </a:xfrm>
        </p:grpSpPr>
        <p:sp>
          <p:nvSpPr>
            <p:cNvPr id="56" name="Path3_BetaH_Substrate_Bonds"/>
            <p:cNvSpPr/>
            <p:nvPr/>
          </p:nvSpPr>
          <p:spPr>
            <a:xfrm>
              <a:off x="2820923" y="4640580"/>
              <a:ext cx="1234440" cy="539495"/>
            </a:xfrm>
            <a:custGeom>
              <a:avLst/>
              <a:gdLst/>
              <a:ahLst/>
              <a:cxnLst/>
              <a:rect l="0" t="0" r="r" b="b"/>
              <a:pathLst>
                <a:path w="1234440" h="539495" fill="none" stroke="1" extrusionOk="0">
                  <a:moveTo>
                    <a:pt x="123444" y="315467"/>
                  </a:moveTo>
                  <a:lnTo>
                    <a:pt x="361188" y="178307"/>
                  </a:lnTo>
                  <a:lnTo>
                    <a:pt x="617220" y="333755"/>
                  </a:lnTo>
                  <a:lnTo>
                    <a:pt x="873252" y="178307"/>
                  </a:lnTo>
                  <a:lnTo>
                    <a:pt x="1110996" y="315467"/>
                  </a:lnTo>
                  <a:moveTo>
                    <a:pt x="13716" y="242315"/>
                  </a:moveTo>
                  <a:lnTo>
                    <a:pt x="68580" y="274319"/>
                  </a:lnTo>
                  <a:moveTo>
                    <a:pt x="1165860" y="274319"/>
                  </a:moveTo>
                  <a:lnTo>
                    <a:pt x="1220724" y="242315"/>
                  </a:lnTo>
                  <a:moveTo>
                    <a:pt x="617220" y="333755"/>
                  </a:moveTo>
                  <a:lnTo>
                    <a:pt x="617220" y="525779"/>
                  </a:lnTo>
                  <a:moveTo>
                    <a:pt x="361188" y="178307"/>
                  </a:moveTo>
                  <a:lnTo>
                    <a:pt x="361188" y="13715"/>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310127" y="5193792"/>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sp>
          <p:nvSpPr>
            <p:cNvPr id="58" name="TextBox 57"/>
            <p:cNvSpPr txBox="1"/>
            <p:nvPr/>
          </p:nvSpPr>
          <p:spPr>
            <a:xfrm>
              <a:off x="3090672" y="4485131"/>
              <a:ext cx="256032" cy="237744"/>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H</a:t>
              </a:r>
            </a:p>
          </p:txBody>
        </p:sp>
      </p:grpSp>
      <p:grpSp>
        <p:nvGrpSpPr>
          <p:cNvPr id="61" name="Path3_AlkeneProduct"/>
          <p:cNvGrpSpPr/>
          <p:nvPr/>
        </p:nvGrpSpPr>
        <p:grpSpPr>
          <a:xfrm>
            <a:off x="4448556" y="4791354"/>
            <a:ext cx="1234439" cy="196697"/>
            <a:chOff x="4448556" y="4791354"/>
            <a:chExt cx="1234439" cy="196697"/>
          </a:xfrm>
        </p:grpSpPr>
        <p:sp>
          <p:nvSpPr>
            <p:cNvPr id="60" name="Path3_AlkeneProduct_Bonds"/>
            <p:cNvSpPr/>
            <p:nvPr/>
          </p:nvSpPr>
          <p:spPr>
            <a:xfrm>
              <a:off x="4448556" y="4791354"/>
              <a:ext cx="1234439" cy="196697"/>
            </a:xfrm>
            <a:custGeom>
              <a:avLst/>
              <a:gdLst/>
              <a:ahLst/>
              <a:cxnLst/>
              <a:rect l="0" t="0" r="r" b="b"/>
              <a:pathLst>
                <a:path w="1234439" h="196697" fill="none" stroke="1" extrusionOk="0">
                  <a:moveTo>
                    <a:pt x="123443" y="164693"/>
                  </a:moveTo>
                  <a:lnTo>
                    <a:pt x="361187" y="27533"/>
                  </a:lnTo>
                  <a:lnTo>
                    <a:pt x="617219" y="182981"/>
                  </a:lnTo>
                  <a:lnTo>
                    <a:pt x="873252" y="27533"/>
                  </a:lnTo>
                  <a:lnTo>
                    <a:pt x="1110995" y="164693"/>
                  </a:lnTo>
                  <a:moveTo>
                    <a:pt x="13715" y="91541"/>
                  </a:moveTo>
                  <a:lnTo>
                    <a:pt x="68580" y="123545"/>
                  </a:lnTo>
                  <a:moveTo>
                    <a:pt x="1165859" y="123545"/>
                  </a:moveTo>
                  <a:lnTo>
                    <a:pt x="1220724" y="91541"/>
                  </a:lnTo>
                  <a:moveTo>
                    <a:pt x="417715" y="13715"/>
                  </a:moveTo>
                  <a:lnTo>
                    <a:pt x="603402" y="126454"/>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62" name="TextBox 61"/>
          <p:cNvSpPr txBox="1"/>
          <p:nvPr/>
        </p:nvSpPr>
        <p:spPr>
          <a:xfrm>
            <a:off x="2798064" y="4485131"/>
            <a:ext cx="274320" cy="228600"/>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B</a:t>
            </a:r>
          </a:p>
        </p:txBody>
      </p:sp>
      <p:sp>
        <p:nvSpPr>
          <p:cNvPr id="63" name="CircledNegativeCharge"/>
          <p:cNvSpPr/>
          <p:nvPr/>
        </p:nvSpPr>
        <p:spPr>
          <a:xfrm>
            <a:off x="2930652" y="4443984"/>
            <a:ext cx="137160" cy="137159"/>
          </a:xfrm>
          <a:custGeom>
            <a:avLst/>
            <a:gdLst/>
            <a:ahLst/>
            <a:cxnLst/>
            <a:rect l="0" t="0" r="r" b="b"/>
            <a:pathLst>
              <a:path w="137160" h="137159" fill="none" stroke="1" extrusionOk="0">
                <a:moveTo>
                  <a:pt x="123444" y="68579"/>
                </a:moveTo>
                <a:cubicBezTo>
                  <a:pt x="123444" y="98880"/>
                  <a:pt x="98880" y="123443"/>
                  <a:pt x="68580" y="123443"/>
                </a:cubicBezTo>
                <a:cubicBezTo>
                  <a:pt x="38279" y="123443"/>
                  <a:pt x="13716" y="98880"/>
                  <a:pt x="13716" y="68579"/>
                </a:cubicBezTo>
                <a:cubicBezTo>
                  <a:pt x="13716" y="38279"/>
                  <a:pt x="38279" y="13715"/>
                  <a:pt x="68580" y="13715"/>
                </a:cubicBezTo>
                <a:cubicBezTo>
                  <a:pt x="98880" y="13715"/>
                  <a:pt x="123444" y="38279"/>
                  <a:pt x="123444" y="68579"/>
                </a:cubicBezTo>
                <a:moveTo>
                  <a:pt x="40233" y="68579"/>
                </a:moveTo>
                <a:lnTo>
                  <a:pt x="96926" y="68579"/>
                </a:lnTo>
              </a:path>
            </a:pathLst>
          </a:custGeom>
          <a:noFill/>
          <a:ln w="1270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Path3_BaseToBetaHydrogen"/>
          <p:cNvSpPr/>
          <p:nvPr/>
        </p:nvSpPr>
        <p:spPr>
          <a:xfrm>
            <a:off x="2976372" y="4631436"/>
            <a:ext cx="210312" cy="146303"/>
          </a:xfrm>
          <a:custGeom>
            <a:avLst/>
            <a:gdLst/>
            <a:ahLst/>
            <a:cxnLst/>
            <a:rect l="0" t="0" r="r" b="b"/>
            <a:pathLst>
              <a:path w="210312" h="146303" fill="none" stroke="1" extrusionOk="0">
                <a:moveTo>
                  <a:pt x="13716" y="13715"/>
                </a:moveTo>
                <a:cubicBezTo>
                  <a:pt x="41147" y="132587"/>
                  <a:pt x="169164" y="123443"/>
                  <a:pt x="196596" y="22859"/>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ath3_CHBondPairToCCBond"/>
          <p:cNvSpPr/>
          <p:nvPr/>
        </p:nvSpPr>
        <p:spPr>
          <a:xfrm>
            <a:off x="3168396" y="4686300"/>
            <a:ext cx="274320" cy="219455"/>
          </a:xfrm>
          <a:custGeom>
            <a:avLst/>
            <a:gdLst/>
            <a:ahLst/>
            <a:cxnLst/>
            <a:rect l="0" t="0" r="r" b="b"/>
            <a:pathLst>
              <a:path w="274320" h="219455" fill="none" stroke="1" extrusionOk="0">
                <a:moveTo>
                  <a:pt x="13716" y="32004"/>
                </a:moveTo>
                <a:cubicBezTo>
                  <a:pt x="169164" y="13715"/>
                  <a:pt x="260604" y="68579"/>
                  <a:pt x="160020" y="205739"/>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Path3_CClPairToChlorine"/>
          <p:cNvSpPr/>
          <p:nvPr/>
        </p:nvSpPr>
        <p:spPr>
          <a:xfrm>
            <a:off x="3442715" y="5042916"/>
            <a:ext cx="274319" cy="274319"/>
          </a:xfrm>
          <a:custGeom>
            <a:avLst/>
            <a:gdLst/>
            <a:ahLst/>
            <a:cxnLst/>
            <a:rect l="0" t="0" r="r" b="b"/>
            <a:pathLst>
              <a:path w="274319" h="274319" fill="none" stroke="1" extrusionOk="0">
                <a:moveTo>
                  <a:pt x="13716" y="32004"/>
                </a:moveTo>
                <a:cubicBezTo>
                  <a:pt x="242316" y="13715"/>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Path3_ReactionArrow"/>
          <p:cNvSpPr/>
          <p:nvPr/>
        </p:nvSpPr>
        <p:spPr>
          <a:xfrm>
            <a:off x="4082796" y="4960620"/>
            <a:ext cx="448055" cy="27432"/>
          </a:xfrm>
          <a:custGeom>
            <a:avLst/>
            <a:gdLst/>
            <a:ahLst/>
            <a:cxnLst/>
            <a:rect l="0" t="0" r="r" b="b"/>
            <a:pathLst>
              <a:path w="448055" h="27432" fill="none" stroke="1" extrusionOk="0">
                <a:moveTo>
                  <a:pt x="13715" y="13715"/>
                </a:moveTo>
                <a:lnTo>
                  <a:pt x="434339" y="13715"/>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71" name="LeavingGroup_Label"/>
          <p:cNvGrpSpPr/>
          <p:nvPr/>
        </p:nvGrpSpPr>
        <p:grpSpPr>
          <a:xfrm>
            <a:off x="4050791" y="5156301"/>
            <a:ext cx="667512" cy="439827"/>
            <a:chOff x="4050791" y="5156301"/>
            <a:chExt cx="667512" cy="439827"/>
          </a:xfrm>
        </p:grpSpPr>
        <p:sp>
          <p:nvSpPr>
            <p:cNvPr id="68" name="TextBox 67"/>
            <p:cNvSpPr txBox="1"/>
            <p:nvPr/>
          </p:nvSpPr>
          <p:spPr>
            <a:xfrm>
              <a:off x="4050791" y="5175504"/>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69" name="CircledNegativeCharge"/>
            <p:cNvSpPr/>
            <p:nvPr/>
          </p:nvSpPr>
          <p:spPr>
            <a:xfrm>
              <a:off x="4311396" y="5156301"/>
              <a:ext cx="137159" cy="137159"/>
            </a:xfrm>
            <a:custGeom>
              <a:avLst/>
              <a:gdLst/>
              <a:ahLst/>
              <a:cxnLst/>
              <a:rect l="0" t="0" r="r" b="b"/>
              <a:pathLst>
                <a:path w="137159" h="137159" fill="none" stroke="1" extrusionOk="0">
                  <a:moveTo>
                    <a:pt x="123443" y="68579"/>
                  </a:moveTo>
                  <a:cubicBezTo>
                    <a:pt x="123443" y="98880"/>
                    <a:pt x="98880" y="123443"/>
                    <a:pt x="68579" y="123443"/>
                  </a:cubicBezTo>
                  <a:cubicBezTo>
                    <a:pt x="38279" y="123443"/>
                    <a:pt x="13715" y="98880"/>
                    <a:pt x="13715" y="68579"/>
                  </a:cubicBezTo>
                  <a:cubicBezTo>
                    <a:pt x="13715" y="38279"/>
                    <a:pt x="38279" y="13715"/>
                    <a:pt x="68579" y="13715"/>
                  </a:cubicBezTo>
                  <a:cubicBezTo>
                    <a:pt x="98880" y="13715"/>
                    <a:pt x="123443" y="38279"/>
                    <a:pt x="123443" y="68579"/>
                  </a:cubicBezTo>
                  <a:moveTo>
                    <a:pt x="40233" y="68579"/>
                  </a:moveTo>
                  <a:lnTo>
                    <a:pt x="96926" y="68579"/>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4050791" y="5376672"/>
              <a:ext cx="667512" cy="219456"/>
            </a:xfrm>
            <a:prstGeom prst="rect">
              <a:avLst/>
            </a:prstGeom>
            <a:noFill/>
          </p:spPr>
          <p:txBody>
            <a:bodyPr wrap="square" lIns="22860" rIns="22860" tIns="0" bIns="0">
              <a:spAutoFit/>
            </a:bodyPr>
            <a:lstStyle/>
            <a:p>
              <a:pPr>
                <a:spcAft>
                  <a:spcPts val="600"/>
                </a:spcAft>
                <a:defRPr sz="1280" b="0">
                  <a:solidFill>
                    <a:srgbClr val="063584"/>
                  </a:solidFill>
                  <a:latin typeface="Arial"/>
                </a:defRPr>
              </a:pPr>
              <a:r>
                <a:t>-HB</a:t>
              </a:r>
            </a:p>
          </p:txBody>
        </p:sp>
      </p:grpSp>
      <p:sp>
        <p:nvSpPr>
          <p:cNvPr id="72" name="TextBox 71"/>
          <p:cNvSpPr txBox="1"/>
          <p:nvPr/>
        </p:nvSpPr>
        <p:spPr>
          <a:xfrm>
            <a:off x="8193024" y="1819656"/>
            <a:ext cx="3474720" cy="274320"/>
          </a:xfrm>
          <a:prstGeom prst="rect">
            <a:avLst/>
          </a:prstGeom>
          <a:noFill/>
          <a:effectLst/>
        </p:spPr>
        <p:txBody>
          <a:bodyPr wrap="square" lIns="22860" rIns="22860" tIns="0" bIns="0">
            <a:spAutoFit/>
          </a:bodyPr>
          <a:lstStyle/>
          <a:p>
            <a:pPr>
              <a:spcAft>
                <a:spcPts val="600"/>
              </a:spcAft>
              <a:defRPr sz="1250" b="1">
                <a:solidFill>
                  <a:srgbClr val="063584"/>
                </a:solidFill>
                <a:latin typeface="Microsoft YaHei"/>
              </a:defRPr>
            </a:pPr>
            <a:r>
              <a:t>图中示意参考值（非位点实测值）</a:t>
            </a:r>
          </a:p>
        </p:txBody>
      </p:sp>
      <p:graphicFrame>
        <p:nvGraphicFramePr>
          <p:cNvPr id="73" name="Table 72"/>
          <p:cNvGraphicFramePr>
            <a:graphicFrameLocks noGrp="1"/>
          </p:cNvGraphicFramePr>
          <p:nvPr/>
        </p:nvGraphicFramePr>
        <p:xfrm>
          <a:off x="8174736" y="2194560"/>
          <a:ext cx="3511296" cy="1197864"/>
        </p:xfrm>
        <a:graphic>
          <a:graphicData uri="http://schemas.openxmlformats.org/drawingml/2006/table">
            <a:tbl>
              <a:tblPr firstRow="1" bandRow="1">
                <a:tableStyleId>{5C22544A-7EE6-4342-B048-85BDC9FD1C3A}</a:tableStyleId>
              </a:tblPr>
              <a:tblGrid>
                <a:gridCol w="1408176"/>
                <a:gridCol w="2103120"/>
              </a:tblGrid>
              <a:tr h="299466">
                <a:tc>
                  <a:txBody>
                    <a:bodyPr/>
                    <a:lstStyle/>
                    <a:p>
                      <a:pPr>
                        <a:defRPr sz="1450" b="1">
                          <a:solidFill>
                            <a:srgbClr val="FFFFFF"/>
                          </a:solidFill>
                          <a:latin typeface="Microsoft YaHei"/>
                        </a:defRPr>
                      </a:pPr>
                      <a:r>
                        <a:t>化学键</a:t>
                      </a:r>
                    </a:p>
                  </a:txBody>
                  <a:tcPr marL="91440" marR="64008" marT="64008" marB="45720">
                    <a:solidFill>
                      <a:srgbClr val="063584"/>
                    </a:solidFill>
                  </a:tcPr>
                </a:tc>
                <a:tc>
                  <a:txBody>
                    <a:bodyPr/>
                    <a:lstStyle/>
                    <a:p>
                      <a:pPr>
                        <a:defRPr sz="1450" b="1">
                          <a:solidFill>
                            <a:srgbClr val="FFFFFF"/>
                          </a:solidFill>
                          <a:latin typeface="Microsoft YaHei"/>
                        </a:defRPr>
                      </a:pPr>
                      <a:r>
                        <a:t>键能 / kJ·mol⁻¹</a:t>
                      </a:r>
                    </a:p>
                  </a:txBody>
                  <a:tcPr marL="91440" marR="64008" marT="64008" marB="45720">
                    <a:solidFill>
                      <a:srgbClr val="063584"/>
                    </a:solidFill>
                  </a:tcPr>
                </a:tc>
              </a:tr>
              <a:tr h="299466">
                <a:tc>
                  <a:txBody>
                    <a:bodyPr/>
                    <a:lstStyle/>
                    <a:p>
                      <a:pPr>
                        <a:defRPr sz="1450" b="0">
                          <a:solidFill>
                            <a:srgbClr val="111111"/>
                          </a:solidFill>
                          <a:latin typeface="Microsoft YaHei"/>
                        </a:defRPr>
                      </a:pPr>
                      <a:r>
                        <a:t>C–H</a:t>
                      </a:r>
                    </a:p>
                  </a:txBody>
                  <a:tcPr marL="91440" marR="64008" marT="64008" marB="45720">
                    <a:solidFill>
                      <a:srgbClr val="FFFFFF"/>
                    </a:solidFill>
                  </a:tcPr>
                </a:tc>
                <a:tc>
                  <a:txBody>
                    <a:bodyPr/>
                    <a:lstStyle/>
                    <a:p>
                      <a:pPr>
                        <a:defRPr sz="1450" b="0">
                          <a:solidFill>
                            <a:srgbClr val="111111"/>
                          </a:solidFill>
                          <a:latin typeface="Microsoft YaHei"/>
                        </a:defRPr>
                      </a:pPr>
                      <a:r>
                        <a:t>414</a:t>
                      </a:r>
                    </a:p>
                  </a:txBody>
                  <a:tcPr marL="91440" marR="64008" marT="64008" marB="45720">
                    <a:solidFill>
                      <a:srgbClr val="FFFFFF"/>
                    </a:solidFill>
                  </a:tcPr>
                </a:tc>
              </a:tr>
              <a:tr h="299466">
                <a:tc>
                  <a:txBody>
                    <a:bodyPr/>
                    <a:lstStyle/>
                    <a:p>
                      <a:pPr>
                        <a:defRPr sz="1450" b="0">
                          <a:solidFill>
                            <a:srgbClr val="111111"/>
                          </a:solidFill>
                          <a:latin typeface="Microsoft YaHei"/>
                        </a:defRPr>
                      </a:pPr>
                      <a:r>
                        <a:t>C–C</a:t>
                      </a:r>
                    </a:p>
                  </a:txBody>
                  <a:tcPr marL="91440" marR="64008" marT="64008" marB="45720">
                    <a:solidFill>
                      <a:srgbClr val="EDF3FF"/>
                    </a:solidFill>
                  </a:tcPr>
                </a:tc>
                <a:tc>
                  <a:txBody>
                    <a:bodyPr/>
                    <a:lstStyle/>
                    <a:p>
                      <a:pPr>
                        <a:defRPr sz="1450" b="0">
                          <a:solidFill>
                            <a:srgbClr val="111111"/>
                          </a:solidFill>
                          <a:latin typeface="Microsoft YaHei"/>
                        </a:defRPr>
                      </a:pPr>
                      <a:r>
                        <a:t>332</a:t>
                      </a:r>
                    </a:p>
                  </a:txBody>
                  <a:tcPr marL="91440" marR="64008" marT="64008" marB="45720">
                    <a:solidFill>
                      <a:srgbClr val="EDF3FF"/>
                    </a:solidFill>
                  </a:tcPr>
                </a:tc>
              </a:tr>
              <a:tr h="299466">
                <a:tc>
                  <a:txBody>
                    <a:bodyPr/>
                    <a:lstStyle/>
                    <a:p>
                      <a:pPr>
                        <a:defRPr sz="1450" b="1">
                          <a:solidFill>
                            <a:srgbClr val="C00000"/>
                          </a:solidFill>
                          <a:latin typeface="Microsoft YaHei"/>
                        </a:defRPr>
                      </a:pPr>
                      <a:r>
                        <a:t>C–Cl</a:t>
                      </a:r>
                    </a:p>
                  </a:txBody>
                  <a:tcPr marL="91440" marR="64008" marT="64008" marB="45720">
                    <a:solidFill>
                      <a:srgbClr val="FFF1F1"/>
                    </a:solidFill>
                  </a:tcPr>
                </a:tc>
                <a:tc>
                  <a:txBody>
                    <a:bodyPr/>
                    <a:lstStyle/>
                    <a:p>
                      <a:pPr>
                        <a:defRPr sz="1450" b="1">
                          <a:solidFill>
                            <a:srgbClr val="C00000"/>
                          </a:solidFill>
                          <a:latin typeface="Microsoft YaHei"/>
                        </a:defRPr>
                      </a:pPr>
                      <a:r>
                        <a:t>328</a:t>
                      </a:r>
                    </a:p>
                  </a:txBody>
                  <a:tcPr marL="91440" marR="64008" marT="64008" marB="45720">
                    <a:solidFill>
                      <a:srgbClr val="FFF1F1"/>
                    </a:solidFill>
                  </a:tcPr>
                </a:tc>
              </a:tr>
            </a:tbl>
          </a:graphicData>
        </a:graphic>
      </p:graphicFrame>
      <p:sp>
        <p:nvSpPr>
          <p:cNvPr id="74" name="Rounded Rectangle 73"/>
          <p:cNvSpPr/>
          <p:nvPr/>
        </p:nvSpPr>
        <p:spPr>
          <a:xfrm>
            <a:off x="8174736" y="3602736"/>
            <a:ext cx="3511296" cy="1060704"/>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8302752" y="3721608"/>
            <a:ext cx="3246120" cy="841248"/>
          </a:xfrm>
          <a:prstGeom prst="rect">
            <a:avLst/>
          </a:prstGeom>
          <a:noFill/>
          <a:effectLst/>
        </p:spPr>
        <p:txBody>
          <a:bodyPr wrap="square" lIns="22860" rIns="22860" tIns="0" bIns="0">
            <a:spAutoFit/>
          </a:bodyPr>
          <a:lstStyle/>
          <a:p>
            <a:pPr>
              <a:spcAft>
                <a:spcPts val="600"/>
              </a:spcAft>
              <a:defRPr sz="1240" b="0">
                <a:solidFill>
                  <a:srgbClr val="063584"/>
                </a:solidFill>
                <a:latin typeface="Microsoft YaHei"/>
              </a:defRPr>
            </a:pPr>
            <a:r>
              <a:t>• C–Cl 与 C–C 的图示值接近，具体值随结构改变。</a:t>
            </a:r>
          </a:p>
          <a:p>
            <a:pPr>
              <a:spcAft>
                <a:spcPts val="600"/>
              </a:spcAft>
              <a:defRPr sz="1240" b="0">
                <a:solidFill>
                  <a:srgbClr val="063584"/>
                </a:solidFill>
                <a:latin typeface="Microsoft YaHei"/>
              </a:defRPr>
            </a:pPr>
            <a:r>
              <a:t>• 光解还取决于吸收及激发态，不能只看键能。</a:t>
            </a:r>
          </a:p>
        </p:txBody>
      </p:sp>
      <p:sp>
        <p:nvSpPr>
          <p:cNvPr id="76" name="TextBox 75"/>
          <p:cNvSpPr txBox="1"/>
          <p:nvPr/>
        </p:nvSpPr>
        <p:spPr>
          <a:xfrm>
            <a:off x="8229600" y="4773168"/>
            <a:ext cx="3383280" cy="347472"/>
          </a:xfrm>
          <a:prstGeom prst="rect">
            <a:avLst/>
          </a:prstGeom>
          <a:noFill/>
          <a:effectLst/>
        </p:spPr>
        <p:txBody>
          <a:bodyPr wrap="square" lIns="22860" rIns="22860" tIns="0" bIns="0">
            <a:spAutoFit/>
          </a:bodyPr>
          <a:lstStyle/>
          <a:p>
            <a:pPr>
              <a:spcAft>
                <a:spcPts val="600"/>
              </a:spcAft>
              <a:defRPr sz="880" b="0">
                <a:solidFill>
                  <a:srgbClr val="566273"/>
                </a:solidFill>
                <a:latin typeface="Microsoft YaHei"/>
              </a:defRPr>
            </a:pPr>
            <a:r>
              <a:t>数值沿用用户图，原始来源待核；</a:t>
            </a:r>
          </a:p>
          <a:p>
            <a:pPr>
              <a:spcAft>
                <a:spcPts val="600"/>
              </a:spcAft>
              <a:defRPr sz="880" b="0">
                <a:solidFill>
                  <a:srgbClr val="566273"/>
                </a:solidFill>
                <a:latin typeface="Microsoft YaHei"/>
              </a:defRPr>
            </a:pPr>
            <a:r>
              <a:t>不代表 PVC 各含氯位点的实测 BDE。</a:t>
            </a:r>
          </a:p>
        </p:txBody>
      </p:sp>
      <p:sp>
        <p:nvSpPr>
          <p:cNvPr id="77" name="Freeform 76"/>
          <p:cNvSpPr/>
          <p:nvPr/>
        </p:nvSpPr>
        <p:spPr>
          <a:xfrm>
            <a:off x="8467344" y="5212080"/>
            <a:ext cx="2359152" cy="109728"/>
          </a:xfrm>
          <a:custGeom>
            <a:avLst/>
            <a:gdLst/>
            <a:ahLst/>
            <a:cxnLst/>
            <a:rect l="l" t="t" r="r" b="b"/>
            <a:pathLst>
              <a:path w="2359152" h="109728">
                <a:moveTo>
                  <a:pt x="0" y="0"/>
                </a:moveTo>
                <a:lnTo>
                  <a:pt x="393192" y="109728"/>
                </a:lnTo>
                <a:lnTo>
                  <a:pt x="786384" y="0"/>
                </a:lnTo>
                <a:lnTo>
                  <a:pt x="1179576" y="109728"/>
                </a:lnTo>
                <a:lnTo>
                  <a:pt x="1572768" y="0"/>
                </a:lnTo>
                <a:lnTo>
                  <a:pt x="1965960" y="109728"/>
                </a:lnTo>
                <a:lnTo>
                  <a:pt x="2359152" y="0"/>
                </a:lnTo>
              </a:path>
            </a:pathLst>
          </a:custGeom>
          <a:noFill/>
          <a:ln w="2032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8" name="Connector 77"/>
          <p:cNvCxnSpPr/>
          <p:nvPr/>
        </p:nvCxnSpPr>
        <p:spPr>
          <a:xfrm>
            <a:off x="8860536"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8759952"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0" name="Connector 79"/>
          <p:cNvCxnSpPr/>
          <p:nvPr/>
        </p:nvCxnSpPr>
        <p:spPr>
          <a:xfrm>
            <a:off x="9646920"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9546336"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2" name="Connector 81"/>
          <p:cNvCxnSpPr/>
          <p:nvPr/>
        </p:nvCxnSpPr>
        <p:spPr>
          <a:xfrm>
            <a:off x="10433304"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3" name="TextBox 82"/>
          <p:cNvSpPr txBox="1"/>
          <p:nvPr/>
        </p:nvSpPr>
        <p:spPr>
          <a:xfrm>
            <a:off x="10332720"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sp>
        <p:nvSpPr>
          <p:cNvPr id="84" name="TextBox 83"/>
          <p:cNvSpPr txBox="1"/>
          <p:nvPr/>
        </p:nvSpPr>
        <p:spPr>
          <a:xfrm>
            <a:off x="8385048" y="5669280"/>
            <a:ext cx="3200400" cy="192024"/>
          </a:xfrm>
          <a:prstGeom prst="rect">
            <a:avLst/>
          </a:prstGeom>
          <a:noFill/>
          <a:effectLst/>
        </p:spPr>
        <p:txBody>
          <a:bodyPr wrap="square" lIns="22860" rIns="22860" tIns="0" bIns="0">
            <a:spAutoFit/>
          </a:bodyPr>
          <a:lstStyle/>
          <a:p>
            <a:pPr algn="ctr">
              <a:spcAft>
                <a:spcPts val="600"/>
              </a:spcAft>
              <a:defRPr sz="1100" b="1">
                <a:solidFill>
                  <a:srgbClr val="063584"/>
                </a:solidFill>
                <a:latin typeface="Microsoft YaHei"/>
              </a:defRPr>
            </a:pPr>
            <a:r>
              <a:t>PVC 链结构示意</a:t>
            </a:r>
          </a:p>
        </p:txBody>
      </p:sp>
      <p:sp>
        <p:nvSpPr>
          <p:cNvPr id="85" name="Rectangle 84"/>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Chevron 85"/>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研究思路</a:t>
            </a:r>
          </a:p>
        </p:txBody>
      </p:sp>
      <p:sp>
        <p:nvSpPr>
          <p:cNvPr id="88" name="TextBox 87"/>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重点检验可能产生 Cl· 的自由基支路，并以物种与链长证据关联氧化和断链。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文献启发：PVC 光氧化机制为本课题提供验证路径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保留文献原始机理图；将自由基路径转化为可逐步检验的本课题实验任务</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DOI: 10.1021/ma00196a005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320040" y="1325880"/>
            <a:ext cx="11548872" cy="4553712"/>
          </a:xfrm>
          <a:prstGeom prst="roundRect">
            <a:avLst>
              <a:gd name="adj" fmla="val 2500"/>
            </a:avLst>
          </a:prstGeom>
          <a:solidFill>
            <a:srgbClr val="FFFFFF"/>
          </a:solidFill>
          <a:ln w="16510">
            <a:solidFill>
              <a:srgbClr val="D7E1F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66928" y="1536192"/>
            <a:ext cx="3401568" cy="34747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94944" y="1591056"/>
            <a:ext cx="3145536" cy="2194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文献机理｜PVC 自由基光氧化</a:t>
            </a:r>
          </a:p>
        </p:txBody>
      </p:sp>
      <p:pic>
        <p:nvPicPr>
          <p:cNvPr id="10" name="Picture 9" descr="gardette_original_scheme.png"/>
          <p:cNvPicPr>
            <a:picLocks noChangeAspect="1"/>
          </p:cNvPicPr>
          <p:nvPr/>
        </p:nvPicPr>
        <p:blipFill>
          <a:blip r:embed="rId3"/>
          <a:stretch>
            <a:fillRect/>
          </a:stretch>
        </p:blipFill>
        <p:spPr>
          <a:xfrm>
            <a:off x="786384" y="1938528"/>
            <a:ext cx="2550833" cy="3657600"/>
          </a:xfrm>
          <a:prstGeom prst="rect">
            <a:avLst/>
          </a:prstGeom>
          <a:effectLst/>
        </p:spPr>
      </p:pic>
      <p:sp>
        <p:nvSpPr>
          <p:cNvPr id="11" name="TextBox 10"/>
          <p:cNvSpPr txBox="1"/>
          <p:nvPr/>
        </p:nvSpPr>
        <p:spPr>
          <a:xfrm>
            <a:off x="576072" y="5641848"/>
            <a:ext cx="3794760" cy="146304"/>
          </a:xfrm>
          <a:prstGeom prst="rect">
            <a:avLst/>
          </a:prstGeom>
          <a:noFill/>
          <a:effectLst/>
        </p:spPr>
        <p:txBody>
          <a:bodyPr wrap="square" lIns="22860" rIns="22860" tIns="0" bIns="0">
            <a:spAutoFit/>
          </a:bodyPr>
          <a:lstStyle/>
          <a:p>
            <a:pPr algn="ctr">
              <a:spcAft>
                <a:spcPts val="600"/>
              </a:spcAft>
              <a:defRPr sz="850" b="0">
                <a:solidFill>
                  <a:srgbClr val="566273"/>
                </a:solidFill>
                <a:latin typeface="Microsoft YaHei"/>
              </a:defRPr>
            </a:pPr>
            <a:r>
              <a:t>Gardette 1989，原文 p.2580；保留原图。</a:t>
            </a:r>
          </a:p>
        </p:txBody>
      </p:sp>
      <p:cxnSp>
        <p:nvCxnSpPr>
          <p:cNvPr id="12" name="Connector 11"/>
          <p:cNvCxnSpPr/>
          <p:nvPr/>
        </p:nvCxnSpPr>
        <p:spPr>
          <a:xfrm>
            <a:off x="4553712" y="1627632"/>
            <a:ext cx="0" cy="3995928"/>
          </a:xfrm>
          <a:prstGeom prst="line">
            <a:avLst/>
          </a:prstGeom>
          <a:ln w="15240">
            <a:solidFill>
              <a:srgbClr val="D7E1F0"/>
            </a:solidFill>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4892040" y="1527048"/>
            <a:ext cx="6611112" cy="43891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065776" y="1581912"/>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120640" y="1664208"/>
            <a:ext cx="228600" cy="182880"/>
          </a:xfrm>
          <a:prstGeom prst="rect">
            <a:avLst/>
          </a:prstGeom>
          <a:noFill/>
          <a:effectLst/>
        </p:spPr>
        <p:txBody>
          <a:bodyPr wrap="square" lIns="22860" rIns="22860" tIns="0" bIns="0">
            <a:spAutoFit/>
          </a:bodyPr>
          <a:lstStyle/>
          <a:p>
            <a:pPr algn="ctr">
              <a:spcAft>
                <a:spcPts val="600"/>
              </a:spcAft>
              <a:defRPr sz="1200" b="1">
                <a:solidFill>
                  <a:srgbClr val="FFFFFF"/>
                </a:solidFill>
                <a:latin typeface="Arial"/>
              </a:defRPr>
            </a:pPr>
            <a:r>
              <a:t>→</a:t>
            </a:r>
          </a:p>
        </p:txBody>
      </p:sp>
      <p:sp>
        <p:nvSpPr>
          <p:cNvPr id="16" name="TextBox 15"/>
          <p:cNvSpPr txBox="1"/>
          <p:nvPr/>
        </p:nvSpPr>
        <p:spPr>
          <a:xfrm>
            <a:off x="5504688" y="1618488"/>
            <a:ext cx="5715000" cy="256032"/>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本课题｜由机理启发建立三步验证路径</a:t>
            </a:r>
          </a:p>
        </p:txBody>
      </p:sp>
      <p:sp>
        <p:nvSpPr>
          <p:cNvPr id="17" name="Rounded Rectangle 16"/>
          <p:cNvSpPr/>
          <p:nvPr/>
        </p:nvSpPr>
        <p:spPr>
          <a:xfrm>
            <a:off x="5212080" y="2240280"/>
            <a:ext cx="6007608" cy="859536"/>
          </a:xfrm>
          <a:prstGeom prst="roundRect">
            <a:avLst>
              <a:gd name="adj" fmla="val 2500"/>
            </a:avLst>
          </a:prstGeom>
          <a:solidFill>
            <a:srgbClr val="E7ED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5138928" y="2185416"/>
            <a:ext cx="6007608" cy="859536"/>
          </a:xfrm>
          <a:prstGeom prst="roundRect">
            <a:avLst>
              <a:gd name="adj" fmla="val 2500"/>
            </a:avLst>
          </a:prstGeom>
          <a:solidFill>
            <a:srgbClr val="FFFFFF"/>
          </a:solidFill>
          <a:ln w="16510">
            <a:solidFill>
              <a:srgbClr val="CFD9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910328" y="2386584"/>
            <a:ext cx="457200" cy="457200"/>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01768" y="2496312"/>
            <a:ext cx="274320" cy="228600"/>
          </a:xfrm>
          <a:prstGeom prst="rect">
            <a:avLst/>
          </a:prstGeom>
          <a:noFill/>
          <a:effectLst/>
        </p:spPr>
        <p:txBody>
          <a:bodyPr wrap="square" lIns="22860" rIns="22860" tIns="0" bIns="0">
            <a:spAutoFit/>
          </a:bodyPr>
          <a:lstStyle/>
          <a:p>
            <a:pPr algn="ctr">
              <a:spcAft>
                <a:spcPts val="600"/>
              </a:spcAft>
              <a:defRPr sz="1400" b="1">
                <a:solidFill>
                  <a:srgbClr val="FFFFFF"/>
                </a:solidFill>
                <a:latin typeface="Microsoft YaHei"/>
              </a:defRPr>
            </a:pPr>
            <a:r>
              <a:t>1</a:t>
            </a:r>
          </a:p>
        </p:txBody>
      </p:sp>
      <p:sp>
        <p:nvSpPr>
          <p:cNvPr id="21" name="TextBox 20"/>
          <p:cNvSpPr txBox="1"/>
          <p:nvPr/>
        </p:nvSpPr>
        <p:spPr>
          <a:xfrm>
            <a:off x="5504688" y="2304288"/>
            <a:ext cx="2249424" cy="274320"/>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调节光敏入口</a:t>
            </a:r>
          </a:p>
        </p:txBody>
      </p:sp>
      <p:sp>
        <p:nvSpPr>
          <p:cNvPr id="22" name="Rounded Rectangle 21"/>
          <p:cNvSpPr/>
          <p:nvPr/>
        </p:nvSpPr>
        <p:spPr>
          <a:xfrm>
            <a:off x="7754112" y="2304288"/>
            <a:ext cx="3108960" cy="265176"/>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836408" y="2350008"/>
            <a:ext cx="2944368" cy="164592"/>
          </a:xfrm>
          <a:prstGeom prst="rect">
            <a:avLst/>
          </a:prstGeom>
          <a:noFill/>
          <a:effectLst/>
        </p:spPr>
        <p:txBody>
          <a:bodyPr wrap="square" lIns="22860" rIns="22860" tIns="0" bIns="0">
            <a:spAutoFit/>
          </a:bodyPr>
          <a:lstStyle/>
          <a:p>
            <a:pPr algn="ctr">
              <a:spcAft>
                <a:spcPts val="600"/>
              </a:spcAft>
              <a:defRPr sz="1060" b="1">
                <a:solidFill>
                  <a:srgbClr val="063584"/>
                </a:solidFill>
                <a:latin typeface="Microsoft YaHei"/>
              </a:defRPr>
            </a:pPr>
            <a:r>
              <a:t>光 / EAQ / DCE 空白</a:t>
            </a:r>
          </a:p>
        </p:txBody>
      </p:sp>
      <p:sp>
        <p:nvSpPr>
          <p:cNvPr id="24" name="TextBox 23"/>
          <p:cNvSpPr txBox="1"/>
          <p:nvPr/>
        </p:nvSpPr>
        <p:spPr>
          <a:xfrm>
            <a:off x="5504688" y="2688336"/>
            <a:ext cx="5340096" cy="21945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核实光敏增益，并排除溶剂自身反应</a:t>
            </a:r>
          </a:p>
        </p:txBody>
      </p:sp>
      <p:cxnSp>
        <p:nvCxnSpPr>
          <p:cNvPr id="25" name="Connector 24"/>
          <p:cNvCxnSpPr/>
          <p:nvPr/>
        </p:nvCxnSpPr>
        <p:spPr>
          <a:xfrm>
            <a:off x="8138160" y="3081528"/>
            <a:ext cx="0" cy="246888"/>
          </a:xfrm>
          <a:prstGeom prst="line">
            <a:avLst/>
          </a:prstGeom>
          <a:ln w="19685">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5212080" y="3456432"/>
            <a:ext cx="6007608" cy="859536"/>
          </a:xfrm>
          <a:prstGeom prst="roundRect">
            <a:avLst>
              <a:gd name="adj" fmla="val 2500"/>
            </a:avLst>
          </a:prstGeom>
          <a:solidFill>
            <a:srgbClr val="E7ED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5138928" y="3401568"/>
            <a:ext cx="6007608" cy="859536"/>
          </a:xfrm>
          <a:prstGeom prst="roundRect">
            <a:avLst>
              <a:gd name="adj" fmla="val 2500"/>
            </a:avLst>
          </a:prstGeom>
          <a:solidFill>
            <a:srgbClr val="FFFFFF"/>
          </a:solidFill>
          <a:ln w="16510">
            <a:solidFill>
              <a:srgbClr val="CFD9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4910328" y="3602736"/>
            <a:ext cx="457200" cy="457200"/>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01768" y="3712464"/>
            <a:ext cx="274320" cy="228600"/>
          </a:xfrm>
          <a:prstGeom prst="rect">
            <a:avLst/>
          </a:prstGeom>
          <a:noFill/>
          <a:effectLst/>
        </p:spPr>
        <p:txBody>
          <a:bodyPr wrap="square" lIns="22860" rIns="22860" tIns="0" bIns="0">
            <a:spAutoFit/>
          </a:bodyPr>
          <a:lstStyle/>
          <a:p>
            <a:pPr algn="ctr">
              <a:spcAft>
                <a:spcPts val="600"/>
              </a:spcAft>
              <a:defRPr sz="1400" b="1">
                <a:solidFill>
                  <a:srgbClr val="FFFFFF"/>
                </a:solidFill>
                <a:latin typeface="Microsoft YaHei"/>
              </a:defRPr>
            </a:pPr>
            <a:r>
              <a:t>2</a:t>
            </a:r>
          </a:p>
        </p:txBody>
      </p:sp>
      <p:sp>
        <p:nvSpPr>
          <p:cNvPr id="30" name="TextBox 29"/>
          <p:cNvSpPr txBox="1"/>
          <p:nvPr/>
        </p:nvSpPr>
        <p:spPr>
          <a:xfrm>
            <a:off x="5504688" y="3520440"/>
            <a:ext cx="2249424" cy="274320"/>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检验自由基支路</a:t>
            </a:r>
          </a:p>
        </p:txBody>
      </p:sp>
      <p:sp>
        <p:nvSpPr>
          <p:cNvPr id="31" name="Rounded Rectangle 30"/>
          <p:cNvSpPr/>
          <p:nvPr/>
        </p:nvSpPr>
        <p:spPr>
          <a:xfrm>
            <a:off x="7754112" y="3520440"/>
            <a:ext cx="3108960" cy="265176"/>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36408" y="3566160"/>
            <a:ext cx="2944368" cy="164592"/>
          </a:xfrm>
          <a:prstGeom prst="rect">
            <a:avLst/>
          </a:prstGeom>
          <a:noFill/>
          <a:effectLst/>
        </p:spPr>
        <p:txBody>
          <a:bodyPr wrap="square" lIns="22860" rIns="22860" tIns="0" bIns="0">
            <a:spAutoFit/>
          </a:bodyPr>
          <a:lstStyle/>
          <a:p>
            <a:pPr algn="ctr">
              <a:spcAft>
                <a:spcPts val="600"/>
              </a:spcAft>
              <a:defRPr sz="1060" b="1">
                <a:solidFill>
                  <a:srgbClr val="063584"/>
                </a:solidFill>
                <a:latin typeface="Microsoft YaHei"/>
              </a:defRPr>
            </a:pPr>
            <a:r>
              <a:t>EPR + 自由基捕获 + 气氛对照</a:t>
            </a:r>
          </a:p>
        </p:txBody>
      </p:sp>
      <p:sp>
        <p:nvSpPr>
          <p:cNvPr id="33" name="TextBox 32"/>
          <p:cNvSpPr txBox="1"/>
          <p:nvPr/>
        </p:nvSpPr>
        <p:spPr>
          <a:xfrm>
            <a:off x="5504688" y="3904488"/>
            <a:ext cx="5340096" cy="21945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识别 Cl· 与氧相关活性物种的贡献</a:t>
            </a:r>
          </a:p>
        </p:txBody>
      </p:sp>
      <p:cxnSp>
        <p:nvCxnSpPr>
          <p:cNvPr id="34" name="Connector 33"/>
          <p:cNvCxnSpPr/>
          <p:nvPr/>
        </p:nvCxnSpPr>
        <p:spPr>
          <a:xfrm>
            <a:off x="8138160" y="4297680"/>
            <a:ext cx="0" cy="246888"/>
          </a:xfrm>
          <a:prstGeom prst="line">
            <a:avLst/>
          </a:prstGeom>
          <a:ln w="19685">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5" name="Rounded Rectangle 34"/>
          <p:cNvSpPr/>
          <p:nvPr/>
        </p:nvSpPr>
        <p:spPr>
          <a:xfrm>
            <a:off x="5212080" y="4672583"/>
            <a:ext cx="6007608" cy="859536"/>
          </a:xfrm>
          <a:prstGeom prst="roundRect">
            <a:avLst>
              <a:gd name="adj" fmla="val 2500"/>
            </a:avLst>
          </a:prstGeom>
          <a:solidFill>
            <a:srgbClr val="E7ED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5138928" y="4617720"/>
            <a:ext cx="6007608" cy="859536"/>
          </a:xfrm>
          <a:prstGeom prst="roundRect">
            <a:avLst>
              <a:gd name="adj" fmla="val 2500"/>
            </a:avLst>
          </a:prstGeom>
          <a:solidFill>
            <a:srgbClr val="FFFFFF"/>
          </a:solidFill>
          <a:ln w="16510">
            <a:solidFill>
              <a:srgbClr val="CFD9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val 36"/>
          <p:cNvSpPr/>
          <p:nvPr/>
        </p:nvSpPr>
        <p:spPr>
          <a:xfrm>
            <a:off x="4910328" y="4818888"/>
            <a:ext cx="457200" cy="457200"/>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01768" y="4928616"/>
            <a:ext cx="274320" cy="228600"/>
          </a:xfrm>
          <a:prstGeom prst="rect">
            <a:avLst/>
          </a:prstGeom>
          <a:noFill/>
          <a:effectLst/>
        </p:spPr>
        <p:txBody>
          <a:bodyPr wrap="square" lIns="22860" rIns="22860" tIns="0" bIns="0">
            <a:spAutoFit/>
          </a:bodyPr>
          <a:lstStyle/>
          <a:p>
            <a:pPr algn="ctr">
              <a:spcAft>
                <a:spcPts val="600"/>
              </a:spcAft>
              <a:defRPr sz="1400" b="1">
                <a:solidFill>
                  <a:srgbClr val="FFFFFF"/>
                </a:solidFill>
                <a:latin typeface="Microsoft YaHei"/>
              </a:defRPr>
            </a:pPr>
            <a:r>
              <a:t>3</a:t>
            </a:r>
          </a:p>
        </p:txBody>
      </p:sp>
      <p:sp>
        <p:nvSpPr>
          <p:cNvPr id="39" name="TextBox 38"/>
          <p:cNvSpPr txBox="1"/>
          <p:nvPr/>
        </p:nvSpPr>
        <p:spPr>
          <a:xfrm>
            <a:off x="5504688" y="4736592"/>
            <a:ext cx="2249424" cy="274320"/>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确认聚合物变化</a:t>
            </a:r>
          </a:p>
        </p:txBody>
      </p:sp>
      <p:sp>
        <p:nvSpPr>
          <p:cNvPr id="40" name="Rounded Rectangle 39"/>
          <p:cNvSpPr/>
          <p:nvPr/>
        </p:nvSpPr>
        <p:spPr>
          <a:xfrm>
            <a:off x="7754112" y="4736592"/>
            <a:ext cx="3108960" cy="265176"/>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836408" y="4782312"/>
            <a:ext cx="2944368" cy="164592"/>
          </a:xfrm>
          <a:prstGeom prst="rect">
            <a:avLst/>
          </a:prstGeom>
          <a:noFill/>
          <a:effectLst/>
        </p:spPr>
        <p:txBody>
          <a:bodyPr wrap="square" lIns="22860" rIns="22860" tIns="0" bIns="0">
            <a:spAutoFit/>
          </a:bodyPr>
          <a:lstStyle/>
          <a:p>
            <a:pPr algn="ctr">
              <a:spcAft>
                <a:spcPts val="600"/>
              </a:spcAft>
              <a:defRPr sz="1060" b="1">
                <a:solidFill>
                  <a:srgbClr val="063584"/>
                </a:solidFill>
                <a:latin typeface="Microsoft YaHei"/>
              </a:defRPr>
            </a:pPr>
            <a:r>
              <a:t>氯平衡 + SEC/GPC + 产物分析</a:t>
            </a:r>
          </a:p>
        </p:txBody>
      </p:sp>
      <p:sp>
        <p:nvSpPr>
          <p:cNvPr id="42" name="TextBox 41"/>
          <p:cNvSpPr txBox="1"/>
          <p:nvPr/>
        </p:nvSpPr>
        <p:spPr>
          <a:xfrm>
            <a:off x="5504688" y="5120640"/>
            <a:ext cx="5340096" cy="21945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区分脱氯、氧化与真正的主链断裂</a:t>
            </a:r>
          </a:p>
        </p:txBody>
      </p:sp>
      <p:sp>
        <p:nvSpPr>
          <p:cNvPr id="43" name="Rectangle 4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Chevron 4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6" name="TextBox 4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320" b="1">
                <a:solidFill>
                  <a:srgbClr val="C00000"/>
                </a:solidFill>
                <a:latin typeface="Microsoft YaHei"/>
              </a:defRPr>
            </a:pPr>
            <a:r>
              <a:t>早期研究为理解并抑制 PVC 光老化而解析自由基氧化与断链；本课题反向利用这一失效路径，探索光敏诱导的可控降解。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21</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