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按文献机理、文献总结和本课题三部分组织。左侧为Gardette等1989年Macromolecules论文印刷页2580的机制图原图。它作为可移动、裁剪、替换的文献图片保留；右侧所有文字、框、编号和箭头均为原生可编辑对象。原图波数标注属于文献的产物归属，并非此前删除的用户PVC红外数据。右上概括三个环节：光引发与含氯位点活化、氧参与自由基链反应、氧化产物与可能的链裂解。原文结合光谱与化学处理支持酰氯、酮、羧酸等归属，并提出烷氧自由基β裂解等机制，不是证明每个自由基已在本课题被检测。右下将一般认识转化为具体任务：先做光暗、有无EAQ和DCE空白并复核模型信号，再结合EPR、捕获与气氛研究候选物种，最后以氯平衡、SEC/GPC和产物组成验证聚合物变化。AQ可作为候选光敏入口，不预设Cl自由基唯一主导，也不将官能团变化等同于真实断链。讲解衔接：本页之后进入AQ选择及相应文献依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0896" y="155448"/>
            <a:ext cx="11585448" cy="4937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063584"/>
                </a:solidFill>
                <a:latin typeface="Microsoft YaHei"/>
              </a:defRPr>
            </a:pPr>
            <a:r>
              <a:t>文献启发：从 PVC 光氧化机制到本课题验证路径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10896" y="758952"/>
            <a:ext cx="11558016" cy="0"/>
          </a:xfrm>
          <a:prstGeom prst="line">
            <a:avLst/>
          </a:prstGeom>
          <a:ln w="21590">
            <a:solidFill>
              <a:srgbClr val="063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56616" y="896112"/>
            <a:ext cx="11457432" cy="35661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250" b="0">
                <a:solidFill>
                  <a:srgbClr val="566273"/>
                </a:solidFill>
                <a:latin typeface="Microsoft YaHei"/>
              </a:defRPr>
            </a:pPr>
            <a:r>
              <a:t>文献用于提出候选路径；本体系的活性物种、氯去向与真实链裂解分别验证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" y="6574536"/>
            <a:ext cx="10881360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760" b="0">
                <a:solidFill>
                  <a:srgbClr val="566273"/>
                </a:solidFill>
                <a:latin typeface="Arial"/>
              </a:defRPr>
            </a:pPr>
            <a:r>
              <a:t>Gardette et al., Macromolecules 1989, 22, 2576–2581.  DOI: 10.1021/ma00196a005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56248"/>
            <a:ext cx="448056" cy="20116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950" b="1">
                <a:solidFill>
                  <a:srgbClr val="063584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344168"/>
            <a:ext cx="4251960" cy="45262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651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7472" y="1371600"/>
            <a:ext cx="4197096" cy="329184"/>
          </a:xfrm>
          <a:prstGeom prst="roundRect">
            <a:avLst>
              <a:gd name="adj" fmla="val 2500"/>
            </a:avLst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" y="1421892"/>
            <a:ext cx="3959352" cy="22860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  <a:latin typeface="Microsoft YaHei"/>
              </a:defRPr>
            </a:pPr>
            <a:r>
              <a:t>文献机理：PVC 自由基光氧化</a:t>
            </a:r>
          </a:p>
        </p:txBody>
      </p:sp>
      <p:pic>
        <p:nvPicPr>
          <p:cNvPr id="10" name="Picture 9" descr="gardette_original_sche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1792224"/>
            <a:ext cx="2697506" cy="3867912"/>
          </a:xfrm>
          <a:prstGeom prst="rect">
            <a:avLst/>
          </a:prstGeom>
          <a:effectLst/>
        </p:spPr>
      </p:pic>
      <p:sp>
        <p:nvSpPr>
          <p:cNvPr id="11" name="TextBox 10"/>
          <p:cNvSpPr txBox="1"/>
          <p:nvPr/>
        </p:nvSpPr>
        <p:spPr>
          <a:xfrm>
            <a:off x="548640" y="5715000"/>
            <a:ext cx="3785615" cy="15544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880" b="0">
                <a:solidFill>
                  <a:srgbClr val="566273"/>
                </a:solidFill>
                <a:latin typeface="Microsoft YaHei"/>
              </a:defRPr>
            </a:pPr>
            <a:r>
              <a:t>Gardette 1989，原文 p.2580；保留原图。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82312" y="1344168"/>
            <a:ext cx="7086600" cy="270662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651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809744" y="1371600"/>
            <a:ext cx="7031736" cy="329184"/>
          </a:xfrm>
          <a:prstGeom prst="roundRect">
            <a:avLst>
              <a:gd name="adj" fmla="val 2500"/>
            </a:avLst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28616" y="1421892"/>
            <a:ext cx="6793992" cy="22860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  <a:latin typeface="Microsoft YaHei"/>
              </a:defRPr>
            </a:pPr>
            <a:r>
              <a:t>文献总结：三个关键环节</a:t>
            </a:r>
          </a:p>
        </p:txBody>
      </p:sp>
      <p:sp>
        <p:nvSpPr>
          <p:cNvPr id="15" name="Oval 14"/>
          <p:cNvSpPr/>
          <p:nvPr/>
        </p:nvSpPr>
        <p:spPr>
          <a:xfrm>
            <a:off x="5010912" y="1856231"/>
            <a:ext cx="237744" cy="237744"/>
          </a:xfrm>
          <a:prstGeom prst="ellipse">
            <a:avLst/>
          </a:prstGeom>
          <a:solidFill>
            <a:srgbClr val="063584"/>
          </a:solidFill>
          <a:ln w="13970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15484" y="1865375"/>
            <a:ext cx="228600" cy="22860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4104" y="1847088"/>
            <a:ext cx="6144768" cy="29260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63584"/>
                </a:solidFill>
                <a:latin typeface="Microsoft YaHei"/>
              </a:defRPr>
            </a:pPr>
            <a:r>
              <a:t>光引发 → 含氯位点活化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4104" y="2212848"/>
            <a:ext cx="6144768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250" b="0">
                <a:solidFill>
                  <a:srgbClr val="111111"/>
                </a:solidFill>
                <a:latin typeface="Microsoft YaHei"/>
              </a:defRPr>
            </a:pPr>
            <a:r>
              <a:t>吸光缺陷 / 多烯参与；Cl· 可能引发后续氧化链。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129784" y="2167128"/>
            <a:ext cx="0" cy="310896"/>
          </a:xfrm>
          <a:prstGeom prst="line">
            <a:avLst/>
          </a:prstGeom>
          <a:ln w="14604">
            <a:solidFill>
              <a:srgbClr val="0635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5010912" y="2569463"/>
            <a:ext cx="237744" cy="237744"/>
          </a:xfrm>
          <a:prstGeom prst="ellipse">
            <a:avLst/>
          </a:prstGeom>
          <a:solidFill>
            <a:srgbClr val="063584"/>
          </a:solidFill>
          <a:ln w="13970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15484" y="2578607"/>
            <a:ext cx="228600" cy="22860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4104" y="2560320"/>
            <a:ext cx="6144768" cy="29260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63584"/>
                </a:solidFill>
                <a:latin typeface="Microsoft YaHei"/>
              </a:defRPr>
            </a:pPr>
            <a:r>
              <a:t>R· + O₂ → ROO· → ROOH → RO·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4104" y="2926079"/>
            <a:ext cx="6144768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250" b="0">
                <a:solidFill>
                  <a:srgbClr val="111111"/>
                </a:solidFill>
                <a:latin typeface="Microsoft YaHei"/>
              </a:defRPr>
            </a:pPr>
            <a:r>
              <a:t>氧参与链式传播，形成过氧与烷氧中间体。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129784" y="2880360"/>
            <a:ext cx="0" cy="310896"/>
          </a:xfrm>
          <a:prstGeom prst="line">
            <a:avLst/>
          </a:prstGeom>
          <a:ln w="14604">
            <a:solidFill>
              <a:srgbClr val="0635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5010912" y="3282696"/>
            <a:ext cx="237744" cy="237744"/>
          </a:xfrm>
          <a:prstGeom prst="ellipse">
            <a:avLst/>
          </a:prstGeom>
          <a:solidFill>
            <a:srgbClr val="063584"/>
          </a:solidFill>
          <a:ln w="13970">
            <a:solidFill>
              <a:srgbClr val="0635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15484" y="3291839"/>
            <a:ext cx="228600" cy="22860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04104" y="3273552"/>
            <a:ext cx="6144768" cy="29260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63584"/>
                </a:solidFill>
                <a:latin typeface="Microsoft YaHei"/>
              </a:defRPr>
            </a:pPr>
            <a:r>
              <a:t>氧化产物生成 → 可能发生主链断裂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04104" y="3639312"/>
            <a:ext cx="6144768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250" b="0">
                <a:solidFill>
                  <a:srgbClr val="111111"/>
                </a:solidFill>
                <a:latin typeface="Microsoft YaHei"/>
              </a:defRPr>
            </a:pPr>
            <a:r>
              <a:t>作者提出 β-裂解；光谱与化学处理支持产物归属。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82312" y="4242816"/>
            <a:ext cx="7086600" cy="162763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651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809744" y="4270248"/>
            <a:ext cx="7031736" cy="329184"/>
          </a:xfrm>
          <a:prstGeom prst="roundRect">
            <a:avLst>
              <a:gd name="adj" fmla="val 2500"/>
            </a:avLst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28616" y="4320540"/>
            <a:ext cx="6793992" cy="22860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  <a:latin typeface="Microsoft YaHei"/>
              </a:defRPr>
            </a:pPr>
            <a:r>
              <a:t>本课题：调节入口—检验支路—确认聚合物变化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74336" y="4754880"/>
            <a:ext cx="2002536" cy="393192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 w="1651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0" y="4837176"/>
            <a:ext cx="1892807" cy="24688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063584"/>
                </a:solidFill>
                <a:latin typeface="Microsoft YaHei"/>
              </a:defRPr>
            </a:pPr>
            <a:r>
              <a:t>调节光敏入口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65192" y="5321808"/>
            <a:ext cx="2020824" cy="21945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080" b="0">
                <a:solidFill>
                  <a:srgbClr val="111111"/>
                </a:solidFill>
                <a:latin typeface="Microsoft YaHei"/>
              </a:defRPr>
            </a:pPr>
            <a:r>
              <a:t>光 / EAQ / DCE 空白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56048" y="5623560"/>
            <a:ext cx="2039112" cy="17373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969" b="0">
                <a:solidFill>
                  <a:srgbClr val="566273"/>
                </a:solidFill>
                <a:latin typeface="Microsoft YaHei"/>
              </a:defRPr>
            </a:pPr>
            <a:r>
              <a:t>先核实光敏增益与溶剂信号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013448" y="4956048"/>
            <a:ext cx="182880" cy="0"/>
          </a:xfrm>
          <a:prstGeom prst="line">
            <a:avLst/>
          </a:prstGeom>
          <a:ln w="19050">
            <a:solidFill>
              <a:srgbClr val="0635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7269480" y="4754880"/>
            <a:ext cx="2002536" cy="393192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 w="1651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24344" y="4837176"/>
            <a:ext cx="1892807" cy="24688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063584"/>
                </a:solidFill>
                <a:latin typeface="Microsoft YaHei"/>
              </a:defRPr>
            </a:pPr>
            <a:r>
              <a:t>检验自由基支路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0336" y="5321808"/>
            <a:ext cx="2020824" cy="21945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080" b="0">
                <a:solidFill>
                  <a:srgbClr val="111111"/>
                </a:solidFill>
                <a:latin typeface="Microsoft YaHei"/>
              </a:defRPr>
            </a:pPr>
            <a:r>
              <a:t>EPR + 捕获 + 气氛对照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51192" y="5623560"/>
            <a:ext cx="2039112" cy="17373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969" b="0">
                <a:solidFill>
                  <a:srgbClr val="566273"/>
                </a:solidFill>
                <a:latin typeface="Microsoft YaHei"/>
              </a:defRPr>
            </a:pPr>
            <a:r>
              <a:t>再识别 Cl· 与氧相关物种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308592" y="4956048"/>
            <a:ext cx="182880" cy="0"/>
          </a:xfrm>
          <a:prstGeom prst="line">
            <a:avLst/>
          </a:prstGeom>
          <a:ln w="19050">
            <a:solidFill>
              <a:srgbClr val="0635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564624" y="4754880"/>
            <a:ext cx="2002536" cy="393192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 w="1651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19488" y="4837176"/>
            <a:ext cx="1892807" cy="24688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063584"/>
                </a:solidFill>
                <a:latin typeface="Microsoft YaHei"/>
              </a:defRPr>
            </a:pPr>
            <a:r>
              <a:t>确认聚合物变化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55480" y="5321808"/>
            <a:ext cx="2020824" cy="21945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080" b="0">
                <a:solidFill>
                  <a:srgbClr val="111111"/>
                </a:solidFill>
                <a:latin typeface="Microsoft YaHei"/>
              </a:defRPr>
            </a:pPr>
            <a:r>
              <a:t>氯平衡 + SEC/GPC + 产物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46336" y="5623560"/>
            <a:ext cx="2039112" cy="17373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969" b="0">
                <a:solidFill>
                  <a:srgbClr val="566273"/>
                </a:solidFill>
                <a:latin typeface="Microsoft YaHei"/>
              </a:defRPr>
            </a:pPr>
            <a:r>
              <a:t>以链长和产物评价断链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6007608"/>
            <a:ext cx="11548872" cy="438912"/>
          </a:xfrm>
          <a:prstGeom prst="rect">
            <a:avLst/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hevron 46"/>
          <p:cNvSpPr/>
          <p:nvPr/>
        </p:nvSpPr>
        <p:spPr>
          <a:xfrm>
            <a:off x="438912" y="6080760"/>
            <a:ext cx="1527048" cy="274320"/>
          </a:xfrm>
          <a:prstGeom prst="chevron">
            <a:avLst/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6108192"/>
            <a:ext cx="1234440" cy="20116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核心结论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48840" y="6099048"/>
            <a:ext cx="9445752" cy="25603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550" b="1">
                <a:solidFill>
                  <a:srgbClr val="C00000"/>
                </a:solidFill>
                <a:latin typeface="Microsoft YaHei"/>
              </a:defRPr>
            </a:pPr>
            <a:r>
              <a:t>借鉴文献自由基路径，以对照实验追踪活性来源，并用氯平衡与链长证据检验降解。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