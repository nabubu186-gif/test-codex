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依据用户提供的背景页重建，配色沿用上一版科研答辩模板。左上展示PVC的结构和制品特点，左下区分机械、热化学和光化学处理。右侧将含氯塑料的化学升级利用按碳化、官能化、裂解或偶联、溶剂处理、解聚或低分子化及新材料/闭环利用分类。各路径是概念示意，不表示同一反应闭合循环，也不表示EAQ体系已完成这些转化；溶剂处理属于加工或分离路径，不能直接等同于C–C断裂。所有结构、图标、路径、文字和箭头均为原生可编辑对象，原照片位置改为可编辑装置/材料示意。文献：Xu et al., Upcycling chlorinated waste plastics, Nat.Rev.Methods Primers2023,3,44, DOI10.1038/s43586-023-00227-w。下一页从早期PVC光老化研究引出自由基反应的调控思路。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85448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研究背景：PVC 回收与化学升级利用路径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PVC 回收利用路径多样，化学结构转化为高值利用提供新的研究方向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Xu et al., Nat. Rev. Methods Primers 2023, 3, 44.  DOI: 10.1038/s43586-023-00227-w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6227064" cy="17465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" y="1353312"/>
            <a:ext cx="6172200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403604"/>
            <a:ext cx="5934456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PVC：重要的含氯通用塑料</a:t>
            </a:r>
          </a:p>
        </p:txBody>
      </p:sp>
      <p:sp>
        <p:nvSpPr>
          <p:cNvPr id="10" name="Freeform 9"/>
          <p:cNvSpPr/>
          <p:nvPr/>
        </p:nvSpPr>
        <p:spPr>
          <a:xfrm>
            <a:off x="713232" y="1901952"/>
            <a:ext cx="1700783" cy="118872"/>
          </a:xfrm>
          <a:custGeom>
            <a:avLst/>
            <a:gdLst/>
            <a:ahLst/>
            <a:cxnLst/>
            <a:rect l="l" t="t" r="r" b="b"/>
            <a:pathLst>
              <a:path w="1700783" h="118872">
                <a:moveTo>
                  <a:pt x="0" y="0"/>
                </a:moveTo>
                <a:lnTo>
                  <a:pt x="283464" y="118872"/>
                </a:lnTo>
                <a:lnTo>
                  <a:pt x="566928" y="0"/>
                </a:lnTo>
                <a:lnTo>
                  <a:pt x="850392" y="118872"/>
                </a:lnTo>
                <a:lnTo>
                  <a:pt x="1133856" y="0"/>
                </a:lnTo>
                <a:lnTo>
                  <a:pt x="1417320" y="118872"/>
                </a:lnTo>
                <a:lnTo>
                  <a:pt x="1700783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96696" y="2020824"/>
            <a:ext cx="0" cy="219456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5256" y="226771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63624" y="2020824"/>
            <a:ext cx="0" cy="219456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72184" y="226771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30552" y="2020824"/>
            <a:ext cx="0" cy="219456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39112" y="226771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17" name="Freeform 16"/>
          <p:cNvSpPr/>
          <p:nvPr/>
        </p:nvSpPr>
        <p:spPr>
          <a:xfrm>
            <a:off x="576072" y="1746504"/>
            <a:ext cx="82296" cy="822960"/>
          </a:xfrm>
          <a:custGeom>
            <a:avLst/>
            <a:gdLst/>
            <a:ahLst/>
            <a:cxnLst/>
            <a:rect l="l" t="t" r="r" b="b"/>
            <a:pathLst>
              <a:path w="82296" h="822960">
                <a:moveTo>
                  <a:pt x="82296" y="0"/>
                </a:moveTo>
                <a:lnTo>
                  <a:pt x="0" y="0"/>
                </a:lnTo>
                <a:lnTo>
                  <a:pt x="0" y="822960"/>
                </a:lnTo>
                <a:lnTo>
                  <a:pt x="82296" y="822960"/>
                </a:lnTo>
              </a:path>
            </a:pathLst>
          </a:custGeom>
          <a:noFill/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514600" y="1746504"/>
            <a:ext cx="82296" cy="822960"/>
          </a:xfrm>
          <a:custGeom>
            <a:avLst/>
            <a:gdLst/>
            <a:ahLst/>
            <a:cxnLst/>
            <a:rect l="l" t="t" r="r" b="b"/>
            <a:pathLst>
              <a:path w="82296" h="822960">
                <a:moveTo>
                  <a:pt x="0" y="0"/>
                </a:moveTo>
                <a:lnTo>
                  <a:pt x="82296" y="0"/>
                </a:lnTo>
                <a:lnTo>
                  <a:pt x="82296" y="822960"/>
                </a:lnTo>
                <a:lnTo>
                  <a:pt x="0" y="822960"/>
                </a:lnTo>
              </a:path>
            </a:pathLst>
          </a:custGeom>
          <a:noFill/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4328" y="2423160"/>
            <a:ext cx="201168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11111"/>
                </a:solidFill>
                <a:latin typeface="Arial"/>
              </a:defRPr>
            </a:pPr>
            <a: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34056"/>
            <a:ext cx="2011680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50" b="1">
                <a:solidFill>
                  <a:srgbClr val="063584"/>
                </a:solidFill>
                <a:latin typeface="Microsoft YaHei"/>
              </a:defRPr>
            </a:pPr>
            <a:r>
              <a:t>PVC 结构单元</a:t>
            </a:r>
          </a:p>
        </p:txBody>
      </p:sp>
      <p:sp>
        <p:nvSpPr>
          <p:cNvPr id="21" name="Oval 20"/>
          <p:cNvSpPr/>
          <p:nvPr/>
        </p:nvSpPr>
        <p:spPr>
          <a:xfrm>
            <a:off x="2956255" y="1822399"/>
            <a:ext cx="104241" cy="104241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1783080"/>
            <a:ext cx="31821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063584"/>
                </a:solidFill>
                <a:latin typeface="Microsoft YaHei"/>
              </a:defRPr>
            </a:pPr>
            <a:r>
              <a:t>产量大、应用广泛</a:t>
            </a:r>
          </a:p>
        </p:txBody>
      </p:sp>
      <p:sp>
        <p:nvSpPr>
          <p:cNvPr id="23" name="Oval 22"/>
          <p:cNvSpPr/>
          <p:nvPr/>
        </p:nvSpPr>
        <p:spPr>
          <a:xfrm>
            <a:off x="2956255" y="2115007"/>
            <a:ext cx="104241" cy="104241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2075688"/>
            <a:ext cx="31821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063584"/>
                </a:solidFill>
                <a:latin typeface="Microsoft YaHei"/>
              </a:defRPr>
            </a:pPr>
            <a:r>
              <a:t>含有大量 C–Cl 键，具有独特的化学结构</a:t>
            </a:r>
          </a:p>
        </p:txBody>
      </p:sp>
      <p:sp>
        <p:nvSpPr>
          <p:cNvPr id="25" name="Oval 24"/>
          <p:cNvSpPr/>
          <p:nvPr/>
        </p:nvSpPr>
        <p:spPr>
          <a:xfrm>
            <a:off x="2956255" y="2407615"/>
            <a:ext cx="104241" cy="104241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2368296"/>
            <a:ext cx="31821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063584"/>
                </a:solidFill>
                <a:latin typeface="Microsoft YaHei"/>
              </a:defRPr>
            </a:pPr>
            <a:r>
              <a:t>实际制品含增塑剂、稳定剂等多种添加剂</a:t>
            </a:r>
          </a:p>
        </p:txBody>
      </p:sp>
      <p:sp>
        <p:nvSpPr>
          <p:cNvPr id="27" name="Oval 26"/>
          <p:cNvSpPr/>
          <p:nvPr/>
        </p:nvSpPr>
        <p:spPr>
          <a:xfrm>
            <a:off x="2956255" y="2700223"/>
            <a:ext cx="104241" cy="104241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2660904"/>
            <a:ext cx="31821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063584"/>
                </a:solidFill>
                <a:latin typeface="Microsoft YaHei"/>
              </a:defRPr>
            </a:pPr>
            <a:r>
              <a:t>回收与化学转化需协同管理氯与碳骨架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3246120"/>
            <a:ext cx="6227064" cy="250545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7472" y="3273551"/>
            <a:ext cx="6172200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3323844"/>
            <a:ext cx="5934456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PVC 的主要回收与转化方式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" y="3685032"/>
            <a:ext cx="5989320" cy="59436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754562" y="3815974"/>
            <a:ext cx="159838" cy="159837"/>
          </a:xfrm>
          <a:custGeom>
            <a:avLst/>
            <a:gdLst/>
            <a:ahLst/>
            <a:cxnLst/>
            <a:rect l="l" t="t" r="r" b="b"/>
            <a:pathLst>
              <a:path w="159838" h="159837">
                <a:moveTo>
                  <a:pt x="0" y="0"/>
                </a:moveTo>
                <a:lnTo>
                  <a:pt x="5705" y="101"/>
                </a:lnTo>
                <a:lnTo>
                  <a:pt x="11403" y="407"/>
                </a:lnTo>
                <a:lnTo>
                  <a:pt x="17086" y="915"/>
                </a:lnTo>
                <a:lnTo>
                  <a:pt x="22748" y="1626"/>
                </a:lnTo>
                <a:lnTo>
                  <a:pt x="28380" y="2539"/>
                </a:lnTo>
                <a:lnTo>
                  <a:pt x="33976" y="3652"/>
                </a:lnTo>
                <a:lnTo>
                  <a:pt x="39529" y="4965"/>
                </a:lnTo>
                <a:lnTo>
                  <a:pt x="45032" y="6474"/>
                </a:lnTo>
                <a:lnTo>
                  <a:pt x="50477" y="8179"/>
                </a:lnTo>
                <a:lnTo>
                  <a:pt x="55858" y="10077"/>
                </a:lnTo>
                <a:lnTo>
                  <a:pt x="61167" y="12166"/>
                </a:lnTo>
                <a:lnTo>
                  <a:pt x="66399" y="14444"/>
                </a:lnTo>
                <a:lnTo>
                  <a:pt x="71546" y="16906"/>
                </a:lnTo>
                <a:lnTo>
                  <a:pt x="76602" y="19551"/>
                </a:lnTo>
                <a:lnTo>
                  <a:pt x="81560" y="22375"/>
                </a:lnTo>
                <a:lnTo>
                  <a:pt x="86415" y="25373"/>
                </a:lnTo>
                <a:lnTo>
                  <a:pt x="91159" y="28543"/>
                </a:lnTo>
                <a:lnTo>
                  <a:pt x="95787" y="31880"/>
                </a:lnTo>
                <a:lnTo>
                  <a:pt x="100293" y="35381"/>
                </a:lnTo>
                <a:lnTo>
                  <a:pt x="104671" y="39040"/>
                </a:lnTo>
                <a:lnTo>
                  <a:pt x="108916" y="42853"/>
                </a:lnTo>
                <a:lnTo>
                  <a:pt x="113022" y="46815"/>
                </a:lnTo>
                <a:lnTo>
                  <a:pt x="116984" y="50921"/>
                </a:lnTo>
                <a:lnTo>
                  <a:pt x="120797" y="55166"/>
                </a:lnTo>
                <a:lnTo>
                  <a:pt x="124456" y="59544"/>
                </a:lnTo>
                <a:lnTo>
                  <a:pt x="127957" y="64050"/>
                </a:lnTo>
                <a:lnTo>
                  <a:pt x="131294" y="68678"/>
                </a:lnTo>
                <a:lnTo>
                  <a:pt x="134464" y="73422"/>
                </a:lnTo>
                <a:lnTo>
                  <a:pt x="137463" y="78277"/>
                </a:lnTo>
                <a:lnTo>
                  <a:pt x="140286" y="83235"/>
                </a:lnTo>
                <a:lnTo>
                  <a:pt x="142931" y="88291"/>
                </a:lnTo>
                <a:lnTo>
                  <a:pt x="145393" y="93438"/>
                </a:lnTo>
                <a:lnTo>
                  <a:pt x="147671" y="98670"/>
                </a:lnTo>
                <a:lnTo>
                  <a:pt x="149760" y="103979"/>
                </a:lnTo>
                <a:lnTo>
                  <a:pt x="151658" y="109360"/>
                </a:lnTo>
                <a:lnTo>
                  <a:pt x="153363" y="114805"/>
                </a:lnTo>
                <a:lnTo>
                  <a:pt x="154873" y="120308"/>
                </a:lnTo>
                <a:lnTo>
                  <a:pt x="156185" y="125861"/>
                </a:lnTo>
                <a:lnTo>
                  <a:pt x="157298" y="131457"/>
                </a:lnTo>
                <a:lnTo>
                  <a:pt x="158211" y="137090"/>
                </a:lnTo>
                <a:lnTo>
                  <a:pt x="158922" y="142751"/>
                </a:lnTo>
                <a:lnTo>
                  <a:pt x="159430" y="148434"/>
                </a:lnTo>
                <a:lnTo>
                  <a:pt x="159736" y="154132"/>
                </a:lnTo>
                <a:lnTo>
                  <a:pt x="159838" y="159837"/>
                </a:lnTo>
              </a:path>
            </a:pathLst>
          </a:custGeom>
          <a:noFill/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74644" y="4055729"/>
            <a:ext cx="218341" cy="79908"/>
          </a:xfrm>
          <a:custGeom>
            <a:avLst/>
            <a:gdLst/>
            <a:ahLst/>
            <a:cxnLst/>
            <a:rect l="l" t="t" r="r" b="b"/>
            <a:pathLst>
              <a:path w="218341" h="79908">
                <a:moveTo>
                  <a:pt x="218341" y="0"/>
                </a:moveTo>
                <a:lnTo>
                  <a:pt x="215401" y="4890"/>
                </a:lnTo>
                <a:lnTo>
                  <a:pt x="212287" y="9672"/>
                </a:lnTo>
                <a:lnTo>
                  <a:pt x="209005" y="14339"/>
                </a:lnTo>
                <a:lnTo>
                  <a:pt x="205559" y="18886"/>
                </a:lnTo>
                <a:lnTo>
                  <a:pt x="201952" y="23308"/>
                </a:lnTo>
                <a:lnTo>
                  <a:pt x="198190" y="27598"/>
                </a:lnTo>
                <a:lnTo>
                  <a:pt x="194277" y="31751"/>
                </a:lnTo>
                <a:lnTo>
                  <a:pt x="190219" y="35761"/>
                </a:lnTo>
                <a:lnTo>
                  <a:pt x="186019" y="39624"/>
                </a:lnTo>
                <a:lnTo>
                  <a:pt x="181685" y="43335"/>
                </a:lnTo>
                <a:lnTo>
                  <a:pt x="177221" y="46889"/>
                </a:lnTo>
                <a:lnTo>
                  <a:pt x="172633" y="50281"/>
                </a:lnTo>
                <a:lnTo>
                  <a:pt x="167927" y="53507"/>
                </a:lnTo>
                <a:lnTo>
                  <a:pt x="163108" y="56564"/>
                </a:lnTo>
                <a:lnTo>
                  <a:pt x="158184" y="59446"/>
                </a:lnTo>
                <a:lnTo>
                  <a:pt x="153160" y="62151"/>
                </a:lnTo>
                <a:lnTo>
                  <a:pt x="148043" y="64674"/>
                </a:lnTo>
                <a:lnTo>
                  <a:pt x="142838" y="67014"/>
                </a:lnTo>
                <a:lnTo>
                  <a:pt x="137554" y="69166"/>
                </a:lnTo>
                <a:lnTo>
                  <a:pt x="132196" y="71128"/>
                </a:lnTo>
                <a:lnTo>
                  <a:pt x="126771" y="72898"/>
                </a:lnTo>
                <a:lnTo>
                  <a:pt x="121287" y="74473"/>
                </a:lnTo>
                <a:lnTo>
                  <a:pt x="115750" y="75851"/>
                </a:lnTo>
                <a:lnTo>
                  <a:pt x="110168" y="77030"/>
                </a:lnTo>
                <a:lnTo>
                  <a:pt x="104547" y="78010"/>
                </a:lnTo>
                <a:lnTo>
                  <a:pt x="98894" y="78788"/>
                </a:lnTo>
                <a:lnTo>
                  <a:pt x="93217" y="79365"/>
                </a:lnTo>
                <a:lnTo>
                  <a:pt x="87524" y="79738"/>
                </a:lnTo>
                <a:lnTo>
                  <a:pt x="81820" y="79908"/>
                </a:lnTo>
                <a:lnTo>
                  <a:pt x="76115" y="79874"/>
                </a:lnTo>
                <a:lnTo>
                  <a:pt x="70414" y="79636"/>
                </a:lnTo>
                <a:lnTo>
                  <a:pt x="64725" y="79195"/>
                </a:lnTo>
                <a:lnTo>
                  <a:pt x="59055" y="78551"/>
                </a:lnTo>
                <a:lnTo>
                  <a:pt x="53413" y="77706"/>
                </a:lnTo>
                <a:lnTo>
                  <a:pt x="47804" y="76659"/>
                </a:lnTo>
                <a:lnTo>
                  <a:pt x="42235" y="75413"/>
                </a:lnTo>
                <a:lnTo>
                  <a:pt x="36715" y="73969"/>
                </a:lnTo>
                <a:lnTo>
                  <a:pt x="31250" y="72329"/>
                </a:lnTo>
                <a:lnTo>
                  <a:pt x="25847" y="70495"/>
                </a:lnTo>
                <a:lnTo>
                  <a:pt x="20513" y="68469"/>
                </a:lnTo>
                <a:lnTo>
                  <a:pt x="15254" y="66254"/>
                </a:lnTo>
                <a:lnTo>
                  <a:pt x="10078" y="63853"/>
                </a:lnTo>
                <a:lnTo>
                  <a:pt x="4991" y="61269"/>
                </a:lnTo>
                <a:lnTo>
                  <a:pt x="0" y="58505"/>
                </a:lnTo>
              </a:path>
            </a:pathLst>
          </a:custGeom>
          <a:noFill/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4737" y="3837388"/>
            <a:ext cx="79907" cy="218341"/>
          </a:xfrm>
          <a:custGeom>
            <a:avLst/>
            <a:gdLst/>
            <a:ahLst/>
            <a:cxnLst/>
            <a:rect l="l" t="t" r="r" b="b"/>
            <a:pathLst>
              <a:path w="79907" h="218341">
                <a:moveTo>
                  <a:pt x="21402" y="218341"/>
                </a:moveTo>
                <a:lnTo>
                  <a:pt x="18638" y="213350"/>
                </a:lnTo>
                <a:lnTo>
                  <a:pt x="16054" y="208263"/>
                </a:lnTo>
                <a:lnTo>
                  <a:pt x="13653" y="203087"/>
                </a:lnTo>
                <a:lnTo>
                  <a:pt x="11438" y="197828"/>
                </a:lnTo>
                <a:lnTo>
                  <a:pt x="9412" y="192494"/>
                </a:lnTo>
                <a:lnTo>
                  <a:pt x="7578" y="187091"/>
                </a:lnTo>
                <a:lnTo>
                  <a:pt x="5938" y="181626"/>
                </a:lnTo>
                <a:lnTo>
                  <a:pt x="4494" y="176106"/>
                </a:lnTo>
                <a:lnTo>
                  <a:pt x="3248" y="170538"/>
                </a:lnTo>
                <a:lnTo>
                  <a:pt x="2201" y="164928"/>
                </a:lnTo>
                <a:lnTo>
                  <a:pt x="1356" y="159286"/>
                </a:lnTo>
                <a:lnTo>
                  <a:pt x="712" y="153616"/>
                </a:lnTo>
                <a:lnTo>
                  <a:pt x="271" y="147927"/>
                </a:lnTo>
                <a:lnTo>
                  <a:pt x="34" y="142226"/>
                </a:lnTo>
                <a:lnTo>
                  <a:pt x="0" y="136521"/>
                </a:lnTo>
                <a:lnTo>
                  <a:pt x="169" y="130817"/>
                </a:lnTo>
                <a:lnTo>
                  <a:pt x="542" y="125124"/>
                </a:lnTo>
                <a:lnTo>
                  <a:pt x="1119" y="119447"/>
                </a:lnTo>
                <a:lnTo>
                  <a:pt x="1897" y="113794"/>
                </a:lnTo>
                <a:lnTo>
                  <a:pt x="2877" y="108173"/>
                </a:lnTo>
                <a:lnTo>
                  <a:pt x="4056" y="102591"/>
                </a:lnTo>
                <a:lnTo>
                  <a:pt x="5435" y="97054"/>
                </a:lnTo>
                <a:lnTo>
                  <a:pt x="7010" y="91570"/>
                </a:lnTo>
                <a:lnTo>
                  <a:pt x="8779" y="86145"/>
                </a:lnTo>
                <a:lnTo>
                  <a:pt x="10741" y="80787"/>
                </a:lnTo>
                <a:lnTo>
                  <a:pt x="12893" y="75503"/>
                </a:lnTo>
                <a:lnTo>
                  <a:pt x="15233" y="70299"/>
                </a:lnTo>
                <a:lnTo>
                  <a:pt x="17756" y="65181"/>
                </a:lnTo>
                <a:lnTo>
                  <a:pt x="20461" y="60157"/>
                </a:lnTo>
                <a:lnTo>
                  <a:pt x="23343" y="55233"/>
                </a:lnTo>
                <a:lnTo>
                  <a:pt x="26400" y="50414"/>
                </a:lnTo>
                <a:lnTo>
                  <a:pt x="29626" y="45708"/>
                </a:lnTo>
                <a:lnTo>
                  <a:pt x="33018" y="41120"/>
                </a:lnTo>
                <a:lnTo>
                  <a:pt x="36572" y="36656"/>
                </a:lnTo>
                <a:lnTo>
                  <a:pt x="40283" y="32322"/>
                </a:lnTo>
                <a:lnTo>
                  <a:pt x="44146" y="28122"/>
                </a:lnTo>
                <a:lnTo>
                  <a:pt x="48156" y="24064"/>
                </a:lnTo>
                <a:lnTo>
                  <a:pt x="52309" y="20151"/>
                </a:lnTo>
                <a:lnTo>
                  <a:pt x="56599" y="16389"/>
                </a:lnTo>
                <a:lnTo>
                  <a:pt x="61021" y="12782"/>
                </a:lnTo>
                <a:lnTo>
                  <a:pt x="65568" y="9336"/>
                </a:lnTo>
                <a:lnTo>
                  <a:pt x="70235" y="6054"/>
                </a:lnTo>
                <a:lnTo>
                  <a:pt x="75017" y="2940"/>
                </a:lnTo>
                <a:lnTo>
                  <a:pt x="79907" y="0"/>
                </a:lnTo>
              </a:path>
            </a:pathLst>
          </a:custGeom>
          <a:noFill/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758184"/>
            <a:ext cx="1554480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3584"/>
                </a:solidFill>
                <a:latin typeface="Microsoft YaHei"/>
              </a:defRPr>
            </a:pPr>
            <a:r>
              <a:t>机械回收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078224"/>
            <a:ext cx="169164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40" b="0">
                <a:solidFill>
                  <a:srgbClr val="566273"/>
                </a:solidFill>
                <a:latin typeface="Microsoft YaHei"/>
              </a:defRPr>
            </a:pPr>
            <a:r>
              <a:t>分选、清洗、再加工</a:t>
            </a:r>
          </a:p>
        </p:txBody>
      </p:sp>
      <p:sp>
        <p:nvSpPr>
          <p:cNvPr id="38" name="Freeform 37"/>
          <p:cNvSpPr/>
          <p:nvPr/>
        </p:nvSpPr>
        <p:spPr>
          <a:xfrm>
            <a:off x="2663281" y="3805275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2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9" y="120975"/>
                </a:lnTo>
                <a:lnTo>
                  <a:pt x="0" y="69129"/>
                </a:lnTo>
                <a:lnTo>
                  <a:pt x="11521" y="11522"/>
                </a:lnTo>
              </a:path>
            </a:pathLst>
          </a:custGeom>
          <a:solidFill>
            <a:srgbClr val="D2E1F6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836103" y="3822557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2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8" y="120975"/>
                </a:lnTo>
                <a:lnTo>
                  <a:pt x="0" y="69129"/>
                </a:lnTo>
                <a:lnTo>
                  <a:pt x="11521" y="11522"/>
                </a:lnTo>
              </a:path>
            </a:pathLst>
          </a:custGeom>
          <a:solidFill>
            <a:srgbClr val="EDF3FF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743931" y="3937772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1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9" y="120975"/>
                </a:lnTo>
                <a:lnTo>
                  <a:pt x="0" y="69128"/>
                </a:lnTo>
                <a:lnTo>
                  <a:pt x="11521" y="11521"/>
                </a:lnTo>
              </a:path>
            </a:pathLst>
          </a:custGeom>
          <a:solidFill>
            <a:srgbClr val="D2E1F6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928274" y="3955054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2" y="11521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9" y="120975"/>
                </a:lnTo>
                <a:lnTo>
                  <a:pt x="0" y="69128"/>
                </a:lnTo>
                <a:lnTo>
                  <a:pt x="11522" y="11521"/>
                </a:lnTo>
              </a:path>
            </a:pathLst>
          </a:custGeom>
          <a:solidFill>
            <a:srgbClr val="EDF3FF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651760" y="4041465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1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8" y="120975"/>
                </a:lnTo>
                <a:lnTo>
                  <a:pt x="0" y="69128"/>
                </a:lnTo>
                <a:lnTo>
                  <a:pt x="11521" y="11521"/>
                </a:lnTo>
              </a:path>
            </a:pathLst>
          </a:custGeom>
          <a:solidFill>
            <a:srgbClr val="D2E1F6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847624" y="4076029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1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9" y="120975"/>
                </a:lnTo>
                <a:lnTo>
                  <a:pt x="0" y="69129"/>
                </a:lnTo>
                <a:lnTo>
                  <a:pt x="11521" y="11521"/>
                </a:lnTo>
              </a:path>
            </a:pathLst>
          </a:custGeom>
          <a:solidFill>
            <a:srgbClr val="EDF3FF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209544" y="3968496"/>
            <a:ext cx="292608" cy="0"/>
          </a:xfrm>
          <a:prstGeom prst="line">
            <a:avLst/>
          </a:prstGeom>
          <a:ln w="2413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5887" y="3730752"/>
            <a:ext cx="2596896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30" b="0">
                <a:solidFill>
                  <a:srgbClr val="111111"/>
                </a:solidFill>
                <a:latin typeface="Microsoft YaHei"/>
              </a:defRPr>
            </a:pPr>
            <a:r>
              <a:t>侧重保留聚合物主体结构，实现材料循环利用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75887" y="4105656"/>
            <a:ext cx="2596896" cy="1554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19" b="1">
                <a:solidFill>
                  <a:srgbClr val="063584"/>
                </a:solidFill>
                <a:latin typeface="Microsoft YaHei"/>
              </a:defRPr>
            </a:pPr>
            <a:r>
              <a:t>关注：材料性能与循环质量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" y="4352544"/>
            <a:ext cx="5989320" cy="59436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8543" y="4667646"/>
            <a:ext cx="132039" cy="132039"/>
          </a:xfrm>
          <a:prstGeom prst="ellipse">
            <a:avLst/>
          </a:prstGeom>
          <a:solidFill>
            <a:srgbClr val="EDF3FF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712866" y="4504334"/>
            <a:ext cx="0" cy="201534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96259" y="4504334"/>
            <a:ext cx="0" cy="201534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12866" y="4504334"/>
            <a:ext cx="83393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54562" y="4559929"/>
            <a:ext cx="0" cy="145939"/>
          </a:xfrm>
          <a:prstGeom prst="line">
            <a:avLst/>
          </a:prstGeom>
          <a:ln w="2794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629472" y="4413991"/>
            <a:ext cx="20849" cy="48646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844905" y="4413991"/>
            <a:ext cx="20848" cy="48646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7280" y="4425696"/>
            <a:ext cx="1554480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3584"/>
                </a:solidFill>
                <a:latin typeface="Microsoft YaHei"/>
              </a:defRPr>
            </a:pPr>
            <a:r>
              <a:t>热化学转化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4745736"/>
            <a:ext cx="169164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40" b="0">
                <a:solidFill>
                  <a:srgbClr val="566273"/>
                </a:solidFill>
                <a:latin typeface="Microsoft YaHei"/>
              </a:defRPr>
            </a:pPr>
            <a:r>
              <a:t>热裂解、催化裂解</a:t>
            </a:r>
          </a:p>
        </p:txBody>
      </p:sp>
      <p:sp>
        <p:nvSpPr>
          <p:cNvPr id="57" name="Can 56"/>
          <p:cNvSpPr/>
          <p:nvPr/>
        </p:nvSpPr>
        <p:spPr>
          <a:xfrm>
            <a:off x="2726649" y="4507351"/>
            <a:ext cx="276514" cy="264993"/>
          </a:xfrm>
          <a:prstGeom prst="can">
            <a:avLst/>
          </a:prstGeom>
          <a:solidFill>
            <a:srgbClr val="D8E5F6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2864906" y="4438223"/>
            <a:ext cx="0" cy="69128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2645999" y="4605284"/>
            <a:ext cx="57607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031967" y="4605284"/>
            <a:ext cx="51847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755452" y="4772345"/>
            <a:ext cx="28804" cy="74889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945556" y="4772345"/>
            <a:ext cx="28804" cy="74889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726649" y="4852995"/>
            <a:ext cx="282275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209544" y="4636007"/>
            <a:ext cx="292608" cy="0"/>
          </a:xfrm>
          <a:prstGeom prst="line">
            <a:avLst/>
          </a:prstGeom>
          <a:ln w="2413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675887" y="4398264"/>
            <a:ext cx="2596896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30" b="0">
                <a:solidFill>
                  <a:srgbClr val="111111"/>
                </a:solidFill>
                <a:latin typeface="Microsoft YaHei"/>
              </a:defRPr>
            </a:pPr>
            <a:r>
              <a:t>热驱动反应改变结构，获得燃料、化学品或单体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75887" y="4773168"/>
            <a:ext cx="2596896" cy="1554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19" b="1">
                <a:solidFill>
                  <a:srgbClr val="063584"/>
                </a:solidFill>
                <a:latin typeface="Microsoft YaHei"/>
              </a:defRPr>
            </a:pPr>
            <a:r>
              <a:t>关注：产物分布与过程控制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8912" y="5020056"/>
            <a:ext cx="5989320" cy="594360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0321" y="5157947"/>
            <a:ext cx="208483" cy="208483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692017" y="5338632"/>
            <a:ext cx="0" cy="69495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17107" y="5338632"/>
            <a:ext cx="0" cy="69495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92017" y="5408127"/>
            <a:ext cx="125090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2866" y="5442874"/>
            <a:ext cx="83393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00501" y="5262189"/>
            <a:ext cx="48646" cy="0"/>
          </a:xfrm>
          <a:prstGeom prst="line">
            <a:avLst/>
          </a:prstGeom>
          <a:ln w="1397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57756" y="5365383"/>
            <a:ext cx="34398" cy="34398"/>
          </a:xfrm>
          <a:prstGeom prst="line">
            <a:avLst/>
          </a:prstGeom>
          <a:ln w="1397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54562" y="5408127"/>
            <a:ext cx="0" cy="48646"/>
          </a:xfrm>
          <a:prstGeom prst="line">
            <a:avLst/>
          </a:prstGeom>
          <a:ln w="1397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616970" y="5365383"/>
            <a:ext cx="34398" cy="34398"/>
          </a:xfrm>
          <a:prstGeom prst="line">
            <a:avLst/>
          </a:prstGeom>
          <a:ln w="1397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559978" y="5262189"/>
            <a:ext cx="48646" cy="0"/>
          </a:xfrm>
          <a:prstGeom prst="line">
            <a:avLst/>
          </a:prstGeom>
          <a:ln w="1397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616970" y="5124597"/>
            <a:ext cx="34398" cy="34398"/>
          </a:xfrm>
          <a:prstGeom prst="line">
            <a:avLst/>
          </a:prstGeom>
          <a:ln w="1397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562" y="5067604"/>
            <a:ext cx="0" cy="48646"/>
          </a:xfrm>
          <a:prstGeom prst="line">
            <a:avLst/>
          </a:prstGeom>
          <a:ln w="1397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57756" y="5124597"/>
            <a:ext cx="34398" cy="34398"/>
          </a:xfrm>
          <a:prstGeom prst="line">
            <a:avLst/>
          </a:prstGeom>
          <a:ln w="1397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97280" y="5093208"/>
            <a:ext cx="1554480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3584"/>
                </a:solidFill>
                <a:latin typeface="Microsoft YaHei"/>
              </a:defRPr>
            </a:pPr>
            <a:r>
              <a:t>光化学转化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7280" y="5413248"/>
            <a:ext cx="169164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40" b="0">
                <a:solidFill>
                  <a:srgbClr val="566273"/>
                </a:solidFill>
                <a:latin typeface="Microsoft YaHei"/>
              </a:defRPr>
            </a:pPr>
            <a:r>
              <a:t>光催化、光氧化、光裂解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0" y="5169103"/>
            <a:ext cx="86410" cy="264993"/>
          </a:xfrm>
          <a:prstGeom prst="rect">
            <a:avLst/>
          </a:prstGeom>
          <a:solidFill>
            <a:srgbClr val="FFFFFF"/>
          </a:solidFill>
          <a:ln w="1651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51760" y="5295839"/>
            <a:ext cx="86410" cy="138257"/>
          </a:xfrm>
          <a:prstGeom prst="rect">
            <a:avLst/>
          </a:prstGeom>
          <a:solidFill>
            <a:srgbClr val="D0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643118" y="5140299"/>
            <a:ext cx="103692" cy="34564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2692085" y="5468660"/>
            <a:ext cx="0" cy="97932"/>
          </a:xfrm>
          <a:prstGeom prst="line">
            <a:avLst/>
          </a:prstGeom>
          <a:ln w="13970">
            <a:solidFill>
              <a:srgbClr val="3365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2790017" y="5169103"/>
            <a:ext cx="86410" cy="264993"/>
          </a:xfrm>
          <a:prstGeom prst="rect">
            <a:avLst/>
          </a:prstGeom>
          <a:solidFill>
            <a:srgbClr val="FFFFFF"/>
          </a:solidFill>
          <a:ln w="1651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90017" y="5295839"/>
            <a:ext cx="86410" cy="138257"/>
          </a:xfrm>
          <a:prstGeom prst="rect">
            <a:avLst/>
          </a:prstGeom>
          <a:solidFill>
            <a:srgbClr val="D0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781376" y="5140299"/>
            <a:ext cx="103692" cy="34564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V="1">
            <a:off x="2830342" y="5468660"/>
            <a:ext cx="0" cy="97932"/>
          </a:xfrm>
          <a:prstGeom prst="line">
            <a:avLst/>
          </a:prstGeom>
          <a:ln w="13970">
            <a:solidFill>
              <a:srgbClr val="3365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2928274" y="5169103"/>
            <a:ext cx="86410" cy="264993"/>
          </a:xfrm>
          <a:prstGeom prst="rect">
            <a:avLst/>
          </a:prstGeom>
          <a:solidFill>
            <a:srgbClr val="FFFFFF"/>
          </a:solidFill>
          <a:ln w="1651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928274" y="5295839"/>
            <a:ext cx="86410" cy="138257"/>
          </a:xfrm>
          <a:prstGeom prst="rect">
            <a:avLst/>
          </a:prstGeom>
          <a:solidFill>
            <a:srgbClr val="D0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919633" y="5140299"/>
            <a:ext cx="103692" cy="34564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 flipV="1">
            <a:off x="2968599" y="5468660"/>
            <a:ext cx="0" cy="97932"/>
          </a:xfrm>
          <a:prstGeom prst="line">
            <a:avLst/>
          </a:prstGeom>
          <a:ln w="13970">
            <a:solidFill>
              <a:srgbClr val="3365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209544" y="5303520"/>
            <a:ext cx="292608" cy="0"/>
          </a:xfrm>
          <a:prstGeom prst="line">
            <a:avLst/>
          </a:prstGeom>
          <a:ln w="2413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675887" y="5065776"/>
            <a:ext cx="2596896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30" b="0">
                <a:solidFill>
                  <a:srgbClr val="111111"/>
                </a:solidFill>
                <a:latin typeface="Microsoft YaHei"/>
              </a:defRPr>
            </a:pPr>
            <a:r>
              <a:t>利用光能启动或调控反应，实现结构转化与高值利用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75887" y="5440680"/>
            <a:ext cx="2596896" cy="1554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19" b="1">
                <a:solidFill>
                  <a:srgbClr val="063584"/>
                </a:solidFill>
                <a:latin typeface="Microsoft YaHei"/>
              </a:defRPr>
            </a:pPr>
            <a:r>
              <a:t>关注：机制与温和条件下的效率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757416" y="1325880"/>
            <a:ext cx="5111496" cy="44256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784848" y="1353312"/>
            <a:ext cx="5056632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03720" y="1403604"/>
            <a:ext cx="4818888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含氯塑料的化学升级利用路径（示意）</a:t>
            </a:r>
          </a:p>
        </p:txBody>
      </p:sp>
      <p:sp>
        <p:nvSpPr>
          <p:cNvPr id="101" name="Hexagon 100"/>
          <p:cNvSpPr/>
          <p:nvPr/>
        </p:nvSpPr>
        <p:spPr>
          <a:xfrm>
            <a:off x="8549640" y="3145536"/>
            <a:ext cx="1252728" cy="978408"/>
          </a:xfrm>
          <a:prstGeom prst="hexagon">
            <a:avLst/>
          </a:prstGeom>
          <a:solidFill>
            <a:srgbClr val="E2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8823960" y="3419856"/>
            <a:ext cx="685800" cy="91440"/>
          </a:xfrm>
          <a:custGeom>
            <a:avLst/>
            <a:gdLst/>
            <a:ahLst/>
            <a:cxnLst/>
            <a:rect l="l" t="t" r="r" b="b"/>
            <a:pathLst>
              <a:path w="685800" h="91440">
                <a:moveTo>
                  <a:pt x="0" y="0"/>
                </a:moveTo>
                <a:lnTo>
                  <a:pt x="137160" y="91440"/>
                </a:lnTo>
                <a:lnTo>
                  <a:pt x="274320" y="0"/>
                </a:lnTo>
                <a:lnTo>
                  <a:pt x="411480" y="91440"/>
                </a:lnTo>
                <a:lnTo>
                  <a:pt x="548640" y="0"/>
                </a:lnTo>
                <a:lnTo>
                  <a:pt x="685800" y="91440"/>
                </a:lnTo>
              </a:path>
            </a:pathLst>
          </a:custGeom>
          <a:noFill/>
          <a:ln w="2159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86800" y="3703320"/>
            <a:ext cx="987552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63584"/>
                </a:solidFill>
                <a:latin typeface="Microsoft YaHei"/>
              </a:defRPr>
            </a:pPr>
            <a:r>
              <a:t>PVC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8577072" y="2889504"/>
            <a:ext cx="228600" cy="292608"/>
          </a:xfrm>
          <a:custGeom>
            <a:avLst/>
            <a:gdLst/>
            <a:ahLst/>
            <a:cxnLst/>
            <a:rect l="l" t="t" r="r" b="b"/>
            <a:pathLst>
              <a:path w="228600" h="292608">
                <a:moveTo>
                  <a:pt x="228600" y="292608"/>
                </a:moveTo>
                <a:lnTo>
                  <a:pt x="109728" y="128016"/>
                </a:lnTo>
                <a:lnTo>
                  <a:pt x="0" y="0"/>
                </a:lnTo>
              </a:path>
            </a:pathLst>
          </a:custGeom>
          <a:noFill/>
          <a:ln w="30480">
            <a:solidFill>
              <a:srgbClr val="3365B2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9418320" y="2468880"/>
            <a:ext cx="749808" cy="694944"/>
          </a:xfrm>
          <a:custGeom>
            <a:avLst/>
            <a:gdLst/>
            <a:ahLst/>
            <a:cxnLst/>
            <a:rect l="l" t="t" r="r" b="b"/>
            <a:pathLst>
              <a:path w="749808" h="694944">
                <a:moveTo>
                  <a:pt x="0" y="694944"/>
                </a:moveTo>
                <a:lnTo>
                  <a:pt x="365760" y="274320"/>
                </a:lnTo>
                <a:lnTo>
                  <a:pt x="749808" y="0"/>
                </a:lnTo>
              </a:path>
            </a:pathLst>
          </a:custGeom>
          <a:noFill/>
          <a:ln w="30480">
            <a:solidFill>
              <a:srgbClr val="3365B2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9811512" y="3081528"/>
            <a:ext cx="777240" cy="384048"/>
          </a:xfrm>
          <a:custGeom>
            <a:avLst/>
            <a:gdLst/>
            <a:ahLst/>
            <a:cxnLst/>
            <a:rect l="l" t="t" r="r" b="b"/>
            <a:pathLst>
              <a:path w="777240" h="384048">
                <a:moveTo>
                  <a:pt x="0" y="384048"/>
                </a:moveTo>
                <a:lnTo>
                  <a:pt x="411480" y="137160"/>
                </a:lnTo>
                <a:lnTo>
                  <a:pt x="777240" y="0"/>
                </a:lnTo>
              </a:path>
            </a:pathLst>
          </a:custGeom>
          <a:noFill/>
          <a:ln w="30480">
            <a:solidFill>
              <a:srgbClr val="3365B2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9802368" y="3785615"/>
            <a:ext cx="777240" cy="356617"/>
          </a:xfrm>
          <a:custGeom>
            <a:avLst/>
            <a:gdLst/>
            <a:ahLst/>
            <a:cxnLst/>
            <a:rect l="l" t="t" r="r" b="b"/>
            <a:pathLst>
              <a:path w="777240" h="356617">
                <a:moveTo>
                  <a:pt x="0" y="0"/>
                </a:moveTo>
                <a:lnTo>
                  <a:pt x="420624" y="201169"/>
                </a:lnTo>
                <a:lnTo>
                  <a:pt x="777240" y="356617"/>
                </a:lnTo>
              </a:path>
            </a:pathLst>
          </a:custGeom>
          <a:noFill/>
          <a:ln w="30480">
            <a:solidFill>
              <a:srgbClr val="3365B2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9390888" y="4096512"/>
            <a:ext cx="685800" cy="694944"/>
          </a:xfrm>
          <a:custGeom>
            <a:avLst/>
            <a:gdLst/>
            <a:ahLst/>
            <a:cxnLst/>
            <a:rect l="l" t="t" r="r" b="b"/>
            <a:pathLst>
              <a:path w="685800" h="694944">
                <a:moveTo>
                  <a:pt x="0" y="0"/>
                </a:moveTo>
                <a:lnTo>
                  <a:pt x="347472" y="411480"/>
                </a:lnTo>
                <a:lnTo>
                  <a:pt x="685800" y="694944"/>
                </a:lnTo>
              </a:path>
            </a:pathLst>
          </a:custGeom>
          <a:noFill/>
          <a:ln w="30480">
            <a:solidFill>
              <a:srgbClr val="3365B2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8686800" y="4078224"/>
            <a:ext cx="82296" cy="667512"/>
          </a:xfrm>
          <a:custGeom>
            <a:avLst/>
            <a:gdLst/>
            <a:ahLst/>
            <a:cxnLst/>
            <a:rect l="l" t="t" r="r" b="b"/>
            <a:pathLst>
              <a:path w="82296" h="667512">
                <a:moveTo>
                  <a:pt x="82296" y="0"/>
                </a:moveTo>
                <a:lnTo>
                  <a:pt x="45720" y="420624"/>
                </a:lnTo>
                <a:lnTo>
                  <a:pt x="0" y="667512"/>
                </a:lnTo>
              </a:path>
            </a:pathLst>
          </a:custGeom>
          <a:noFill/>
          <a:ln w="30480">
            <a:solidFill>
              <a:srgbClr val="3365B2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7434072" y="1947672"/>
            <a:ext cx="181051" cy="0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434072" y="1947672"/>
            <a:ext cx="60350" cy="130759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7405908" y="1919508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7494422" y="2078431"/>
            <a:ext cx="181051" cy="0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7434072" y="2078431"/>
            <a:ext cx="60350" cy="130759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7466258" y="2050267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7434072" y="2209190"/>
            <a:ext cx="181051" cy="0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7405908" y="2181026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7615123" y="1947672"/>
            <a:ext cx="181051" cy="0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615123" y="1947672"/>
            <a:ext cx="60350" cy="130759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7586959" y="1919508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7675473" y="2078431"/>
            <a:ext cx="181051" cy="0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7615123" y="2078431"/>
            <a:ext cx="60350" cy="130759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7647310" y="2050267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7615123" y="2209190"/>
            <a:ext cx="181051" cy="0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7586959" y="2181026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7796174" y="1947672"/>
            <a:ext cx="60350" cy="130759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7768010" y="1919508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H="1">
            <a:off x="7796174" y="2078431"/>
            <a:ext cx="60350" cy="130759"/>
          </a:xfrm>
          <a:prstGeom prst="line">
            <a:avLst/>
          </a:prstGeom>
          <a:ln w="127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7828361" y="2050267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768010" y="2181026"/>
            <a:ext cx="56327" cy="5632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050024" y="2395728"/>
            <a:ext cx="1682496" cy="4480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63584"/>
                </a:solidFill>
                <a:latin typeface="Microsoft YaHei"/>
              </a:defRPr>
            </a:pPr>
            <a:r>
              <a:t>新型聚合物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063584"/>
                </a:solidFill>
                <a:latin typeface="Microsoft YaHei"/>
              </a:defRPr>
            </a:pPr>
            <a:r>
              <a:t>闭环利用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050024" y="2971800"/>
            <a:ext cx="1408176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050" b="0">
                <a:solidFill>
                  <a:srgbClr val="566273"/>
                </a:solidFill>
                <a:latin typeface="Microsoft YaHei"/>
              </a:defRPr>
            </a:pPr>
            <a:r>
              <a:t>多路径协同</a:t>
            </a:r>
          </a:p>
          <a:p>
            <a:pPr algn="ctr">
              <a:spcAft>
                <a:spcPts val="600"/>
              </a:spcAft>
              <a:defRPr sz="1050" b="0">
                <a:solidFill>
                  <a:srgbClr val="566273"/>
                </a:solidFill>
                <a:latin typeface="Microsoft YaHei"/>
              </a:defRPr>
            </a:pPr>
            <a:r>
              <a:t>与材料循环</a:t>
            </a:r>
          </a:p>
        </p:txBody>
      </p:sp>
      <p:sp>
        <p:nvSpPr>
          <p:cNvPr id="133" name="Can 132"/>
          <p:cNvSpPr/>
          <p:nvPr/>
        </p:nvSpPr>
        <p:spPr>
          <a:xfrm>
            <a:off x="9893808" y="2008479"/>
            <a:ext cx="268833" cy="412851"/>
          </a:xfrm>
          <a:prstGeom prst="can">
            <a:avLst/>
          </a:prstGeom>
          <a:solidFill>
            <a:srgbClr val="7D98BD"/>
          </a:solidFill>
          <a:ln w="1270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an 133"/>
          <p:cNvSpPr/>
          <p:nvPr/>
        </p:nvSpPr>
        <p:spPr>
          <a:xfrm>
            <a:off x="10133838" y="1950872"/>
            <a:ext cx="268833" cy="412851"/>
          </a:xfrm>
          <a:prstGeom prst="can">
            <a:avLst/>
          </a:prstGeom>
          <a:solidFill>
            <a:srgbClr val="7D98BD"/>
          </a:solidFill>
          <a:ln w="1270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an 134"/>
          <p:cNvSpPr/>
          <p:nvPr/>
        </p:nvSpPr>
        <p:spPr>
          <a:xfrm>
            <a:off x="10009022" y="1778050"/>
            <a:ext cx="268833" cy="412851"/>
          </a:xfrm>
          <a:prstGeom prst="can">
            <a:avLst/>
          </a:prstGeom>
          <a:solidFill>
            <a:srgbClr val="AFC5E2"/>
          </a:solidFill>
          <a:ln w="1270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561320" y="1856231"/>
            <a:ext cx="100584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3584"/>
                </a:solidFill>
                <a:latin typeface="Microsoft YaHei"/>
              </a:defRPr>
            </a:pPr>
            <a:r>
              <a:t>碳化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561320" y="2231136"/>
            <a:ext cx="1060704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50" b="0">
                <a:solidFill>
                  <a:srgbClr val="566273"/>
                </a:solidFill>
                <a:latin typeface="Microsoft YaHei"/>
              </a:defRPr>
            </a:pPr>
            <a:r>
              <a:t>碳材料</a:t>
            </a:r>
          </a:p>
          <a:p>
            <a:pPr>
              <a:spcAft>
                <a:spcPts val="600"/>
              </a:spcAft>
              <a:defRPr sz="1050" b="0">
                <a:solidFill>
                  <a:srgbClr val="566273"/>
                </a:solidFill>
                <a:latin typeface="Microsoft YaHei"/>
              </a:defRPr>
            </a:pPr>
            <a:r>
              <a:t>功能材料</a:t>
            </a:r>
          </a:p>
        </p:txBody>
      </p:sp>
      <p:sp>
        <p:nvSpPr>
          <p:cNvPr id="138" name="Freeform 137"/>
          <p:cNvSpPr/>
          <p:nvPr/>
        </p:nvSpPr>
        <p:spPr>
          <a:xfrm>
            <a:off x="10963656" y="2796235"/>
            <a:ext cx="264809" cy="305775"/>
          </a:xfrm>
          <a:custGeom>
            <a:avLst/>
            <a:gdLst/>
            <a:ahLst/>
            <a:cxnLst/>
            <a:rect l="l" t="t" r="r" b="b"/>
            <a:pathLst>
              <a:path w="264809" h="305775">
                <a:moveTo>
                  <a:pt x="132405" y="0"/>
                </a:moveTo>
                <a:lnTo>
                  <a:pt x="264809" y="76444"/>
                </a:lnTo>
                <a:lnTo>
                  <a:pt x="264809" y="229331"/>
                </a:lnTo>
                <a:lnTo>
                  <a:pt x="132405" y="305775"/>
                </a:lnTo>
                <a:lnTo>
                  <a:pt x="0" y="229331"/>
                </a:lnTo>
                <a:lnTo>
                  <a:pt x="0" y="76444"/>
                </a:lnTo>
                <a:lnTo>
                  <a:pt x="132405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11096061" y="2839043"/>
            <a:ext cx="95331" cy="55040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11096061" y="3004162"/>
            <a:ext cx="95331" cy="55040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000729" y="2894083"/>
            <a:ext cx="0" cy="110079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1228100" y="2796235"/>
            <a:ext cx="138989" cy="76444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11367089" y="2719791"/>
            <a:ext cx="277977" cy="16678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36" b="1">
                <a:solidFill>
                  <a:srgbClr val="C00000"/>
                </a:solidFill>
                <a:latin typeface="Arial"/>
              </a:defRPr>
            </a:pPr>
            <a:r>
              <a:t>OH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40112" y="2743200"/>
            <a:ext cx="1024128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3584"/>
                </a:solidFill>
                <a:latin typeface="Microsoft YaHei"/>
              </a:defRPr>
            </a:pPr>
            <a:r>
              <a:t>官能化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213848" y="3209544"/>
            <a:ext cx="1316736" cy="37490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引入官能团</a:t>
            </a:r>
          </a:p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拓展材料功能</a:t>
            </a:r>
          </a:p>
        </p:txBody>
      </p:sp>
      <p:sp>
        <p:nvSpPr>
          <p:cNvPr id="146" name="Oval 145"/>
          <p:cNvSpPr/>
          <p:nvPr/>
        </p:nvSpPr>
        <p:spPr>
          <a:xfrm>
            <a:off x="11083991" y="3907779"/>
            <a:ext cx="131673" cy="131673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1274917" y="3907779"/>
            <a:ext cx="131673" cy="131673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 flipV="1">
            <a:off x="11182746" y="3670767"/>
            <a:ext cx="217261" cy="25018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 flipV="1">
            <a:off x="11097158" y="3670767"/>
            <a:ext cx="204094" cy="25018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0149840" y="3685032"/>
            <a:ext cx="1115568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63584"/>
                </a:solidFill>
                <a:latin typeface="Microsoft YaHei"/>
              </a:defRPr>
            </a:pPr>
            <a:r>
              <a:t>裂解与偶联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460736" y="4169663"/>
            <a:ext cx="1106424" cy="4297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60" b="0">
                <a:solidFill>
                  <a:srgbClr val="566273"/>
                </a:solidFill>
                <a:latin typeface="Microsoft YaHei"/>
              </a:defRPr>
            </a:pPr>
            <a:r>
              <a:t>小分子化学品</a:t>
            </a:r>
          </a:p>
          <a:p>
            <a:pPr>
              <a:spcAft>
                <a:spcPts val="600"/>
              </a:spcAft>
              <a:defRPr sz="960" b="0">
                <a:solidFill>
                  <a:srgbClr val="566273"/>
                </a:solidFill>
                <a:latin typeface="Microsoft YaHei"/>
              </a:defRPr>
            </a:pPr>
            <a:r>
              <a:t>或新结构聚合物</a:t>
            </a:r>
          </a:p>
        </p:txBody>
      </p:sp>
      <p:sp>
        <p:nvSpPr>
          <p:cNvPr id="152" name="Freeform 151"/>
          <p:cNvSpPr/>
          <p:nvPr/>
        </p:nvSpPr>
        <p:spPr>
          <a:xfrm>
            <a:off x="10531327" y="4718304"/>
            <a:ext cx="487375" cy="494873"/>
          </a:xfrm>
          <a:custGeom>
            <a:avLst/>
            <a:gdLst/>
            <a:ahLst/>
            <a:cxnLst/>
            <a:rect l="l" t="t" r="r" b="b"/>
            <a:pathLst>
              <a:path w="487375" h="494873">
                <a:moveTo>
                  <a:pt x="164958" y="0"/>
                </a:moveTo>
                <a:lnTo>
                  <a:pt x="322418" y="0"/>
                </a:lnTo>
                <a:lnTo>
                  <a:pt x="322418" y="172455"/>
                </a:lnTo>
                <a:lnTo>
                  <a:pt x="487375" y="494873"/>
                </a:lnTo>
                <a:lnTo>
                  <a:pt x="0" y="494873"/>
                </a:lnTo>
                <a:lnTo>
                  <a:pt x="164958" y="172455"/>
                </a:lnTo>
                <a:lnTo>
                  <a:pt x="164958" y="0"/>
                </a:lnTo>
              </a:path>
            </a:pathLst>
          </a:custGeom>
          <a:solidFill>
            <a:srgbClr val="F6F9FE"/>
          </a:solidFill>
          <a:ln w="1778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0531327" y="5040721"/>
            <a:ext cx="487375" cy="172456"/>
          </a:xfrm>
          <a:custGeom>
            <a:avLst/>
            <a:gdLst/>
            <a:ahLst/>
            <a:cxnLst/>
            <a:rect l="l" t="t" r="r" b="b"/>
            <a:pathLst>
              <a:path w="487375" h="172456">
                <a:moveTo>
                  <a:pt x="89977" y="0"/>
                </a:moveTo>
                <a:lnTo>
                  <a:pt x="397398" y="0"/>
                </a:lnTo>
                <a:lnTo>
                  <a:pt x="487375" y="172456"/>
                </a:lnTo>
                <a:lnTo>
                  <a:pt x="0" y="172456"/>
                </a:lnTo>
                <a:lnTo>
                  <a:pt x="89977" y="0"/>
                </a:lnTo>
              </a:path>
            </a:pathLst>
          </a:custGeom>
          <a:solidFill>
            <a:srgbClr val="C5D9F5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10673791" y="4718304"/>
            <a:ext cx="202448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9592056" y="5084064"/>
            <a:ext cx="1024128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63584"/>
                </a:solidFill>
                <a:latin typeface="Microsoft YaHei"/>
              </a:defRPr>
            </a:pPr>
            <a:r>
              <a:t>溶剂处理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634472" y="5312664"/>
            <a:ext cx="969264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分离 / 再加工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7360920" y="4965192"/>
            <a:ext cx="106984" cy="82296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7332116" y="4936388"/>
            <a:ext cx="57607" cy="5760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7550200" y="4965192"/>
            <a:ext cx="106985" cy="82296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7521397" y="4936388"/>
            <a:ext cx="57607" cy="5760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>
            <a:off x="7739481" y="4965192"/>
            <a:ext cx="106985" cy="82296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7710678" y="4936388"/>
            <a:ext cx="57607" cy="57607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360920" y="5170931"/>
            <a:ext cx="1110996" cy="172821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10" b="0">
                <a:solidFill>
                  <a:srgbClr val="566273"/>
                </a:solidFill>
                <a:latin typeface="Microsoft YaHei"/>
              </a:defRPr>
            </a:pPr>
            <a:r>
              <a:t>低聚物 / 小分子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050024" y="4535424"/>
            <a:ext cx="163677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63584"/>
                </a:solidFill>
                <a:latin typeface="Microsoft YaHei"/>
              </a:defRPr>
            </a:pPr>
            <a:r>
              <a:t>解聚 / 低分子化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412480" y="5486400"/>
            <a:ext cx="3209544" cy="1554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930" b="0">
                <a:solidFill>
                  <a:srgbClr val="566273"/>
                </a:solidFill>
                <a:latin typeface="Microsoft YaHei"/>
              </a:defRPr>
            </a:pPr>
            <a:r>
              <a:t>路线分类示意，不代表本体系已实现。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hevron 166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研究切入点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148840" y="6099048"/>
            <a:ext cx="9445752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Microsoft YaHei"/>
              </a:defRPr>
            </a:pPr>
            <a:r>
              <a:t>本研究聚焦光敏组分参与的 PVC 光化学转化，探索温和条件下的自由基路径。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