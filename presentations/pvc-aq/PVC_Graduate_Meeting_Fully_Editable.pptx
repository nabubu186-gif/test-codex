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已记录转化率 (%)</c:v>
                </c:pt>
              </c:strCache>
            </c:strRef>
          </c:tx>
          <c:spPr>
            <a:solidFill>
              <a:srgbClr val="426BB1"/>
            </a:solidFill>
          </c:spPr>
          <c:cat>
            <c:strRef>
              <c:f>Sheet1!$A$2:$A$5</c:f>
              <c:strCache>
                <c:ptCount val="4"/>
                <c:pt idx="0">
                  <c:v>O₂</c:v>
                </c:pt>
                <c:pt idx="1">
                  <c:v>O₂鼓泡</c:v>
                </c:pt>
                <c:pt idx="2">
                  <c:v>N₂</c:v>
                </c:pt>
                <c:pt idx="3">
                  <c:v>空气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87.6</c:v>
                </c:pt>
                <c:pt idx="1">
                  <c:v>82.8</c:v>
                </c:pt>
                <c:pt idx="2">
                  <c:v>73.8</c:v>
                </c:pt>
                <c:pt idx="3">
                  <c:v>76.6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。本次汇报聚焦乙基蒽醌参与的PVC光化学转化。已有模型实验和PVC初步红外表征，但尚未建立经充分验证的降解体系。今天重点介绍含氯介质的文献启发、目前实验中的产物归属问题，以及如何用自由基检测、氯平衡和分子量变化建立机制证据。结构示意采用一般AQ骨架，实际试剂为乙基蒽醌，位置异构体尚需确认。所有R均用于表示有机链段，R·表示碳中心自由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分为四部分。背景只回答PVC为什么难以转化。理论部分重点介绍自由基老化、PMMA和PS文献如何支持提出问题，但不照搬这些材料的机制。前期结果呈现原始转化率、定性产物与红外变化，明确哪些是观察、哪些尚未确定。最后讨论R自由基参与的工作假说，并将每个关键步骤对应到可以验证或否定它的实验。蒽醌只作为光敏组分介绍，不展开成独立综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VC的重复单元既带来含氯结构的反应机会，也带来氯去向与副反应管理的问题。我们把目标分成三个层面：氯的化学形态、碳链长度和最终产物。比如氯离子释放可以提示含氯结构变化，但不能单独证明链断裂；含氧峰变化也不直接等于分子量降低。Xu的Primer提供了预脱氯、裂解、功能化和溶剂处理等多种路径，本课题需要选择能被清楚分析和复现的一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rdette等人通过红外去卷积、氨、胺、碱和水解处理识别羧酸、酰氯及氯代酮，并结合氢过氧化物测定讨论氧化路径。这里的波数和处理逻辑来自论文表格与正文，不是本实验的峰归属结果。R代表有机链段，R自由基与氧形成过氧自由基是一般化学。PVC样品中的缺陷、发色团和氧扩散会影响实际路径。该文不支持把我们体系中所有变化直接归为氯自由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用户提供的图对应Wang等人在Science 2025年387卷874至880页的Visible Light–triggered Depolymerization of Commercial Polymethacrylates，DOI在已上传Su论文Ref.39中可交叉核对。此处415纳米、150摄氏度与1,2-二氯苯条件来自用户参考图，尚未取得原文全文，因此不补写具体产率、自由基检测方法或定量机理结论。PMMA重复单元与MMA结构为原生键线和文字，可逐项编辑。路径表达文献启发，不能当作PVC或EAQ体系已经实现同样反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等人报告PS在二氯甲烷中无需外加光催化剂即可转化，使用PBN捕获EPR、化学捕获、GPC和产物分析支持自由基参与与链长变化。这里用原生流程而非截图概括，未生成模拟EPR或GPC曲线。PS的芳环和二氯甲烷体系与PVC及DCE不同，文献证据不能自动证明本课题中的氯自由基。最大15.9微摩尔每小时对应优化放大实验，本页不与标准10毫克体系混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Qin论文使用水相CDs/Zr-MOF而非蒽醌，实验前还存在PVC预处理条件，不能与本体系直接比较。它的价值在于证据组合：氯离子、捕获与ESR、GPC及HPLC。Mn从22000变为528是正文报告，原GPC图在未上传的SI Fig.S14，因此没有将其重绘成我们已核查的曲线。该研究主要支持ROS相关路径，而不是我们的Cl自由基机制。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择AQ类化合物来自其光激发、攫氢及再氧化的一般文献依据，但不能推出它必然在当前体系中高效活化PVC。我们把主要问题放在右侧：含氯结构变化有没有带来真实链断裂。需要区分AQ、DCE、氧和PVC缺陷的贡献，并在观察到氧化或脱氯时检查交联和可溶部分偏差。本版统一使用R表示有机链段，不使用P代指自由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简单氯代烷烃便于建立底物和产物对应关系，氯代石蜡增加含氯位点复杂性，PVC则涉及溶胀、缺陷、氧扩散和连续链反应。各层级需要自己的空白和定量，不因模型未得到预期产物就直接否定聚合物路线，也不因PVC出现红外变化就反推模型机制成立。当前使用2-氯戊烷，后续计划的2-氯己烷应单独标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侧为根据原始记录绘制的装置概念示意，不是设备尺寸图或实际照片。右侧严格保留已有条件：2-氯戊烷0.5毫摩尔、乙基蒽醌5毫克每毫升、DCE4毫升、365纳米、6小时及不同气氛。没有补写未提供的温度、光强、流量或操作细节。下一轮实验应把这些参数和分析步骤一并记录，保证可以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组已记录转化率分别为87.6、82.8、73.8和76.6%，没有添加误差线，因为未提供平行次数及标准差。O2与N2的记录差为13.8个百分点，但没有统计学依据证明这一差异显著，更不能由此判定Cl自由基是唯一活性种。先核对底物峰、内标、响应因子和回收率，再把底物消耗与产物生成对应起来。这里没有把模型转化率当成PVC降解率、脱氯率或目标产物收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表保留原始定性记录，包括乙腈的两组条件。原稿给出的候选名称不代表结构已得到标准品或完整谱学确认，因此没有把未知四氯丁烷绘制成某一确定异构体。GC-MS谱库匹配只能初筛，需要结合保留时间、标准品及必要的NMR等信息。定量还需要内标、响应校准和回收率。斜杠与未检出严格区分，不将它们改写为收率或底物零反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没有把DCE反应写成确定机理。当前存在两类竞争解释：模型底物确实被活化但产物未识别，或者DCE及其他组分优先发生反应。最直接的区分是无底物DCE空白，以及控制溶解性和光吸收的配对介质实验。即使换成乙腈后看不到同类产物，也不能仅凭这一结果证明某种自由基或判定零转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满足全可编辑要求，把原始PPT中的彩色曲线按像素位置转录为PowerPoint矢量折线，原图会另附。没有取得原始光谱数据，因此不能把这些点当作新的采集数据，也不据此拟合峰面积或推导定量结论。没有平滑或编造谱线，颜色遮挡和原图分辨率限制仍存在。原始图未提供纵轴数值，本页不补造纵轴刻度。约3451和2913区域的差异只支持进一步检查官能团变化，仍需未反应PVC、空白、相同样品处理和SEC等独立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图统一使用R、R自由基、ROO、ROOH和RO自由基。R代表有机链段，不再使用P。左侧是一般AQ类光敏攫氢和氧再氧化的概念循环，AQH自由基与AHQ是不同还原层级，并非声明它们在本实验中同时出现。右侧PVC主链为主要内容：AQ激发态可能攫氢形成碳中心自由基；C–Cl活化及Cl自由基来源另需证实。若Cl自由基存在，它可能通过HAT生成R自由基和HCl。R自由基与氧形成过氧自由基，后续ROOH、RO自由基及裂解均需本体系证据。底部是烷氧自由基β裂解的简化连接式，不是已确认产物。C=O或C–OH的形成与实际分子量下降必须区分。全部化学符号、键线和箭头均为原生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轮优先完成能够排除竞争解释的对照。无底物DCE空白直接关系到当前色谱信号来源。无EAQ和暗反应区分光敏增益与背景反应。溶剂对比需要同时看溶解性与吸收，不能把差异全部归给氯元素。气氛需要考虑残余氧和传质。波长对照不能只比较灯标称功率，应尽可能记录有效光通量。所有比较建立在可复核的定量方法和重复实验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轮实验针对图中的关键箭头。Cl自由基的捕获与EPR必须有溶剂、无底物和捕获剂自身对照，避免把信号或抑制效应直接等同唯一机理。氯平衡需要考虑不同相及回收，SEC需要考虑凝胶和不溶部分。产物来源可以结合标准品或必要的同位素，但只有在现有方法不能区分时再增加复杂度。AQ再生应以组分跟踪和稳定性支持，而不是由反应可持续来假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阶段先复核已有模型实验，确保不是分析或溶剂副反应造成表观高转化。第二阶段才系统筛选2-氯己烷及更合适介质和光照条件，并与前期2-氯戊烷区分。第三阶段增加底物复杂度并推进PVC。机制实验根据前两阶段结果选择，不为了得到某种机理而堆叠捕获剂。每一阶段应输出可追溯的数据和排除竞争解释的证据，而非仅给出一个更高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我想强调三点。第一，文献支持我们研究这些问题，但没有替本实验完成机制证明。第二，已有模型和红外线索值得深入，不能夸大为已实现有效PVC降解。第三，最优先是分析可靠性和溶剂空白，其次才是自由基身份、氯平衡和分子量变化。希望各位老师针对最有区分度的实验和当前分析缺口提出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参考文献列出已阅读的六篇上传论文和新增PMMA线索。Huang按正式卷期引用为2024年，Gardette DOI与文件标识及用户配套PPT一致，其余已读论文首页给出相应DOI。第七篇题名、作者、卷页及DOI来自Su2026参考文献39，与用户参考图对应，但全文没有取得，因此在第5页和本页明确注明。所有DOI可点击，但未宣称全部在线落地页已访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038/s43586-023-00227-w" TargetMode="External"/><Relationship Id="rId3" Type="http://schemas.openxmlformats.org/officeDocument/2006/relationships/hyperlink" Target="https://doi.org/10.1021/ma00196a005" TargetMode="External"/><Relationship Id="rId4" Type="http://schemas.openxmlformats.org/officeDocument/2006/relationships/hyperlink" Target="https://doi.org/10.1002/pol.20230322" TargetMode="External"/><Relationship Id="rId5" Type="http://schemas.openxmlformats.org/officeDocument/2006/relationships/hyperlink" Target="https://doi.org/10.1016/j.ese.2024.100449" TargetMode="External"/><Relationship Id="rId6" Type="http://schemas.openxmlformats.org/officeDocument/2006/relationships/hyperlink" Target="https://doi.org/10.1016/j.apcatb.2023.123355" TargetMode="External"/><Relationship Id="rId7" Type="http://schemas.openxmlformats.org/officeDocument/2006/relationships/hyperlink" Target="https://doi.org/10.1002/anie.5578835" TargetMode="External"/><Relationship Id="rId8" Type="http://schemas.openxmlformats.org/officeDocument/2006/relationships/hyperlink" Target="https://doi.org/10.1126/science.adr1637" TargetMode="External"/><Relationship Id="rId9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93192"/>
            <a:ext cx="164592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1207" y="393192"/>
            <a:ext cx="41148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804672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1111"/>
                </a:solidFill>
                <a:latin typeface="Microsoft YaHei"/>
              </a:defRPr>
            </a:pPr>
            <a:r>
              <a:t>PVC 光化学转化与降解机制探索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292608"/>
            <a:ext cx="269748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5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58952"/>
            <a:ext cx="3017520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869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24712"/>
            <a:ext cx="1092708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从含氯模型分子的反应识别，到聚合物氧化与主链断裂的证据建立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78408"/>
            <a:ext cx="8229600" cy="1737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50" b="0">
                <a:solidFill>
                  <a:srgbClr val="566273"/>
                </a:solidFill>
                <a:latin typeface="Microsoft YaHei"/>
              </a:defRPr>
            </a:pPr>
            <a:r>
              <a:t>研究生课题组工作汇报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" y="6492240"/>
            <a:ext cx="11301984" cy="0"/>
          </a:xfrm>
          <a:prstGeom prst="line">
            <a:avLst/>
          </a:prstGeom>
          <a:ln w="508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56248"/>
            <a:ext cx="1056132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111111"/>
                </a:solidFill>
                <a:latin typeface="Arial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11119104" y="6309360"/>
            <a:ext cx="630936" cy="44805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3968" y="6364224"/>
            <a:ext cx="512064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3" name="Freeform 12"/>
          <p:cNvSpPr/>
          <p:nvPr/>
        </p:nvSpPr>
        <p:spPr>
          <a:xfrm>
            <a:off x="1371600" y="2560320"/>
            <a:ext cx="4828032" cy="256032"/>
          </a:xfrm>
          <a:custGeom>
            <a:avLst/>
            <a:gdLst/>
            <a:ahLst/>
            <a:cxnLst/>
            <a:rect l="l" t="t" r="r" b="b"/>
            <a:pathLst>
              <a:path w="4828032" h="256032">
                <a:moveTo>
                  <a:pt x="0" y="0"/>
                </a:moveTo>
                <a:lnTo>
                  <a:pt x="603504" y="256032"/>
                </a:lnTo>
                <a:lnTo>
                  <a:pt x="1207008" y="0"/>
                </a:lnTo>
                <a:lnTo>
                  <a:pt x="1810512" y="256032"/>
                </a:lnTo>
                <a:lnTo>
                  <a:pt x="2414016" y="0"/>
                </a:lnTo>
                <a:lnTo>
                  <a:pt x="3017520" y="256032"/>
                </a:lnTo>
                <a:lnTo>
                  <a:pt x="3621024" y="0"/>
                </a:lnTo>
                <a:lnTo>
                  <a:pt x="4224528" y="256032"/>
                </a:lnTo>
                <a:lnTo>
                  <a:pt x="4828032" y="0"/>
                </a:lnTo>
              </a:path>
            </a:pathLst>
          </a:custGeom>
          <a:noFill/>
          <a:ln w="2286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975104" y="2816352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847088" y="3218688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82112" y="2816352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054096" y="3218688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89120" y="2816352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61104" y="3218688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596128" y="2816352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68112" y="3218688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" y="2532888"/>
            <a:ext cx="27432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2532888"/>
            <a:ext cx="27432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…</a:t>
            </a:r>
          </a:p>
        </p:txBody>
      </p:sp>
      <p:sp>
        <p:nvSpPr>
          <p:cNvPr id="24" name="Freeform 23"/>
          <p:cNvSpPr/>
          <p:nvPr/>
        </p:nvSpPr>
        <p:spPr>
          <a:xfrm>
            <a:off x="8544604" y="2437790"/>
            <a:ext cx="734877" cy="848563"/>
          </a:xfrm>
          <a:custGeom>
            <a:avLst/>
            <a:gdLst/>
            <a:ahLst/>
            <a:cxnLst/>
            <a:rect l="l" t="t" r="r" b="b"/>
            <a:pathLst>
              <a:path w="734877" h="848563">
                <a:moveTo>
                  <a:pt x="367438" y="0"/>
                </a:moveTo>
                <a:lnTo>
                  <a:pt x="734877" y="212141"/>
                </a:lnTo>
                <a:lnTo>
                  <a:pt x="734877" y="636422"/>
                </a:lnTo>
                <a:lnTo>
                  <a:pt x="367438" y="848563"/>
                </a:lnTo>
                <a:lnTo>
                  <a:pt x="0" y="636422"/>
                </a:lnTo>
                <a:lnTo>
                  <a:pt x="0" y="212141"/>
                </a:lnTo>
                <a:lnTo>
                  <a:pt x="367438" y="0"/>
                </a:lnTo>
              </a:path>
            </a:pathLst>
          </a:custGeom>
          <a:noFill/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912042" y="2556589"/>
            <a:ext cx="264556" cy="152741"/>
          </a:xfrm>
          <a:prstGeom prst="line">
            <a:avLst/>
          </a:prstGeom>
          <a:ln w="1397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8912042" y="3014813"/>
            <a:ext cx="264556" cy="152741"/>
          </a:xfrm>
          <a:prstGeom prst="line">
            <a:avLst/>
          </a:prstGeom>
          <a:ln w="1397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647486" y="2709330"/>
            <a:ext cx="0" cy="305483"/>
          </a:xfrm>
          <a:prstGeom prst="line">
            <a:avLst/>
          </a:prstGeom>
          <a:ln w="1397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9279481" y="2437790"/>
            <a:ext cx="734877" cy="848563"/>
          </a:xfrm>
          <a:custGeom>
            <a:avLst/>
            <a:gdLst/>
            <a:ahLst/>
            <a:cxnLst/>
            <a:rect l="l" t="t" r="r" b="b"/>
            <a:pathLst>
              <a:path w="734877" h="848563">
                <a:moveTo>
                  <a:pt x="367439" y="0"/>
                </a:moveTo>
                <a:lnTo>
                  <a:pt x="734877" y="212141"/>
                </a:lnTo>
                <a:lnTo>
                  <a:pt x="734877" y="636422"/>
                </a:lnTo>
                <a:lnTo>
                  <a:pt x="367439" y="848563"/>
                </a:lnTo>
                <a:lnTo>
                  <a:pt x="0" y="636422"/>
                </a:lnTo>
                <a:lnTo>
                  <a:pt x="0" y="212141"/>
                </a:lnTo>
                <a:lnTo>
                  <a:pt x="367439" y="0"/>
                </a:lnTo>
              </a:path>
            </a:pathLst>
          </a:custGeom>
          <a:noFill/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0014358" y="2437790"/>
            <a:ext cx="734877" cy="848563"/>
          </a:xfrm>
          <a:custGeom>
            <a:avLst/>
            <a:gdLst/>
            <a:ahLst/>
            <a:cxnLst/>
            <a:rect l="l" t="t" r="r" b="b"/>
            <a:pathLst>
              <a:path w="734877" h="848563">
                <a:moveTo>
                  <a:pt x="367439" y="0"/>
                </a:moveTo>
                <a:lnTo>
                  <a:pt x="734877" y="212141"/>
                </a:lnTo>
                <a:lnTo>
                  <a:pt x="734877" y="636422"/>
                </a:lnTo>
                <a:lnTo>
                  <a:pt x="367439" y="848563"/>
                </a:lnTo>
                <a:lnTo>
                  <a:pt x="0" y="636422"/>
                </a:lnTo>
                <a:lnTo>
                  <a:pt x="0" y="212141"/>
                </a:lnTo>
                <a:lnTo>
                  <a:pt x="367439" y="0"/>
                </a:lnTo>
              </a:path>
            </a:pathLst>
          </a:custGeom>
          <a:noFill/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10381797" y="2556589"/>
            <a:ext cx="264556" cy="152741"/>
          </a:xfrm>
          <a:prstGeom prst="line">
            <a:avLst/>
          </a:prstGeom>
          <a:ln w="1397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0381797" y="3014813"/>
            <a:ext cx="264556" cy="152741"/>
          </a:xfrm>
          <a:prstGeom prst="line">
            <a:avLst/>
          </a:prstGeom>
          <a:ln w="1397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0117241" y="2709330"/>
            <a:ext cx="0" cy="305483"/>
          </a:xfrm>
          <a:prstGeom prst="line">
            <a:avLst/>
          </a:prstGeom>
          <a:ln w="1397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613773" y="2132838"/>
            <a:ext cx="0" cy="304952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9680067" y="2132838"/>
            <a:ext cx="0" cy="304952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501073" y="1814626"/>
            <a:ext cx="397764" cy="33147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84" b="0">
                <a:solidFill>
                  <a:srgbClr val="111111"/>
                </a:solidFill>
                <a:latin typeface="Arial"/>
              </a:defRPr>
            </a:pPr>
            <a:r>
              <a:t>O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613773" y="3286353"/>
            <a:ext cx="0" cy="304953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680067" y="3286353"/>
            <a:ext cx="0" cy="304953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501073" y="3604564"/>
            <a:ext cx="397764" cy="33147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84" b="0">
                <a:solidFill>
                  <a:srgbClr val="111111"/>
                </a:solidFill>
                <a:latin typeface="Arial"/>
              </a:defRPr>
            </a:pPr>
            <a:r>
              <a:t>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04888" y="2633472"/>
            <a:ext cx="640080" cy="5486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3100" b="1">
                <a:solidFill>
                  <a:srgbClr val="111111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0568" y="2121408"/>
            <a:ext cx="1645920" cy="32918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03864"/>
                </a:solidFill>
                <a:latin typeface="Microsoft YaHei"/>
              </a:defRPr>
            </a:pPr>
            <a:r>
              <a:t>hν / O₂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4206240"/>
            <a:ext cx="9966960" cy="4572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111111"/>
                </a:solidFill>
                <a:latin typeface="Microsoft YaHei"/>
              </a:defRPr>
            </a:pPr>
            <a:r>
              <a:t>报告人：佟可心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4791456"/>
            <a:ext cx="996696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11111"/>
                </a:solidFill>
                <a:latin typeface="Microsoft YaHei"/>
              </a:defRPr>
            </a:pPr>
            <a:r>
              <a:t>指导教师：孙再成 教授 / 李鹏飞 博士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5340096"/>
            <a:ext cx="996696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566273"/>
                </a:solidFill>
                <a:latin typeface="Microsoft YaHei"/>
              </a:defRPr>
            </a:pPr>
            <a:r>
              <a:t>2026年10月17日    北京工业大学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5879592"/>
            <a:ext cx="1083564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934456"/>
            <a:ext cx="10506456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研究定位：处于探索阶段，以真实现象提出问题，以独立证据验证机制。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93192"/>
            <a:ext cx="164592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1207" y="393192"/>
            <a:ext cx="41148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804672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1111"/>
                </a:solidFill>
                <a:latin typeface="Microsoft YaHei"/>
              </a:defRPr>
            </a:pPr>
            <a:r>
              <a:t>汇报内容与研究逻辑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292608"/>
            <a:ext cx="269748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5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58952"/>
            <a:ext cx="3017520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869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24712"/>
            <a:ext cx="1092708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为什么研究 → 文献如何启发 → 实验看到了什么 → 下一步怎样验证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78408"/>
            <a:ext cx="8229600" cy="1737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50" b="0">
                <a:solidFill>
                  <a:srgbClr val="566273"/>
                </a:solidFill>
                <a:latin typeface="Microsoft YaHei"/>
              </a:defRPr>
            </a:pPr>
            <a:r>
              <a:t>汇报路线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" y="6492240"/>
            <a:ext cx="11301984" cy="0"/>
          </a:xfrm>
          <a:prstGeom prst="line">
            <a:avLst/>
          </a:prstGeom>
          <a:ln w="508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56248"/>
            <a:ext cx="1056132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111111"/>
                </a:solidFill>
                <a:latin typeface="Arial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11119104" y="6309360"/>
            <a:ext cx="630936" cy="44805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3968" y="6364224"/>
            <a:ext cx="512064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874519"/>
            <a:ext cx="640080" cy="5029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203864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1901951"/>
            <a:ext cx="283464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11111"/>
                </a:solidFill>
                <a:latin typeface="Microsoft YaHei"/>
              </a:defRPr>
            </a:pPr>
            <a:r>
              <a:t>研究背景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947672"/>
            <a:ext cx="621792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11111"/>
                </a:solidFill>
                <a:latin typeface="Microsoft YaHei"/>
              </a:defRPr>
            </a:pPr>
            <a:r>
              <a:t>PVC含氯结构与资源化难点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2532887"/>
            <a:ext cx="10378440" cy="0"/>
          </a:xfrm>
          <a:prstGeom prst="line">
            <a:avLst/>
          </a:prstGeom>
          <a:ln w="10160">
            <a:solidFill>
              <a:srgbClr val="D8E1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2761487"/>
            <a:ext cx="640080" cy="5029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203864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788919"/>
            <a:ext cx="283464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11111"/>
                </a:solidFill>
                <a:latin typeface="Microsoft YaHei"/>
              </a:defRPr>
            </a:pPr>
            <a:r>
              <a:t>理论可行性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834639"/>
            <a:ext cx="621792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11111"/>
                </a:solidFill>
                <a:latin typeface="Microsoft YaHei"/>
              </a:defRPr>
            </a:pPr>
            <a:r>
              <a:t>PVC光氧化、PMMA解聚与PS光裂解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" y="3419855"/>
            <a:ext cx="10378440" cy="0"/>
          </a:xfrm>
          <a:prstGeom prst="line">
            <a:avLst/>
          </a:prstGeom>
          <a:ln w="10160">
            <a:solidFill>
              <a:srgbClr val="D8E1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3648456"/>
            <a:ext cx="640080" cy="5029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203864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675887"/>
            <a:ext cx="283464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11111"/>
                </a:solidFill>
                <a:latin typeface="Microsoft YaHei"/>
              </a:defRPr>
            </a:pPr>
            <a:r>
              <a:t>前期探索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721607"/>
            <a:ext cx="621792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11111"/>
                </a:solidFill>
                <a:latin typeface="Microsoft YaHei"/>
              </a:defRPr>
            </a:pPr>
            <a:r>
              <a:t>模型反应、候选产物与FT-IR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4306824"/>
            <a:ext cx="10378440" cy="0"/>
          </a:xfrm>
          <a:prstGeom prst="line">
            <a:avLst/>
          </a:prstGeom>
          <a:ln w="10160">
            <a:solidFill>
              <a:srgbClr val="D8E1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4535424"/>
            <a:ext cx="640080" cy="5029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203864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562856"/>
            <a:ext cx="283464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11111"/>
                </a:solidFill>
                <a:latin typeface="Microsoft YaHei"/>
              </a:defRPr>
            </a:pPr>
            <a:r>
              <a:t>机制与计划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608576"/>
            <a:ext cx="621792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11111"/>
                </a:solidFill>
                <a:latin typeface="Microsoft YaHei"/>
              </a:defRPr>
            </a:pPr>
            <a:r>
              <a:t>R自由基网络与分层验证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5193792"/>
            <a:ext cx="10378440" cy="0"/>
          </a:xfrm>
          <a:prstGeom prst="line">
            <a:avLst/>
          </a:prstGeom>
          <a:ln w="10160">
            <a:solidFill>
              <a:srgbClr val="D8E1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31520" y="5879592"/>
            <a:ext cx="1083564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5934456"/>
            <a:ext cx="10506456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主线：以含氯介质的反应性为切入，逐步判断 PVC 是否发生真实链断裂。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93192"/>
            <a:ext cx="164592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1207" y="393192"/>
            <a:ext cx="41148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804672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1111"/>
                </a:solidFill>
                <a:latin typeface="Microsoft YaHei"/>
              </a:defRPr>
            </a:pPr>
            <a:r>
              <a:t>研究背景：PVC 的氯与碳骨架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292608"/>
            <a:ext cx="269748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5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58952"/>
            <a:ext cx="3017520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869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24712"/>
            <a:ext cx="1092708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脱氯、氧化、主链断裂与升级利用，是相关但不等价的目标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78408"/>
            <a:ext cx="8229600" cy="1737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50" b="0">
                <a:solidFill>
                  <a:srgbClr val="566273"/>
                </a:solidFill>
                <a:latin typeface="Microsoft YaHei"/>
              </a:defRPr>
            </a:pPr>
            <a:r>
              <a:t>01 / 研究背景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" y="6492240"/>
            <a:ext cx="11301984" cy="0"/>
          </a:xfrm>
          <a:prstGeom prst="line">
            <a:avLst/>
          </a:prstGeom>
          <a:ln w="508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56248"/>
            <a:ext cx="1056132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111111"/>
                </a:solidFill>
                <a:latin typeface="Arial"/>
              </a:defRPr>
            </a:pPr>
            <a:r>
              <a:t>Xu et al., Nat. Rev. Methods Primers 2023, 3, 44.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19104" y="6309360"/>
            <a:ext cx="630936" cy="44805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3968" y="6364224"/>
            <a:ext cx="512064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3" name="Freeform 12"/>
          <p:cNvSpPr/>
          <p:nvPr/>
        </p:nvSpPr>
        <p:spPr>
          <a:xfrm>
            <a:off x="1371600" y="2057400"/>
            <a:ext cx="3584448" cy="201168"/>
          </a:xfrm>
          <a:custGeom>
            <a:avLst/>
            <a:gdLst/>
            <a:ahLst/>
            <a:cxnLst/>
            <a:rect l="l" t="t" r="r" b="b"/>
            <a:pathLst>
              <a:path w="3584448" h="201168">
                <a:moveTo>
                  <a:pt x="0" y="0"/>
                </a:moveTo>
                <a:lnTo>
                  <a:pt x="512064" y="201168"/>
                </a:lnTo>
                <a:lnTo>
                  <a:pt x="1024128" y="0"/>
                </a:lnTo>
                <a:lnTo>
                  <a:pt x="1536192" y="201168"/>
                </a:lnTo>
                <a:lnTo>
                  <a:pt x="2048256" y="0"/>
                </a:lnTo>
                <a:lnTo>
                  <a:pt x="2560320" y="201168"/>
                </a:lnTo>
                <a:lnTo>
                  <a:pt x="3072384" y="0"/>
                </a:lnTo>
                <a:lnTo>
                  <a:pt x="3584448" y="201168"/>
                </a:lnTo>
              </a:path>
            </a:pathLst>
          </a:custGeom>
          <a:noFill/>
          <a:ln w="2286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883664" y="2258568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55648" y="2660904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07792" y="2258568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79776" y="2660904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31920" y="2258568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803904" y="2660904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" y="2029968"/>
            <a:ext cx="27432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1768" y="2231136"/>
            <a:ext cx="27432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2971800"/>
            <a:ext cx="4389120" cy="3657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203864"/>
                </a:solidFill>
                <a:latin typeface="Microsoft YaHei"/>
              </a:defRPr>
            </a:pPr>
            <a:r>
              <a:t>PVC：连续含氯的碳主链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1828800"/>
            <a:ext cx="4754880" cy="804672"/>
          </a:xfrm>
          <a:prstGeom prst="roundRect">
            <a:avLst/>
          </a:prstGeom>
          <a:noFill/>
          <a:ln w="16510">
            <a:solidFill>
              <a:srgbClr val="426BB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1938528"/>
            <a:ext cx="1645920" cy="5029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03864"/>
                </a:solidFill>
                <a:latin typeface="Microsoft YaHei"/>
              </a:defRPr>
            </a:pPr>
            <a:r>
              <a:t>氯管理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1956816"/>
            <a:ext cx="2697480" cy="5486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HCl / Cl⁻ / 有机氯产物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816352"/>
            <a:ext cx="4754880" cy="804672"/>
          </a:xfrm>
          <a:prstGeom prst="roundRect">
            <a:avLst/>
          </a:prstGeom>
          <a:noFill/>
          <a:ln w="16510">
            <a:solidFill>
              <a:srgbClr val="426BB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926080"/>
            <a:ext cx="1645920" cy="5029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03864"/>
                </a:solidFill>
                <a:latin typeface="Microsoft YaHei"/>
              </a:defRPr>
            </a:pPr>
            <a:r>
              <a:t>碳骨架变化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2944368"/>
            <a:ext cx="2697480" cy="5486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长链保留 / 氧化 / 交联 / 断链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960120" y="3822191"/>
          <a:ext cx="10259567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749039"/>
                <a:gridCol w="4590288"/>
              </a:tblGrid>
              <a:tr h="38404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反应目标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需要回答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核心测量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脱氯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氯最终去了哪里？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Cl⁻、总氯/有机氯与回收率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主链断裂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链长是否下降？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SEC/GPC、凝胶分数、产物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升级利用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碳转化为哪些物质？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结构确认、收率与物料平衡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731520" y="5879592"/>
            <a:ext cx="1083564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934456"/>
            <a:ext cx="10506456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不能用“脱氯”替代“断链”，也不能用单一谱峰替代降解证据。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93192"/>
            <a:ext cx="164592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1207" y="393192"/>
            <a:ext cx="41148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804672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1111"/>
                </a:solidFill>
                <a:latin typeface="Microsoft YaHei"/>
              </a:defRPr>
            </a:pPr>
            <a:r>
              <a:t>PVC 光氧化的文献证据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292608"/>
            <a:ext cx="269748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5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58952"/>
            <a:ext cx="3017520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869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24712"/>
            <a:ext cx="1092708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Gardette：FTIR 去卷积与化学处理共同约束产物归属，而非只依据峰强变化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78408"/>
            <a:ext cx="8229600" cy="1737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50" b="0">
                <a:solidFill>
                  <a:srgbClr val="566273"/>
                </a:solidFill>
                <a:latin typeface="Microsoft YaHei"/>
              </a:defRPr>
            </a:pPr>
            <a:r>
              <a:t>02 / 理论可行性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" y="6492240"/>
            <a:ext cx="11301984" cy="0"/>
          </a:xfrm>
          <a:prstGeom prst="line">
            <a:avLst/>
          </a:prstGeom>
          <a:ln w="508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56248"/>
            <a:ext cx="1056132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111111"/>
                </a:solidFill>
                <a:latin typeface="Arial"/>
              </a:defRPr>
            </a:pPr>
            <a:r>
              <a:t>Gardette et al., Macromolecules 1989, 22, 2576–2581.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19104" y="6309360"/>
            <a:ext cx="630936" cy="44805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3968" y="6364224"/>
            <a:ext cx="512064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4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14400" y="1847088"/>
          <a:ext cx="557784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920240"/>
                <a:gridCol w="2286000"/>
              </a:tblGrid>
              <a:tr h="43525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官能团/结构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原文吸收 / cm⁻¹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鉴别思路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</a:tr>
              <a:tr h="43525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羧酸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1718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碱/氨处理形成羧酸盐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43525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酰氯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1785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水解后羧酸吸收增强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  <a:tr h="43525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氯代酮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约1745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与其他羰基组分区分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43525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氢过氧化物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3400–3300区域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另结合化学测定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995160" y="1920240"/>
            <a:ext cx="4114800" cy="3657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203864"/>
                </a:solidFill>
                <a:latin typeface="Microsoft YaHei"/>
              </a:defRPr>
            </a:pPr>
            <a:r>
              <a:t>文献提出的一般反应网络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886200" cy="4389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R· + O₂ → ROO·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52560" y="3200400"/>
            <a:ext cx="0" cy="192024"/>
          </a:xfrm>
          <a:prstGeom prst="line">
            <a:avLst/>
          </a:prstGeom>
          <a:ln w="1524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223760" y="3520440"/>
            <a:ext cx="3886200" cy="4389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ROOH → RO· + ·OH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52560" y="4023360"/>
            <a:ext cx="0" cy="192024"/>
          </a:xfrm>
          <a:prstGeom prst="line">
            <a:avLst/>
          </a:prstGeom>
          <a:ln w="1524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223760" y="4343400"/>
            <a:ext cx="3886200" cy="4389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RO· → 氧化产物 / 可能裂解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16552"/>
            <a:ext cx="146304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03864"/>
                </a:solidFill>
                <a:latin typeface="Microsoft YaHei"/>
              </a:defRPr>
            </a:pPr>
            <a: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416552"/>
            <a:ext cx="5303520" cy="5029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文献条件：空气、&gt;300 nm、60 °C。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983480"/>
            <a:ext cx="146304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03864"/>
                </a:solidFill>
                <a:latin typeface="Microsoft YaHei"/>
              </a:defRPr>
            </a:pPr>
            <a: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983480"/>
            <a:ext cx="5303520" cy="5029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不能作为EAQ/DCE体系的直接Cl·证据。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879592"/>
            <a:ext cx="1083564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934456"/>
            <a:ext cx="10506456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可借鉴的是“化学鉴别 + 结构变化”的证据组织方式，而不是照搬全部步骤。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93192"/>
            <a:ext cx="164592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1207" y="393192"/>
            <a:ext cx="41148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804672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1111"/>
                </a:solidFill>
                <a:latin typeface="Microsoft YaHei"/>
              </a:defRPr>
            </a:pPr>
            <a:r>
              <a:t>理论可行性：PMMA 主链引发解聚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292608"/>
            <a:ext cx="269748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5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58952"/>
            <a:ext cx="3017520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869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24712"/>
            <a:ext cx="1092708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1,2-二氯苯 / 415 nm / 150 °C：从主链活化走向链端解聚的文献启发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78408"/>
            <a:ext cx="8229600" cy="1737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50" b="0">
                <a:solidFill>
                  <a:srgbClr val="566273"/>
                </a:solidFill>
                <a:latin typeface="Microsoft YaHei"/>
              </a:defRPr>
            </a:pPr>
            <a:r>
              <a:t>02 / 含氯介质与自由基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" y="6492240"/>
            <a:ext cx="11301984" cy="0"/>
          </a:xfrm>
          <a:prstGeom prst="line">
            <a:avLst/>
          </a:prstGeom>
          <a:ln w="508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56248"/>
            <a:ext cx="1056132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111111"/>
                </a:solidFill>
                <a:latin typeface="Arial"/>
              </a:defRPr>
            </a:pPr>
            <a:r>
              <a:t>Wang et al., Science 2025, 387, 874–880. DOI: 10.1126/science.adr1637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19104" y="6309360"/>
            <a:ext cx="630936" cy="44805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3968" y="6364224"/>
            <a:ext cx="512064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05456"/>
            <a:ext cx="830823" cy="267553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94" b="0">
                <a:solidFill>
                  <a:srgbClr val="111111"/>
                </a:solidFill>
                <a:latin typeface="Microsoft YaHei"/>
              </a:defRPr>
            </a:pPr>
            <a:r>
              <a:t>…–CH₂–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9754" y="2505456"/>
            <a:ext cx="337962" cy="267553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94" b="0">
                <a:solidFill>
                  <a:srgbClr val="111111"/>
                </a:solidFill>
                <a:latin typeface="Microsoft YaHei"/>
              </a:defRPr>
            </a:pPr>
            <a: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7307" y="2505456"/>
            <a:ext cx="1126540" cy="267553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94" b="0">
                <a:solidFill>
                  <a:srgbClr val="111111"/>
                </a:solidFill>
                <a:latin typeface="Microsoft YaHei"/>
              </a:defRPr>
            </a:pPr>
            <a:r>
              <a:t>–CH₂–…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276490" y="2195657"/>
            <a:ext cx="0" cy="253471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072304" y="1914022"/>
            <a:ext cx="633679" cy="239389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86" b="0">
                <a:solidFill>
                  <a:srgbClr val="111111"/>
                </a:solidFill>
                <a:latin typeface="Microsoft YaHei"/>
              </a:defRPr>
            </a:pPr>
            <a:r>
              <a:t>CH₃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76490" y="2808213"/>
            <a:ext cx="0" cy="274595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839955" y="3146176"/>
            <a:ext cx="1182867" cy="2957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9" b="0">
                <a:solidFill>
                  <a:srgbClr val="111111"/>
                </a:solidFill>
                <a:latin typeface="Microsoft YaHei"/>
              </a:defRPr>
            </a:pPr>
            <a:r>
              <a:t>C(=O)OCH₃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77056" y="2724912"/>
            <a:ext cx="1929384" cy="0"/>
          </a:xfrm>
          <a:prstGeom prst="line">
            <a:avLst/>
          </a:prstGeom>
          <a:ln w="2032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913632" y="2194560"/>
            <a:ext cx="1828800" cy="3657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415 nm，150 °C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77056" y="2926080"/>
            <a:ext cx="2011680" cy="3200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566273"/>
                </a:solidFill>
                <a:latin typeface="Microsoft YaHei"/>
              </a:defRPr>
            </a:pPr>
            <a:r>
              <a:t>1,2-dichlorobenzene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505456"/>
            <a:ext cx="704088" cy="267553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94" b="0">
                <a:solidFill>
                  <a:srgbClr val="111111"/>
                </a:solidFill>
                <a:latin typeface="Microsoft YaHei"/>
              </a:defRPr>
            </a:pPr>
            <a:r>
              <a:t>CH₂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9536" y="2505456"/>
            <a:ext cx="337962" cy="267553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94" b="0">
                <a:solidFill>
                  <a:srgbClr val="111111"/>
                </a:solidFill>
                <a:latin typeface="Microsoft YaHei"/>
              </a:defRPr>
            </a:pPr>
            <a:r>
              <a:t>C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85656" y="2604028"/>
            <a:ext cx="295717" cy="0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485656" y="2653314"/>
            <a:ext cx="295717" cy="0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936272" y="2195657"/>
            <a:ext cx="0" cy="253471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732087" y="1914022"/>
            <a:ext cx="633679" cy="239389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86" b="0">
                <a:solidFill>
                  <a:srgbClr val="111111"/>
                </a:solidFill>
                <a:latin typeface="Microsoft YaHei"/>
              </a:defRPr>
            </a:pPr>
            <a:r>
              <a:t>CH₃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36272" y="2808213"/>
            <a:ext cx="0" cy="274595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99738" y="3146176"/>
            <a:ext cx="1182867" cy="2957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9" b="0">
                <a:solidFill>
                  <a:srgbClr val="111111"/>
                </a:solidFill>
                <a:latin typeface="Microsoft YaHei"/>
              </a:defRPr>
            </a:pPr>
            <a:r>
              <a:t>C(=O)OCH₃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33104" y="1801368"/>
            <a:ext cx="2487168" cy="640080"/>
          </a:xfrm>
          <a:prstGeom prst="roundRect">
            <a:avLst/>
          </a:prstGeom>
          <a:noFill/>
          <a:ln w="16510">
            <a:solidFill>
              <a:srgbClr val="426BB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79408" y="1883664"/>
            <a:ext cx="2212848" cy="5029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11111"/>
                </a:solidFill>
                <a:latin typeface="Microsoft YaHei"/>
              </a:defRPr>
            </a:pPr>
            <a:r>
              <a:t>含氯介质参与活化</a:t>
            </a:r>
          </a:p>
          <a:p>
            <a:pPr>
              <a:spcAft>
                <a:spcPts val="600"/>
              </a:spcAft>
              <a:defRPr sz="1500" b="1">
                <a:solidFill>
                  <a:srgbClr val="111111"/>
                </a:solidFill>
                <a:latin typeface="Microsoft YaHei"/>
              </a:defRPr>
            </a:pPr>
            <a:r>
              <a:t>Cl·来源需依据原文证据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33104" y="2532888"/>
            <a:ext cx="2487168" cy="640080"/>
          </a:xfrm>
          <a:prstGeom prst="roundRect">
            <a:avLst/>
          </a:prstGeom>
          <a:noFill/>
          <a:ln w="16510">
            <a:solidFill>
              <a:srgbClr val="426BB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79408" y="2615184"/>
            <a:ext cx="2212848" cy="5029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11111"/>
                </a:solidFill>
                <a:latin typeface="Microsoft YaHei"/>
              </a:defRPr>
            </a:pPr>
            <a:r>
              <a:t>HAT生成链上R·</a:t>
            </a:r>
          </a:p>
          <a:p>
            <a:pPr>
              <a:spcAft>
                <a:spcPts val="600"/>
              </a:spcAft>
              <a:defRPr sz="1500" b="1">
                <a:solidFill>
                  <a:srgbClr val="111111"/>
                </a:solidFill>
                <a:latin typeface="Microsoft YaHei"/>
              </a:defRPr>
            </a:pPr>
            <a:r>
              <a:t>主链活化与β-裂解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33104" y="3264408"/>
            <a:ext cx="2487168" cy="640080"/>
          </a:xfrm>
          <a:prstGeom prst="roundRect">
            <a:avLst/>
          </a:prstGeom>
          <a:noFill/>
          <a:ln w="16510">
            <a:solidFill>
              <a:srgbClr val="426BB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79408" y="3346704"/>
            <a:ext cx="2212848" cy="5029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11111"/>
                </a:solidFill>
                <a:latin typeface="Microsoft YaHei"/>
              </a:defRPr>
            </a:pPr>
            <a:r>
              <a:t>链端解聚形成MMA</a:t>
            </a:r>
          </a:p>
          <a:p>
            <a:pPr>
              <a:spcAft>
                <a:spcPts val="600"/>
              </a:spcAft>
              <a:defRPr sz="1500" b="1">
                <a:solidFill>
                  <a:srgbClr val="111111"/>
                </a:solidFill>
                <a:latin typeface="Microsoft YaHei"/>
              </a:defRPr>
            </a:pPr>
            <a:r>
              <a:t>不等同于PVC降解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4050791"/>
            <a:ext cx="10405872" cy="1435608"/>
          </a:xfrm>
          <a:prstGeom prst="roundRect">
            <a:avLst/>
          </a:prstGeom>
          <a:noFill/>
          <a:ln w="1651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4151376"/>
            <a:ext cx="1001268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简化的“活性氯 → HAT → 主链R· → 解聚”路径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4709160"/>
            <a:ext cx="150876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111111"/>
                </a:solidFill>
                <a:latin typeface="Microsoft YaHei"/>
              </a:defRPr>
            </a:pPr>
            <a:r>
              <a:t>R–Cl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788920" y="4892040"/>
            <a:ext cx="365760" cy="0"/>
          </a:xfrm>
          <a:prstGeom prst="line">
            <a:avLst/>
          </a:prstGeom>
          <a:ln w="15240">
            <a:solidFill>
              <a:srgbClr val="20386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246120" y="4709160"/>
            <a:ext cx="150876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111111"/>
                </a:solidFill>
                <a:latin typeface="Microsoft YaHei"/>
              </a:defRPr>
            </a:pPr>
            <a:r>
              <a:t>Cl·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800600" y="4892040"/>
            <a:ext cx="365760" cy="0"/>
          </a:xfrm>
          <a:prstGeom prst="line">
            <a:avLst/>
          </a:prstGeom>
          <a:ln w="15240">
            <a:solidFill>
              <a:srgbClr val="20386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257800" y="4709160"/>
            <a:ext cx="150876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111111"/>
                </a:solidFill>
                <a:latin typeface="Microsoft YaHei"/>
              </a:defRPr>
            </a:pPr>
            <a:r>
              <a:t>链上R·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812280" y="4892040"/>
            <a:ext cx="365760" cy="0"/>
          </a:xfrm>
          <a:prstGeom prst="line">
            <a:avLst/>
          </a:prstGeom>
          <a:ln w="15240">
            <a:solidFill>
              <a:srgbClr val="20386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269480" y="4709160"/>
            <a:ext cx="150876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111111"/>
                </a:solidFill>
                <a:latin typeface="Microsoft YaHei"/>
              </a:defRPr>
            </a:pPr>
            <a:r>
              <a:t>链端活化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823960" y="4892040"/>
            <a:ext cx="365760" cy="0"/>
          </a:xfrm>
          <a:prstGeom prst="line">
            <a:avLst/>
          </a:prstGeom>
          <a:ln w="15240">
            <a:solidFill>
              <a:srgbClr val="20386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281160" y="4709160"/>
            <a:ext cx="150876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111111"/>
                </a:solidFill>
                <a:latin typeface="Microsoft YaHei"/>
              </a:defRPr>
            </a:pPr>
            <a:r>
              <a:t>MMA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0432" y="5230368"/>
            <a:ext cx="982980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050" b="0">
                <a:solidFill>
                  <a:srgbClr val="566273"/>
                </a:solidFill>
                <a:latin typeface="Microsoft YaHei"/>
              </a:defRPr>
            </a:pPr>
            <a:r>
              <a:t>书目信息经Su 2026 Ref.39交叉核对；条件与概念来自用户参考图，未取得该篇全文。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5879592"/>
            <a:ext cx="1083564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6112" y="5934456"/>
            <a:ext cx="10506456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启发：含氯介质可能为主链活化提供入口；材料、温度和解聚路径不可直接外推。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93192"/>
            <a:ext cx="164592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1207" y="393192"/>
            <a:ext cx="41148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804672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1111"/>
                </a:solidFill>
                <a:latin typeface="Microsoft YaHei"/>
              </a:defRPr>
            </a:pPr>
            <a:r>
              <a:t>理论可行性：PS / CH₂Cl₂ 光裂解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292608"/>
            <a:ext cx="269748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5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58952"/>
            <a:ext cx="3017520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869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24712"/>
            <a:ext cx="1092708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无外加光催化剂：365 nm、O₂、30 ± 5 °C；溶剂并非必然惰性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78408"/>
            <a:ext cx="8229600" cy="1737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50" b="0">
                <a:solidFill>
                  <a:srgbClr val="566273"/>
                </a:solidFill>
                <a:latin typeface="Microsoft YaHei"/>
              </a:defRPr>
            </a:pPr>
            <a:r>
              <a:t>02 / 理论可行性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" y="6492240"/>
            <a:ext cx="11301984" cy="0"/>
          </a:xfrm>
          <a:prstGeom prst="line">
            <a:avLst/>
          </a:prstGeom>
          <a:ln w="508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56248"/>
            <a:ext cx="1056132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111111"/>
                </a:solidFill>
                <a:latin typeface="Arial"/>
              </a:defRPr>
            </a:pPr>
            <a:r>
              <a:t>Su et al., Angew. Chem. Int. Ed. 2026, e5578835.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19104" y="6309360"/>
            <a:ext cx="630936" cy="44805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3968" y="6364224"/>
            <a:ext cx="512064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819656"/>
            <a:ext cx="4937760" cy="34747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03864"/>
                </a:solidFill>
                <a:latin typeface="Microsoft YaHei"/>
              </a:defRPr>
            </a:pPr>
            <a:r>
              <a:t>标准体系与可观察证据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960120" y="2304288"/>
          <a:ext cx="505663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502152"/>
              </a:tblGrid>
              <a:tr h="3810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项目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文献报告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底物/介质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PS 10 mg / CH₂Cl₂ 4 mL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光源/气氛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365 nm / 1 bar O₂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自由基证据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PBN自旋捕获及作者拟合归属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链长证据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GPC显示Mn、Mw明显降低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反应对照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暗反应、Ar及介质变化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Freeform 14"/>
          <p:cNvSpPr/>
          <p:nvPr/>
        </p:nvSpPr>
        <p:spPr>
          <a:xfrm>
            <a:off x="6565392" y="2286000"/>
            <a:ext cx="3127248" cy="164592"/>
          </a:xfrm>
          <a:custGeom>
            <a:avLst/>
            <a:gdLst/>
            <a:ahLst/>
            <a:cxnLst/>
            <a:rect l="l" t="t" r="r" b="b"/>
            <a:pathLst>
              <a:path w="3127248" h="164592">
                <a:moveTo>
                  <a:pt x="0" y="0"/>
                </a:moveTo>
                <a:lnTo>
                  <a:pt x="521208" y="164592"/>
                </a:lnTo>
                <a:lnTo>
                  <a:pt x="1042416" y="0"/>
                </a:lnTo>
                <a:lnTo>
                  <a:pt x="1563624" y="164592"/>
                </a:lnTo>
                <a:lnTo>
                  <a:pt x="2084832" y="0"/>
                </a:lnTo>
                <a:lnTo>
                  <a:pt x="2606040" y="164592"/>
                </a:lnTo>
                <a:lnTo>
                  <a:pt x="3127248" y="0"/>
                </a:lnTo>
              </a:path>
            </a:pathLst>
          </a:custGeom>
          <a:noFill/>
          <a:ln w="2286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2258568"/>
            <a:ext cx="27432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60" y="2258568"/>
            <a:ext cx="27432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…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86600" y="2450592"/>
            <a:ext cx="0" cy="164592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reeform 18"/>
          <p:cNvSpPr/>
          <p:nvPr/>
        </p:nvSpPr>
        <p:spPr>
          <a:xfrm>
            <a:off x="6944059" y="2615184"/>
            <a:ext cx="285081" cy="329184"/>
          </a:xfrm>
          <a:custGeom>
            <a:avLst/>
            <a:gdLst/>
            <a:ahLst/>
            <a:cxnLst/>
            <a:rect l="l" t="t" r="r" b="b"/>
            <a:pathLst>
              <a:path w="285081" h="329184">
                <a:moveTo>
                  <a:pt x="142541" y="0"/>
                </a:moveTo>
                <a:lnTo>
                  <a:pt x="285081" y="82296"/>
                </a:lnTo>
                <a:lnTo>
                  <a:pt x="285081" y="246888"/>
                </a:lnTo>
                <a:lnTo>
                  <a:pt x="142541" y="329184"/>
                </a:lnTo>
                <a:lnTo>
                  <a:pt x="0" y="246888"/>
                </a:lnTo>
                <a:lnTo>
                  <a:pt x="0" y="82296"/>
                </a:lnTo>
                <a:lnTo>
                  <a:pt x="142541" y="0"/>
                </a:lnTo>
              </a:path>
            </a:pathLst>
          </a:custGeom>
          <a:noFill/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086600" y="2661269"/>
            <a:ext cx="102629" cy="59253"/>
          </a:xfrm>
          <a:prstGeom prst="line">
            <a:avLst/>
          </a:prstGeom>
          <a:ln w="1397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086600" y="2839029"/>
            <a:ext cx="102629" cy="59253"/>
          </a:xfrm>
          <a:prstGeom prst="line">
            <a:avLst/>
          </a:prstGeom>
          <a:ln w="1397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983970" y="2720522"/>
            <a:ext cx="0" cy="118507"/>
          </a:xfrm>
          <a:prstGeom prst="line">
            <a:avLst/>
          </a:prstGeom>
          <a:ln w="1397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129016" y="2450592"/>
            <a:ext cx="0" cy="164592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form 23"/>
          <p:cNvSpPr/>
          <p:nvPr/>
        </p:nvSpPr>
        <p:spPr>
          <a:xfrm>
            <a:off x="7986475" y="2615184"/>
            <a:ext cx="285081" cy="329184"/>
          </a:xfrm>
          <a:custGeom>
            <a:avLst/>
            <a:gdLst/>
            <a:ahLst/>
            <a:cxnLst/>
            <a:rect l="l" t="t" r="r" b="b"/>
            <a:pathLst>
              <a:path w="285081" h="329184">
                <a:moveTo>
                  <a:pt x="142541" y="0"/>
                </a:moveTo>
                <a:lnTo>
                  <a:pt x="285081" y="82296"/>
                </a:lnTo>
                <a:lnTo>
                  <a:pt x="285081" y="246888"/>
                </a:lnTo>
                <a:lnTo>
                  <a:pt x="142541" y="329184"/>
                </a:lnTo>
                <a:lnTo>
                  <a:pt x="0" y="246888"/>
                </a:lnTo>
                <a:lnTo>
                  <a:pt x="0" y="82296"/>
                </a:lnTo>
                <a:lnTo>
                  <a:pt x="142541" y="0"/>
                </a:lnTo>
              </a:path>
            </a:pathLst>
          </a:custGeom>
          <a:noFill/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129016" y="2661269"/>
            <a:ext cx="102629" cy="59253"/>
          </a:xfrm>
          <a:prstGeom prst="line">
            <a:avLst/>
          </a:prstGeom>
          <a:ln w="1397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8129016" y="2839029"/>
            <a:ext cx="102629" cy="59253"/>
          </a:xfrm>
          <a:prstGeom prst="line">
            <a:avLst/>
          </a:prstGeom>
          <a:ln w="1397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026386" y="2720522"/>
            <a:ext cx="0" cy="118507"/>
          </a:xfrm>
          <a:prstGeom prst="line">
            <a:avLst/>
          </a:prstGeom>
          <a:ln w="1397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71432" y="2450592"/>
            <a:ext cx="0" cy="164592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9028891" y="2615184"/>
            <a:ext cx="285081" cy="329184"/>
          </a:xfrm>
          <a:custGeom>
            <a:avLst/>
            <a:gdLst/>
            <a:ahLst/>
            <a:cxnLst/>
            <a:rect l="l" t="t" r="r" b="b"/>
            <a:pathLst>
              <a:path w="285081" h="329184">
                <a:moveTo>
                  <a:pt x="142541" y="0"/>
                </a:moveTo>
                <a:lnTo>
                  <a:pt x="285081" y="82296"/>
                </a:lnTo>
                <a:lnTo>
                  <a:pt x="285081" y="246888"/>
                </a:lnTo>
                <a:lnTo>
                  <a:pt x="142541" y="329184"/>
                </a:lnTo>
                <a:lnTo>
                  <a:pt x="0" y="246888"/>
                </a:lnTo>
                <a:lnTo>
                  <a:pt x="0" y="82296"/>
                </a:lnTo>
                <a:lnTo>
                  <a:pt x="142541" y="0"/>
                </a:lnTo>
              </a:path>
            </a:pathLst>
          </a:custGeom>
          <a:noFill/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171432" y="2661269"/>
            <a:ext cx="102629" cy="59253"/>
          </a:xfrm>
          <a:prstGeom prst="line">
            <a:avLst/>
          </a:prstGeom>
          <a:ln w="1397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9171432" y="2839029"/>
            <a:ext cx="102629" cy="59253"/>
          </a:xfrm>
          <a:prstGeom prst="line">
            <a:avLst/>
          </a:prstGeom>
          <a:ln w="1397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068802" y="2720522"/>
            <a:ext cx="0" cy="118507"/>
          </a:xfrm>
          <a:prstGeom prst="line">
            <a:avLst/>
          </a:prstGeom>
          <a:ln w="1397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73952" y="3108960"/>
            <a:ext cx="4389120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273"/>
                </a:solidFill>
                <a:latin typeface="Microsoft YaHei"/>
              </a:defRPr>
            </a:pPr>
            <a:r>
              <a:t>PS含芳基链段（概念示意）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257031" y="3474720"/>
            <a:ext cx="0" cy="265176"/>
          </a:xfrm>
          <a:prstGeom prst="line">
            <a:avLst/>
          </a:prstGeom>
          <a:ln w="17780">
            <a:solidFill>
              <a:srgbClr val="20386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503920" y="3456432"/>
            <a:ext cx="242316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03864"/>
                </a:solidFill>
                <a:latin typeface="Microsoft YaHei"/>
              </a:defRPr>
            </a:pPr>
            <a:r>
              <a:t>Cl· / O₂ 等参与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3849624"/>
            <a:ext cx="461772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11111"/>
                </a:solidFill>
                <a:latin typeface="Microsoft YaHei"/>
              </a:defRPr>
            </a:pPr>
            <a:r>
              <a:t>含氧中间体与低聚片段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257031" y="4443984"/>
            <a:ext cx="0" cy="320040"/>
          </a:xfrm>
          <a:prstGeom prst="line">
            <a:avLst/>
          </a:prstGeom>
          <a:ln w="17780">
            <a:solidFill>
              <a:srgbClr val="20386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510528" y="4937760"/>
            <a:ext cx="4617720" cy="4023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203864"/>
                </a:solidFill>
                <a:latin typeface="Microsoft YaHei"/>
              </a:defRPr>
            </a:pPr>
            <a:r>
              <a:t>C₆–C₈ 芳香族产物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956048"/>
            <a:ext cx="5029200" cy="5029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作者提出：中间体增强吸光，</a:t>
            </a:r>
          </a:p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反应出现自加速特征。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879592"/>
            <a:ext cx="1083564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934456"/>
            <a:ext cx="10506456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本课题首先要问：观察到的转化来自底物，还是来自含氯介质？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93192"/>
            <a:ext cx="164592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1207" y="393192"/>
            <a:ext cx="41148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804672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1111"/>
                </a:solidFill>
                <a:latin typeface="Microsoft YaHei"/>
              </a:defRPr>
            </a:pPr>
            <a:r>
              <a:t>理论可行性：PVC 光催化转化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292608"/>
            <a:ext cx="269748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5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58952"/>
            <a:ext cx="3017520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869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24712"/>
            <a:ext cx="1092708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CDs/Zr-MOF、水相、300 W Xe灯；文献系统与EAQ/DCE体系严格区分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78408"/>
            <a:ext cx="8229600" cy="1737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50" b="0">
                <a:solidFill>
                  <a:srgbClr val="566273"/>
                </a:solidFill>
                <a:latin typeface="Microsoft YaHei"/>
              </a:defRPr>
            </a:pPr>
            <a:r>
              <a:t>02 / PVC转化的证据设计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" y="6492240"/>
            <a:ext cx="11301984" cy="0"/>
          </a:xfrm>
          <a:prstGeom prst="line">
            <a:avLst/>
          </a:prstGeom>
          <a:ln w="508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56248"/>
            <a:ext cx="1056132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111111"/>
                </a:solidFill>
                <a:latin typeface="Arial"/>
              </a:defRPr>
            </a:pPr>
            <a:r>
              <a:t>Qin et al., Appl. Catal. B: Environ. 2024, 341, 123355.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19104" y="6309360"/>
            <a:ext cx="630936" cy="44805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3968" y="6364224"/>
            <a:ext cx="512064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7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14400" y="1847088"/>
          <a:ext cx="10332719" cy="2542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4754880"/>
                <a:gridCol w="3703320"/>
              </a:tblGrid>
              <a:tr h="508406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证据维度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文献观察 / 方法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本课题可借鉴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</a:tr>
              <a:tr h="50840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氯去向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Cl⁻浓度随反应时间变化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不能仅看C–Cl峰衰减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50840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活性种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捕获剂实验 + DMPO-ESR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需要独立方法互证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  <a:tr h="50840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链长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正文报告Mn：22000 → 528（60 h）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GPC原曲线在未上传SI S14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50840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产物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HPLC分析可溶产物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不能用转化率代替目标收率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60120" y="4727448"/>
            <a:ext cx="301752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203864"/>
                </a:solidFill>
                <a:latin typeface="Microsoft YaHei"/>
              </a:defRPr>
            </a:pPr>
            <a:r>
              <a:t>对照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230368"/>
            <a:ext cx="3017520" cy="3200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无光 / 无催化剂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4727448"/>
            <a:ext cx="301752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203864"/>
                </a:solidFill>
                <a:latin typeface="Microsoft YaHei"/>
              </a:defRPr>
            </a:pPr>
            <a:r>
              <a:t>定量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5230368"/>
            <a:ext cx="3017520" cy="3200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氯与产物去向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2983" y="4727448"/>
            <a:ext cx="301752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203864"/>
                </a:solidFill>
                <a:latin typeface="Microsoft YaHei"/>
              </a:defRPr>
            </a:pPr>
            <a:r>
              <a:t>链长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2983" y="5230368"/>
            <a:ext cx="3017520" cy="3200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SEC/GPC及组分平衡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879592"/>
            <a:ext cx="1083564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934456"/>
            <a:ext cx="10506456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建立“活性种—物料去向—分子量”的证据链，比单一表征更有说服力。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93192"/>
            <a:ext cx="164592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1207" y="393192"/>
            <a:ext cx="41148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804672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1111"/>
                </a:solidFill>
                <a:latin typeface="Microsoft YaHei"/>
              </a:defRPr>
            </a:pPr>
            <a:r>
              <a:t>科学问题与研究假说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292608"/>
            <a:ext cx="269748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5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58952"/>
            <a:ext cx="3017520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869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24712"/>
            <a:ext cx="1092708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AQ仅提供光敏反应的候选入口；关键在PVC侧的反应路径与证据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78408"/>
            <a:ext cx="8229600" cy="1737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50" b="0">
                <a:solidFill>
                  <a:srgbClr val="566273"/>
                </a:solidFill>
                <a:latin typeface="Microsoft YaHei"/>
              </a:defRPr>
            </a:pPr>
            <a:r>
              <a:t>03 / 科学问题与研究策略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" y="6492240"/>
            <a:ext cx="11301984" cy="0"/>
          </a:xfrm>
          <a:prstGeom prst="line">
            <a:avLst/>
          </a:prstGeom>
          <a:ln w="508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56248"/>
            <a:ext cx="1056132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111111"/>
                </a:solidFill>
                <a:latin typeface="Arial"/>
              </a:defRPr>
            </a:pPr>
            <a:r>
              <a:t>Xu et al., Nat. Rev. Methods Primers 2023, 3, 44. Chen et al., Environ. Sci. Ecotechnol. 2024, 22, 100449.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19104" y="6309360"/>
            <a:ext cx="630936" cy="44805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3968" y="6364224"/>
            <a:ext cx="512064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3" name="Freeform 12"/>
          <p:cNvSpPr/>
          <p:nvPr/>
        </p:nvSpPr>
        <p:spPr>
          <a:xfrm>
            <a:off x="1269750" y="2157984"/>
            <a:ext cx="506812" cy="585216"/>
          </a:xfrm>
          <a:custGeom>
            <a:avLst/>
            <a:gdLst/>
            <a:ahLst/>
            <a:cxnLst/>
            <a:rect l="l" t="t" r="r" b="b"/>
            <a:pathLst>
              <a:path w="506812" h="585216">
                <a:moveTo>
                  <a:pt x="253406" y="0"/>
                </a:moveTo>
                <a:lnTo>
                  <a:pt x="506812" y="146304"/>
                </a:lnTo>
                <a:lnTo>
                  <a:pt x="506812" y="438912"/>
                </a:lnTo>
                <a:lnTo>
                  <a:pt x="253406" y="585216"/>
                </a:lnTo>
                <a:lnTo>
                  <a:pt x="0" y="438912"/>
                </a:lnTo>
                <a:lnTo>
                  <a:pt x="0" y="146304"/>
                </a:lnTo>
                <a:lnTo>
                  <a:pt x="253406" y="0"/>
                </a:lnTo>
              </a:path>
            </a:pathLst>
          </a:custGeom>
          <a:noFill/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523156" y="2239914"/>
            <a:ext cx="182452" cy="105339"/>
          </a:xfrm>
          <a:prstGeom prst="line">
            <a:avLst/>
          </a:prstGeom>
          <a:ln w="1397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523156" y="2555930"/>
            <a:ext cx="182452" cy="105339"/>
          </a:xfrm>
          <a:prstGeom prst="line">
            <a:avLst/>
          </a:prstGeom>
          <a:ln w="1397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40703" y="2345253"/>
            <a:ext cx="0" cy="210677"/>
          </a:xfrm>
          <a:prstGeom prst="line">
            <a:avLst/>
          </a:prstGeom>
          <a:ln w="1397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1776562" y="2157984"/>
            <a:ext cx="506811" cy="585216"/>
          </a:xfrm>
          <a:custGeom>
            <a:avLst/>
            <a:gdLst/>
            <a:ahLst/>
            <a:cxnLst/>
            <a:rect l="l" t="t" r="r" b="b"/>
            <a:pathLst>
              <a:path w="506811" h="585216">
                <a:moveTo>
                  <a:pt x="253406" y="0"/>
                </a:moveTo>
                <a:lnTo>
                  <a:pt x="506811" y="146304"/>
                </a:lnTo>
                <a:lnTo>
                  <a:pt x="506811" y="438912"/>
                </a:lnTo>
                <a:lnTo>
                  <a:pt x="253406" y="585216"/>
                </a:lnTo>
                <a:lnTo>
                  <a:pt x="0" y="438912"/>
                </a:lnTo>
                <a:lnTo>
                  <a:pt x="0" y="146304"/>
                </a:lnTo>
                <a:lnTo>
                  <a:pt x="253406" y="0"/>
                </a:lnTo>
              </a:path>
            </a:pathLst>
          </a:custGeom>
          <a:noFill/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283373" y="2157984"/>
            <a:ext cx="506812" cy="585216"/>
          </a:xfrm>
          <a:custGeom>
            <a:avLst/>
            <a:gdLst/>
            <a:ahLst/>
            <a:cxnLst/>
            <a:rect l="l" t="t" r="r" b="b"/>
            <a:pathLst>
              <a:path w="506812" h="585216">
                <a:moveTo>
                  <a:pt x="253406" y="0"/>
                </a:moveTo>
                <a:lnTo>
                  <a:pt x="506812" y="146304"/>
                </a:lnTo>
                <a:lnTo>
                  <a:pt x="506812" y="438912"/>
                </a:lnTo>
                <a:lnTo>
                  <a:pt x="253406" y="585216"/>
                </a:lnTo>
                <a:lnTo>
                  <a:pt x="0" y="438912"/>
                </a:lnTo>
                <a:lnTo>
                  <a:pt x="0" y="146304"/>
                </a:lnTo>
                <a:lnTo>
                  <a:pt x="253406" y="0"/>
                </a:lnTo>
              </a:path>
            </a:pathLst>
          </a:custGeom>
          <a:noFill/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2536779" y="2239914"/>
            <a:ext cx="182453" cy="105339"/>
          </a:xfrm>
          <a:prstGeom prst="line">
            <a:avLst/>
          </a:prstGeom>
          <a:ln w="1397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536779" y="2555930"/>
            <a:ext cx="182453" cy="105339"/>
          </a:xfrm>
          <a:prstGeom prst="line">
            <a:avLst/>
          </a:prstGeom>
          <a:ln w="1397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354327" y="2345253"/>
            <a:ext cx="0" cy="210677"/>
          </a:xfrm>
          <a:prstGeom prst="line">
            <a:avLst/>
          </a:prstGeom>
          <a:ln w="1397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007108" y="1947672"/>
            <a:ext cx="0" cy="210312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052828" y="1947672"/>
            <a:ext cx="0" cy="210312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929384" y="1728216"/>
            <a:ext cx="274320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11111"/>
                </a:solidFill>
                <a:latin typeface="Arial"/>
              </a:defRPr>
            </a:pPr>
            <a:r>
              <a:t>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007108" y="2743200"/>
            <a:ext cx="0" cy="210312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052828" y="2743200"/>
            <a:ext cx="0" cy="210312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929384" y="2962656"/>
            <a:ext cx="274320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11111"/>
                </a:solidFill>
                <a:latin typeface="Arial"/>
              </a:defRPr>
            </a:pPr>
            <a:r>
              <a:t>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465576"/>
            <a:ext cx="2148840" cy="3657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AQ*：攫氢 / 转移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429000" y="2706624"/>
            <a:ext cx="777240" cy="0"/>
          </a:xfrm>
          <a:prstGeom prst="line">
            <a:avLst/>
          </a:prstGeom>
          <a:ln w="17780">
            <a:solidFill>
              <a:srgbClr val="20386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 29"/>
          <p:cNvSpPr/>
          <p:nvPr/>
        </p:nvSpPr>
        <p:spPr>
          <a:xfrm>
            <a:off x="4590288" y="2514600"/>
            <a:ext cx="4526279" cy="210312"/>
          </a:xfrm>
          <a:custGeom>
            <a:avLst/>
            <a:gdLst/>
            <a:ahLst/>
            <a:cxnLst/>
            <a:rect l="l" t="t" r="r" b="b"/>
            <a:pathLst>
              <a:path w="4526279" h="210312">
                <a:moveTo>
                  <a:pt x="0" y="0"/>
                </a:moveTo>
                <a:lnTo>
                  <a:pt x="502919" y="210312"/>
                </a:lnTo>
                <a:lnTo>
                  <a:pt x="1005839" y="0"/>
                </a:lnTo>
                <a:lnTo>
                  <a:pt x="1508760" y="210312"/>
                </a:lnTo>
                <a:lnTo>
                  <a:pt x="2011680" y="0"/>
                </a:lnTo>
                <a:lnTo>
                  <a:pt x="2514600" y="210312"/>
                </a:lnTo>
                <a:lnTo>
                  <a:pt x="3017520" y="0"/>
                </a:lnTo>
                <a:lnTo>
                  <a:pt x="3520440" y="210312"/>
                </a:lnTo>
                <a:lnTo>
                  <a:pt x="4023360" y="0"/>
                </a:lnTo>
                <a:lnTo>
                  <a:pt x="4526279" y="210312"/>
                </a:lnTo>
              </a:path>
            </a:pathLst>
          </a:custGeom>
          <a:noFill/>
          <a:ln w="2286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5093207" y="2724912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965192" y="3127248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99048" y="2724912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971032" y="3127248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104888" y="2724912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976872" y="3127248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110728" y="2724912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982712" y="3127248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2487168"/>
            <a:ext cx="27432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2288" y="2697480"/>
            <a:ext cx="27432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3447288"/>
            <a:ext cx="6126480" cy="4389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203864"/>
                </a:solidFill>
                <a:latin typeface="Microsoft YaHei"/>
              </a:defRPr>
            </a:pPr>
            <a:r>
              <a:t>脱氯？    氧化？    交联？    C–C断裂？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960120" y="4187952"/>
          <a:ext cx="10259568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247888"/>
              </a:tblGrid>
              <a:tr h="420624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研究层级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需要回答的问题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反应启动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AQ、溶剂、氧气与PVC结构分别起什么作用？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反应结果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Cl去向是否清楚？链长是否下降？产物是否可信？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43" name="Rectangle 42"/>
          <p:cNvSpPr/>
          <p:nvPr/>
        </p:nvSpPr>
        <p:spPr>
          <a:xfrm>
            <a:off x="731520" y="5879592"/>
            <a:ext cx="1083564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5934456"/>
            <a:ext cx="10506456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不预设Cl·唯一主导；用可区分的实验逐步检验每一个关键步骤。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93192"/>
            <a:ext cx="164592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1207" y="393192"/>
            <a:ext cx="41148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804672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1111"/>
                </a:solidFill>
                <a:latin typeface="Microsoft YaHei"/>
              </a:defRPr>
            </a:pPr>
            <a:r>
              <a:t>总体研究路线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292608"/>
            <a:ext cx="269748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5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58952"/>
            <a:ext cx="3017520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869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24712"/>
            <a:ext cx="1092708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每一步均保留产物鉴别、重复性与物料平衡，避免仅用反应现象衔接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78408"/>
            <a:ext cx="8229600" cy="1737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50" b="0">
                <a:solidFill>
                  <a:srgbClr val="566273"/>
                </a:solidFill>
                <a:latin typeface="Microsoft YaHei"/>
              </a:defRPr>
            </a:pPr>
            <a:r>
              <a:t>03 / 实验研究路线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" y="6492240"/>
            <a:ext cx="11301984" cy="0"/>
          </a:xfrm>
          <a:prstGeom prst="line">
            <a:avLst/>
          </a:prstGeom>
          <a:ln w="508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56248"/>
            <a:ext cx="1056132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111111"/>
                </a:solidFill>
                <a:latin typeface="Arial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11119104" y="6309360"/>
            <a:ext cx="630936" cy="44805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3968" y="6364224"/>
            <a:ext cx="512064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3" name="Oval 12"/>
          <p:cNvSpPr/>
          <p:nvPr/>
        </p:nvSpPr>
        <p:spPr>
          <a:xfrm>
            <a:off x="1545335" y="1911096"/>
            <a:ext cx="585216" cy="585216"/>
          </a:xfrm>
          <a:prstGeom prst="ellipse">
            <a:avLst/>
          </a:prstGeom>
          <a:solidFill>
            <a:srgbClr val="203864"/>
          </a:solidFill>
          <a:ln w="1397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81912" y="1984248"/>
            <a:ext cx="512064" cy="4572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889504"/>
            <a:ext cx="2194560" cy="4572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203864"/>
                </a:solidFill>
                <a:latin typeface="Microsoft YaHei"/>
              </a:defRPr>
            </a:pPr>
            <a:r>
              <a:t>氯代烷烃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657600"/>
            <a:ext cx="2194560" cy="7772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111111"/>
                </a:solidFill>
                <a:latin typeface="Microsoft YaHei"/>
              </a:defRPr>
            </a:pPr>
            <a:r>
              <a:t>局部C–Cl/C–H反应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745736"/>
            <a:ext cx="2194560" cy="6400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566273"/>
                </a:solidFill>
                <a:latin typeface="Microsoft YaHei"/>
              </a:defRPr>
            </a:pPr>
            <a:r>
              <a:t>产物归属与定量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12848" y="2203704"/>
            <a:ext cx="914400" cy="0"/>
          </a:xfrm>
          <a:prstGeom prst="line">
            <a:avLst/>
          </a:prstGeom>
          <a:ln w="1905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151376" y="1911096"/>
            <a:ext cx="585216" cy="585216"/>
          </a:xfrm>
          <a:prstGeom prst="ellipse">
            <a:avLst/>
          </a:prstGeom>
          <a:solidFill>
            <a:srgbClr val="203864"/>
          </a:solidFill>
          <a:ln w="1397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87952" y="1984248"/>
            <a:ext cx="512064" cy="4572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8728" y="2889504"/>
            <a:ext cx="2194560" cy="4572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203864"/>
                </a:solidFill>
                <a:latin typeface="Microsoft YaHei"/>
              </a:defRPr>
            </a:pPr>
            <a:r>
              <a:t>氯代石蜡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3657600"/>
            <a:ext cx="2194560" cy="7772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111111"/>
                </a:solidFill>
                <a:latin typeface="Microsoft YaHei"/>
              </a:defRPr>
            </a:pPr>
            <a:r>
              <a:t>多位点与复杂结构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8728" y="4745736"/>
            <a:ext cx="2194560" cy="6400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566273"/>
                </a:solidFill>
                <a:latin typeface="Microsoft YaHei"/>
              </a:defRPr>
            </a:pPr>
            <a:r>
              <a:t>筛选反应条件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18888" y="2203704"/>
            <a:ext cx="914400" cy="0"/>
          </a:xfrm>
          <a:prstGeom prst="line">
            <a:avLst/>
          </a:prstGeom>
          <a:ln w="1905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757416" y="1911096"/>
            <a:ext cx="585216" cy="585216"/>
          </a:xfrm>
          <a:prstGeom prst="ellipse">
            <a:avLst/>
          </a:prstGeom>
          <a:solidFill>
            <a:srgbClr val="203864"/>
          </a:solidFill>
          <a:ln w="1397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3992" y="1984248"/>
            <a:ext cx="512064" cy="4572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2889504"/>
            <a:ext cx="2194560" cy="4572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203864"/>
                </a:solidFill>
                <a:latin typeface="Microsoft YaHei"/>
              </a:defRPr>
            </a:pPr>
            <a:r>
              <a:t>PVC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657600"/>
            <a:ext cx="2194560" cy="7772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111111"/>
                </a:solidFill>
                <a:latin typeface="Microsoft YaHei"/>
              </a:defRPr>
            </a:pPr>
            <a:r>
              <a:t>连续链及聚集态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4745736"/>
            <a:ext cx="2194560" cy="6400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566273"/>
                </a:solidFill>
                <a:latin typeface="Microsoft YaHei"/>
              </a:defRPr>
            </a:pPr>
            <a:r>
              <a:t>脱氯、氧化与链长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24928" y="2203704"/>
            <a:ext cx="914400" cy="0"/>
          </a:xfrm>
          <a:prstGeom prst="line">
            <a:avLst/>
          </a:prstGeom>
          <a:ln w="1905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363456" y="1911096"/>
            <a:ext cx="585216" cy="585216"/>
          </a:xfrm>
          <a:prstGeom prst="ellipse">
            <a:avLst/>
          </a:prstGeom>
          <a:solidFill>
            <a:srgbClr val="203864"/>
          </a:solidFill>
          <a:ln w="1397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00032" y="1984248"/>
            <a:ext cx="512064" cy="4572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808" y="2889504"/>
            <a:ext cx="2194560" cy="4572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203864"/>
                </a:solidFill>
                <a:latin typeface="Microsoft YaHei"/>
              </a:defRPr>
            </a:pPr>
            <a:r>
              <a:t>机制验证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0808" y="3657600"/>
            <a:ext cx="2194560" cy="7772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111111"/>
                </a:solidFill>
                <a:latin typeface="Microsoft YaHei"/>
              </a:defRPr>
            </a:pPr>
            <a:r>
              <a:t>区分竞争路径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0808" y="4745736"/>
            <a:ext cx="2194560" cy="6400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566273"/>
                </a:solidFill>
                <a:latin typeface="Microsoft YaHei"/>
              </a:defRPr>
            </a:pPr>
            <a:r>
              <a:t>活性种与物料闭合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879592"/>
            <a:ext cx="1083564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5934456"/>
            <a:ext cx="10506456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模型帮助拆解局部化学，但不能代替PVC聚集态与连续反应的验证。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93192"/>
            <a:ext cx="164592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1207" y="393192"/>
            <a:ext cx="41148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804672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1111"/>
                </a:solidFill>
                <a:latin typeface="Microsoft YaHei"/>
              </a:defRPr>
            </a:pPr>
            <a:r>
              <a:t>前期探索：模型反应条件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292608"/>
            <a:ext cx="269748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5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58952"/>
            <a:ext cx="3017520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869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24712"/>
            <a:ext cx="1092708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已开展实验用实线记录；缺失的温度、光功率和定量细节仍需补齐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78408"/>
            <a:ext cx="8229600" cy="1737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50" b="0">
                <a:solidFill>
                  <a:srgbClr val="566273"/>
                </a:solidFill>
                <a:latin typeface="Microsoft YaHei"/>
              </a:defRPr>
            </a:pPr>
            <a:r>
              <a:t>04 / 前期实验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" y="6492240"/>
            <a:ext cx="11301984" cy="0"/>
          </a:xfrm>
          <a:prstGeom prst="line">
            <a:avLst/>
          </a:prstGeom>
          <a:ln w="508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56248"/>
            <a:ext cx="1056132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111111"/>
                </a:solidFill>
                <a:latin typeface="Arial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11119104" y="6309360"/>
            <a:ext cx="630936" cy="44805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3968" y="6364224"/>
            <a:ext cx="512064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8992" y="4160520"/>
            <a:ext cx="4526280" cy="658368"/>
          </a:xfrm>
          <a:prstGeom prst="roundRect">
            <a:avLst/>
          </a:prstGeom>
          <a:solidFill>
            <a:srgbClr val="E7ECF4"/>
          </a:solidFill>
          <a:ln w="1651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334256"/>
            <a:ext cx="4023360" cy="3200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203864"/>
                </a:solidFill>
                <a:latin typeface="Microsoft YaHei"/>
              </a:defRPr>
            </a:pPr>
            <a:r>
              <a:t>365 nm 光反应平台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08760" y="2468880"/>
            <a:ext cx="548640" cy="1691640"/>
          </a:xfrm>
          <a:prstGeom prst="roundRect">
            <a:avLst/>
          </a:prstGeom>
          <a:noFill/>
          <a:ln w="1651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39" y="2304288"/>
            <a:ext cx="640080" cy="20116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63624" y="3273552"/>
            <a:ext cx="438912" cy="795528"/>
          </a:xfrm>
          <a:prstGeom prst="rect">
            <a:avLst/>
          </a:prstGeom>
          <a:solidFill>
            <a:srgbClr val="E9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35607" y="5056632"/>
            <a:ext cx="82296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566273"/>
                </a:solidFill>
                <a:latin typeface="Microsoft YaHei"/>
              </a:defRPr>
            </a:pPr>
            <a:r>
              <a:t>反应管1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80" y="2468880"/>
            <a:ext cx="548640" cy="1691640"/>
          </a:xfrm>
          <a:prstGeom prst="roundRect">
            <a:avLst/>
          </a:prstGeom>
          <a:noFill/>
          <a:ln w="1651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51760" y="2304288"/>
            <a:ext cx="640080" cy="20116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52344" y="3273552"/>
            <a:ext cx="438912" cy="795528"/>
          </a:xfrm>
          <a:prstGeom prst="rect">
            <a:avLst/>
          </a:prstGeom>
          <a:solidFill>
            <a:srgbClr val="E9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24328" y="5056632"/>
            <a:ext cx="82296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566273"/>
                </a:solidFill>
                <a:latin typeface="Microsoft YaHei"/>
              </a:defRPr>
            </a:pPr>
            <a:r>
              <a:t>反应管2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86200" y="2468880"/>
            <a:ext cx="548640" cy="1691640"/>
          </a:xfrm>
          <a:prstGeom prst="roundRect">
            <a:avLst/>
          </a:prstGeom>
          <a:noFill/>
          <a:ln w="1651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0" y="2304288"/>
            <a:ext cx="640080" cy="20116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41063" y="3273552"/>
            <a:ext cx="438912" cy="795528"/>
          </a:xfrm>
          <a:prstGeom prst="rect">
            <a:avLst/>
          </a:prstGeom>
          <a:solidFill>
            <a:srgbClr val="E9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13048" y="5056632"/>
            <a:ext cx="82296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566273"/>
                </a:solidFill>
                <a:latin typeface="Microsoft YaHei"/>
              </a:defRPr>
            </a:pPr>
            <a:r>
              <a:t>反应管3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651760" y="1810512"/>
            <a:ext cx="0" cy="475488"/>
          </a:xfrm>
          <a:prstGeom prst="line">
            <a:avLst/>
          </a:prstGeom>
          <a:ln w="1778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83080" y="1755648"/>
            <a:ext cx="77724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03864"/>
                </a:solidFill>
                <a:latin typeface="Microsoft YaHei"/>
              </a:defRPr>
            </a:pPr>
            <a:r>
              <a:t>O₂ / N₂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080760" y="1847088"/>
          <a:ext cx="51663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3474720"/>
              </a:tblGrid>
              <a:tr h="48593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参数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原始记录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</a:tr>
              <a:tr h="48593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底物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2-氯戊烷 0.5 mmol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48593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光敏组分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乙基蒽醌 5 mg mL⁻¹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  <a:tr h="48593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溶剂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DCE 4 mL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48593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光源 / 时间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365 nm / 6 h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  <a:tr h="48593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气氛变量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O₂、O₂鼓泡、N₂、空气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4859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未提供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温度、光功率、内标与校准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731520" y="5879592"/>
            <a:ext cx="1083564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934456"/>
            <a:ext cx="10506456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先建立可复现实验记录与分析方法，再讨论体系中谁被真正转化。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93192"/>
            <a:ext cx="164592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1207" y="393192"/>
            <a:ext cx="41148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804672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1111"/>
                </a:solidFill>
                <a:latin typeface="Microsoft YaHei"/>
              </a:defRPr>
            </a:pPr>
            <a:r>
              <a:t>模型反应：气氛影响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292608"/>
            <a:ext cx="269748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5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58952"/>
            <a:ext cx="3017520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869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24712"/>
            <a:ext cx="1092708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数值按原始记录保留；目前没有平行次数、误差或完整校准信息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78408"/>
            <a:ext cx="8229600" cy="1737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50" b="0">
                <a:solidFill>
                  <a:srgbClr val="566273"/>
                </a:solidFill>
                <a:latin typeface="Microsoft YaHei"/>
              </a:defRPr>
            </a:pPr>
            <a:r>
              <a:t>04 / 模型分子结果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" y="6492240"/>
            <a:ext cx="11301984" cy="0"/>
          </a:xfrm>
          <a:prstGeom prst="line">
            <a:avLst/>
          </a:prstGeom>
          <a:ln w="508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56248"/>
            <a:ext cx="1056132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111111"/>
                </a:solidFill>
                <a:latin typeface="Arial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11119104" y="6309360"/>
            <a:ext cx="630936" cy="44805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3968" y="6364224"/>
            <a:ext cx="512064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11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914400" y="1856231"/>
          <a:ext cx="6446520" cy="35844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918704" y="1874519"/>
            <a:ext cx="3383280" cy="905256"/>
          </a:xfrm>
          <a:prstGeom prst="roundRect">
            <a:avLst/>
          </a:prstGeom>
          <a:noFill/>
          <a:ln w="16510">
            <a:solidFill>
              <a:srgbClr val="426BB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0727" y="1975103"/>
            <a:ext cx="3017520" cy="3200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203864"/>
                </a:solidFill>
                <a:latin typeface="Microsoft YaHei"/>
              </a:defRPr>
            </a:pPr>
            <a:r>
              <a:t>O₂ vs N₂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7" y="2404872"/>
            <a:ext cx="3017520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66273"/>
                </a:solidFill>
                <a:latin typeface="Microsoft YaHei"/>
              </a:defRPr>
            </a:pPr>
            <a:r>
              <a:t>记录值差13.8个百分点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18704" y="3017520"/>
            <a:ext cx="3383280" cy="905256"/>
          </a:xfrm>
          <a:prstGeom prst="roundRect">
            <a:avLst/>
          </a:prstGeom>
          <a:noFill/>
          <a:ln w="16510">
            <a:solidFill>
              <a:srgbClr val="426BB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7" y="3118103"/>
            <a:ext cx="3017520" cy="3200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203864"/>
                </a:solidFill>
                <a:latin typeface="Microsoft YaHei"/>
              </a:defRPr>
            </a:pPr>
            <a:r>
              <a:t>N₂下仍有73.8%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7" y="3547872"/>
            <a:ext cx="3017520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66273"/>
                </a:solidFill>
                <a:latin typeface="Microsoft YaHei"/>
              </a:defRPr>
            </a:pPr>
            <a:r>
              <a:t>不能据此锁定氧或Cl·作用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18704" y="4160520"/>
            <a:ext cx="3383280" cy="905256"/>
          </a:xfrm>
          <a:prstGeom prst="roundRect">
            <a:avLst/>
          </a:prstGeom>
          <a:noFill/>
          <a:ln w="16510">
            <a:solidFill>
              <a:srgbClr val="426BB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0727" y="4261104"/>
            <a:ext cx="3017520" cy="3200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203864"/>
                </a:solidFill>
                <a:latin typeface="Microsoft YaHei"/>
              </a:defRPr>
            </a:pPr>
            <a:r>
              <a:t>当前最大缺口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7" y="4690872"/>
            <a:ext cx="3017520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66273"/>
                </a:solidFill>
                <a:latin typeface="Microsoft YaHei"/>
              </a:defRPr>
            </a:pPr>
            <a:r>
              <a:t>底物峰、内标与产物定量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879592"/>
            <a:ext cx="1083564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934456"/>
            <a:ext cx="10506456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转化记录尚不等于预期降解：必须先确认“消耗的是谁、生成了什么”。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93192"/>
            <a:ext cx="164592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1207" y="393192"/>
            <a:ext cx="41148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804672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1111"/>
                </a:solidFill>
                <a:latin typeface="Microsoft YaHei"/>
              </a:defRPr>
            </a:pPr>
            <a:r>
              <a:t>模型反应：候选产物分析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292608"/>
            <a:ext cx="269748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5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58952"/>
            <a:ext cx="3017520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869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24712"/>
            <a:ext cx="1092708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完整保留原表六行记录；候选名称应以质谱、标准品和独立分析为准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78408"/>
            <a:ext cx="8229600" cy="1737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50" b="0">
                <a:solidFill>
                  <a:srgbClr val="566273"/>
                </a:solidFill>
                <a:latin typeface="Microsoft YaHei"/>
              </a:defRPr>
            </a:pPr>
            <a:r>
              <a:t>04 / 产物分析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" y="6492240"/>
            <a:ext cx="11301984" cy="0"/>
          </a:xfrm>
          <a:prstGeom prst="line">
            <a:avLst/>
          </a:prstGeom>
          <a:ln w="508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56248"/>
            <a:ext cx="1056132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111111"/>
                </a:solidFill>
                <a:latin typeface="Arial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11119104" y="6309360"/>
            <a:ext cx="630936" cy="44805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3968" y="6364224"/>
            <a:ext cx="512064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12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14400" y="1837943"/>
          <a:ext cx="10351008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377440"/>
                <a:gridCol w="2011680"/>
                <a:gridCol w="1645920"/>
                <a:gridCol w="1481328"/>
              </a:tblGrid>
              <a:tr h="399723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条件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2,4-二氯戊烷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四氯丁烷类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氯乙酸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未知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</a:tr>
              <a:tr h="399723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O₂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√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√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√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√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399723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O₂鼓泡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√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√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√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√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  <a:tr h="399723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N₂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√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√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n.d.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/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399723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空气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/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√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n.d.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/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  <a:tr h="399723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乙腈＋不同气氛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n.d.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n.d.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n.d.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/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39972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乙腈，2.5 mmol 2-CP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n.d.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n.d.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n.d.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/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41832" y="4718304"/>
            <a:ext cx="10195560" cy="31089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66273"/>
                </a:solidFill>
                <a:latin typeface="Microsoft YaHei"/>
              </a:defRPr>
            </a:pPr>
            <a:r>
              <a:t>√、n.d.、/ 与2-CP缩写沿用原记录；“/”的具体含义未另行明确。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266944"/>
            <a:ext cx="2103120" cy="3657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203864"/>
                </a:solidFill>
                <a:latin typeface="Microsoft YaHei"/>
              </a:defRPr>
            </a:pPr>
            <a:r>
              <a:t>GC-MS初筛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91256" y="5431536"/>
            <a:ext cx="329184" cy="0"/>
          </a:xfrm>
          <a:prstGeom prst="line">
            <a:avLst/>
          </a:prstGeom>
          <a:ln w="1524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30168" y="5266944"/>
            <a:ext cx="2103120" cy="3657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203864"/>
                </a:solidFill>
                <a:latin typeface="Microsoft YaHei"/>
              </a:defRPr>
            </a:pPr>
            <a:r>
              <a:t>标准品/保留时间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69864" y="5431536"/>
            <a:ext cx="329184" cy="0"/>
          </a:xfrm>
          <a:prstGeom prst="line">
            <a:avLst/>
          </a:prstGeom>
          <a:ln w="1524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08775" y="5266944"/>
            <a:ext cx="2103120" cy="3657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203864"/>
                </a:solidFill>
                <a:latin typeface="Microsoft YaHei"/>
              </a:defRPr>
            </a:pPr>
            <a:r>
              <a:t>内标与校准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48471" y="5431536"/>
            <a:ext cx="329184" cy="0"/>
          </a:xfrm>
          <a:prstGeom prst="line">
            <a:avLst/>
          </a:prstGeom>
          <a:ln w="1524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787384" y="5266944"/>
            <a:ext cx="2103120" cy="3657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203864"/>
                </a:solidFill>
                <a:latin typeface="Microsoft YaHei"/>
              </a:defRPr>
            </a:pPr>
            <a:r>
              <a:t>产物定量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879592"/>
            <a:ext cx="1083564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934456"/>
            <a:ext cx="10506456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先确认结构与来源，再讨论选择性；未检出也不能直接解释为零转化。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93192"/>
            <a:ext cx="164592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1207" y="393192"/>
            <a:ext cx="41148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804672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1111"/>
                </a:solidFill>
                <a:latin typeface="Microsoft YaHei"/>
              </a:defRPr>
            </a:pPr>
            <a:r>
              <a:t>问题分析：溶剂竞争反应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292608"/>
            <a:ext cx="269748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5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58952"/>
            <a:ext cx="3017520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869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24712"/>
            <a:ext cx="1092708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未明确获得预期模型产物；DCE相关候选信号是当前最值得核查的线索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78408"/>
            <a:ext cx="8229600" cy="1737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50" b="0">
                <a:solidFill>
                  <a:srgbClr val="566273"/>
                </a:solidFill>
                <a:latin typeface="Microsoft YaHei"/>
              </a:defRPr>
            </a:pPr>
            <a:r>
              <a:t>05 / 异常现象与竞争路径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" y="6492240"/>
            <a:ext cx="11301984" cy="0"/>
          </a:xfrm>
          <a:prstGeom prst="line">
            <a:avLst/>
          </a:prstGeom>
          <a:ln w="508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56248"/>
            <a:ext cx="1056132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111111"/>
                </a:solidFill>
                <a:latin typeface="Arial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11119104" y="6309360"/>
            <a:ext cx="630936" cy="44805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3968" y="6364224"/>
            <a:ext cx="512064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1828800"/>
            <a:ext cx="4892040" cy="34747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03864"/>
                </a:solidFill>
                <a:latin typeface="Microsoft YaHei"/>
              </a:defRPr>
            </a:pPr>
            <a:r>
              <a:t>候选路径一：模型底物活化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423160"/>
            <a:ext cx="4480560" cy="4572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111111"/>
                </a:solidFill>
                <a:latin typeface="Microsoft YaHei"/>
              </a:defRPr>
            </a:pPr>
            <a:r>
              <a:t>CH₃–CH(Cl)–CH₂–CH₂–CH₃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54680" y="3008376"/>
            <a:ext cx="0" cy="374904"/>
          </a:xfrm>
          <a:prstGeom prst="line">
            <a:avLst/>
          </a:prstGeom>
          <a:ln w="16510">
            <a:solidFill>
              <a:srgbClr val="20386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74720" y="3081528"/>
            <a:ext cx="192024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03864"/>
                </a:solidFill>
                <a:latin typeface="Microsoft YaHei"/>
              </a:defRPr>
            </a:pPr>
            <a:r>
              <a:t>AQ* / O₂？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3575304"/>
            <a:ext cx="4480560" cy="4572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预期转化产物：尚待确认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1828800"/>
            <a:ext cx="4892040" cy="34747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03864"/>
                </a:solidFill>
                <a:latin typeface="Microsoft YaHei"/>
              </a:defRPr>
            </a:pPr>
            <a:r>
              <a:t>候选路径二：介质竞争反应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2423160"/>
            <a:ext cx="4206240" cy="4572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500" b="1">
                <a:solidFill>
                  <a:srgbClr val="111111"/>
                </a:solidFill>
                <a:latin typeface="Microsoft YaHei"/>
              </a:defRPr>
            </a:pPr>
            <a:r>
              <a:t>Cl–CH₂–CH₂–Cl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32520" y="3008376"/>
            <a:ext cx="0" cy="374904"/>
          </a:xfrm>
          <a:prstGeom prst="line">
            <a:avLst/>
          </a:prstGeom>
          <a:ln w="16510">
            <a:solidFill>
              <a:srgbClr val="20386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052560" y="3081528"/>
            <a:ext cx="192024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03864"/>
                </a:solidFill>
                <a:latin typeface="Microsoft YaHei"/>
              </a:defRPr>
            </a:pPr>
            <a:r>
              <a:t>AQ* / O₂？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3575304"/>
            <a:ext cx="4480560" cy="4572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溶剂衍生候选产物 / 副反应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950976" y="4343400"/>
          <a:ext cx="10314432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3400"/>
                <a:gridCol w="5971032"/>
              </a:tblGrid>
              <a:tr h="3810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优先实验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用来区分什么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无底物＋DCE＋EAQ＋光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当前信号是否由溶剂单独产生？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换溶剂＋吸收/溶解性对照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是介质参与，还是吸光与可及性改变？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731520" y="5879592"/>
            <a:ext cx="1083564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934456"/>
            <a:ext cx="10506456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把溶剂视为可检验的反应变量，而不是默认惰性的背景。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93192"/>
            <a:ext cx="164592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1207" y="393192"/>
            <a:ext cx="41148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804672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1111"/>
                </a:solidFill>
                <a:latin typeface="Microsoft YaHei"/>
              </a:defRPr>
            </a:pPr>
            <a:r>
              <a:t>PVC 初步表征：FT-IR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292608"/>
            <a:ext cx="269748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5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58952"/>
            <a:ext cx="3017520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869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24712"/>
            <a:ext cx="1092708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可编辑曲线为原图的矢量转录，不是原始光谱数据；不进行平滑、拟合或新增定量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78408"/>
            <a:ext cx="8229600" cy="1737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50" b="0">
                <a:solidFill>
                  <a:srgbClr val="566273"/>
                </a:solidFill>
                <a:latin typeface="Microsoft YaHei"/>
              </a:defRPr>
            </a:pPr>
            <a:r>
              <a:t>04 / PVC初步结果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" y="6492240"/>
            <a:ext cx="11301984" cy="0"/>
          </a:xfrm>
          <a:prstGeom prst="line">
            <a:avLst/>
          </a:prstGeom>
          <a:ln w="508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56248"/>
            <a:ext cx="1056132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111111"/>
                </a:solidFill>
                <a:latin typeface="Arial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11119104" y="6309360"/>
            <a:ext cx="630936" cy="44805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3968" y="6364224"/>
            <a:ext cx="512064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13" name="Freeform 12"/>
          <p:cNvSpPr/>
          <p:nvPr/>
        </p:nvSpPr>
        <p:spPr>
          <a:xfrm>
            <a:off x="1188720" y="3498878"/>
            <a:ext cx="4525988" cy="1620181"/>
          </a:xfrm>
          <a:custGeom>
            <a:avLst/>
            <a:gdLst/>
            <a:ahLst/>
            <a:cxnLst/>
            <a:rect l="l" t="t" r="r" b="b"/>
            <a:pathLst>
              <a:path w="4525988" h="1620181">
                <a:moveTo>
                  <a:pt x="0" y="1096738"/>
                </a:moveTo>
                <a:lnTo>
                  <a:pt x="5532" y="1092584"/>
                </a:lnTo>
                <a:lnTo>
                  <a:pt x="11065" y="1092584"/>
                </a:lnTo>
                <a:lnTo>
                  <a:pt x="16598" y="1092584"/>
                </a:lnTo>
                <a:lnTo>
                  <a:pt x="22131" y="1088429"/>
                </a:lnTo>
                <a:lnTo>
                  <a:pt x="27664" y="1084275"/>
                </a:lnTo>
                <a:lnTo>
                  <a:pt x="33197" y="1084275"/>
                </a:lnTo>
                <a:lnTo>
                  <a:pt x="38730" y="1084275"/>
                </a:lnTo>
                <a:lnTo>
                  <a:pt x="44263" y="1080121"/>
                </a:lnTo>
                <a:lnTo>
                  <a:pt x="49796" y="1080121"/>
                </a:lnTo>
                <a:lnTo>
                  <a:pt x="55329" y="1075966"/>
                </a:lnTo>
                <a:lnTo>
                  <a:pt x="60862" y="1075966"/>
                </a:lnTo>
                <a:lnTo>
                  <a:pt x="66395" y="1071812"/>
                </a:lnTo>
                <a:lnTo>
                  <a:pt x="71928" y="1071812"/>
                </a:lnTo>
                <a:lnTo>
                  <a:pt x="77461" y="1071812"/>
                </a:lnTo>
                <a:lnTo>
                  <a:pt x="82994" y="1067658"/>
                </a:lnTo>
                <a:lnTo>
                  <a:pt x="88527" y="1067658"/>
                </a:lnTo>
                <a:lnTo>
                  <a:pt x="94060" y="1063503"/>
                </a:lnTo>
                <a:lnTo>
                  <a:pt x="99593" y="1063503"/>
                </a:lnTo>
                <a:lnTo>
                  <a:pt x="105126" y="1063503"/>
                </a:lnTo>
                <a:lnTo>
                  <a:pt x="110659" y="1059349"/>
                </a:lnTo>
                <a:lnTo>
                  <a:pt x="116192" y="1055195"/>
                </a:lnTo>
                <a:lnTo>
                  <a:pt x="121725" y="1055195"/>
                </a:lnTo>
                <a:lnTo>
                  <a:pt x="127258" y="1055195"/>
                </a:lnTo>
                <a:lnTo>
                  <a:pt x="132791" y="1051040"/>
                </a:lnTo>
                <a:lnTo>
                  <a:pt x="138324" y="1051040"/>
                </a:lnTo>
                <a:lnTo>
                  <a:pt x="143857" y="1046886"/>
                </a:lnTo>
                <a:lnTo>
                  <a:pt x="149390" y="1046886"/>
                </a:lnTo>
                <a:lnTo>
                  <a:pt x="154923" y="1046886"/>
                </a:lnTo>
                <a:lnTo>
                  <a:pt x="160456" y="1042732"/>
                </a:lnTo>
                <a:lnTo>
                  <a:pt x="165989" y="1042732"/>
                </a:lnTo>
                <a:lnTo>
                  <a:pt x="171522" y="1038578"/>
                </a:lnTo>
                <a:lnTo>
                  <a:pt x="177055" y="1038578"/>
                </a:lnTo>
                <a:lnTo>
                  <a:pt x="182588" y="1038578"/>
                </a:lnTo>
                <a:lnTo>
                  <a:pt x="188121" y="1034423"/>
                </a:lnTo>
                <a:lnTo>
                  <a:pt x="193654" y="1034423"/>
                </a:lnTo>
                <a:lnTo>
                  <a:pt x="199187" y="1030269"/>
                </a:lnTo>
                <a:lnTo>
                  <a:pt x="204720" y="1030269"/>
                </a:lnTo>
                <a:lnTo>
                  <a:pt x="210253" y="1026115"/>
                </a:lnTo>
                <a:lnTo>
                  <a:pt x="215786" y="1026115"/>
                </a:lnTo>
                <a:lnTo>
                  <a:pt x="221319" y="1021960"/>
                </a:lnTo>
                <a:lnTo>
                  <a:pt x="226852" y="1021960"/>
                </a:lnTo>
                <a:lnTo>
                  <a:pt x="232385" y="1017806"/>
                </a:lnTo>
                <a:lnTo>
                  <a:pt x="237918" y="1017806"/>
                </a:lnTo>
                <a:lnTo>
                  <a:pt x="243451" y="1013652"/>
                </a:lnTo>
                <a:lnTo>
                  <a:pt x="248984" y="1013652"/>
                </a:lnTo>
                <a:lnTo>
                  <a:pt x="254517" y="1009497"/>
                </a:lnTo>
                <a:lnTo>
                  <a:pt x="260050" y="1013652"/>
                </a:lnTo>
                <a:lnTo>
                  <a:pt x="265583" y="1013652"/>
                </a:lnTo>
                <a:lnTo>
                  <a:pt x="271116" y="1009497"/>
                </a:lnTo>
                <a:lnTo>
                  <a:pt x="276649" y="1005343"/>
                </a:lnTo>
                <a:lnTo>
                  <a:pt x="282182" y="1005343"/>
                </a:lnTo>
                <a:lnTo>
                  <a:pt x="287715" y="1005343"/>
                </a:lnTo>
                <a:lnTo>
                  <a:pt x="293248" y="1005343"/>
                </a:lnTo>
                <a:lnTo>
                  <a:pt x="298781" y="1001189"/>
                </a:lnTo>
                <a:lnTo>
                  <a:pt x="304314" y="1001189"/>
                </a:lnTo>
                <a:lnTo>
                  <a:pt x="309847" y="997034"/>
                </a:lnTo>
                <a:lnTo>
                  <a:pt x="315380" y="992880"/>
                </a:lnTo>
                <a:lnTo>
                  <a:pt x="320913" y="997034"/>
                </a:lnTo>
                <a:lnTo>
                  <a:pt x="326446" y="992880"/>
                </a:lnTo>
                <a:lnTo>
                  <a:pt x="331979" y="992880"/>
                </a:lnTo>
                <a:lnTo>
                  <a:pt x="337512" y="988726"/>
                </a:lnTo>
                <a:lnTo>
                  <a:pt x="343045" y="988726"/>
                </a:lnTo>
                <a:lnTo>
                  <a:pt x="348578" y="988726"/>
                </a:lnTo>
                <a:lnTo>
                  <a:pt x="354111" y="988726"/>
                </a:lnTo>
                <a:lnTo>
                  <a:pt x="359644" y="988726"/>
                </a:lnTo>
                <a:lnTo>
                  <a:pt x="365177" y="988726"/>
                </a:lnTo>
                <a:lnTo>
                  <a:pt x="370710" y="988726"/>
                </a:lnTo>
                <a:lnTo>
                  <a:pt x="376243" y="984571"/>
                </a:lnTo>
                <a:lnTo>
                  <a:pt x="381776" y="984571"/>
                </a:lnTo>
                <a:lnTo>
                  <a:pt x="387309" y="980417"/>
                </a:lnTo>
                <a:lnTo>
                  <a:pt x="392842" y="980417"/>
                </a:lnTo>
                <a:lnTo>
                  <a:pt x="398375" y="980417"/>
                </a:lnTo>
                <a:lnTo>
                  <a:pt x="403908" y="976263"/>
                </a:lnTo>
                <a:lnTo>
                  <a:pt x="409441" y="976263"/>
                </a:lnTo>
                <a:lnTo>
                  <a:pt x="414974" y="972109"/>
                </a:lnTo>
                <a:lnTo>
                  <a:pt x="420507" y="967954"/>
                </a:lnTo>
                <a:lnTo>
                  <a:pt x="426040" y="967954"/>
                </a:lnTo>
                <a:lnTo>
                  <a:pt x="431573" y="963800"/>
                </a:lnTo>
                <a:lnTo>
                  <a:pt x="437106" y="967954"/>
                </a:lnTo>
                <a:lnTo>
                  <a:pt x="442639" y="967954"/>
                </a:lnTo>
                <a:lnTo>
                  <a:pt x="448172" y="967954"/>
                </a:lnTo>
                <a:lnTo>
                  <a:pt x="453705" y="967954"/>
                </a:lnTo>
                <a:lnTo>
                  <a:pt x="459238" y="963800"/>
                </a:lnTo>
                <a:lnTo>
                  <a:pt x="464771" y="967954"/>
                </a:lnTo>
                <a:lnTo>
                  <a:pt x="470304" y="967954"/>
                </a:lnTo>
                <a:lnTo>
                  <a:pt x="475837" y="967954"/>
                </a:lnTo>
                <a:lnTo>
                  <a:pt x="481370" y="967954"/>
                </a:lnTo>
                <a:lnTo>
                  <a:pt x="486903" y="967954"/>
                </a:lnTo>
                <a:lnTo>
                  <a:pt x="492436" y="967954"/>
                </a:lnTo>
                <a:lnTo>
                  <a:pt x="497969" y="972109"/>
                </a:lnTo>
                <a:lnTo>
                  <a:pt x="503502" y="976263"/>
                </a:lnTo>
                <a:lnTo>
                  <a:pt x="509035" y="980417"/>
                </a:lnTo>
                <a:lnTo>
                  <a:pt x="514568" y="984571"/>
                </a:lnTo>
                <a:lnTo>
                  <a:pt x="520101" y="988726"/>
                </a:lnTo>
                <a:lnTo>
                  <a:pt x="525634" y="992880"/>
                </a:lnTo>
                <a:lnTo>
                  <a:pt x="531167" y="997034"/>
                </a:lnTo>
                <a:lnTo>
                  <a:pt x="536700" y="1001189"/>
                </a:lnTo>
                <a:lnTo>
                  <a:pt x="542233" y="1005343"/>
                </a:lnTo>
                <a:lnTo>
                  <a:pt x="547766" y="1009497"/>
                </a:lnTo>
                <a:lnTo>
                  <a:pt x="553299" y="1017806"/>
                </a:lnTo>
                <a:lnTo>
                  <a:pt x="558832" y="1026115"/>
                </a:lnTo>
                <a:lnTo>
                  <a:pt x="564365" y="1030269"/>
                </a:lnTo>
                <a:lnTo>
                  <a:pt x="569898" y="1034423"/>
                </a:lnTo>
                <a:lnTo>
                  <a:pt x="575431" y="1038578"/>
                </a:lnTo>
                <a:lnTo>
                  <a:pt x="580964" y="1046886"/>
                </a:lnTo>
                <a:lnTo>
                  <a:pt x="586497" y="1055195"/>
                </a:lnTo>
                <a:lnTo>
                  <a:pt x="592030" y="1067658"/>
                </a:lnTo>
                <a:lnTo>
                  <a:pt x="597563" y="1075966"/>
                </a:lnTo>
                <a:lnTo>
                  <a:pt x="603096" y="1084275"/>
                </a:lnTo>
                <a:lnTo>
                  <a:pt x="608629" y="1092584"/>
                </a:lnTo>
                <a:lnTo>
                  <a:pt x="614162" y="1100892"/>
                </a:lnTo>
                <a:lnTo>
                  <a:pt x="619695" y="1113355"/>
                </a:lnTo>
                <a:lnTo>
                  <a:pt x="625228" y="1125818"/>
                </a:lnTo>
                <a:lnTo>
                  <a:pt x="630761" y="1138281"/>
                </a:lnTo>
                <a:lnTo>
                  <a:pt x="636294" y="1150744"/>
                </a:lnTo>
                <a:lnTo>
                  <a:pt x="641827" y="1159053"/>
                </a:lnTo>
                <a:lnTo>
                  <a:pt x="647360" y="1171515"/>
                </a:lnTo>
                <a:lnTo>
                  <a:pt x="652893" y="1188133"/>
                </a:lnTo>
                <a:lnTo>
                  <a:pt x="658426" y="1200596"/>
                </a:lnTo>
                <a:lnTo>
                  <a:pt x="663959" y="1213059"/>
                </a:lnTo>
                <a:lnTo>
                  <a:pt x="669492" y="1225522"/>
                </a:lnTo>
                <a:lnTo>
                  <a:pt x="675025" y="1237984"/>
                </a:lnTo>
                <a:lnTo>
                  <a:pt x="680558" y="1254602"/>
                </a:lnTo>
                <a:lnTo>
                  <a:pt x="686091" y="1267065"/>
                </a:lnTo>
                <a:lnTo>
                  <a:pt x="691624" y="1279528"/>
                </a:lnTo>
                <a:lnTo>
                  <a:pt x="697157" y="1291990"/>
                </a:lnTo>
                <a:lnTo>
                  <a:pt x="702690" y="1304453"/>
                </a:lnTo>
                <a:lnTo>
                  <a:pt x="708223" y="1316916"/>
                </a:lnTo>
                <a:lnTo>
                  <a:pt x="713756" y="1333534"/>
                </a:lnTo>
                <a:lnTo>
                  <a:pt x="719289" y="1345997"/>
                </a:lnTo>
                <a:lnTo>
                  <a:pt x="724822" y="1358459"/>
                </a:lnTo>
                <a:lnTo>
                  <a:pt x="730355" y="1366768"/>
                </a:lnTo>
                <a:lnTo>
                  <a:pt x="735888" y="1383385"/>
                </a:lnTo>
                <a:lnTo>
                  <a:pt x="741421" y="1395848"/>
                </a:lnTo>
                <a:lnTo>
                  <a:pt x="746954" y="1408311"/>
                </a:lnTo>
                <a:lnTo>
                  <a:pt x="752487" y="1420774"/>
                </a:lnTo>
                <a:lnTo>
                  <a:pt x="758020" y="1433237"/>
                </a:lnTo>
                <a:lnTo>
                  <a:pt x="763553" y="1445700"/>
                </a:lnTo>
                <a:lnTo>
                  <a:pt x="769086" y="1458163"/>
                </a:lnTo>
                <a:lnTo>
                  <a:pt x="774619" y="1470626"/>
                </a:lnTo>
                <a:lnTo>
                  <a:pt x="780152" y="1478934"/>
                </a:lnTo>
                <a:lnTo>
                  <a:pt x="785685" y="1491397"/>
                </a:lnTo>
                <a:lnTo>
                  <a:pt x="791218" y="1499706"/>
                </a:lnTo>
                <a:lnTo>
                  <a:pt x="796751" y="1508015"/>
                </a:lnTo>
                <a:lnTo>
                  <a:pt x="802284" y="1516323"/>
                </a:lnTo>
                <a:lnTo>
                  <a:pt x="807817" y="1520478"/>
                </a:lnTo>
                <a:lnTo>
                  <a:pt x="813350" y="1528786"/>
                </a:lnTo>
                <a:lnTo>
                  <a:pt x="818883" y="1532941"/>
                </a:lnTo>
                <a:lnTo>
                  <a:pt x="824416" y="1541249"/>
                </a:lnTo>
                <a:lnTo>
                  <a:pt x="829949" y="1549558"/>
                </a:lnTo>
                <a:lnTo>
                  <a:pt x="835482" y="1553712"/>
                </a:lnTo>
                <a:lnTo>
                  <a:pt x="841015" y="1557866"/>
                </a:lnTo>
                <a:lnTo>
                  <a:pt x="846548" y="1566175"/>
                </a:lnTo>
                <a:lnTo>
                  <a:pt x="852081" y="1574484"/>
                </a:lnTo>
                <a:lnTo>
                  <a:pt x="857614" y="1578638"/>
                </a:lnTo>
                <a:lnTo>
                  <a:pt x="863147" y="1586947"/>
                </a:lnTo>
                <a:lnTo>
                  <a:pt x="868680" y="1591101"/>
                </a:lnTo>
                <a:lnTo>
                  <a:pt x="874212" y="1595255"/>
                </a:lnTo>
                <a:lnTo>
                  <a:pt x="879745" y="1603564"/>
                </a:lnTo>
                <a:lnTo>
                  <a:pt x="885278" y="1607718"/>
                </a:lnTo>
                <a:lnTo>
                  <a:pt x="890811" y="1611872"/>
                </a:lnTo>
                <a:lnTo>
                  <a:pt x="896344" y="1611872"/>
                </a:lnTo>
                <a:lnTo>
                  <a:pt x="901877" y="1616027"/>
                </a:lnTo>
                <a:lnTo>
                  <a:pt x="907410" y="1620181"/>
                </a:lnTo>
                <a:lnTo>
                  <a:pt x="912943" y="1620181"/>
                </a:lnTo>
                <a:lnTo>
                  <a:pt x="918476" y="1620181"/>
                </a:lnTo>
                <a:lnTo>
                  <a:pt x="935075" y="1620181"/>
                </a:lnTo>
                <a:lnTo>
                  <a:pt x="940608" y="1620181"/>
                </a:lnTo>
                <a:lnTo>
                  <a:pt x="946141" y="1620181"/>
                </a:lnTo>
                <a:lnTo>
                  <a:pt x="951674" y="1620181"/>
                </a:lnTo>
                <a:lnTo>
                  <a:pt x="957207" y="1616027"/>
                </a:lnTo>
                <a:lnTo>
                  <a:pt x="962740" y="1611872"/>
                </a:lnTo>
                <a:lnTo>
                  <a:pt x="968273" y="1607718"/>
                </a:lnTo>
                <a:lnTo>
                  <a:pt x="973806" y="1603564"/>
                </a:lnTo>
                <a:lnTo>
                  <a:pt x="979339" y="1595255"/>
                </a:lnTo>
                <a:lnTo>
                  <a:pt x="984872" y="1586947"/>
                </a:lnTo>
                <a:lnTo>
                  <a:pt x="990405" y="1582792"/>
                </a:lnTo>
                <a:lnTo>
                  <a:pt x="995938" y="1574484"/>
                </a:lnTo>
                <a:lnTo>
                  <a:pt x="1001471" y="1566175"/>
                </a:lnTo>
                <a:lnTo>
                  <a:pt x="1007004" y="1562021"/>
                </a:lnTo>
                <a:lnTo>
                  <a:pt x="1012537" y="1549558"/>
                </a:lnTo>
                <a:lnTo>
                  <a:pt x="1018070" y="1541249"/>
                </a:lnTo>
                <a:lnTo>
                  <a:pt x="1023603" y="1532941"/>
                </a:lnTo>
                <a:lnTo>
                  <a:pt x="1029136" y="1524632"/>
                </a:lnTo>
                <a:lnTo>
                  <a:pt x="1034669" y="1508015"/>
                </a:lnTo>
                <a:lnTo>
                  <a:pt x="1040202" y="1499706"/>
                </a:lnTo>
                <a:lnTo>
                  <a:pt x="1045735" y="1491397"/>
                </a:lnTo>
                <a:lnTo>
                  <a:pt x="1051268" y="1478934"/>
                </a:lnTo>
                <a:lnTo>
                  <a:pt x="1056801" y="1462317"/>
                </a:lnTo>
                <a:lnTo>
                  <a:pt x="1062334" y="1449854"/>
                </a:lnTo>
                <a:lnTo>
                  <a:pt x="1067867" y="1437391"/>
                </a:lnTo>
                <a:lnTo>
                  <a:pt x="1073400" y="1424928"/>
                </a:lnTo>
                <a:lnTo>
                  <a:pt x="1078933" y="1416620"/>
                </a:lnTo>
                <a:lnTo>
                  <a:pt x="1084466" y="1404157"/>
                </a:lnTo>
                <a:lnTo>
                  <a:pt x="1089999" y="1383385"/>
                </a:lnTo>
                <a:lnTo>
                  <a:pt x="1095532" y="1370922"/>
                </a:lnTo>
                <a:lnTo>
                  <a:pt x="1101065" y="1358459"/>
                </a:lnTo>
                <a:lnTo>
                  <a:pt x="1106598" y="1341842"/>
                </a:lnTo>
                <a:lnTo>
                  <a:pt x="1112131" y="1329379"/>
                </a:lnTo>
                <a:lnTo>
                  <a:pt x="1117664" y="1316916"/>
                </a:lnTo>
                <a:lnTo>
                  <a:pt x="1123197" y="1308608"/>
                </a:lnTo>
                <a:lnTo>
                  <a:pt x="1128730" y="1291990"/>
                </a:lnTo>
                <a:lnTo>
                  <a:pt x="1134263" y="1279528"/>
                </a:lnTo>
                <a:lnTo>
                  <a:pt x="1139796" y="1267065"/>
                </a:lnTo>
                <a:lnTo>
                  <a:pt x="1145329" y="1254602"/>
                </a:lnTo>
                <a:lnTo>
                  <a:pt x="1150862" y="1246293"/>
                </a:lnTo>
                <a:lnTo>
                  <a:pt x="1156395" y="1237984"/>
                </a:lnTo>
                <a:lnTo>
                  <a:pt x="1161928" y="1221367"/>
                </a:lnTo>
                <a:lnTo>
                  <a:pt x="1167461" y="1213059"/>
                </a:lnTo>
                <a:lnTo>
                  <a:pt x="1172994" y="1200596"/>
                </a:lnTo>
                <a:lnTo>
                  <a:pt x="1178527" y="1196441"/>
                </a:lnTo>
                <a:lnTo>
                  <a:pt x="1184060" y="1188133"/>
                </a:lnTo>
                <a:lnTo>
                  <a:pt x="1189593" y="1175670"/>
                </a:lnTo>
                <a:lnTo>
                  <a:pt x="1195126" y="1163207"/>
                </a:lnTo>
                <a:lnTo>
                  <a:pt x="1200659" y="1159053"/>
                </a:lnTo>
                <a:lnTo>
                  <a:pt x="1206192" y="1150744"/>
                </a:lnTo>
                <a:lnTo>
                  <a:pt x="1211725" y="1142435"/>
                </a:lnTo>
                <a:lnTo>
                  <a:pt x="1217258" y="1134127"/>
                </a:lnTo>
                <a:lnTo>
                  <a:pt x="1222791" y="1125818"/>
                </a:lnTo>
                <a:lnTo>
                  <a:pt x="1228324" y="1117509"/>
                </a:lnTo>
                <a:lnTo>
                  <a:pt x="1233857" y="1109201"/>
                </a:lnTo>
                <a:lnTo>
                  <a:pt x="1239390" y="1100892"/>
                </a:lnTo>
                <a:lnTo>
                  <a:pt x="1244923" y="1096738"/>
                </a:lnTo>
                <a:lnTo>
                  <a:pt x="1250456" y="1088429"/>
                </a:lnTo>
                <a:lnTo>
                  <a:pt x="1255989" y="1080121"/>
                </a:lnTo>
                <a:lnTo>
                  <a:pt x="1261522" y="1071812"/>
                </a:lnTo>
                <a:lnTo>
                  <a:pt x="1267055" y="1063503"/>
                </a:lnTo>
                <a:lnTo>
                  <a:pt x="1272588" y="1055195"/>
                </a:lnTo>
                <a:lnTo>
                  <a:pt x="1278121" y="1051040"/>
                </a:lnTo>
                <a:lnTo>
                  <a:pt x="1283654" y="1038578"/>
                </a:lnTo>
                <a:lnTo>
                  <a:pt x="1289187" y="1034423"/>
                </a:lnTo>
                <a:lnTo>
                  <a:pt x="1294720" y="1021960"/>
                </a:lnTo>
                <a:lnTo>
                  <a:pt x="1300253" y="1013652"/>
                </a:lnTo>
                <a:lnTo>
                  <a:pt x="1305786" y="1009497"/>
                </a:lnTo>
                <a:lnTo>
                  <a:pt x="1311319" y="997034"/>
                </a:lnTo>
                <a:lnTo>
                  <a:pt x="1316852" y="988726"/>
                </a:lnTo>
                <a:lnTo>
                  <a:pt x="1322385" y="980417"/>
                </a:lnTo>
                <a:lnTo>
                  <a:pt x="1327918" y="972109"/>
                </a:lnTo>
                <a:lnTo>
                  <a:pt x="1333451" y="963800"/>
                </a:lnTo>
                <a:lnTo>
                  <a:pt x="1338984" y="951337"/>
                </a:lnTo>
                <a:lnTo>
                  <a:pt x="1344517" y="943028"/>
                </a:lnTo>
                <a:lnTo>
                  <a:pt x="1350050" y="934720"/>
                </a:lnTo>
                <a:lnTo>
                  <a:pt x="1355583" y="922257"/>
                </a:lnTo>
                <a:lnTo>
                  <a:pt x="1361116" y="913948"/>
                </a:lnTo>
                <a:lnTo>
                  <a:pt x="1366649" y="905640"/>
                </a:lnTo>
                <a:lnTo>
                  <a:pt x="1372182" y="897331"/>
                </a:lnTo>
                <a:lnTo>
                  <a:pt x="1377715" y="889022"/>
                </a:lnTo>
                <a:lnTo>
                  <a:pt x="1383248" y="880714"/>
                </a:lnTo>
                <a:lnTo>
                  <a:pt x="1388781" y="868251"/>
                </a:lnTo>
                <a:lnTo>
                  <a:pt x="1394314" y="859942"/>
                </a:lnTo>
                <a:lnTo>
                  <a:pt x="1399847" y="851634"/>
                </a:lnTo>
                <a:lnTo>
                  <a:pt x="1405380" y="843325"/>
                </a:lnTo>
                <a:lnTo>
                  <a:pt x="1410913" y="839171"/>
                </a:lnTo>
                <a:lnTo>
                  <a:pt x="1416446" y="830862"/>
                </a:lnTo>
                <a:lnTo>
                  <a:pt x="1421979" y="822553"/>
                </a:lnTo>
                <a:lnTo>
                  <a:pt x="1427512" y="814245"/>
                </a:lnTo>
                <a:lnTo>
                  <a:pt x="1433045" y="805936"/>
                </a:lnTo>
                <a:lnTo>
                  <a:pt x="1438578" y="801782"/>
                </a:lnTo>
                <a:lnTo>
                  <a:pt x="1444111" y="793473"/>
                </a:lnTo>
                <a:lnTo>
                  <a:pt x="1449644" y="785165"/>
                </a:lnTo>
                <a:lnTo>
                  <a:pt x="1455177" y="776856"/>
                </a:lnTo>
                <a:lnTo>
                  <a:pt x="1460710" y="768547"/>
                </a:lnTo>
                <a:lnTo>
                  <a:pt x="1466243" y="764393"/>
                </a:lnTo>
                <a:lnTo>
                  <a:pt x="1471776" y="760239"/>
                </a:lnTo>
                <a:lnTo>
                  <a:pt x="1477309" y="751930"/>
                </a:lnTo>
                <a:lnTo>
                  <a:pt x="1482842" y="747776"/>
                </a:lnTo>
                <a:lnTo>
                  <a:pt x="1488375" y="739467"/>
                </a:lnTo>
                <a:lnTo>
                  <a:pt x="1493908" y="735313"/>
                </a:lnTo>
                <a:lnTo>
                  <a:pt x="1499441" y="731158"/>
                </a:lnTo>
                <a:lnTo>
                  <a:pt x="1504974" y="727004"/>
                </a:lnTo>
                <a:lnTo>
                  <a:pt x="1510507" y="718696"/>
                </a:lnTo>
                <a:lnTo>
                  <a:pt x="1516040" y="710387"/>
                </a:lnTo>
                <a:lnTo>
                  <a:pt x="1521573" y="706233"/>
                </a:lnTo>
                <a:lnTo>
                  <a:pt x="1527106" y="697924"/>
                </a:lnTo>
                <a:lnTo>
                  <a:pt x="1532639" y="693770"/>
                </a:lnTo>
                <a:lnTo>
                  <a:pt x="1538172" y="689615"/>
                </a:lnTo>
                <a:lnTo>
                  <a:pt x="1543705" y="681307"/>
                </a:lnTo>
                <a:lnTo>
                  <a:pt x="1549238" y="677152"/>
                </a:lnTo>
                <a:lnTo>
                  <a:pt x="1554771" y="672998"/>
                </a:lnTo>
                <a:lnTo>
                  <a:pt x="1560304" y="668844"/>
                </a:lnTo>
                <a:lnTo>
                  <a:pt x="1565837" y="664689"/>
                </a:lnTo>
                <a:lnTo>
                  <a:pt x="1571370" y="656381"/>
                </a:lnTo>
                <a:lnTo>
                  <a:pt x="1576903" y="652227"/>
                </a:lnTo>
                <a:lnTo>
                  <a:pt x="1582436" y="648072"/>
                </a:lnTo>
                <a:lnTo>
                  <a:pt x="1587969" y="643918"/>
                </a:lnTo>
                <a:lnTo>
                  <a:pt x="1593502" y="639764"/>
                </a:lnTo>
                <a:lnTo>
                  <a:pt x="1599035" y="635609"/>
                </a:lnTo>
                <a:lnTo>
                  <a:pt x="1604568" y="631455"/>
                </a:lnTo>
                <a:lnTo>
                  <a:pt x="1610101" y="627301"/>
                </a:lnTo>
                <a:lnTo>
                  <a:pt x="1615634" y="627301"/>
                </a:lnTo>
                <a:lnTo>
                  <a:pt x="1621167" y="623146"/>
                </a:lnTo>
                <a:lnTo>
                  <a:pt x="1626700" y="623146"/>
                </a:lnTo>
                <a:lnTo>
                  <a:pt x="1632233" y="618992"/>
                </a:lnTo>
                <a:lnTo>
                  <a:pt x="1637766" y="614838"/>
                </a:lnTo>
                <a:lnTo>
                  <a:pt x="1643299" y="610683"/>
                </a:lnTo>
                <a:lnTo>
                  <a:pt x="1648832" y="610683"/>
                </a:lnTo>
                <a:lnTo>
                  <a:pt x="1654365" y="610683"/>
                </a:lnTo>
                <a:lnTo>
                  <a:pt x="1659898" y="610683"/>
                </a:lnTo>
                <a:lnTo>
                  <a:pt x="1665431" y="606529"/>
                </a:lnTo>
                <a:lnTo>
                  <a:pt x="1670964" y="606529"/>
                </a:lnTo>
                <a:lnTo>
                  <a:pt x="1676497" y="602375"/>
                </a:lnTo>
                <a:lnTo>
                  <a:pt x="1682030" y="610683"/>
                </a:lnTo>
                <a:lnTo>
                  <a:pt x="1687563" y="618992"/>
                </a:lnTo>
                <a:lnTo>
                  <a:pt x="1693096" y="631455"/>
                </a:lnTo>
                <a:lnTo>
                  <a:pt x="1698629" y="648072"/>
                </a:lnTo>
                <a:lnTo>
                  <a:pt x="1704162" y="672998"/>
                </a:lnTo>
                <a:lnTo>
                  <a:pt x="1709695" y="689615"/>
                </a:lnTo>
                <a:lnTo>
                  <a:pt x="1715228" y="706233"/>
                </a:lnTo>
                <a:lnTo>
                  <a:pt x="1720761" y="718696"/>
                </a:lnTo>
                <a:lnTo>
                  <a:pt x="1726294" y="731158"/>
                </a:lnTo>
                <a:lnTo>
                  <a:pt x="1731827" y="751930"/>
                </a:lnTo>
                <a:lnTo>
                  <a:pt x="1737360" y="768547"/>
                </a:lnTo>
                <a:lnTo>
                  <a:pt x="1742892" y="772702"/>
                </a:lnTo>
                <a:lnTo>
                  <a:pt x="1748425" y="764393"/>
                </a:lnTo>
                <a:lnTo>
                  <a:pt x="1753958" y="760239"/>
                </a:lnTo>
                <a:lnTo>
                  <a:pt x="1759491" y="756084"/>
                </a:lnTo>
                <a:lnTo>
                  <a:pt x="1765024" y="747776"/>
                </a:lnTo>
                <a:lnTo>
                  <a:pt x="1770557" y="739467"/>
                </a:lnTo>
                <a:lnTo>
                  <a:pt x="1776090" y="739467"/>
                </a:lnTo>
                <a:lnTo>
                  <a:pt x="1781623" y="747776"/>
                </a:lnTo>
                <a:lnTo>
                  <a:pt x="1787156" y="751930"/>
                </a:lnTo>
                <a:lnTo>
                  <a:pt x="1792689" y="760239"/>
                </a:lnTo>
                <a:lnTo>
                  <a:pt x="1798222" y="772702"/>
                </a:lnTo>
                <a:lnTo>
                  <a:pt x="1803755" y="781010"/>
                </a:lnTo>
                <a:lnTo>
                  <a:pt x="1809288" y="797627"/>
                </a:lnTo>
                <a:lnTo>
                  <a:pt x="1814821" y="818399"/>
                </a:lnTo>
                <a:lnTo>
                  <a:pt x="1820354" y="826708"/>
                </a:lnTo>
                <a:lnTo>
                  <a:pt x="1825887" y="835016"/>
                </a:lnTo>
                <a:lnTo>
                  <a:pt x="1831420" y="805936"/>
                </a:lnTo>
                <a:lnTo>
                  <a:pt x="1836953" y="801782"/>
                </a:lnTo>
                <a:lnTo>
                  <a:pt x="1842486" y="805936"/>
                </a:lnTo>
                <a:lnTo>
                  <a:pt x="1848019" y="776856"/>
                </a:lnTo>
                <a:lnTo>
                  <a:pt x="1853552" y="764393"/>
                </a:lnTo>
                <a:lnTo>
                  <a:pt x="1859085" y="727004"/>
                </a:lnTo>
                <a:lnTo>
                  <a:pt x="1864618" y="702078"/>
                </a:lnTo>
                <a:lnTo>
                  <a:pt x="1870151" y="672998"/>
                </a:lnTo>
                <a:lnTo>
                  <a:pt x="1875684" y="635609"/>
                </a:lnTo>
                <a:lnTo>
                  <a:pt x="1881217" y="602375"/>
                </a:lnTo>
                <a:lnTo>
                  <a:pt x="1886750" y="577449"/>
                </a:lnTo>
                <a:lnTo>
                  <a:pt x="1892283" y="556677"/>
                </a:lnTo>
                <a:lnTo>
                  <a:pt x="1897816" y="544214"/>
                </a:lnTo>
                <a:lnTo>
                  <a:pt x="1903349" y="535906"/>
                </a:lnTo>
                <a:lnTo>
                  <a:pt x="1908882" y="531752"/>
                </a:lnTo>
                <a:lnTo>
                  <a:pt x="1914415" y="531752"/>
                </a:lnTo>
                <a:lnTo>
                  <a:pt x="1919948" y="531752"/>
                </a:lnTo>
                <a:lnTo>
                  <a:pt x="1925481" y="535906"/>
                </a:lnTo>
                <a:lnTo>
                  <a:pt x="1931014" y="540060"/>
                </a:lnTo>
                <a:lnTo>
                  <a:pt x="1936547" y="540060"/>
                </a:lnTo>
                <a:lnTo>
                  <a:pt x="1942080" y="544214"/>
                </a:lnTo>
                <a:lnTo>
                  <a:pt x="1947613" y="535906"/>
                </a:lnTo>
                <a:lnTo>
                  <a:pt x="1953146" y="527597"/>
                </a:lnTo>
                <a:lnTo>
                  <a:pt x="1958679" y="519289"/>
                </a:lnTo>
                <a:lnTo>
                  <a:pt x="1964212" y="515134"/>
                </a:lnTo>
                <a:lnTo>
                  <a:pt x="1969745" y="506826"/>
                </a:lnTo>
                <a:lnTo>
                  <a:pt x="1975278" y="502671"/>
                </a:lnTo>
                <a:lnTo>
                  <a:pt x="1980811" y="494363"/>
                </a:lnTo>
                <a:lnTo>
                  <a:pt x="1986344" y="494363"/>
                </a:lnTo>
                <a:lnTo>
                  <a:pt x="1991877" y="498517"/>
                </a:lnTo>
                <a:lnTo>
                  <a:pt x="1997410" y="490208"/>
                </a:lnTo>
                <a:lnTo>
                  <a:pt x="2002943" y="486054"/>
                </a:lnTo>
                <a:lnTo>
                  <a:pt x="2008476" y="481900"/>
                </a:lnTo>
                <a:lnTo>
                  <a:pt x="2014009" y="473591"/>
                </a:lnTo>
                <a:lnTo>
                  <a:pt x="2019542" y="469437"/>
                </a:lnTo>
                <a:lnTo>
                  <a:pt x="2025075" y="461128"/>
                </a:lnTo>
                <a:lnTo>
                  <a:pt x="2030608" y="448665"/>
                </a:lnTo>
                <a:lnTo>
                  <a:pt x="2036141" y="440357"/>
                </a:lnTo>
                <a:lnTo>
                  <a:pt x="2041674" y="436202"/>
                </a:lnTo>
                <a:lnTo>
                  <a:pt x="2047207" y="432048"/>
                </a:lnTo>
                <a:lnTo>
                  <a:pt x="2052740" y="427894"/>
                </a:lnTo>
                <a:lnTo>
                  <a:pt x="2058273" y="423739"/>
                </a:lnTo>
                <a:lnTo>
                  <a:pt x="2063806" y="419585"/>
                </a:lnTo>
                <a:lnTo>
                  <a:pt x="2069339" y="419585"/>
                </a:lnTo>
                <a:lnTo>
                  <a:pt x="2074872" y="415431"/>
                </a:lnTo>
                <a:lnTo>
                  <a:pt x="2080405" y="415431"/>
                </a:lnTo>
                <a:lnTo>
                  <a:pt x="2085938" y="415431"/>
                </a:lnTo>
                <a:lnTo>
                  <a:pt x="2091471" y="411277"/>
                </a:lnTo>
                <a:lnTo>
                  <a:pt x="2097004" y="411277"/>
                </a:lnTo>
                <a:lnTo>
                  <a:pt x="2102537" y="411277"/>
                </a:lnTo>
                <a:lnTo>
                  <a:pt x="2108070" y="411277"/>
                </a:lnTo>
                <a:lnTo>
                  <a:pt x="2113603" y="407122"/>
                </a:lnTo>
                <a:lnTo>
                  <a:pt x="2119136" y="407122"/>
                </a:lnTo>
                <a:lnTo>
                  <a:pt x="2124669" y="407122"/>
                </a:lnTo>
                <a:lnTo>
                  <a:pt x="2130202" y="402968"/>
                </a:lnTo>
                <a:lnTo>
                  <a:pt x="2135735" y="402968"/>
                </a:lnTo>
                <a:lnTo>
                  <a:pt x="2141268" y="398814"/>
                </a:lnTo>
                <a:lnTo>
                  <a:pt x="2146801" y="398814"/>
                </a:lnTo>
                <a:lnTo>
                  <a:pt x="2152334" y="394659"/>
                </a:lnTo>
                <a:lnTo>
                  <a:pt x="2157867" y="390505"/>
                </a:lnTo>
                <a:lnTo>
                  <a:pt x="2163400" y="390505"/>
                </a:lnTo>
                <a:lnTo>
                  <a:pt x="2168933" y="386351"/>
                </a:lnTo>
                <a:lnTo>
                  <a:pt x="2174466" y="386351"/>
                </a:lnTo>
                <a:lnTo>
                  <a:pt x="2179999" y="382196"/>
                </a:lnTo>
                <a:lnTo>
                  <a:pt x="2185532" y="382196"/>
                </a:lnTo>
                <a:lnTo>
                  <a:pt x="2191065" y="378042"/>
                </a:lnTo>
                <a:lnTo>
                  <a:pt x="2196598" y="378042"/>
                </a:lnTo>
                <a:lnTo>
                  <a:pt x="2202131" y="378042"/>
                </a:lnTo>
                <a:lnTo>
                  <a:pt x="2207664" y="373888"/>
                </a:lnTo>
                <a:lnTo>
                  <a:pt x="2213197" y="373888"/>
                </a:lnTo>
                <a:lnTo>
                  <a:pt x="2218730" y="373888"/>
                </a:lnTo>
                <a:lnTo>
                  <a:pt x="2224263" y="369733"/>
                </a:lnTo>
                <a:lnTo>
                  <a:pt x="2229796" y="369733"/>
                </a:lnTo>
                <a:lnTo>
                  <a:pt x="2235329" y="369733"/>
                </a:lnTo>
                <a:lnTo>
                  <a:pt x="2240862" y="365579"/>
                </a:lnTo>
                <a:lnTo>
                  <a:pt x="2246395" y="365579"/>
                </a:lnTo>
                <a:lnTo>
                  <a:pt x="2251928" y="361425"/>
                </a:lnTo>
                <a:lnTo>
                  <a:pt x="2257461" y="361425"/>
                </a:lnTo>
                <a:lnTo>
                  <a:pt x="2262994" y="357270"/>
                </a:lnTo>
                <a:lnTo>
                  <a:pt x="2268527" y="357270"/>
                </a:lnTo>
                <a:lnTo>
                  <a:pt x="2274060" y="357270"/>
                </a:lnTo>
                <a:lnTo>
                  <a:pt x="2279593" y="353116"/>
                </a:lnTo>
                <a:lnTo>
                  <a:pt x="2285126" y="353116"/>
                </a:lnTo>
                <a:lnTo>
                  <a:pt x="2290659" y="353116"/>
                </a:lnTo>
                <a:lnTo>
                  <a:pt x="2296192" y="353116"/>
                </a:lnTo>
                <a:lnTo>
                  <a:pt x="2301725" y="348962"/>
                </a:lnTo>
                <a:lnTo>
                  <a:pt x="2307258" y="348962"/>
                </a:lnTo>
                <a:lnTo>
                  <a:pt x="2312791" y="348962"/>
                </a:lnTo>
                <a:lnTo>
                  <a:pt x="2318324" y="344808"/>
                </a:lnTo>
                <a:lnTo>
                  <a:pt x="2323857" y="344808"/>
                </a:lnTo>
                <a:lnTo>
                  <a:pt x="2329390" y="344808"/>
                </a:lnTo>
                <a:lnTo>
                  <a:pt x="2334923" y="344808"/>
                </a:lnTo>
                <a:lnTo>
                  <a:pt x="2340456" y="344808"/>
                </a:lnTo>
                <a:lnTo>
                  <a:pt x="2345989" y="340653"/>
                </a:lnTo>
                <a:lnTo>
                  <a:pt x="2351522" y="340653"/>
                </a:lnTo>
                <a:lnTo>
                  <a:pt x="2357055" y="340653"/>
                </a:lnTo>
                <a:lnTo>
                  <a:pt x="2362588" y="336499"/>
                </a:lnTo>
                <a:lnTo>
                  <a:pt x="2368121" y="336499"/>
                </a:lnTo>
                <a:lnTo>
                  <a:pt x="2373654" y="336499"/>
                </a:lnTo>
                <a:lnTo>
                  <a:pt x="2379187" y="332345"/>
                </a:lnTo>
                <a:lnTo>
                  <a:pt x="2384720" y="332345"/>
                </a:lnTo>
                <a:lnTo>
                  <a:pt x="2390253" y="332345"/>
                </a:lnTo>
                <a:lnTo>
                  <a:pt x="2395786" y="332345"/>
                </a:lnTo>
                <a:lnTo>
                  <a:pt x="2401319" y="328190"/>
                </a:lnTo>
                <a:lnTo>
                  <a:pt x="2406852" y="328190"/>
                </a:lnTo>
                <a:lnTo>
                  <a:pt x="2412385" y="328190"/>
                </a:lnTo>
                <a:lnTo>
                  <a:pt x="2417918" y="324036"/>
                </a:lnTo>
                <a:lnTo>
                  <a:pt x="2423451" y="324036"/>
                </a:lnTo>
                <a:lnTo>
                  <a:pt x="2428984" y="324036"/>
                </a:lnTo>
                <a:lnTo>
                  <a:pt x="2434517" y="324036"/>
                </a:lnTo>
                <a:lnTo>
                  <a:pt x="2440050" y="319882"/>
                </a:lnTo>
                <a:lnTo>
                  <a:pt x="2445583" y="319882"/>
                </a:lnTo>
                <a:lnTo>
                  <a:pt x="2451116" y="319882"/>
                </a:lnTo>
                <a:lnTo>
                  <a:pt x="2456649" y="315727"/>
                </a:lnTo>
                <a:lnTo>
                  <a:pt x="2462182" y="315727"/>
                </a:lnTo>
                <a:lnTo>
                  <a:pt x="2467715" y="311573"/>
                </a:lnTo>
                <a:lnTo>
                  <a:pt x="2473248" y="311573"/>
                </a:lnTo>
                <a:lnTo>
                  <a:pt x="2478781" y="311573"/>
                </a:lnTo>
                <a:lnTo>
                  <a:pt x="2484314" y="307419"/>
                </a:lnTo>
                <a:lnTo>
                  <a:pt x="2489847" y="307419"/>
                </a:lnTo>
                <a:lnTo>
                  <a:pt x="2495380" y="303264"/>
                </a:lnTo>
                <a:lnTo>
                  <a:pt x="2500913" y="303264"/>
                </a:lnTo>
                <a:lnTo>
                  <a:pt x="2506446" y="299110"/>
                </a:lnTo>
                <a:lnTo>
                  <a:pt x="2511979" y="299110"/>
                </a:lnTo>
                <a:lnTo>
                  <a:pt x="2517512" y="299110"/>
                </a:lnTo>
                <a:lnTo>
                  <a:pt x="2523045" y="294956"/>
                </a:lnTo>
                <a:lnTo>
                  <a:pt x="2528578" y="294956"/>
                </a:lnTo>
                <a:lnTo>
                  <a:pt x="2534111" y="290802"/>
                </a:lnTo>
                <a:lnTo>
                  <a:pt x="2539644" y="290802"/>
                </a:lnTo>
                <a:lnTo>
                  <a:pt x="2545177" y="290802"/>
                </a:lnTo>
                <a:lnTo>
                  <a:pt x="2550710" y="286647"/>
                </a:lnTo>
                <a:lnTo>
                  <a:pt x="2556243" y="286647"/>
                </a:lnTo>
                <a:lnTo>
                  <a:pt x="2561776" y="282493"/>
                </a:lnTo>
                <a:lnTo>
                  <a:pt x="2567309" y="282493"/>
                </a:lnTo>
                <a:lnTo>
                  <a:pt x="2572842" y="282493"/>
                </a:lnTo>
                <a:lnTo>
                  <a:pt x="2578375" y="278339"/>
                </a:lnTo>
                <a:lnTo>
                  <a:pt x="2583908" y="278339"/>
                </a:lnTo>
                <a:lnTo>
                  <a:pt x="2589441" y="278339"/>
                </a:lnTo>
                <a:lnTo>
                  <a:pt x="2594974" y="274184"/>
                </a:lnTo>
                <a:lnTo>
                  <a:pt x="2600507" y="274184"/>
                </a:lnTo>
                <a:lnTo>
                  <a:pt x="2606040" y="270030"/>
                </a:lnTo>
                <a:lnTo>
                  <a:pt x="2611572" y="270030"/>
                </a:lnTo>
                <a:lnTo>
                  <a:pt x="2617105" y="265876"/>
                </a:lnTo>
                <a:lnTo>
                  <a:pt x="2622638" y="265876"/>
                </a:lnTo>
                <a:lnTo>
                  <a:pt x="2628171" y="265876"/>
                </a:lnTo>
                <a:lnTo>
                  <a:pt x="2633704" y="265876"/>
                </a:lnTo>
                <a:lnTo>
                  <a:pt x="2639237" y="261721"/>
                </a:lnTo>
                <a:lnTo>
                  <a:pt x="2644770" y="261721"/>
                </a:lnTo>
                <a:lnTo>
                  <a:pt x="2650303" y="261721"/>
                </a:lnTo>
                <a:lnTo>
                  <a:pt x="2655836" y="257567"/>
                </a:lnTo>
                <a:lnTo>
                  <a:pt x="2661369" y="257567"/>
                </a:lnTo>
                <a:lnTo>
                  <a:pt x="2666902" y="257567"/>
                </a:lnTo>
                <a:lnTo>
                  <a:pt x="2672435" y="253413"/>
                </a:lnTo>
                <a:lnTo>
                  <a:pt x="2677968" y="253413"/>
                </a:lnTo>
                <a:lnTo>
                  <a:pt x="2683501" y="253413"/>
                </a:lnTo>
                <a:lnTo>
                  <a:pt x="2689034" y="249258"/>
                </a:lnTo>
                <a:lnTo>
                  <a:pt x="2694567" y="249258"/>
                </a:lnTo>
                <a:lnTo>
                  <a:pt x="2700100" y="245104"/>
                </a:lnTo>
                <a:lnTo>
                  <a:pt x="2705633" y="245104"/>
                </a:lnTo>
                <a:lnTo>
                  <a:pt x="2711166" y="245104"/>
                </a:lnTo>
                <a:lnTo>
                  <a:pt x="2716699" y="245104"/>
                </a:lnTo>
                <a:lnTo>
                  <a:pt x="2722232" y="240950"/>
                </a:lnTo>
                <a:lnTo>
                  <a:pt x="2727765" y="240950"/>
                </a:lnTo>
                <a:lnTo>
                  <a:pt x="2733298" y="240950"/>
                </a:lnTo>
                <a:lnTo>
                  <a:pt x="2738831" y="236795"/>
                </a:lnTo>
                <a:lnTo>
                  <a:pt x="2744364" y="232641"/>
                </a:lnTo>
                <a:lnTo>
                  <a:pt x="2749897" y="232641"/>
                </a:lnTo>
                <a:lnTo>
                  <a:pt x="2755430" y="232641"/>
                </a:lnTo>
                <a:lnTo>
                  <a:pt x="2760963" y="228487"/>
                </a:lnTo>
                <a:lnTo>
                  <a:pt x="2766496" y="224333"/>
                </a:lnTo>
                <a:lnTo>
                  <a:pt x="2772029" y="224333"/>
                </a:lnTo>
                <a:lnTo>
                  <a:pt x="2777562" y="220178"/>
                </a:lnTo>
                <a:lnTo>
                  <a:pt x="2783095" y="220178"/>
                </a:lnTo>
                <a:lnTo>
                  <a:pt x="2788628" y="220178"/>
                </a:lnTo>
                <a:lnTo>
                  <a:pt x="2794161" y="224333"/>
                </a:lnTo>
                <a:lnTo>
                  <a:pt x="2799694" y="220178"/>
                </a:lnTo>
                <a:lnTo>
                  <a:pt x="2805227" y="220178"/>
                </a:lnTo>
                <a:lnTo>
                  <a:pt x="2810760" y="216024"/>
                </a:lnTo>
                <a:lnTo>
                  <a:pt x="2816293" y="216024"/>
                </a:lnTo>
                <a:lnTo>
                  <a:pt x="2821826" y="211870"/>
                </a:lnTo>
                <a:lnTo>
                  <a:pt x="2827359" y="211870"/>
                </a:lnTo>
                <a:lnTo>
                  <a:pt x="2832892" y="211870"/>
                </a:lnTo>
                <a:lnTo>
                  <a:pt x="2838425" y="211870"/>
                </a:lnTo>
                <a:lnTo>
                  <a:pt x="2843958" y="211870"/>
                </a:lnTo>
                <a:lnTo>
                  <a:pt x="2849491" y="211870"/>
                </a:lnTo>
                <a:lnTo>
                  <a:pt x="2855024" y="211870"/>
                </a:lnTo>
                <a:lnTo>
                  <a:pt x="2860557" y="211870"/>
                </a:lnTo>
                <a:lnTo>
                  <a:pt x="2866090" y="211870"/>
                </a:lnTo>
                <a:lnTo>
                  <a:pt x="2871623" y="211870"/>
                </a:lnTo>
                <a:lnTo>
                  <a:pt x="2877156" y="211870"/>
                </a:lnTo>
                <a:lnTo>
                  <a:pt x="2882689" y="207715"/>
                </a:lnTo>
                <a:lnTo>
                  <a:pt x="2888222" y="207715"/>
                </a:lnTo>
                <a:lnTo>
                  <a:pt x="2893755" y="207715"/>
                </a:lnTo>
                <a:lnTo>
                  <a:pt x="2899288" y="207715"/>
                </a:lnTo>
                <a:lnTo>
                  <a:pt x="2904821" y="203561"/>
                </a:lnTo>
                <a:lnTo>
                  <a:pt x="2910354" y="203561"/>
                </a:lnTo>
                <a:lnTo>
                  <a:pt x="2915887" y="203561"/>
                </a:lnTo>
                <a:lnTo>
                  <a:pt x="2921420" y="203561"/>
                </a:lnTo>
                <a:lnTo>
                  <a:pt x="2926953" y="199407"/>
                </a:lnTo>
                <a:lnTo>
                  <a:pt x="2932486" y="199407"/>
                </a:lnTo>
                <a:lnTo>
                  <a:pt x="2938019" y="199407"/>
                </a:lnTo>
                <a:lnTo>
                  <a:pt x="2943552" y="195252"/>
                </a:lnTo>
                <a:lnTo>
                  <a:pt x="2949085" y="195252"/>
                </a:lnTo>
                <a:lnTo>
                  <a:pt x="2954618" y="195252"/>
                </a:lnTo>
                <a:lnTo>
                  <a:pt x="2960151" y="191098"/>
                </a:lnTo>
                <a:lnTo>
                  <a:pt x="2965684" y="191098"/>
                </a:lnTo>
                <a:lnTo>
                  <a:pt x="2971217" y="191098"/>
                </a:lnTo>
                <a:lnTo>
                  <a:pt x="2976750" y="186944"/>
                </a:lnTo>
                <a:lnTo>
                  <a:pt x="2982283" y="186944"/>
                </a:lnTo>
                <a:lnTo>
                  <a:pt x="2987816" y="182789"/>
                </a:lnTo>
                <a:lnTo>
                  <a:pt x="2993349" y="182789"/>
                </a:lnTo>
                <a:lnTo>
                  <a:pt x="2998882" y="182789"/>
                </a:lnTo>
                <a:lnTo>
                  <a:pt x="3004415" y="182789"/>
                </a:lnTo>
                <a:lnTo>
                  <a:pt x="3009948" y="178635"/>
                </a:lnTo>
                <a:lnTo>
                  <a:pt x="3015481" y="178635"/>
                </a:lnTo>
                <a:lnTo>
                  <a:pt x="3021014" y="178635"/>
                </a:lnTo>
                <a:lnTo>
                  <a:pt x="3026547" y="174481"/>
                </a:lnTo>
                <a:lnTo>
                  <a:pt x="3032080" y="174481"/>
                </a:lnTo>
                <a:lnTo>
                  <a:pt x="3037613" y="174481"/>
                </a:lnTo>
                <a:lnTo>
                  <a:pt x="3043146" y="170326"/>
                </a:lnTo>
                <a:lnTo>
                  <a:pt x="3048679" y="170326"/>
                </a:lnTo>
                <a:lnTo>
                  <a:pt x="3054212" y="170326"/>
                </a:lnTo>
                <a:lnTo>
                  <a:pt x="3059745" y="170326"/>
                </a:lnTo>
                <a:lnTo>
                  <a:pt x="3065278" y="170326"/>
                </a:lnTo>
                <a:lnTo>
                  <a:pt x="3070811" y="166172"/>
                </a:lnTo>
                <a:lnTo>
                  <a:pt x="3076344" y="166172"/>
                </a:lnTo>
                <a:lnTo>
                  <a:pt x="3081877" y="166172"/>
                </a:lnTo>
                <a:lnTo>
                  <a:pt x="3087410" y="166172"/>
                </a:lnTo>
                <a:lnTo>
                  <a:pt x="3092943" y="162018"/>
                </a:lnTo>
                <a:lnTo>
                  <a:pt x="3098476" y="162018"/>
                </a:lnTo>
                <a:lnTo>
                  <a:pt x="3104009" y="162018"/>
                </a:lnTo>
                <a:lnTo>
                  <a:pt x="3109542" y="157864"/>
                </a:lnTo>
                <a:lnTo>
                  <a:pt x="3115075" y="157864"/>
                </a:lnTo>
                <a:lnTo>
                  <a:pt x="3120608" y="157864"/>
                </a:lnTo>
                <a:lnTo>
                  <a:pt x="3126141" y="157864"/>
                </a:lnTo>
                <a:lnTo>
                  <a:pt x="3131674" y="153709"/>
                </a:lnTo>
                <a:lnTo>
                  <a:pt x="3137207" y="153709"/>
                </a:lnTo>
                <a:lnTo>
                  <a:pt x="3142740" y="153709"/>
                </a:lnTo>
                <a:lnTo>
                  <a:pt x="3148273" y="149555"/>
                </a:lnTo>
                <a:lnTo>
                  <a:pt x="3153806" y="149555"/>
                </a:lnTo>
                <a:lnTo>
                  <a:pt x="3159339" y="149555"/>
                </a:lnTo>
                <a:lnTo>
                  <a:pt x="3164872" y="149555"/>
                </a:lnTo>
                <a:lnTo>
                  <a:pt x="3170405" y="149555"/>
                </a:lnTo>
                <a:lnTo>
                  <a:pt x="3175938" y="145401"/>
                </a:lnTo>
                <a:lnTo>
                  <a:pt x="3181471" y="145401"/>
                </a:lnTo>
                <a:lnTo>
                  <a:pt x="3187004" y="145401"/>
                </a:lnTo>
                <a:lnTo>
                  <a:pt x="3192537" y="145401"/>
                </a:lnTo>
                <a:lnTo>
                  <a:pt x="3198070" y="141246"/>
                </a:lnTo>
                <a:lnTo>
                  <a:pt x="3203603" y="141246"/>
                </a:lnTo>
                <a:lnTo>
                  <a:pt x="3209136" y="141246"/>
                </a:lnTo>
                <a:lnTo>
                  <a:pt x="3214669" y="141246"/>
                </a:lnTo>
                <a:lnTo>
                  <a:pt x="3220202" y="141246"/>
                </a:lnTo>
                <a:lnTo>
                  <a:pt x="3225735" y="137092"/>
                </a:lnTo>
                <a:lnTo>
                  <a:pt x="3231268" y="137092"/>
                </a:lnTo>
                <a:lnTo>
                  <a:pt x="3236801" y="137092"/>
                </a:lnTo>
                <a:lnTo>
                  <a:pt x="3242334" y="137092"/>
                </a:lnTo>
                <a:lnTo>
                  <a:pt x="3247867" y="132938"/>
                </a:lnTo>
                <a:lnTo>
                  <a:pt x="3253400" y="132938"/>
                </a:lnTo>
                <a:lnTo>
                  <a:pt x="3258933" y="132938"/>
                </a:lnTo>
                <a:lnTo>
                  <a:pt x="3264466" y="132938"/>
                </a:lnTo>
                <a:lnTo>
                  <a:pt x="3269999" y="128783"/>
                </a:lnTo>
                <a:lnTo>
                  <a:pt x="3275532" y="128783"/>
                </a:lnTo>
                <a:lnTo>
                  <a:pt x="3281065" y="128783"/>
                </a:lnTo>
                <a:lnTo>
                  <a:pt x="3286598" y="128783"/>
                </a:lnTo>
                <a:lnTo>
                  <a:pt x="3292131" y="124629"/>
                </a:lnTo>
                <a:lnTo>
                  <a:pt x="3297664" y="124629"/>
                </a:lnTo>
                <a:lnTo>
                  <a:pt x="3303197" y="124629"/>
                </a:lnTo>
                <a:lnTo>
                  <a:pt x="3308730" y="120475"/>
                </a:lnTo>
                <a:lnTo>
                  <a:pt x="3314263" y="120475"/>
                </a:lnTo>
                <a:lnTo>
                  <a:pt x="3319796" y="120475"/>
                </a:lnTo>
                <a:lnTo>
                  <a:pt x="3325329" y="116320"/>
                </a:lnTo>
                <a:lnTo>
                  <a:pt x="3330862" y="116320"/>
                </a:lnTo>
                <a:lnTo>
                  <a:pt x="3336395" y="116320"/>
                </a:lnTo>
                <a:lnTo>
                  <a:pt x="3341928" y="112166"/>
                </a:lnTo>
                <a:lnTo>
                  <a:pt x="3347461" y="112166"/>
                </a:lnTo>
                <a:lnTo>
                  <a:pt x="3352994" y="112166"/>
                </a:lnTo>
                <a:lnTo>
                  <a:pt x="3358527" y="108012"/>
                </a:lnTo>
                <a:lnTo>
                  <a:pt x="3364060" y="108012"/>
                </a:lnTo>
                <a:lnTo>
                  <a:pt x="3369593" y="108012"/>
                </a:lnTo>
                <a:lnTo>
                  <a:pt x="3375126" y="103858"/>
                </a:lnTo>
                <a:lnTo>
                  <a:pt x="3380659" y="103858"/>
                </a:lnTo>
                <a:lnTo>
                  <a:pt x="3386192" y="103858"/>
                </a:lnTo>
                <a:lnTo>
                  <a:pt x="3391725" y="99703"/>
                </a:lnTo>
                <a:lnTo>
                  <a:pt x="3397258" y="99703"/>
                </a:lnTo>
                <a:lnTo>
                  <a:pt x="3402791" y="95549"/>
                </a:lnTo>
                <a:lnTo>
                  <a:pt x="3408324" y="95549"/>
                </a:lnTo>
                <a:lnTo>
                  <a:pt x="3413857" y="91395"/>
                </a:lnTo>
                <a:lnTo>
                  <a:pt x="3419390" y="91395"/>
                </a:lnTo>
                <a:lnTo>
                  <a:pt x="3424923" y="87240"/>
                </a:lnTo>
                <a:lnTo>
                  <a:pt x="3430456" y="87240"/>
                </a:lnTo>
                <a:lnTo>
                  <a:pt x="3435989" y="87240"/>
                </a:lnTo>
                <a:lnTo>
                  <a:pt x="3441522" y="83086"/>
                </a:lnTo>
                <a:lnTo>
                  <a:pt x="3447055" y="83086"/>
                </a:lnTo>
                <a:lnTo>
                  <a:pt x="3452588" y="83086"/>
                </a:lnTo>
                <a:lnTo>
                  <a:pt x="3458121" y="78932"/>
                </a:lnTo>
                <a:lnTo>
                  <a:pt x="3463654" y="78932"/>
                </a:lnTo>
                <a:lnTo>
                  <a:pt x="3469187" y="78932"/>
                </a:lnTo>
                <a:lnTo>
                  <a:pt x="3474720" y="74777"/>
                </a:lnTo>
                <a:lnTo>
                  <a:pt x="3480252" y="74777"/>
                </a:lnTo>
                <a:lnTo>
                  <a:pt x="3485785" y="70623"/>
                </a:lnTo>
                <a:lnTo>
                  <a:pt x="3491318" y="70623"/>
                </a:lnTo>
                <a:lnTo>
                  <a:pt x="3496851" y="70623"/>
                </a:lnTo>
                <a:lnTo>
                  <a:pt x="3502384" y="66469"/>
                </a:lnTo>
                <a:lnTo>
                  <a:pt x="3507917" y="66469"/>
                </a:lnTo>
                <a:lnTo>
                  <a:pt x="3513450" y="62314"/>
                </a:lnTo>
                <a:lnTo>
                  <a:pt x="3518983" y="62314"/>
                </a:lnTo>
                <a:lnTo>
                  <a:pt x="3524516" y="62314"/>
                </a:lnTo>
                <a:lnTo>
                  <a:pt x="3530049" y="58160"/>
                </a:lnTo>
                <a:lnTo>
                  <a:pt x="3535582" y="58160"/>
                </a:lnTo>
                <a:lnTo>
                  <a:pt x="3541115" y="58160"/>
                </a:lnTo>
                <a:lnTo>
                  <a:pt x="3546648" y="54006"/>
                </a:lnTo>
                <a:lnTo>
                  <a:pt x="3552181" y="54006"/>
                </a:lnTo>
                <a:lnTo>
                  <a:pt x="3557714" y="54006"/>
                </a:lnTo>
                <a:lnTo>
                  <a:pt x="3563247" y="49851"/>
                </a:lnTo>
                <a:lnTo>
                  <a:pt x="3568780" y="49851"/>
                </a:lnTo>
                <a:lnTo>
                  <a:pt x="3574313" y="49851"/>
                </a:lnTo>
                <a:lnTo>
                  <a:pt x="3579846" y="45697"/>
                </a:lnTo>
                <a:lnTo>
                  <a:pt x="3585379" y="45697"/>
                </a:lnTo>
                <a:lnTo>
                  <a:pt x="3590912" y="45697"/>
                </a:lnTo>
                <a:lnTo>
                  <a:pt x="3596445" y="45697"/>
                </a:lnTo>
                <a:lnTo>
                  <a:pt x="3601978" y="41543"/>
                </a:lnTo>
                <a:lnTo>
                  <a:pt x="3607511" y="41543"/>
                </a:lnTo>
                <a:lnTo>
                  <a:pt x="3613044" y="41543"/>
                </a:lnTo>
                <a:lnTo>
                  <a:pt x="3618577" y="41543"/>
                </a:lnTo>
                <a:lnTo>
                  <a:pt x="3624110" y="37389"/>
                </a:lnTo>
                <a:lnTo>
                  <a:pt x="3629643" y="37389"/>
                </a:lnTo>
                <a:lnTo>
                  <a:pt x="3635176" y="37389"/>
                </a:lnTo>
                <a:lnTo>
                  <a:pt x="3640709" y="33234"/>
                </a:lnTo>
                <a:lnTo>
                  <a:pt x="3646242" y="33234"/>
                </a:lnTo>
                <a:lnTo>
                  <a:pt x="3651775" y="33234"/>
                </a:lnTo>
                <a:lnTo>
                  <a:pt x="3657308" y="33234"/>
                </a:lnTo>
                <a:lnTo>
                  <a:pt x="3662841" y="33234"/>
                </a:lnTo>
                <a:lnTo>
                  <a:pt x="3668374" y="33234"/>
                </a:lnTo>
                <a:lnTo>
                  <a:pt x="3673907" y="33234"/>
                </a:lnTo>
                <a:lnTo>
                  <a:pt x="3679440" y="29080"/>
                </a:lnTo>
                <a:lnTo>
                  <a:pt x="3684973" y="29080"/>
                </a:lnTo>
                <a:lnTo>
                  <a:pt x="3690506" y="29080"/>
                </a:lnTo>
                <a:lnTo>
                  <a:pt x="3696039" y="29080"/>
                </a:lnTo>
                <a:lnTo>
                  <a:pt x="3701572" y="29080"/>
                </a:lnTo>
                <a:lnTo>
                  <a:pt x="3707105" y="29080"/>
                </a:lnTo>
                <a:lnTo>
                  <a:pt x="3712638" y="29080"/>
                </a:lnTo>
                <a:lnTo>
                  <a:pt x="3718171" y="29080"/>
                </a:lnTo>
                <a:lnTo>
                  <a:pt x="3723704" y="29080"/>
                </a:lnTo>
                <a:lnTo>
                  <a:pt x="3729237" y="29080"/>
                </a:lnTo>
                <a:lnTo>
                  <a:pt x="3734770" y="24926"/>
                </a:lnTo>
                <a:lnTo>
                  <a:pt x="3740303" y="24926"/>
                </a:lnTo>
                <a:lnTo>
                  <a:pt x="3745836" y="29080"/>
                </a:lnTo>
                <a:lnTo>
                  <a:pt x="3751369" y="29080"/>
                </a:lnTo>
                <a:lnTo>
                  <a:pt x="3756902" y="24926"/>
                </a:lnTo>
                <a:lnTo>
                  <a:pt x="3762435" y="24926"/>
                </a:lnTo>
                <a:lnTo>
                  <a:pt x="3767968" y="24926"/>
                </a:lnTo>
                <a:lnTo>
                  <a:pt x="3773501" y="24926"/>
                </a:lnTo>
                <a:lnTo>
                  <a:pt x="3779034" y="24926"/>
                </a:lnTo>
                <a:lnTo>
                  <a:pt x="3784567" y="24926"/>
                </a:lnTo>
                <a:lnTo>
                  <a:pt x="3790100" y="29080"/>
                </a:lnTo>
                <a:lnTo>
                  <a:pt x="3795633" y="29080"/>
                </a:lnTo>
                <a:lnTo>
                  <a:pt x="3801166" y="33234"/>
                </a:lnTo>
                <a:lnTo>
                  <a:pt x="3806699" y="33234"/>
                </a:lnTo>
                <a:lnTo>
                  <a:pt x="3812232" y="37389"/>
                </a:lnTo>
                <a:lnTo>
                  <a:pt x="3817765" y="41543"/>
                </a:lnTo>
                <a:lnTo>
                  <a:pt x="3823298" y="41543"/>
                </a:lnTo>
                <a:lnTo>
                  <a:pt x="3828831" y="45697"/>
                </a:lnTo>
                <a:lnTo>
                  <a:pt x="3834364" y="49851"/>
                </a:lnTo>
                <a:lnTo>
                  <a:pt x="3839897" y="49851"/>
                </a:lnTo>
                <a:lnTo>
                  <a:pt x="3845430" y="54006"/>
                </a:lnTo>
                <a:lnTo>
                  <a:pt x="3850963" y="58160"/>
                </a:lnTo>
                <a:lnTo>
                  <a:pt x="3856496" y="58160"/>
                </a:lnTo>
                <a:lnTo>
                  <a:pt x="3862029" y="66469"/>
                </a:lnTo>
                <a:lnTo>
                  <a:pt x="3867562" y="70623"/>
                </a:lnTo>
                <a:lnTo>
                  <a:pt x="3873095" y="70623"/>
                </a:lnTo>
                <a:lnTo>
                  <a:pt x="3878628" y="78932"/>
                </a:lnTo>
                <a:lnTo>
                  <a:pt x="3884161" y="91395"/>
                </a:lnTo>
                <a:lnTo>
                  <a:pt x="3889694" y="99703"/>
                </a:lnTo>
                <a:lnTo>
                  <a:pt x="3895227" y="112166"/>
                </a:lnTo>
                <a:lnTo>
                  <a:pt x="3900760" y="128783"/>
                </a:lnTo>
                <a:lnTo>
                  <a:pt x="3906293" y="141246"/>
                </a:lnTo>
                <a:lnTo>
                  <a:pt x="3911826" y="153709"/>
                </a:lnTo>
                <a:lnTo>
                  <a:pt x="3917359" y="170326"/>
                </a:lnTo>
                <a:lnTo>
                  <a:pt x="3922892" y="182789"/>
                </a:lnTo>
                <a:lnTo>
                  <a:pt x="3928425" y="195252"/>
                </a:lnTo>
                <a:lnTo>
                  <a:pt x="3933958" y="211870"/>
                </a:lnTo>
                <a:lnTo>
                  <a:pt x="3939491" y="224333"/>
                </a:lnTo>
                <a:lnTo>
                  <a:pt x="3945024" y="232641"/>
                </a:lnTo>
                <a:lnTo>
                  <a:pt x="3950557" y="240950"/>
                </a:lnTo>
                <a:lnTo>
                  <a:pt x="3956090" y="253413"/>
                </a:lnTo>
                <a:lnTo>
                  <a:pt x="3961623" y="261721"/>
                </a:lnTo>
                <a:lnTo>
                  <a:pt x="3967156" y="265876"/>
                </a:lnTo>
                <a:lnTo>
                  <a:pt x="3972689" y="274184"/>
                </a:lnTo>
                <a:lnTo>
                  <a:pt x="3978222" y="278339"/>
                </a:lnTo>
                <a:lnTo>
                  <a:pt x="3983755" y="286647"/>
                </a:lnTo>
                <a:lnTo>
                  <a:pt x="3989288" y="299110"/>
                </a:lnTo>
                <a:lnTo>
                  <a:pt x="3994821" y="299110"/>
                </a:lnTo>
                <a:lnTo>
                  <a:pt x="4000354" y="286647"/>
                </a:lnTo>
                <a:lnTo>
                  <a:pt x="4005887" y="278339"/>
                </a:lnTo>
                <a:lnTo>
                  <a:pt x="4011420" y="265876"/>
                </a:lnTo>
                <a:lnTo>
                  <a:pt x="4016953" y="257567"/>
                </a:lnTo>
                <a:lnTo>
                  <a:pt x="4022486" y="245104"/>
                </a:lnTo>
                <a:lnTo>
                  <a:pt x="4028019" y="228487"/>
                </a:lnTo>
                <a:lnTo>
                  <a:pt x="4033552" y="211870"/>
                </a:lnTo>
                <a:lnTo>
                  <a:pt x="4039085" y="199407"/>
                </a:lnTo>
                <a:lnTo>
                  <a:pt x="4044618" y="182789"/>
                </a:lnTo>
                <a:lnTo>
                  <a:pt x="4050151" y="166172"/>
                </a:lnTo>
                <a:lnTo>
                  <a:pt x="4055684" y="153709"/>
                </a:lnTo>
                <a:lnTo>
                  <a:pt x="4061217" y="141246"/>
                </a:lnTo>
                <a:lnTo>
                  <a:pt x="4066750" y="128783"/>
                </a:lnTo>
                <a:lnTo>
                  <a:pt x="4072283" y="116320"/>
                </a:lnTo>
                <a:lnTo>
                  <a:pt x="4077816" y="108012"/>
                </a:lnTo>
                <a:lnTo>
                  <a:pt x="4083349" y="99703"/>
                </a:lnTo>
                <a:lnTo>
                  <a:pt x="4088882" y="95549"/>
                </a:lnTo>
                <a:lnTo>
                  <a:pt x="4094415" y="91395"/>
                </a:lnTo>
                <a:lnTo>
                  <a:pt x="4099948" y="91395"/>
                </a:lnTo>
                <a:lnTo>
                  <a:pt x="4105481" y="91395"/>
                </a:lnTo>
                <a:lnTo>
                  <a:pt x="4111014" y="91395"/>
                </a:lnTo>
                <a:lnTo>
                  <a:pt x="4116547" y="87240"/>
                </a:lnTo>
                <a:lnTo>
                  <a:pt x="4122080" y="87240"/>
                </a:lnTo>
                <a:lnTo>
                  <a:pt x="4127613" y="83086"/>
                </a:lnTo>
                <a:lnTo>
                  <a:pt x="4133146" y="78932"/>
                </a:lnTo>
                <a:lnTo>
                  <a:pt x="4138679" y="70623"/>
                </a:lnTo>
                <a:lnTo>
                  <a:pt x="4144212" y="62314"/>
                </a:lnTo>
                <a:lnTo>
                  <a:pt x="4149745" y="58160"/>
                </a:lnTo>
                <a:lnTo>
                  <a:pt x="4155278" y="49851"/>
                </a:lnTo>
                <a:lnTo>
                  <a:pt x="4160811" y="45697"/>
                </a:lnTo>
                <a:lnTo>
                  <a:pt x="4166344" y="37389"/>
                </a:lnTo>
                <a:lnTo>
                  <a:pt x="4171877" y="29080"/>
                </a:lnTo>
                <a:lnTo>
                  <a:pt x="4177410" y="20771"/>
                </a:lnTo>
                <a:lnTo>
                  <a:pt x="4182943" y="16617"/>
                </a:lnTo>
                <a:lnTo>
                  <a:pt x="4188476" y="12463"/>
                </a:lnTo>
                <a:lnTo>
                  <a:pt x="4194009" y="8308"/>
                </a:lnTo>
                <a:lnTo>
                  <a:pt x="4199542" y="4154"/>
                </a:lnTo>
                <a:lnTo>
                  <a:pt x="4205075" y="0"/>
                </a:lnTo>
                <a:lnTo>
                  <a:pt x="4210608" y="0"/>
                </a:lnTo>
                <a:lnTo>
                  <a:pt x="4216141" y="0"/>
                </a:lnTo>
                <a:lnTo>
                  <a:pt x="4221674" y="0"/>
                </a:lnTo>
                <a:lnTo>
                  <a:pt x="4227207" y="0"/>
                </a:lnTo>
                <a:lnTo>
                  <a:pt x="4232740" y="4154"/>
                </a:lnTo>
                <a:lnTo>
                  <a:pt x="4238273" y="4154"/>
                </a:lnTo>
                <a:lnTo>
                  <a:pt x="4243806" y="4154"/>
                </a:lnTo>
                <a:lnTo>
                  <a:pt x="4249339" y="4154"/>
                </a:lnTo>
                <a:lnTo>
                  <a:pt x="4254872" y="12463"/>
                </a:lnTo>
                <a:lnTo>
                  <a:pt x="4260405" y="16617"/>
                </a:lnTo>
                <a:lnTo>
                  <a:pt x="4265938" y="20771"/>
                </a:lnTo>
                <a:lnTo>
                  <a:pt x="4271471" y="37389"/>
                </a:lnTo>
                <a:lnTo>
                  <a:pt x="4277004" y="45697"/>
                </a:lnTo>
                <a:lnTo>
                  <a:pt x="4282537" y="49851"/>
                </a:lnTo>
                <a:lnTo>
                  <a:pt x="4288070" y="49851"/>
                </a:lnTo>
                <a:lnTo>
                  <a:pt x="4293603" y="54006"/>
                </a:lnTo>
                <a:lnTo>
                  <a:pt x="4299136" y="58160"/>
                </a:lnTo>
                <a:lnTo>
                  <a:pt x="4304669" y="62314"/>
                </a:lnTo>
                <a:lnTo>
                  <a:pt x="4310202" y="66469"/>
                </a:lnTo>
                <a:lnTo>
                  <a:pt x="4315735" y="108012"/>
                </a:lnTo>
                <a:lnTo>
                  <a:pt x="4321268" y="153709"/>
                </a:lnTo>
                <a:lnTo>
                  <a:pt x="4326801" y="166172"/>
                </a:lnTo>
                <a:lnTo>
                  <a:pt x="4332334" y="228487"/>
                </a:lnTo>
                <a:lnTo>
                  <a:pt x="4337867" y="369733"/>
                </a:lnTo>
                <a:lnTo>
                  <a:pt x="4343400" y="398814"/>
                </a:lnTo>
                <a:lnTo>
                  <a:pt x="4348932" y="419585"/>
                </a:lnTo>
                <a:lnTo>
                  <a:pt x="4354465" y="390505"/>
                </a:lnTo>
                <a:lnTo>
                  <a:pt x="4359998" y="390505"/>
                </a:lnTo>
                <a:lnTo>
                  <a:pt x="4365531" y="324036"/>
                </a:lnTo>
                <a:lnTo>
                  <a:pt x="4371064" y="274184"/>
                </a:lnTo>
                <a:lnTo>
                  <a:pt x="4376597" y="228487"/>
                </a:lnTo>
                <a:lnTo>
                  <a:pt x="4382130" y="195252"/>
                </a:lnTo>
                <a:lnTo>
                  <a:pt x="4387663" y="162018"/>
                </a:lnTo>
                <a:lnTo>
                  <a:pt x="4393196" y="128783"/>
                </a:lnTo>
                <a:lnTo>
                  <a:pt x="4398729" y="108012"/>
                </a:lnTo>
                <a:lnTo>
                  <a:pt x="4404262" y="116320"/>
                </a:lnTo>
                <a:lnTo>
                  <a:pt x="4409795" y="120475"/>
                </a:lnTo>
                <a:lnTo>
                  <a:pt x="4415328" y="124629"/>
                </a:lnTo>
                <a:lnTo>
                  <a:pt x="4420861" y="132938"/>
                </a:lnTo>
                <a:lnTo>
                  <a:pt x="4426394" y="137092"/>
                </a:lnTo>
                <a:lnTo>
                  <a:pt x="4431927" y="149555"/>
                </a:lnTo>
                <a:lnTo>
                  <a:pt x="4437460" y="157864"/>
                </a:lnTo>
                <a:lnTo>
                  <a:pt x="4442993" y="166172"/>
                </a:lnTo>
                <a:lnTo>
                  <a:pt x="4448526" y="170326"/>
                </a:lnTo>
                <a:lnTo>
                  <a:pt x="4454059" y="178635"/>
                </a:lnTo>
                <a:lnTo>
                  <a:pt x="4459592" y="182789"/>
                </a:lnTo>
                <a:lnTo>
                  <a:pt x="4465125" y="191098"/>
                </a:lnTo>
                <a:lnTo>
                  <a:pt x="4470658" y="207715"/>
                </a:lnTo>
                <a:lnTo>
                  <a:pt x="4476191" y="245104"/>
                </a:lnTo>
                <a:lnTo>
                  <a:pt x="4481724" y="274184"/>
                </a:lnTo>
                <a:lnTo>
                  <a:pt x="4487257" y="286647"/>
                </a:lnTo>
                <a:lnTo>
                  <a:pt x="4492790" y="290802"/>
                </a:lnTo>
                <a:lnTo>
                  <a:pt x="4498323" y="294956"/>
                </a:lnTo>
                <a:lnTo>
                  <a:pt x="4503856" y="274184"/>
                </a:lnTo>
                <a:lnTo>
                  <a:pt x="4509389" y="299110"/>
                </a:lnTo>
                <a:lnTo>
                  <a:pt x="4514922" y="332345"/>
                </a:lnTo>
                <a:lnTo>
                  <a:pt x="4520455" y="315727"/>
                </a:lnTo>
                <a:lnTo>
                  <a:pt x="4525988" y="303264"/>
                </a:lnTo>
              </a:path>
            </a:pathLst>
          </a:custGeom>
          <a:noFill/>
          <a:ln w="19050">
            <a:solidFill>
              <a:srgbClr val="F1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5919429" y="3403329"/>
            <a:ext cx="1350051" cy="581603"/>
          </a:xfrm>
          <a:custGeom>
            <a:avLst/>
            <a:gdLst/>
            <a:ahLst/>
            <a:cxnLst/>
            <a:rect l="l" t="t" r="r" b="b"/>
            <a:pathLst>
              <a:path w="1350051" h="581603">
                <a:moveTo>
                  <a:pt x="0" y="249258"/>
                </a:moveTo>
                <a:lnTo>
                  <a:pt x="5533" y="236795"/>
                </a:lnTo>
                <a:lnTo>
                  <a:pt x="11066" y="224332"/>
                </a:lnTo>
                <a:lnTo>
                  <a:pt x="16599" y="207715"/>
                </a:lnTo>
                <a:lnTo>
                  <a:pt x="22132" y="199407"/>
                </a:lnTo>
                <a:lnTo>
                  <a:pt x="27665" y="186944"/>
                </a:lnTo>
                <a:lnTo>
                  <a:pt x="33198" y="170326"/>
                </a:lnTo>
                <a:lnTo>
                  <a:pt x="38731" y="153709"/>
                </a:lnTo>
                <a:lnTo>
                  <a:pt x="44264" y="137092"/>
                </a:lnTo>
                <a:lnTo>
                  <a:pt x="49797" y="108012"/>
                </a:lnTo>
                <a:lnTo>
                  <a:pt x="55330" y="91394"/>
                </a:lnTo>
                <a:lnTo>
                  <a:pt x="60863" y="83086"/>
                </a:lnTo>
                <a:lnTo>
                  <a:pt x="66396" y="74777"/>
                </a:lnTo>
                <a:lnTo>
                  <a:pt x="71929" y="70623"/>
                </a:lnTo>
                <a:lnTo>
                  <a:pt x="77462" y="58160"/>
                </a:lnTo>
                <a:lnTo>
                  <a:pt x="82995" y="41543"/>
                </a:lnTo>
                <a:lnTo>
                  <a:pt x="88528" y="33234"/>
                </a:lnTo>
                <a:lnTo>
                  <a:pt x="94061" y="37388"/>
                </a:lnTo>
                <a:lnTo>
                  <a:pt x="99594" y="54006"/>
                </a:lnTo>
                <a:lnTo>
                  <a:pt x="105127" y="70623"/>
                </a:lnTo>
                <a:lnTo>
                  <a:pt x="110660" y="87240"/>
                </a:lnTo>
                <a:lnTo>
                  <a:pt x="116193" y="108012"/>
                </a:lnTo>
                <a:lnTo>
                  <a:pt x="121726" y="128783"/>
                </a:lnTo>
                <a:lnTo>
                  <a:pt x="127259" y="153709"/>
                </a:lnTo>
                <a:lnTo>
                  <a:pt x="132792" y="182789"/>
                </a:lnTo>
                <a:lnTo>
                  <a:pt x="138325" y="220178"/>
                </a:lnTo>
                <a:lnTo>
                  <a:pt x="143858" y="249258"/>
                </a:lnTo>
                <a:lnTo>
                  <a:pt x="149391" y="274184"/>
                </a:lnTo>
                <a:lnTo>
                  <a:pt x="154924" y="294956"/>
                </a:lnTo>
                <a:lnTo>
                  <a:pt x="160457" y="311573"/>
                </a:lnTo>
                <a:lnTo>
                  <a:pt x="165990" y="324036"/>
                </a:lnTo>
                <a:lnTo>
                  <a:pt x="171523" y="344807"/>
                </a:lnTo>
                <a:lnTo>
                  <a:pt x="177056" y="348962"/>
                </a:lnTo>
                <a:lnTo>
                  <a:pt x="182589" y="344807"/>
                </a:lnTo>
                <a:lnTo>
                  <a:pt x="188122" y="340653"/>
                </a:lnTo>
                <a:lnTo>
                  <a:pt x="193655" y="336499"/>
                </a:lnTo>
                <a:lnTo>
                  <a:pt x="199188" y="328190"/>
                </a:lnTo>
                <a:lnTo>
                  <a:pt x="204721" y="324036"/>
                </a:lnTo>
                <a:lnTo>
                  <a:pt x="210254" y="315727"/>
                </a:lnTo>
                <a:lnTo>
                  <a:pt x="215787" y="311573"/>
                </a:lnTo>
                <a:lnTo>
                  <a:pt x="221320" y="307419"/>
                </a:lnTo>
                <a:lnTo>
                  <a:pt x="226853" y="307419"/>
                </a:lnTo>
                <a:lnTo>
                  <a:pt x="232386" y="311573"/>
                </a:lnTo>
                <a:lnTo>
                  <a:pt x="237919" y="311573"/>
                </a:lnTo>
                <a:lnTo>
                  <a:pt x="243452" y="315727"/>
                </a:lnTo>
                <a:lnTo>
                  <a:pt x="248985" y="315727"/>
                </a:lnTo>
                <a:lnTo>
                  <a:pt x="254518" y="319882"/>
                </a:lnTo>
                <a:lnTo>
                  <a:pt x="260051" y="319882"/>
                </a:lnTo>
                <a:lnTo>
                  <a:pt x="265584" y="311573"/>
                </a:lnTo>
                <a:lnTo>
                  <a:pt x="271117" y="294956"/>
                </a:lnTo>
                <a:lnTo>
                  <a:pt x="276650" y="282493"/>
                </a:lnTo>
                <a:lnTo>
                  <a:pt x="282183" y="274184"/>
                </a:lnTo>
                <a:lnTo>
                  <a:pt x="287716" y="261721"/>
                </a:lnTo>
                <a:lnTo>
                  <a:pt x="293249" y="253413"/>
                </a:lnTo>
                <a:lnTo>
                  <a:pt x="298782" y="236795"/>
                </a:lnTo>
                <a:lnTo>
                  <a:pt x="304315" y="220178"/>
                </a:lnTo>
                <a:lnTo>
                  <a:pt x="309848" y="203561"/>
                </a:lnTo>
                <a:lnTo>
                  <a:pt x="315381" y="195252"/>
                </a:lnTo>
                <a:lnTo>
                  <a:pt x="320914" y="186944"/>
                </a:lnTo>
                <a:lnTo>
                  <a:pt x="326447" y="182789"/>
                </a:lnTo>
                <a:lnTo>
                  <a:pt x="331980" y="178635"/>
                </a:lnTo>
                <a:lnTo>
                  <a:pt x="337513" y="186944"/>
                </a:lnTo>
                <a:lnTo>
                  <a:pt x="343046" y="195252"/>
                </a:lnTo>
                <a:lnTo>
                  <a:pt x="348579" y="207715"/>
                </a:lnTo>
                <a:lnTo>
                  <a:pt x="354112" y="224332"/>
                </a:lnTo>
                <a:lnTo>
                  <a:pt x="359645" y="236795"/>
                </a:lnTo>
                <a:lnTo>
                  <a:pt x="365178" y="253413"/>
                </a:lnTo>
                <a:lnTo>
                  <a:pt x="370711" y="274184"/>
                </a:lnTo>
                <a:lnTo>
                  <a:pt x="376244" y="286647"/>
                </a:lnTo>
                <a:lnTo>
                  <a:pt x="381777" y="303264"/>
                </a:lnTo>
                <a:lnTo>
                  <a:pt x="387310" y="315727"/>
                </a:lnTo>
                <a:lnTo>
                  <a:pt x="392843" y="328190"/>
                </a:lnTo>
                <a:lnTo>
                  <a:pt x="398376" y="340653"/>
                </a:lnTo>
                <a:lnTo>
                  <a:pt x="403909" y="328190"/>
                </a:lnTo>
                <a:lnTo>
                  <a:pt x="409442" y="315727"/>
                </a:lnTo>
                <a:lnTo>
                  <a:pt x="414975" y="303264"/>
                </a:lnTo>
                <a:lnTo>
                  <a:pt x="420508" y="290801"/>
                </a:lnTo>
                <a:lnTo>
                  <a:pt x="426041" y="274184"/>
                </a:lnTo>
                <a:lnTo>
                  <a:pt x="431574" y="261721"/>
                </a:lnTo>
                <a:lnTo>
                  <a:pt x="437107" y="245104"/>
                </a:lnTo>
                <a:lnTo>
                  <a:pt x="442640" y="228487"/>
                </a:lnTo>
                <a:lnTo>
                  <a:pt x="448173" y="216024"/>
                </a:lnTo>
                <a:lnTo>
                  <a:pt x="453706" y="203561"/>
                </a:lnTo>
                <a:lnTo>
                  <a:pt x="459239" y="191098"/>
                </a:lnTo>
                <a:lnTo>
                  <a:pt x="464772" y="182789"/>
                </a:lnTo>
                <a:lnTo>
                  <a:pt x="470305" y="170326"/>
                </a:lnTo>
                <a:lnTo>
                  <a:pt x="475838" y="157863"/>
                </a:lnTo>
                <a:lnTo>
                  <a:pt x="481371" y="149555"/>
                </a:lnTo>
                <a:lnTo>
                  <a:pt x="486903" y="141246"/>
                </a:lnTo>
                <a:lnTo>
                  <a:pt x="492436" y="132938"/>
                </a:lnTo>
                <a:lnTo>
                  <a:pt x="497969" y="124629"/>
                </a:lnTo>
                <a:lnTo>
                  <a:pt x="503502" y="112166"/>
                </a:lnTo>
                <a:lnTo>
                  <a:pt x="509035" y="99703"/>
                </a:lnTo>
                <a:lnTo>
                  <a:pt x="514568" y="91394"/>
                </a:lnTo>
                <a:lnTo>
                  <a:pt x="520101" y="91394"/>
                </a:lnTo>
                <a:lnTo>
                  <a:pt x="525634" y="87240"/>
                </a:lnTo>
                <a:lnTo>
                  <a:pt x="531167" y="83086"/>
                </a:lnTo>
                <a:lnTo>
                  <a:pt x="536700" y="83086"/>
                </a:lnTo>
                <a:lnTo>
                  <a:pt x="542233" y="87240"/>
                </a:lnTo>
                <a:lnTo>
                  <a:pt x="547766" y="87240"/>
                </a:lnTo>
                <a:lnTo>
                  <a:pt x="553299" y="83086"/>
                </a:lnTo>
                <a:lnTo>
                  <a:pt x="558832" y="83086"/>
                </a:lnTo>
                <a:lnTo>
                  <a:pt x="564365" y="83086"/>
                </a:lnTo>
                <a:lnTo>
                  <a:pt x="569898" y="83086"/>
                </a:lnTo>
                <a:lnTo>
                  <a:pt x="575431" y="87240"/>
                </a:lnTo>
                <a:lnTo>
                  <a:pt x="580964" y="91394"/>
                </a:lnTo>
                <a:lnTo>
                  <a:pt x="586497" y="95549"/>
                </a:lnTo>
                <a:lnTo>
                  <a:pt x="592030" y="99703"/>
                </a:lnTo>
                <a:lnTo>
                  <a:pt x="597563" y="108012"/>
                </a:lnTo>
                <a:lnTo>
                  <a:pt x="603096" y="112166"/>
                </a:lnTo>
                <a:lnTo>
                  <a:pt x="608629" y="116320"/>
                </a:lnTo>
                <a:lnTo>
                  <a:pt x="614162" y="120475"/>
                </a:lnTo>
                <a:lnTo>
                  <a:pt x="619695" y="103857"/>
                </a:lnTo>
                <a:lnTo>
                  <a:pt x="625228" y="83086"/>
                </a:lnTo>
                <a:lnTo>
                  <a:pt x="630761" y="74777"/>
                </a:lnTo>
                <a:lnTo>
                  <a:pt x="636294" y="70623"/>
                </a:lnTo>
                <a:lnTo>
                  <a:pt x="641827" y="62314"/>
                </a:lnTo>
                <a:lnTo>
                  <a:pt x="647360" y="45697"/>
                </a:lnTo>
                <a:lnTo>
                  <a:pt x="652893" y="29080"/>
                </a:lnTo>
                <a:lnTo>
                  <a:pt x="658426" y="8308"/>
                </a:lnTo>
                <a:lnTo>
                  <a:pt x="663959" y="4154"/>
                </a:lnTo>
                <a:lnTo>
                  <a:pt x="669492" y="0"/>
                </a:lnTo>
                <a:lnTo>
                  <a:pt x="675025" y="0"/>
                </a:lnTo>
                <a:lnTo>
                  <a:pt x="680558" y="0"/>
                </a:lnTo>
                <a:lnTo>
                  <a:pt x="686091" y="0"/>
                </a:lnTo>
                <a:lnTo>
                  <a:pt x="691624" y="0"/>
                </a:lnTo>
                <a:lnTo>
                  <a:pt x="697157" y="4154"/>
                </a:lnTo>
                <a:lnTo>
                  <a:pt x="702690" y="8308"/>
                </a:lnTo>
                <a:lnTo>
                  <a:pt x="708223" y="12463"/>
                </a:lnTo>
                <a:lnTo>
                  <a:pt x="713756" y="16617"/>
                </a:lnTo>
                <a:lnTo>
                  <a:pt x="719289" y="20771"/>
                </a:lnTo>
                <a:lnTo>
                  <a:pt x="724822" y="29080"/>
                </a:lnTo>
                <a:lnTo>
                  <a:pt x="730355" y="33234"/>
                </a:lnTo>
                <a:lnTo>
                  <a:pt x="735888" y="37388"/>
                </a:lnTo>
                <a:lnTo>
                  <a:pt x="741421" y="45697"/>
                </a:lnTo>
                <a:lnTo>
                  <a:pt x="746954" y="49851"/>
                </a:lnTo>
                <a:lnTo>
                  <a:pt x="752487" y="58160"/>
                </a:lnTo>
                <a:lnTo>
                  <a:pt x="758020" y="62314"/>
                </a:lnTo>
                <a:lnTo>
                  <a:pt x="763553" y="70623"/>
                </a:lnTo>
                <a:lnTo>
                  <a:pt x="769086" y="78931"/>
                </a:lnTo>
                <a:lnTo>
                  <a:pt x="774619" y="91394"/>
                </a:lnTo>
                <a:lnTo>
                  <a:pt x="780152" y="108012"/>
                </a:lnTo>
                <a:lnTo>
                  <a:pt x="785685" y="120475"/>
                </a:lnTo>
                <a:lnTo>
                  <a:pt x="791218" y="132938"/>
                </a:lnTo>
                <a:lnTo>
                  <a:pt x="796751" y="153709"/>
                </a:lnTo>
                <a:lnTo>
                  <a:pt x="802284" y="174481"/>
                </a:lnTo>
                <a:lnTo>
                  <a:pt x="807817" y="199407"/>
                </a:lnTo>
                <a:lnTo>
                  <a:pt x="813350" y="232641"/>
                </a:lnTo>
                <a:lnTo>
                  <a:pt x="818883" y="257567"/>
                </a:lnTo>
                <a:lnTo>
                  <a:pt x="824416" y="282493"/>
                </a:lnTo>
                <a:lnTo>
                  <a:pt x="829949" y="307419"/>
                </a:lnTo>
                <a:lnTo>
                  <a:pt x="835482" y="324036"/>
                </a:lnTo>
                <a:lnTo>
                  <a:pt x="841015" y="344807"/>
                </a:lnTo>
                <a:lnTo>
                  <a:pt x="846548" y="365579"/>
                </a:lnTo>
                <a:lnTo>
                  <a:pt x="852081" y="386351"/>
                </a:lnTo>
                <a:lnTo>
                  <a:pt x="857614" y="398813"/>
                </a:lnTo>
                <a:lnTo>
                  <a:pt x="863147" y="407122"/>
                </a:lnTo>
                <a:lnTo>
                  <a:pt x="868680" y="398813"/>
                </a:lnTo>
                <a:lnTo>
                  <a:pt x="874213" y="386351"/>
                </a:lnTo>
                <a:lnTo>
                  <a:pt x="879746" y="373888"/>
                </a:lnTo>
                <a:lnTo>
                  <a:pt x="885279" y="353116"/>
                </a:lnTo>
                <a:lnTo>
                  <a:pt x="890812" y="348962"/>
                </a:lnTo>
                <a:lnTo>
                  <a:pt x="896345" y="344807"/>
                </a:lnTo>
                <a:lnTo>
                  <a:pt x="901878" y="332344"/>
                </a:lnTo>
                <a:lnTo>
                  <a:pt x="907411" y="348962"/>
                </a:lnTo>
                <a:lnTo>
                  <a:pt x="912944" y="369733"/>
                </a:lnTo>
                <a:lnTo>
                  <a:pt x="918477" y="390505"/>
                </a:lnTo>
                <a:lnTo>
                  <a:pt x="924010" y="336499"/>
                </a:lnTo>
                <a:lnTo>
                  <a:pt x="929543" y="340653"/>
                </a:lnTo>
                <a:lnTo>
                  <a:pt x="935076" y="465282"/>
                </a:lnTo>
                <a:lnTo>
                  <a:pt x="940609" y="473591"/>
                </a:lnTo>
                <a:lnTo>
                  <a:pt x="946142" y="498517"/>
                </a:lnTo>
                <a:lnTo>
                  <a:pt x="951675" y="515134"/>
                </a:lnTo>
                <a:lnTo>
                  <a:pt x="957208" y="527597"/>
                </a:lnTo>
                <a:lnTo>
                  <a:pt x="962741" y="544214"/>
                </a:lnTo>
                <a:lnTo>
                  <a:pt x="968274" y="556677"/>
                </a:lnTo>
                <a:lnTo>
                  <a:pt x="973807" y="569140"/>
                </a:lnTo>
                <a:lnTo>
                  <a:pt x="979340" y="573295"/>
                </a:lnTo>
                <a:lnTo>
                  <a:pt x="984873" y="581603"/>
                </a:lnTo>
                <a:lnTo>
                  <a:pt x="990406" y="552523"/>
                </a:lnTo>
                <a:lnTo>
                  <a:pt x="995939" y="540060"/>
                </a:lnTo>
                <a:lnTo>
                  <a:pt x="1001472" y="535906"/>
                </a:lnTo>
                <a:lnTo>
                  <a:pt x="1007005" y="510980"/>
                </a:lnTo>
                <a:lnTo>
                  <a:pt x="1012538" y="506826"/>
                </a:lnTo>
                <a:lnTo>
                  <a:pt x="1018071" y="498517"/>
                </a:lnTo>
                <a:lnTo>
                  <a:pt x="1023604" y="436202"/>
                </a:lnTo>
                <a:lnTo>
                  <a:pt x="1029137" y="398813"/>
                </a:lnTo>
                <a:lnTo>
                  <a:pt x="1034670" y="348962"/>
                </a:lnTo>
                <a:lnTo>
                  <a:pt x="1040203" y="315727"/>
                </a:lnTo>
                <a:lnTo>
                  <a:pt x="1045736" y="286647"/>
                </a:lnTo>
                <a:lnTo>
                  <a:pt x="1051269" y="265875"/>
                </a:lnTo>
                <a:lnTo>
                  <a:pt x="1056802" y="253413"/>
                </a:lnTo>
                <a:lnTo>
                  <a:pt x="1062335" y="232641"/>
                </a:lnTo>
                <a:lnTo>
                  <a:pt x="1067868" y="220178"/>
                </a:lnTo>
                <a:lnTo>
                  <a:pt x="1073401" y="211869"/>
                </a:lnTo>
                <a:lnTo>
                  <a:pt x="1078934" y="199407"/>
                </a:lnTo>
                <a:lnTo>
                  <a:pt x="1084467" y="191098"/>
                </a:lnTo>
                <a:lnTo>
                  <a:pt x="1090000" y="182789"/>
                </a:lnTo>
                <a:lnTo>
                  <a:pt x="1095533" y="166172"/>
                </a:lnTo>
                <a:lnTo>
                  <a:pt x="1101066" y="157863"/>
                </a:lnTo>
                <a:lnTo>
                  <a:pt x="1106599" y="149555"/>
                </a:lnTo>
                <a:lnTo>
                  <a:pt x="1112132" y="141246"/>
                </a:lnTo>
                <a:lnTo>
                  <a:pt x="1117665" y="137092"/>
                </a:lnTo>
                <a:lnTo>
                  <a:pt x="1123198" y="128783"/>
                </a:lnTo>
                <a:lnTo>
                  <a:pt x="1128731" y="124629"/>
                </a:lnTo>
                <a:lnTo>
                  <a:pt x="1134264" y="120475"/>
                </a:lnTo>
                <a:lnTo>
                  <a:pt x="1139797" y="112166"/>
                </a:lnTo>
                <a:lnTo>
                  <a:pt x="1145330" y="108012"/>
                </a:lnTo>
                <a:lnTo>
                  <a:pt x="1150863" y="103857"/>
                </a:lnTo>
                <a:lnTo>
                  <a:pt x="1156396" y="99703"/>
                </a:lnTo>
                <a:lnTo>
                  <a:pt x="1161929" y="95549"/>
                </a:lnTo>
                <a:lnTo>
                  <a:pt x="1167462" y="95549"/>
                </a:lnTo>
                <a:lnTo>
                  <a:pt x="1172995" y="91394"/>
                </a:lnTo>
                <a:lnTo>
                  <a:pt x="1178528" y="91394"/>
                </a:lnTo>
                <a:lnTo>
                  <a:pt x="1184061" y="95549"/>
                </a:lnTo>
                <a:lnTo>
                  <a:pt x="1189594" y="95549"/>
                </a:lnTo>
                <a:lnTo>
                  <a:pt x="1195127" y="95549"/>
                </a:lnTo>
                <a:lnTo>
                  <a:pt x="1200660" y="95549"/>
                </a:lnTo>
                <a:lnTo>
                  <a:pt x="1206193" y="91394"/>
                </a:lnTo>
                <a:lnTo>
                  <a:pt x="1211726" y="87240"/>
                </a:lnTo>
                <a:lnTo>
                  <a:pt x="1217259" y="83086"/>
                </a:lnTo>
                <a:lnTo>
                  <a:pt x="1222792" y="78931"/>
                </a:lnTo>
                <a:lnTo>
                  <a:pt x="1228325" y="74777"/>
                </a:lnTo>
                <a:lnTo>
                  <a:pt x="1233858" y="66469"/>
                </a:lnTo>
                <a:lnTo>
                  <a:pt x="1239391" y="62314"/>
                </a:lnTo>
                <a:lnTo>
                  <a:pt x="1244924" y="58160"/>
                </a:lnTo>
                <a:lnTo>
                  <a:pt x="1250457" y="58160"/>
                </a:lnTo>
                <a:lnTo>
                  <a:pt x="1255990" y="62314"/>
                </a:lnTo>
                <a:lnTo>
                  <a:pt x="1261523" y="62314"/>
                </a:lnTo>
                <a:lnTo>
                  <a:pt x="1267056" y="70623"/>
                </a:lnTo>
                <a:lnTo>
                  <a:pt x="1272589" y="74777"/>
                </a:lnTo>
                <a:lnTo>
                  <a:pt x="1278122" y="83086"/>
                </a:lnTo>
                <a:lnTo>
                  <a:pt x="1283655" y="95549"/>
                </a:lnTo>
                <a:lnTo>
                  <a:pt x="1289188" y="103857"/>
                </a:lnTo>
                <a:lnTo>
                  <a:pt x="1294721" y="108012"/>
                </a:lnTo>
                <a:lnTo>
                  <a:pt x="1300254" y="112166"/>
                </a:lnTo>
                <a:lnTo>
                  <a:pt x="1305787" y="124629"/>
                </a:lnTo>
                <a:lnTo>
                  <a:pt x="1311320" y="132938"/>
                </a:lnTo>
                <a:lnTo>
                  <a:pt x="1316853" y="137092"/>
                </a:lnTo>
                <a:lnTo>
                  <a:pt x="1322386" y="137092"/>
                </a:lnTo>
                <a:lnTo>
                  <a:pt x="1327919" y="137092"/>
                </a:lnTo>
                <a:lnTo>
                  <a:pt x="1333452" y="141246"/>
                </a:lnTo>
                <a:lnTo>
                  <a:pt x="1338985" y="149555"/>
                </a:lnTo>
                <a:lnTo>
                  <a:pt x="1344518" y="153709"/>
                </a:lnTo>
                <a:lnTo>
                  <a:pt x="1350051" y="157863"/>
                </a:lnTo>
              </a:path>
            </a:pathLst>
          </a:custGeom>
          <a:noFill/>
          <a:ln w="19050">
            <a:solidFill>
              <a:srgbClr val="F1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88720" y="2049023"/>
            <a:ext cx="6080760" cy="1117510"/>
          </a:xfrm>
          <a:custGeom>
            <a:avLst/>
            <a:gdLst/>
            <a:ahLst/>
            <a:cxnLst/>
            <a:rect l="l" t="t" r="r" b="b"/>
            <a:pathLst>
              <a:path w="6080760" h="1117510">
                <a:moveTo>
                  <a:pt x="0" y="41543"/>
                </a:moveTo>
                <a:lnTo>
                  <a:pt x="5532" y="37389"/>
                </a:lnTo>
                <a:lnTo>
                  <a:pt x="11065" y="37389"/>
                </a:lnTo>
                <a:lnTo>
                  <a:pt x="16598" y="37389"/>
                </a:lnTo>
                <a:lnTo>
                  <a:pt x="22131" y="37389"/>
                </a:lnTo>
                <a:lnTo>
                  <a:pt x="27664" y="37389"/>
                </a:lnTo>
                <a:lnTo>
                  <a:pt x="33197" y="37389"/>
                </a:lnTo>
                <a:lnTo>
                  <a:pt x="38730" y="37389"/>
                </a:lnTo>
                <a:lnTo>
                  <a:pt x="44263" y="37389"/>
                </a:lnTo>
                <a:lnTo>
                  <a:pt x="49796" y="37389"/>
                </a:lnTo>
                <a:lnTo>
                  <a:pt x="55329" y="37389"/>
                </a:lnTo>
                <a:lnTo>
                  <a:pt x="60862" y="37389"/>
                </a:lnTo>
                <a:lnTo>
                  <a:pt x="66395" y="37389"/>
                </a:lnTo>
                <a:lnTo>
                  <a:pt x="71928" y="33235"/>
                </a:lnTo>
                <a:lnTo>
                  <a:pt x="77461" y="33235"/>
                </a:lnTo>
                <a:lnTo>
                  <a:pt x="82994" y="33235"/>
                </a:lnTo>
                <a:lnTo>
                  <a:pt x="88527" y="33235"/>
                </a:lnTo>
                <a:lnTo>
                  <a:pt x="94060" y="33235"/>
                </a:lnTo>
                <a:lnTo>
                  <a:pt x="99593" y="33235"/>
                </a:lnTo>
                <a:lnTo>
                  <a:pt x="105126" y="33235"/>
                </a:lnTo>
                <a:lnTo>
                  <a:pt x="110659" y="33235"/>
                </a:lnTo>
                <a:lnTo>
                  <a:pt x="116192" y="29080"/>
                </a:lnTo>
                <a:lnTo>
                  <a:pt x="121725" y="29080"/>
                </a:lnTo>
                <a:lnTo>
                  <a:pt x="127258" y="29080"/>
                </a:lnTo>
                <a:lnTo>
                  <a:pt x="132791" y="29080"/>
                </a:lnTo>
                <a:lnTo>
                  <a:pt x="138324" y="33235"/>
                </a:lnTo>
                <a:lnTo>
                  <a:pt x="143857" y="29080"/>
                </a:lnTo>
                <a:lnTo>
                  <a:pt x="149390" y="29080"/>
                </a:lnTo>
                <a:lnTo>
                  <a:pt x="154923" y="24926"/>
                </a:lnTo>
                <a:lnTo>
                  <a:pt x="160456" y="20772"/>
                </a:lnTo>
                <a:lnTo>
                  <a:pt x="165989" y="20772"/>
                </a:lnTo>
                <a:lnTo>
                  <a:pt x="171522" y="16617"/>
                </a:lnTo>
                <a:lnTo>
                  <a:pt x="177055" y="20772"/>
                </a:lnTo>
                <a:lnTo>
                  <a:pt x="182588" y="20772"/>
                </a:lnTo>
                <a:lnTo>
                  <a:pt x="188121" y="20772"/>
                </a:lnTo>
                <a:lnTo>
                  <a:pt x="193654" y="20772"/>
                </a:lnTo>
                <a:lnTo>
                  <a:pt x="199187" y="20772"/>
                </a:lnTo>
                <a:lnTo>
                  <a:pt x="204720" y="20772"/>
                </a:lnTo>
                <a:lnTo>
                  <a:pt x="210253" y="16617"/>
                </a:lnTo>
                <a:lnTo>
                  <a:pt x="215786" y="16617"/>
                </a:lnTo>
                <a:lnTo>
                  <a:pt x="221319" y="12463"/>
                </a:lnTo>
                <a:lnTo>
                  <a:pt x="226852" y="8309"/>
                </a:lnTo>
                <a:lnTo>
                  <a:pt x="232385" y="4154"/>
                </a:lnTo>
                <a:lnTo>
                  <a:pt x="237918" y="4154"/>
                </a:lnTo>
                <a:lnTo>
                  <a:pt x="243451" y="4154"/>
                </a:lnTo>
                <a:lnTo>
                  <a:pt x="248984" y="8309"/>
                </a:lnTo>
                <a:lnTo>
                  <a:pt x="254517" y="8309"/>
                </a:lnTo>
                <a:lnTo>
                  <a:pt x="260050" y="12463"/>
                </a:lnTo>
                <a:lnTo>
                  <a:pt x="265583" y="16617"/>
                </a:lnTo>
                <a:lnTo>
                  <a:pt x="271116" y="12463"/>
                </a:lnTo>
                <a:lnTo>
                  <a:pt x="276649" y="12463"/>
                </a:lnTo>
                <a:lnTo>
                  <a:pt x="282182" y="12463"/>
                </a:lnTo>
                <a:lnTo>
                  <a:pt x="287715" y="16617"/>
                </a:lnTo>
                <a:lnTo>
                  <a:pt x="293248" y="16617"/>
                </a:lnTo>
                <a:lnTo>
                  <a:pt x="298781" y="12463"/>
                </a:lnTo>
                <a:lnTo>
                  <a:pt x="304314" y="12463"/>
                </a:lnTo>
                <a:lnTo>
                  <a:pt x="309847" y="12463"/>
                </a:lnTo>
                <a:lnTo>
                  <a:pt x="315380" y="16617"/>
                </a:lnTo>
                <a:lnTo>
                  <a:pt x="320913" y="20772"/>
                </a:lnTo>
                <a:lnTo>
                  <a:pt x="326446" y="16617"/>
                </a:lnTo>
                <a:lnTo>
                  <a:pt x="331979" y="16617"/>
                </a:lnTo>
                <a:lnTo>
                  <a:pt x="337512" y="16617"/>
                </a:lnTo>
                <a:lnTo>
                  <a:pt x="343045" y="20772"/>
                </a:lnTo>
                <a:lnTo>
                  <a:pt x="348578" y="24926"/>
                </a:lnTo>
                <a:lnTo>
                  <a:pt x="354111" y="24926"/>
                </a:lnTo>
                <a:lnTo>
                  <a:pt x="359644" y="33235"/>
                </a:lnTo>
                <a:lnTo>
                  <a:pt x="365177" y="29080"/>
                </a:lnTo>
                <a:lnTo>
                  <a:pt x="370710" y="29080"/>
                </a:lnTo>
                <a:lnTo>
                  <a:pt x="376243" y="29080"/>
                </a:lnTo>
                <a:lnTo>
                  <a:pt x="381776" y="29080"/>
                </a:lnTo>
                <a:lnTo>
                  <a:pt x="387309" y="24926"/>
                </a:lnTo>
                <a:lnTo>
                  <a:pt x="392842" y="24926"/>
                </a:lnTo>
                <a:lnTo>
                  <a:pt x="398375" y="20772"/>
                </a:lnTo>
                <a:lnTo>
                  <a:pt x="403908" y="12463"/>
                </a:lnTo>
                <a:lnTo>
                  <a:pt x="409441" y="8309"/>
                </a:lnTo>
                <a:lnTo>
                  <a:pt x="414974" y="4154"/>
                </a:lnTo>
                <a:lnTo>
                  <a:pt x="420507" y="0"/>
                </a:lnTo>
                <a:lnTo>
                  <a:pt x="426040" y="0"/>
                </a:lnTo>
                <a:lnTo>
                  <a:pt x="431573" y="0"/>
                </a:lnTo>
                <a:lnTo>
                  <a:pt x="437106" y="0"/>
                </a:lnTo>
                <a:lnTo>
                  <a:pt x="442639" y="4154"/>
                </a:lnTo>
                <a:lnTo>
                  <a:pt x="448172" y="8309"/>
                </a:lnTo>
                <a:lnTo>
                  <a:pt x="453705" y="12463"/>
                </a:lnTo>
                <a:lnTo>
                  <a:pt x="459238" y="16617"/>
                </a:lnTo>
                <a:lnTo>
                  <a:pt x="464771" y="16617"/>
                </a:lnTo>
                <a:lnTo>
                  <a:pt x="470304" y="20772"/>
                </a:lnTo>
                <a:lnTo>
                  <a:pt x="475837" y="16617"/>
                </a:lnTo>
                <a:lnTo>
                  <a:pt x="481370" y="16617"/>
                </a:lnTo>
                <a:lnTo>
                  <a:pt x="486903" y="16617"/>
                </a:lnTo>
                <a:lnTo>
                  <a:pt x="492436" y="16617"/>
                </a:lnTo>
                <a:lnTo>
                  <a:pt x="497969" y="20772"/>
                </a:lnTo>
                <a:lnTo>
                  <a:pt x="503502" y="24926"/>
                </a:lnTo>
                <a:lnTo>
                  <a:pt x="509035" y="20772"/>
                </a:lnTo>
                <a:lnTo>
                  <a:pt x="514568" y="16617"/>
                </a:lnTo>
                <a:lnTo>
                  <a:pt x="520101" y="16617"/>
                </a:lnTo>
                <a:lnTo>
                  <a:pt x="525634" y="16617"/>
                </a:lnTo>
                <a:lnTo>
                  <a:pt x="531167" y="16617"/>
                </a:lnTo>
                <a:lnTo>
                  <a:pt x="536700" y="16617"/>
                </a:lnTo>
                <a:lnTo>
                  <a:pt x="542233" y="12463"/>
                </a:lnTo>
                <a:lnTo>
                  <a:pt x="547766" y="12463"/>
                </a:lnTo>
                <a:lnTo>
                  <a:pt x="553299" y="16617"/>
                </a:lnTo>
                <a:lnTo>
                  <a:pt x="558832" y="16617"/>
                </a:lnTo>
                <a:lnTo>
                  <a:pt x="564365" y="20772"/>
                </a:lnTo>
                <a:lnTo>
                  <a:pt x="569898" y="24926"/>
                </a:lnTo>
                <a:lnTo>
                  <a:pt x="575431" y="24926"/>
                </a:lnTo>
                <a:lnTo>
                  <a:pt x="580964" y="16617"/>
                </a:lnTo>
                <a:lnTo>
                  <a:pt x="586497" y="12463"/>
                </a:lnTo>
                <a:lnTo>
                  <a:pt x="592030" y="16617"/>
                </a:lnTo>
                <a:lnTo>
                  <a:pt x="597563" y="16617"/>
                </a:lnTo>
                <a:lnTo>
                  <a:pt x="603096" y="20772"/>
                </a:lnTo>
                <a:lnTo>
                  <a:pt x="608629" y="24926"/>
                </a:lnTo>
                <a:lnTo>
                  <a:pt x="614162" y="24926"/>
                </a:lnTo>
                <a:lnTo>
                  <a:pt x="619695" y="24926"/>
                </a:lnTo>
                <a:lnTo>
                  <a:pt x="625228" y="24926"/>
                </a:lnTo>
                <a:lnTo>
                  <a:pt x="630761" y="24926"/>
                </a:lnTo>
                <a:lnTo>
                  <a:pt x="636294" y="29080"/>
                </a:lnTo>
                <a:lnTo>
                  <a:pt x="641827" y="29080"/>
                </a:lnTo>
                <a:lnTo>
                  <a:pt x="647360" y="29080"/>
                </a:lnTo>
                <a:lnTo>
                  <a:pt x="652893" y="33235"/>
                </a:lnTo>
                <a:lnTo>
                  <a:pt x="658426" y="37389"/>
                </a:lnTo>
                <a:lnTo>
                  <a:pt x="663959" y="37389"/>
                </a:lnTo>
                <a:lnTo>
                  <a:pt x="669492" y="41543"/>
                </a:lnTo>
                <a:lnTo>
                  <a:pt x="675025" y="45698"/>
                </a:lnTo>
                <a:lnTo>
                  <a:pt x="680558" y="41543"/>
                </a:lnTo>
                <a:lnTo>
                  <a:pt x="686091" y="41543"/>
                </a:lnTo>
                <a:lnTo>
                  <a:pt x="691624" y="41543"/>
                </a:lnTo>
                <a:lnTo>
                  <a:pt x="697157" y="45698"/>
                </a:lnTo>
                <a:lnTo>
                  <a:pt x="702690" y="45698"/>
                </a:lnTo>
                <a:lnTo>
                  <a:pt x="708223" y="49852"/>
                </a:lnTo>
                <a:lnTo>
                  <a:pt x="713756" y="49852"/>
                </a:lnTo>
                <a:lnTo>
                  <a:pt x="719289" y="45698"/>
                </a:lnTo>
                <a:lnTo>
                  <a:pt x="724822" y="45698"/>
                </a:lnTo>
                <a:lnTo>
                  <a:pt x="730355" y="45698"/>
                </a:lnTo>
                <a:lnTo>
                  <a:pt x="735888" y="49852"/>
                </a:lnTo>
                <a:lnTo>
                  <a:pt x="741421" y="49852"/>
                </a:lnTo>
                <a:lnTo>
                  <a:pt x="746954" y="54006"/>
                </a:lnTo>
                <a:lnTo>
                  <a:pt x="752487" y="58161"/>
                </a:lnTo>
                <a:lnTo>
                  <a:pt x="758020" y="54006"/>
                </a:lnTo>
                <a:lnTo>
                  <a:pt x="763553" y="58161"/>
                </a:lnTo>
                <a:lnTo>
                  <a:pt x="769086" y="62315"/>
                </a:lnTo>
                <a:lnTo>
                  <a:pt x="774619" y="62315"/>
                </a:lnTo>
                <a:lnTo>
                  <a:pt x="780152" y="66469"/>
                </a:lnTo>
                <a:lnTo>
                  <a:pt x="785685" y="66469"/>
                </a:lnTo>
                <a:lnTo>
                  <a:pt x="791218" y="66469"/>
                </a:lnTo>
                <a:lnTo>
                  <a:pt x="796751" y="66469"/>
                </a:lnTo>
                <a:lnTo>
                  <a:pt x="802284" y="66469"/>
                </a:lnTo>
                <a:lnTo>
                  <a:pt x="807817" y="70623"/>
                </a:lnTo>
                <a:lnTo>
                  <a:pt x="813350" y="70623"/>
                </a:lnTo>
                <a:lnTo>
                  <a:pt x="818883" y="74778"/>
                </a:lnTo>
                <a:lnTo>
                  <a:pt x="824416" y="74778"/>
                </a:lnTo>
                <a:lnTo>
                  <a:pt x="829949" y="74778"/>
                </a:lnTo>
                <a:lnTo>
                  <a:pt x="835482" y="74778"/>
                </a:lnTo>
                <a:lnTo>
                  <a:pt x="841015" y="74778"/>
                </a:lnTo>
                <a:lnTo>
                  <a:pt x="846548" y="74778"/>
                </a:lnTo>
                <a:lnTo>
                  <a:pt x="852081" y="74778"/>
                </a:lnTo>
                <a:lnTo>
                  <a:pt x="857614" y="78932"/>
                </a:lnTo>
                <a:lnTo>
                  <a:pt x="863147" y="78932"/>
                </a:lnTo>
                <a:lnTo>
                  <a:pt x="868680" y="78932"/>
                </a:lnTo>
                <a:lnTo>
                  <a:pt x="874212" y="78932"/>
                </a:lnTo>
                <a:lnTo>
                  <a:pt x="879745" y="83086"/>
                </a:lnTo>
                <a:lnTo>
                  <a:pt x="885278" y="83086"/>
                </a:lnTo>
                <a:lnTo>
                  <a:pt x="890811" y="83086"/>
                </a:lnTo>
                <a:lnTo>
                  <a:pt x="896344" y="83086"/>
                </a:lnTo>
                <a:lnTo>
                  <a:pt x="901877" y="83086"/>
                </a:lnTo>
                <a:lnTo>
                  <a:pt x="907410" y="87241"/>
                </a:lnTo>
                <a:lnTo>
                  <a:pt x="912943" y="87241"/>
                </a:lnTo>
                <a:lnTo>
                  <a:pt x="918476" y="87241"/>
                </a:lnTo>
                <a:lnTo>
                  <a:pt x="924009" y="87241"/>
                </a:lnTo>
                <a:lnTo>
                  <a:pt x="929542" y="87241"/>
                </a:lnTo>
                <a:lnTo>
                  <a:pt x="935075" y="87241"/>
                </a:lnTo>
                <a:lnTo>
                  <a:pt x="940608" y="87241"/>
                </a:lnTo>
                <a:lnTo>
                  <a:pt x="946141" y="87241"/>
                </a:lnTo>
                <a:lnTo>
                  <a:pt x="951674" y="87241"/>
                </a:lnTo>
                <a:lnTo>
                  <a:pt x="957207" y="87241"/>
                </a:lnTo>
                <a:lnTo>
                  <a:pt x="962740" y="91395"/>
                </a:lnTo>
                <a:lnTo>
                  <a:pt x="968273" y="91395"/>
                </a:lnTo>
                <a:lnTo>
                  <a:pt x="973806" y="91395"/>
                </a:lnTo>
                <a:lnTo>
                  <a:pt x="979339" y="91395"/>
                </a:lnTo>
                <a:lnTo>
                  <a:pt x="984872" y="91395"/>
                </a:lnTo>
                <a:lnTo>
                  <a:pt x="990405" y="95549"/>
                </a:lnTo>
                <a:lnTo>
                  <a:pt x="995938" y="95549"/>
                </a:lnTo>
                <a:lnTo>
                  <a:pt x="1001471" y="95549"/>
                </a:lnTo>
                <a:lnTo>
                  <a:pt x="1007004" y="91395"/>
                </a:lnTo>
                <a:lnTo>
                  <a:pt x="1012537" y="91395"/>
                </a:lnTo>
                <a:lnTo>
                  <a:pt x="1018070" y="91395"/>
                </a:lnTo>
                <a:lnTo>
                  <a:pt x="1023603" y="91395"/>
                </a:lnTo>
                <a:lnTo>
                  <a:pt x="1029136" y="95549"/>
                </a:lnTo>
                <a:lnTo>
                  <a:pt x="1034669" y="95549"/>
                </a:lnTo>
                <a:lnTo>
                  <a:pt x="1040202" y="95549"/>
                </a:lnTo>
                <a:lnTo>
                  <a:pt x="1045735" y="95549"/>
                </a:lnTo>
                <a:lnTo>
                  <a:pt x="1051268" y="95549"/>
                </a:lnTo>
                <a:lnTo>
                  <a:pt x="1056801" y="95549"/>
                </a:lnTo>
                <a:lnTo>
                  <a:pt x="1062334" y="95549"/>
                </a:lnTo>
                <a:lnTo>
                  <a:pt x="1067867" y="95549"/>
                </a:lnTo>
                <a:lnTo>
                  <a:pt x="1073400" y="95549"/>
                </a:lnTo>
                <a:lnTo>
                  <a:pt x="1078933" y="95549"/>
                </a:lnTo>
                <a:lnTo>
                  <a:pt x="1084466" y="95549"/>
                </a:lnTo>
                <a:lnTo>
                  <a:pt x="1089999" y="95549"/>
                </a:lnTo>
                <a:lnTo>
                  <a:pt x="1095532" y="95549"/>
                </a:lnTo>
                <a:lnTo>
                  <a:pt x="1101065" y="95549"/>
                </a:lnTo>
                <a:lnTo>
                  <a:pt x="1106598" y="95549"/>
                </a:lnTo>
                <a:lnTo>
                  <a:pt x="1112131" y="95549"/>
                </a:lnTo>
                <a:lnTo>
                  <a:pt x="1117664" y="95549"/>
                </a:lnTo>
                <a:lnTo>
                  <a:pt x="1123197" y="99704"/>
                </a:lnTo>
                <a:lnTo>
                  <a:pt x="1128730" y="99704"/>
                </a:lnTo>
                <a:lnTo>
                  <a:pt x="1134263" y="95549"/>
                </a:lnTo>
                <a:lnTo>
                  <a:pt x="1139796" y="95549"/>
                </a:lnTo>
                <a:lnTo>
                  <a:pt x="1145329" y="99704"/>
                </a:lnTo>
                <a:lnTo>
                  <a:pt x="1150862" y="95549"/>
                </a:lnTo>
                <a:lnTo>
                  <a:pt x="1156395" y="95549"/>
                </a:lnTo>
                <a:lnTo>
                  <a:pt x="1161928" y="95549"/>
                </a:lnTo>
                <a:lnTo>
                  <a:pt x="1167461" y="95549"/>
                </a:lnTo>
                <a:lnTo>
                  <a:pt x="1172994" y="95549"/>
                </a:lnTo>
                <a:lnTo>
                  <a:pt x="1178527" y="95549"/>
                </a:lnTo>
                <a:lnTo>
                  <a:pt x="1184060" y="95549"/>
                </a:lnTo>
                <a:lnTo>
                  <a:pt x="1189593" y="95549"/>
                </a:lnTo>
                <a:lnTo>
                  <a:pt x="1195126" y="95549"/>
                </a:lnTo>
                <a:lnTo>
                  <a:pt x="1200659" y="95549"/>
                </a:lnTo>
                <a:lnTo>
                  <a:pt x="1206192" y="99704"/>
                </a:lnTo>
                <a:lnTo>
                  <a:pt x="1211725" y="95549"/>
                </a:lnTo>
                <a:lnTo>
                  <a:pt x="1217258" y="95549"/>
                </a:lnTo>
                <a:lnTo>
                  <a:pt x="1222791" y="95549"/>
                </a:lnTo>
                <a:lnTo>
                  <a:pt x="1228324" y="95549"/>
                </a:lnTo>
                <a:lnTo>
                  <a:pt x="1233857" y="95549"/>
                </a:lnTo>
                <a:lnTo>
                  <a:pt x="1239390" y="95549"/>
                </a:lnTo>
                <a:lnTo>
                  <a:pt x="1244923" y="95549"/>
                </a:lnTo>
                <a:lnTo>
                  <a:pt x="1250456" y="95549"/>
                </a:lnTo>
                <a:lnTo>
                  <a:pt x="1255989" y="95549"/>
                </a:lnTo>
                <a:lnTo>
                  <a:pt x="1261522" y="95549"/>
                </a:lnTo>
                <a:lnTo>
                  <a:pt x="1267055" y="91395"/>
                </a:lnTo>
                <a:lnTo>
                  <a:pt x="1272588" y="91395"/>
                </a:lnTo>
                <a:lnTo>
                  <a:pt x="1278121" y="91395"/>
                </a:lnTo>
                <a:lnTo>
                  <a:pt x="1283654" y="91395"/>
                </a:lnTo>
                <a:lnTo>
                  <a:pt x="1289187" y="87241"/>
                </a:lnTo>
                <a:lnTo>
                  <a:pt x="1294720" y="87241"/>
                </a:lnTo>
                <a:lnTo>
                  <a:pt x="1300253" y="87241"/>
                </a:lnTo>
                <a:lnTo>
                  <a:pt x="1305786" y="91395"/>
                </a:lnTo>
                <a:lnTo>
                  <a:pt x="1311319" y="87241"/>
                </a:lnTo>
                <a:lnTo>
                  <a:pt x="1316852" y="87241"/>
                </a:lnTo>
                <a:lnTo>
                  <a:pt x="1322385" y="87241"/>
                </a:lnTo>
                <a:lnTo>
                  <a:pt x="1327918" y="87241"/>
                </a:lnTo>
                <a:lnTo>
                  <a:pt x="1333451" y="87241"/>
                </a:lnTo>
                <a:lnTo>
                  <a:pt x="1338984" y="87241"/>
                </a:lnTo>
                <a:lnTo>
                  <a:pt x="1344517" y="87241"/>
                </a:lnTo>
                <a:lnTo>
                  <a:pt x="1350050" y="87241"/>
                </a:lnTo>
                <a:lnTo>
                  <a:pt x="1355583" y="83086"/>
                </a:lnTo>
                <a:lnTo>
                  <a:pt x="1361116" y="83086"/>
                </a:lnTo>
                <a:lnTo>
                  <a:pt x="1366649" y="83086"/>
                </a:lnTo>
                <a:lnTo>
                  <a:pt x="1372182" y="83086"/>
                </a:lnTo>
                <a:lnTo>
                  <a:pt x="1377715" y="83086"/>
                </a:lnTo>
                <a:lnTo>
                  <a:pt x="1383248" y="83086"/>
                </a:lnTo>
                <a:lnTo>
                  <a:pt x="1388781" y="83086"/>
                </a:lnTo>
                <a:lnTo>
                  <a:pt x="1394314" y="83086"/>
                </a:lnTo>
                <a:lnTo>
                  <a:pt x="1399847" y="83086"/>
                </a:lnTo>
                <a:lnTo>
                  <a:pt x="1405380" y="78932"/>
                </a:lnTo>
                <a:lnTo>
                  <a:pt x="1410913" y="78932"/>
                </a:lnTo>
                <a:lnTo>
                  <a:pt x="1416446" y="78932"/>
                </a:lnTo>
                <a:lnTo>
                  <a:pt x="1421979" y="78932"/>
                </a:lnTo>
                <a:lnTo>
                  <a:pt x="1427512" y="74778"/>
                </a:lnTo>
                <a:lnTo>
                  <a:pt x="1433045" y="74778"/>
                </a:lnTo>
                <a:lnTo>
                  <a:pt x="1438578" y="74778"/>
                </a:lnTo>
                <a:lnTo>
                  <a:pt x="1444111" y="74778"/>
                </a:lnTo>
                <a:lnTo>
                  <a:pt x="1449644" y="74778"/>
                </a:lnTo>
                <a:lnTo>
                  <a:pt x="1455177" y="74778"/>
                </a:lnTo>
                <a:lnTo>
                  <a:pt x="1460710" y="74778"/>
                </a:lnTo>
                <a:lnTo>
                  <a:pt x="1466243" y="74778"/>
                </a:lnTo>
                <a:lnTo>
                  <a:pt x="1471776" y="74778"/>
                </a:lnTo>
                <a:lnTo>
                  <a:pt x="1477309" y="70623"/>
                </a:lnTo>
                <a:lnTo>
                  <a:pt x="1482842" y="70623"/>
                </a:lnTo>
                <a:lnTo>
                  <a:pt x="1488375" y="70623"/>
                </a:lnTo>
                <a:lnTo>
                  <a:pt x="1493908" y="70623"/>
                </a:lnTo>
                <a:lnTo>
                  <a:pt x="1499441" y="70623"/>
                </a:lnTo>
                <a:lnTo>
                  <a:pt x="1504974" y="70623"/>
                </a:lnTo>
                <a:lnTo>
                  <a:pt x="1510507" y="70623"/>
                </a:lnTo>
                <a:lnTo>
                  <a:pt x="1516040" y="70623"/>
                </a:lnTo>
                <a:lnTo>
                  <a:pt x="1521573" y="70623"/>
                </a:lnTo>
                <a:lnTo>
                  <a:pt x="1527106" y="70623"/>
                </a:lnTo>
                <a:lnTo>
                  <a:pt x="1532639" y="70623"/>
                </a:lnTo>
                <a:lnTo>
                  <a:pt x="1538172" y="70623"/>
                </a:lnTo>
                <a:lnTo>
                  <a:pt x="1543705" y="70623"/>
                </a:lnTo>
                <a:lnTo>
                  <a:pt x="1549238" y="70623"/>
                </a:lnTo>
                <a:lnTo>
                  <a:pt x="1554771" y="70623"/>
                </a:lnTo>
                <a:lnTo>
                  <a:pt x="1560304" y="70623"/>
                </a:lnTo>
                <a:lnTo>
                  <a:pt x="1565837" y="70623"/>
                </a:lnTo>
                <a:lnTo>
                  <a:pt x="1571370" y="70623"/>
                </a:lnTo>
                <a:lnTo>
                  <a:pt x="1576903" y="70623"/>
                </a:lnTo>
                <a:lnTo>
                  <a:pt x="1582436" y="70623"/>
                </a:lnTo>
                <a:lnTo>
                  <a:pt x="1587969" y="70623"/>
                </a:lnTo>
                <a:lnTo>
                  <a:pt x="1593502" y="70623"/>
                </a:lnTo>
                <a:lnTo>
                  <a:pt x="1599035" y="70623"/>
                </a:lnTo>
                <a:lnTo>
                  <a:pt x="1604568" y="70623"/>
                </a:lnTo>
                <a:lnTo>
                  <a:pt x="1610101" y="70623"/>
                </a:lnTo>
                <a:lnTo>
                  <a:pt x="1615634" y="70623"/>
                </a:lnTo>
                <a:lnTo>
                  <a:pt x="1621167" y="70623"/>
                </a:lnTo>
                <a:lnTo>
                  <a:pt x="1626700" y="70623"/>
                </a:lnTo>
                <a:lnTo>
                  <a:pt x="1632233" y="70623"/>
                </a:lnTo>
                <a:lnTo>
                  <a:pt x="1637766" y="70623"/>
                </a:lnTo>
                <a:lnTo>
                  <a:pt x="1643299" y="70623"/>
                </a:lnTo>
                <a:lnTo>
                  <a:pt x="1648832" y="70623"/>
                </a:lnTo>
                <a:lnTo>
                  <a:pt x="1654365" y="70623"/>
                </a:lnTo>
                <a:lnTo>
                  <a:pt x="1659898" y="70623"/>
                </a:lnTo>
                <a:lnTo>
                  <a:pt x="1665431" y="70623"/>
                </a:lnTo>
                <a:lnTo>
                  <a:pt x="1670964" y="70623"/>
                </a:lnTo>
                <a:lnTo>
                  <a:pt x="1676497" y="70623"/>
                </a:lnTo>
                <a:lnTo>
                  <a:pt x="1682030" y="74778"/>
                </a:lnTo>
                <a:lnTo>
                  <a:pt x="1687563" y="74778"/>
                </a:lnTo>
                <a:lnTo>
                  <a:pt x="1693096" y="78932"/>
                </a:lnTo>
                <a:lnTo>
                  <a:pt x="1698629" y="87241"/>
                </a:lnTo>
                <a:lnTo>
                  <a:pt x="1704162" y="91395"/>
                </a:lnTo>
                <a:lnTo>
                  <a:pt x="1709695" y="103858"/>
                </a:lnTo>
                <a:lnTo>
                  <a:pt x="1715228" y="112167"/>
                </a:lnTo>
                <a:lnTo>
                  <a:pt x="1720761" y="120475"/>
                </a:lnTo>
                <a:lnTo>
                  <a:pt x="1726294" y="128784"/>
                </a:lnTo>
                <a:lnTo>
                  <a:pt x="1731827" y="137092"/>
                </a:lnTo>
                <a:lnTo>
                  <a:pt x="1737360" y="145401"/>
                </a:lnTo>
                <a:lnTo>
                  <a:pt x="1742892" y="153710"/>
                </a:lnTo>
                <a:lnTo>
                  <a:pt x="1748425" y="162018"/>
                </a:lnTo>
                <a:lnTo>
                  <a:pt x="1753958" y="157864"/>
                </a:lnTo>
                <a:lnTo>
                  <a:pt x="1759491" y="153710"/>
                </a:lnTo>
                <a:lnTo>
                  <a:pt x="1765024" y="149555"/>
                </a:lnTo>
                <a:lnTo>
                  <a:pt x="1770557" y="149555"/>
                </a:lnTo>
                <a:lnTo>
                  <a:pt x="1776090" y="145401"/>
                </a:lnTo>
                <a:lnTo>
                  <a:pt x="1781623" y="149555"/>
                </a:lnTo>
                <a:lnTo>
                  <a:pt x="1787156" y="153710"/>
                </a:lnTo>
                <a:lnTo>
                  <a:pt x="1792689" y="157864"/>
                </a:lnTo>
                <a:lnTo>
                  <a:pt x="1798222" y="166173"/>
                </a:lnTo>
                <a:lnTo>
                  <a:pt x="1803755" y="174481"/>
                </a:lnTo>
                <a:lnTo>
                  <a:pt x="1809288" y="178636"/>
                </a:lnTo>
                <a:lnTo>
                  <a:pt x="1814821" y="191098"/>
                </a:lnTo>
                <a:lnTo>
                  <a:pt x="1820354" y="195253"/>
                </a:lnTo>
                <a:lnTo>
                  <a:pt x="1825887" y="203561"/>
                </a:lnTo>
                <a:lnTo>
                  <a:pt x="1831420" y="207716"/>
                </a:lnTo>
                <a:lnTo>
                  <a:pt x="1836953" y="211870"/>
                </a:lnTo>
                <a:lnTo>
                  <a:pt x="1842486" y="199407"/>
                </a:lnTo>
                <a:lnTo>
                  <a:pt x="1848019" y="186944"/>
                </a:lnTo>
                <a:lnTo>
                  <a:pt x="1853552" y="174481"/>
                </a:lnTo>
                <a:lnTo>
                  <a:pt x="1859085" y="170327"/>
                </a:lnTo>
                <a:lnTo>
                  <a:pt x="1864618" y="162018"/>
                </a:lnTo>
                <a:lnTo>
                  <a:pt x="1870151" y="149555"/>
                </a:lnTo>
                <a:lnTo>
                  <a:pt x="1875684" y="132938"/>
                </a:lnTo>
                <a:lnTo>
                  <a:pt x="1881217" y="120475"/>
                </a:lnTo>
                <a:lnTo>
                  <a:pt x="1886750" y="112167"/>
                </a:lnTo>
                <a:lnTo>
                  <a:pt x="1892283" y="108012"/>
                </a:lnTo>
                <a:lnTo>
                  <a:pt x="1897816" y="103858"/>
                </a:lnTo>
                <a:lnTo>
                  <a:pt x="1903349" y="103858"/>
                </a:lnTo>
                <a:lnTo>
                  <a:pt x="1908882" y="103858"/>
                </a:lnTo>
                <a:lnTo>
                  <a:pt x="1914415" y="108012"/>
                </a:lnTo>
                <a:lnTo>
                  <a:pt x="1919948" y="108012"/>
                </a:lnTo>
                <a:lnTo>
                  <a:pt x="1925481" y="108012"/>
                </a:lnTo>
                <a:lnTo>
                  <a:pt x="1931014" y="108012"/>
                </a:lnTo>
                <a:lnTo>
                  <a:pt x="1936547" y="112167"/>
                </a:lnTo>
                <a:lnTo>
                  <a:pt x="1942080" y="112167"/>
                </a:lnTo>
                <a:lnTo>
                  <a:pt x="1947613" y="108012"/>
                </a:lnTo>
                <a:lnTo>
                  <a:pt x="1953146" y="99704"/>
                </a:lnTo>
                <a:lnTo>
                  <a:pt x="1958679" y="95549"/>
                </a:lnTo>
                <a:lnTo>
                  <a:pt x="1964212" y="91395"/>
                </a:lnTo>
                <a:lnTo>
                  <a:pt x="1969745" y="91395"/>
                </a:lnTo>
                <a:lnTo>
                  <a:pt x="1975278" y="87241"/>
                </a:lnTo>
                <a:lnTo>
                  <a:pt x="1980811" y="87241"/>
                </a:lnTo>
                <a:lnTo>
                  <a:pt x="1986344" y="87241"/>
                </a:lnTo>
                <a:lnTo>
                  <a:pt x="1991877" y="87241"/>
                </a:lnTo>
                <a:lnTo>
                  <a:pt x="1997410" y="87241"/>
                </a:lnTo>
                <a:lnTo>
                  <a:pt x="2002943" y="83086"/>
                </a:lnTo>
                <a:lnTo>
                  <a:pt x="2008476" y="83086"/>
                </a:lnTo>
                <a:lnTo>
                  <a:pt x="2014009" y="78932"/>
                </a:lnTo>
                <a:lnTo>
                  <a:pt x="2019542" y="74778"/>
                </a:lnTo>
                <a:lnTo>
                  <a:pt x="2025075" y="74778"/>
                </a:lnTo>
                <a:lnTo>
                  <a:pt x="2030608" y="74778"/>
                </a:lnTo>
                <a:lnTo>
                  <a:pt x="2036141" y="74778"/>
                </a:lnTo>
                <a:lnTo>
                  <a:pt x="2041674" y="70623"/>
                </a:lnTo>
                <a:lnTo>
                  <a:pt x="2047207" y="70623"/>
                </a:lnTo>
                <a:lnTo>
                  <a:pt x="2052740" y="70623"/>
                </a:lnTo>
                <a:lnTo>
                  <a:pt x="2058273" y="70623"/>
                </a:lnTo>
                <a:lnTo>
                  <a:pt x="2063806" y="70623"/>
                </a:lnTo>
                <a:lnTo>
                  <a:pt x="2069339" y="70623"/>
                </a:lnTo>
                <a:lnTo>
                  <a:pt x="2074872" y="70623"/>
                </a:lnTo>
                <a:lnTo>
                  <a:pt x="2080405" y="70623"/>
                </a:lnTo>
                <a:lnTo>
                  <a:pt x="2085938" y="70623"/>
                </a:lnTo>
                <a:lnTo>
                  <a:pt x="2091471" y="70623"/>
                </a:lnTo>
                <a:lnTo>
                  <a:pt x="2097004" y="70623"/>
                </a:lnTo>
                <a:lnTo>
                  <a:pt x="2102537" y="66469"/>
                </a:lnTo>
                <a:lnTo>
                  <a:pt x="2108070" y="66469"/>
                </a:lnTo>
                <a:lnTo>
                  <a:pt x="2113603" y="66469"/>
                </a:lnTo>
                <a:lnTo>
                  <a:pt x="2119136" y="66469"/>
                </a:lnTo>
                <a:lnTo>
                  <a:pt x="2124669" y="66469"/>
                </a:lnTo>
                <a:lnTo>
                  <a:pt x="2130202" y="66469"/>
                </a:lnTo>
                <a:lnTo>
                  <a:pt x="2135735" y="66469"/>
                </a:lnTo>
                <a:lnTo>
                  <a:pt x="2141268" y="66469"/>
                </a:lnTo>
                <a:lnTo>
                  <a:pt x="2146801" y="66469"/>
                </a:lnTo>
                <a:lnTo>
                  <a:pt x="2152334" y="66469"/>
                </a:lnTo>
                <a:lnTo>
                  <a:pt x="2157867" y="66469"/>
                </a:lnTo>
                <a:lnTo>
                  <a:pt x="2163400" y="66469"/>
                </a:lnTo>
                <a:lnTo>
                  <a:pt x="2168933" y="66469"/>
                </a:lnTo>
                <a:lnTo>
                  <a:pt x="2174466" y="66469"/>
                </a:lnTo>
                <a:lnTo>
                  <a:pt x="2179999" y="66469"/>
                </a:lnTo>
                <a:lnTo>
                  <a:pt x="2185532" y="66469"/>
                </a:lnTo>
                <a:lnTo>
                  <a:pt x="2191065" y="66469"/>
                </a:lnTo>
                <a:lnTo>
                  <a:pt x="2196598" y="66469"/>
                </a:lnTo>
                <a:lnTo>
                  <a:pt x="2202131" y="66469"/>
                </a:lnTo>
                <a:lnTo>
                  <a:pt x="2207664" y="66469"/>
                </a:lnTo>
                <a:lnTo>
                  <a:pt x="2213197" y="62315"/>
                </a:lnTo>
                <a:lnTo>
                  <a:pt x="2218730" y="62315"/>
                </a:lnTo>
                <a:lnTo>
                  <a:pt x="2224263" y="66469"/>
                </a:lnTo>
                <a:lnTo>
                  <a:pt x="2229796" y="62315"/>
                </a:lnTo>
                <a:lnTo>
                  <a:pt x="2235329" y="66469"/>
                </a:lnTo>
                <a:lnTo>
                  <a:pt x="2240862" y="66469"/>
                </a:lnTo>
                <a:lnTo>
                  <a:pt x="2246395" y="62315"/>
                </a:lnTo>
                <a:lnTo>
                  <a:pt x="2251928" y="66469"/>
                </a:lnTo>
                <a:lnTo>
                  <a:pt x="2257461" y="66469"/>
                </a:lnTo>
                <a:lnTo>
                  <a:pt x="2262994" y="66469"/>
                </a:lnTo>
                <a:lnTo>
                  <a:pt x="2268527" y="66469"/>
                </a:lnTo>
                <a:lnTo>
                  <a:pt x="2274060" y="66469"/>
                </a:lnTo>
                <a:lnTo>
                  <a:pt x="2279593" y="62315"/>
                </a:lnTo>
                <a:lnTo>
                  <a:pt x="2285126" y="62315"/>
                </a:lnTo>
                <a:lnTo>
                  <a:pt x="2290659" y="62315"/>
                </a:lnTo>
                <a:lnTo>
                  <a:pt x="2296192" y="62315"/>
                </a:lnTo>
                <a:lnTo>
                  <a:pt x="2301725" y="62315"/>
                </a:lnTo>
                <a:lnTo>
                  <a:pt x="2307258" y="62315"/>
                </a:lnTo>
                <a:lnTo>
                  <a:pt x="2312791" y="62315"/>
                </a:lnTo>
                <a:lnTo>
                  <a:pt x="2318324" y="62315"/>
                </a:lnTo>
                <a:lnTo>
                  <a:pt x="2323857" y="62315"/>
                </a:lnTo>
                <a:lnTo>
                  <a:pt x="2329390" y="62315"/>
                </a:lnTo>
                <a:lnTo>
                  <a:pt x="2334923" y="58161"/>
                </a:lnTo>
                <a:lnTo>
                  <a:pt x="2340456" y="62315"/>
                </a:lnTo>
                <a:lnTo>
                  <a:pt x="2345989" y="58161"/>
                </a:lnTo>
                <a:lnTo>
                  <a:pt x="2351522" y="58161"/>
                </a:lnTo>
                <a:lnTo>
                  <a:pt x="2357055" y="58161"/>
                </a:lnTo>
                <a:lnTo>
                  <a:pt x="2362588" y="58161"/>
                </a:lnTo>
                <a:lnTo>
                  <a:pt x="2368121" y="58161"/>
                </a:lnTo>
                <a:lnTo>
                  <a:pt x="2373654" y="58161"/>
                </a:lnTo>
                <a:lnTo>
                  <a:pt x="2379187" y="58161"/>
                </a:lnTo>
                <a:lnTo>
                  <a:pt x="2384720" y="58161"/>
                </a:lnTo>
                <a:lnTo>
                  <a:pt x="2390253" y="58161"/>
                </a:lnTo>
                <a:lnTo>
                  <a:pt x="2395786" y="58161"/>
                </a:lnTo>
                <a:lnTo>
                  <a:pt x="2401319" y="54006"/>
                </a:lnTo>
                <a:lnTo>
                  <a:pt x="2406852" y="54006"/>
                </a:lnTo>
                <a:lnTo>
                  <a:pt x="2412385" y="58161"/>
                </a:lnTo>
                <a:lnTo>
                  <a:pt x="2417918" y="54006"/>
                </a:lnTo>
                <a:lnTo>
                  <a:pt x="2423451" y="54006"/>
                </a:lnTo>
                <a:lnTo>
                  <a:pt x="2428984" y="54006"/>
                </a:lnTo>
                <a:lnTo>
                  <a:pt x="2434517" y="54006"/>
                </a:lnTo>
                <a:lnTo>
                  <a:pt x="2440050" y="54006"/>
                </a:lnTo>
                <a:lnTo>
                  <a:pt x="2445583" y="54006"/>
                </a:lnTo>
                <a:lnTo>
                  <a:pt x="2451116" y="54006"/>
                </a:lnTo>
                <a:lnTo>
                  <a:pt x="2456649" y="54006"/>
                </a:lnTo>
                <a:lnTo>
                  <a:pt x="2462182" y="54006"/>
                </a:lnTo>
                <a:lnTo>
                  <a:pt x="2467715" y="54006"/>
                </a:lnTo>
                <a:lnTo>
                  <a:pt x="2473248" y="54006"/>
                </a:lnTo>
                <a:lnTo>
                  <a:pt x="2478781" y="54006"/>
                </a:lnTo>
                <a:lnTo>
                  <a:pt x="2484314" y="54006"/>
                </a:lnTo>
                <a:lnTo>
                  <a:pt x="2489847" y="54006"/>
                </a:lnTo>
                <a:lnTo>
                  <a:pt x="2495380" y="54006"/>
                </a:lnTo>
                <a:lnTo>
                  <a:pt x="2500913" y="54006"/>
                </a:lnTo>
                <a:lnTo>
                  <a:pt x="2506446" y="54006"/>
                </a:lnTo>
                <a:lnTo>
                  <a:pt x="2511979" y="54006"/>
                </a:lnTo>
                <a:lnTo>
                  <a:pt x="2517512" y="54006"/>
                </a:lnTo>
                <a:lnTo>
                  <a:pt x="2523045" y="54006"/>
                </a:lnTo>
                <a:lnTo>
                  <a:pt x="2528578" y="54006"/>
                </a:lnTo>
                <a:lnTo>
                  <a:pt x="2534111" y="54006"/>
                </a:lnTo>
                <a:lnTo>
                  <a:pt x="2539644" y="54006"/>
                </a:lnTo>
                <a:lnTo>
                  <a:pt x="2545177" y="54006"/>
                </a:lnTo>
                <a:lnTo>
                  <a:pt x="2550710" y="54006"/>
                </a:lnTo>
                <a:lnTo>
                  <a:pt x="2556243" y="54006"/>
                </a:lnTo>
                <a:lnTo>
                  <a:pt x="2561776" y="54006"/>
                </a:lnTo>
                <a:lnTo>
                  <a:pt x="2567309" y="54006"/>
                </a:lnTo>
                <a:lnTo>
                  <a:pt x="2572842" y="54006"/>
                </a:lnTo>
                <a:lnTo>
                  <a:pt x="2578375" y="49852"/>
                </a:lnTo>
                <a:lnTo>
                  <a:pt x="2583908" y="49852"/>
                </a:lnTo>
                <a:lnTo>
                  <a:pt x="2589441" y="49852"/>
                </a:lnTo>
                <a:lnTo>
                  <a:pt x="2594974" y="49852"/>
                </a:lnTo>
                <a:lnTo>
                  <a:pt x="2600507" y="54006"/>
                </a:lnTo>
                <a:lnTo>
                  <a:pt x="2606040" y="54006"/>
                </a:lnTo>
                <a:lnTo>
                  <a:pt x="2611572" y="54006"/>
                </a:lnTo>
                <a:lnTo>
                  <a:pt x="2617105" y="54006"/>
                </a:lnTo>
                <a:lnTo>
                  <a:pt x="2622638" y="49852"/>
                </a:lnTo>
                <a:lnTo>
                  <a:pt x="2628171" y="49852"/>
                </a:lnTo>
                <a:lnTo>
                  <a:pt x="2633704" y="49852"/>
                </a:lnTo>
                <a:lnTo>
                  <a:pt x="2639237" y="49852"/>
                </a:lnTo>
                <a:lnTo>
                  <a:pt x="2644770" y="49852"/>
                </a:lnTo>
                <a:lnTo>
                  <a:pt x="2650303" y="49852"/>
                </a:lnTo>
                <a:lnTo>
                  <a:pt x="2655836" y="49852"/>
                </a:lnTo>
                <a:lnTo>
                  <a:pt x="2661369" y="49852"/>
                </a:lnTo>
                <a:lnTo>
                  <a:pt x="2666902" y="49852"/>
                </a:lnTo>
                <a:lnTo>
                  <a:pt x="2672435" y="49852"/>
                </a:lnTo>
                <a:lnTo>
                  <a:pt x="2677968" y="49852"/>
                </a:lnTo>
                <a:lnTo>
                  <a:pt x="2683501" y="49852"/>
                </a:lnTo>
                <a:lnTo>
                  <a:pt x="2689034" y="49852"/>
                </a:lnTo>
                <a:lnTo>
                  <a:pt x="2694567" y="49852"/>
                </a:lnTo>
                <a:lnTo>
                  <a:pt x="2700100" y="49852"/>
                </a:lnTo>
                <a:lnTo>
                  <a:pt x="2705633" y="49852"/>
                </a:lnTo>
                <a:lnTo>
                  <a:pt x="2711166" y="49852"/>
                </a:lnTo>
                <a:lnTo>
                  <a:pt x="2716699" y="49852"/>
                </a:lnTo>
                <a:lnTo>
                  <a:pt x="2722232" y="49852"/>
                </a:lnTo>
                <a:lnTo>
                  <a:pt x="2727765" y="49852"/>
                </a:lnTo>
                <a:lnTo>
                  <a:pt x="2733298" y="49852"/>
                </a:lnTo>
                <a:lnTo>
                  <a:pt x="2738831" y="49852"/>
                </a:lnTo>
                <a:lnTo>
                  <a:pt x="2744364" y="49852"/>
                </a:lnTo>
                <a:lnTo>
                  <a:pt x="2749897" y="49852"/>
                </a:lnTo>
                <a:lnTo>
                  <a:pt x="2755430" y="49852"/>
                </a:lnTo>
                <a:lnTo>
                  <a:pt x="2760963" y="54006"/>
                </a:lnTo>
                <a:lnTo>
                  <a:pt x="2766496" y="54006"/>
                </a:lnTo>
                <a:lnTo>
                  <a:pt x="2772029" y="54006"/>
                </a:lnTo>
                <a:lnTo>
                  <a:pt x="2777562" y="54006"/>
                </a:lnTo>
                <a:lnTo>
                  <a:pt x="2783095" y="54006"/>
                </a:lnTo>
                <a:lnTo>
                  <a:pt x="2788628" y="54006"/>
                </a:lnTo>
                <a:lnTo>
                  <a:pt x="2794161" y="54006"/>
                </a:lnTo>
                <a:lnTo>
                  <a:pt x="2799694" y="54006"/>
                </a:lnTo>
                <a:lnTo>
                  <a:pt x="2805227" y="54006"/>
                </a:lnTo>
                <a:lnTo>
                  <a:pt x="2810760" y="54006"/>
                </a:lnTo>
                <a:lnTo>
                  <a:pt x="2816293" y="54006"/>
                </a:lnTo>
                <a:lnTo>
                  <a:pt x="2821826" y="54006"/>
                </a:lnTo>
                <a:lnTo>
                  <a:pt x="2827359" y="58161"/>
                </a:lnTo>
                <a:lnTo>
                  <a:pt x="2832892" y="58161"/>
                </a:lnTo>
                <a:lnTo>
                  <a:pt x="2838425" y="54006"/>
                </a:lnTo>
                <a:lnTo>
                  <a:pt x="2843958" y="54006"/>
                </a:lnTo>
                <a:lnTo>
                  <a:pt x="2849491" y="49852"/>
                </a:lnTo>
                <a:lnTo>
                  <a:pt x="2855024" y="49852"/>
                </a:lnTo>
                <a:lnTo>
                  <a:pt x="2860557" y="49852"/>
                </a:lnTo>
                <a:lnTo>
                  <a:pt x="2866090" y="49852"/>
                </a:lnTo>
                <a:lnTo>
                  <a:pt x="2871623" y="49852"/>
                </a:lnTo>
                <a:lnTo>
                  <a:pt x="2877156" y="45698"/>
                </a:lnTo>
                <a:lnTo>
                  <a:pt x="2882689" y="49852"/>
                </a:lnTo>
                <a:lnTo>
                  <a:pt x="2888222" y="49852"/>
                </a:lnTo>
                <a:lnTo>
                  <a:pt x="2893755" y="49852"/>
                </a:lnTo>
                <a:lnTo>
                  <a:pt x="2899288" y="49852"/>
                </a:lnTo>
                <a:lnTo>
                  <a:pt x="2904821" y="45698"/>
                </a:lnTo>
                <a:lnTo>
                  <a:pt x="2910354" y="45698"/>
                </a:lnTo>
                <a:lnTo>
                  <a:pt x="2915887" y="45698"/>
                </a:lnTo>
                <a:lnTo>
                  <a:pt x="2921420" y="45698"/>
                </a:lnTo>
                <a:lnTo>
                  <a:pt x="2926953" y="45698"/>
                </a:lnTo>
                <a:lnTo>
                  <a:pt x="2932486" y="45698"/>
                </a:lnTo>
                <a:lnTo>
                  <a:pt x="2938019" y="45698"/>
                </a:lnTo>
                <a:lnTo>
                  <a:pt x="2943552" y="45698"/>
                </a:lnTo>
                <a:lnTo>
                  <a:pt x="2949085" y="41543"/>
                </a:lnTo>
                <a:lnTo>
                  <a:pt x="2954618" y="41543"/>
                </a:lnTo>
                <a:lnTo>
                  <a:pt x="2960151" y="41543"/>
                </a:lnTo>
                <a:lnTo>
                  <a:pt x="2965684" y="41543"/>
                </a:lnTo>
                <a:lnTo>
                  <a:pt x="2971217" y="41543"/>
                </a:lnTo>
                <a:lnTo>
                  <a:pt x="2976750" y="37389"/>
                </a:lnTo>
                <a:lnTo>
                  <a:pt x="2982283" y="37389"/>
                </a:lnTo>
                <a:lnTo>
                  <a:pt x="2987816" y="37389"/>
                </a:lnTo>
                <a:lnTo>
                  <a:pt x="2993349" y="37389"/>
                </a:lnTo>
                <a:lnTo>
                  <a:pt x="2998882" y="37389"/>
                </a:lnTo>
                <a:lnTo>
                  <a:pt x="3004415" y="37389"/>
                </a:lnTo>
                <a:lnTo>
                  <a:pt x="3009948" y="33235"/>
                </a:lnTo>
                <a:lnTo>
                  <a:pt x="3015481" y="33235"/>
                </a:lnTo>
                <a:lnTo>
                  <a:pt x="3021014" y="33235"/>
                </a:lnTo>
                <a:lnTo>
                  <a:pt x="3026547" y="33235"/>
                </a:lnTo>
                <a:lnTo>
                  <a:pt x="3032080" y="29080"/>
                </a:lnTo>
                <a:lnTo>
                  <a:pt x="3037613" y="29080"/>
                </a:lnTo>
                <a:lnTo>
                  <a:pt x="3043146" y="29080"/>
                </a:lnTo>
                <a:lnTo>
                  <a:pt x="3048679" y="33235"/>
                </a:lnTo>
                <a:lnTo>
                  <a:pt x="3054212" y="33235"/>
                </a:lnTo>
                <a:lnTo>
                  <a:pt x="3059745" y="33235"/>
                </a:lnTo>
                <a:lnTo>
                  <a:pt x="3065278" y="33235"/>
                </a:lnTo>
                <a:lnTo>
                  <a:pt x="3070811" y="29080"/>
                </a:lnTo>
                <a:lnTo>
                  <a:pt x="3076344" y="29080"/>
                </a:lnTo>
                <a:lnTo>
                  <a:pt x="3081877" y="24926"/>
                </a:lnTo>
                <a:lnTo>
                  <a:pt x="3087410" y="24926"/>
                </a:lnTo>
                <a:lnTo>
                  <a:pt x="3092943" y="24926"/>
                </a:lnTo>
                <a:lnTo>
                  <a:pt x="3098476" y="20772"/>
                </a:lnTo>
                <a:lnTo>
                  <a:pt x="3104009" y="16617"/>
                </a:lnTo>
                <a:lnTo>
                  <a:pt x="3109542" y="16617"/>
                </a:lnTo>
                <a:lnTo>
                  <a:pt x="3115075" y="16617"/>
                </a:lnTo>
                <a:lnTo>
                  <a:pt x="3120608" y="16617"/>
                </a:lnTo>
                <a:lnTo>
                  <a:pt x="3126141" y="16617"/>
                </a:lnTo>
                <a:lnTo>
                  <a:pt x="3131674" y="20772"/>
                </a:lnTo>
                <a:lnTo>
                  <a:pt x="3137207" y="20772"/>
                </a:lnTo>
                <a:lnTo>
                  <a:pt x="3142740" y="20772"/>
                </a:lnTo>
                <a:lnTo>
                  <a:pt x="3148273" y="24926"/>
                </a:lnTo>
                <a:lnTo>
                  <a:pt x="3153806" y="29080"/>
                </a:lnTo>
                <a:lnTo>
                  <a:pt x="3159339" y="29080"/>
                </a:lnTo>
                <a:lnTo>
                  <a:pt x="3164872" y="29080"/>
                </a:lnTo>
                <a:lnTo>
                  <a:pt x="3170405" y="29080"/>
                </a:lnTo>
                <a:lnTo>
                  <a:pt x="3175938" y="33235"/>
                </a:lnTo>
                <a:lnTo>
                  <a:pt x="3181471" y="33235"/>
                </a:lnTo>
                <a:lnTo>
                  <a:pt x="3187004" y="37389"/>
                </a:lnTo>
                <a:lnTo>
                  <a:pt x="3192537" y="37389"/>
                </a:lnTo>
                <a:lnTo>
                  <a:pt x="3198070" y="37389"/>
                </a:lnTo>
                <a:lnTo>
                  <a:pt x="3203603" y="37389"/>
                </a:lnTo>
                <a:lnTo>
                  <a:pt x="3209136" y="33235"/>
                </a:lnTo>
                <a:lnTo>
                  <a:pt x="3214669" y="33235"/>
                </a:lnTo>
                <a:lnTo>
                  <a:pt x="3220202" y="33235"/>
                </a:lnTo>
                <a:lnTo>
                  <a:pt x="3225735" y="33235"/>
                </a:lnTo>
                <a:lnTo>
                  <a:pt x="3231268" y="37389"/>
                </a:lnTo>
                <a:lnTo>
                  <a:pt x="3236801" y="33235"/>
                </a:lnTo>
                <a:lnTo>
                  <a:pt x="3242334" y="33235"/>
                </a:lnTo>
                <a:lnTo>
                  <a:pt x="3247867" y="33235"/>
                </a:lnTo>
                <a:lnTo>
                  <a:pt x="3253400" y="33235"/>
                </a:lnTo>
                <a:lnTo>
                  <a:pt x="3258933" y="33235"/>
                </a:lnTo>
                <a:lnTo>
                  <a:pt x="3264466" y="33235"/>
                </a:lnTo>
                <a:lnTo>
                  <a:pt x="3269999" y="29080"/>
                </a:lnTo>
                <a:lnTo>
                  <a:pt x="3275532" y="29080"/>
                </a:lnTo>
                <a:lnTo>
                  <a:pt x="3281065" y="33235"/>
                </a:lnTo>
                <a:lnTo>
                  <a:pt x="3286598" y="33235"/>
                </a:lnTo>
                <a:lnTo>
                  <a:pt x="3292131" y="33235"/>
                </a:lnTo>
                <a:lnTo>
                  <a:pt x="3297664" y="29080"/>
                </a:lnTo>
                <a:lnTo>
                  <a:pt x="3303197" y="29080"/>
                </a:lnTo>
                <a:lnTo>
                  <a:pt x="3308730" y="24926"/>
                </a:lnTo>
                <a:lnTo>
                  <a:pt x="3314263" y="20772"/>
                </a:lnTo>
                <a:lnTo>
                  <a:pt x="3319796" y="20772"/>
                </a:lnTo>
                <a:lnTo>
                  <a:pt x="3325329" y="20772"/>
                </a:lnTo>
                <a:lnTo>
                  <a:pt x="3330862" y="20772"/>
                </a:lnTo>
                <a:lnTo>
                  <a:pt x="3336395" y="24926"/>
                </a:lnTo>
                <a:lnTo>
                  <a:pt x="3341928" y="24926"/>
                </a:lnTo>
                <a:lnTo>
                  <a:pt x="3347461" y="24926"/>
                </a:lnTo>
                <a:lnTo>
                  <a:pt x="3352994" y="24926"/>
                </a:lnTo>
                <a:lnTo>
                  <a:pt x="3358527" y="24926"/>
                </a:lnTo>
                <a:lnTo>
                  <a:pt x="3364060" y="20772"/>
                </a:lnTo>
                <a:lnTo>
                  <a:pt x="3369593" y="20772"/>
                </a:lnTo>
                <a:lnTo>
                  <a:pt x="3375126" y="24926"/>
                </a:lnTo>
                <a:lnTo>
                  <a:pt x="3380659" y="29080"/>
                </a:lnTo>
                <a:lnTo>
                  <a:pt x="3386192" y="29080"/>
                </a:lnTo>
                <a:lnTo>
                  <a:pt x="3391725" y="33235"/>
                </a:lnTo>
                <a:lnTo>
                  <a:pt x="3397258" y="29080"/>
                </a:lnTo>
                <a:lnTo>
                  <a:pt x="3402791" y="29080"/>
                </a:lnTo>
                <a:lnTo>
                  <a:pt x="3408324" y="24926"/>
                </a:lnTo>
                <a:lnTo>
                  <a:pt x="3413857" y="24926"/>
                </a:lnTo>
                <a:lnTo>
                  <a:pt x="3419390" y="24926"/>
                </a:lnTo>
                <a:lnTo>
                  <a:pt x="3424923" y="24926"/>
                </a:lnTo>
                <a:lnTo>
                  <a:pt x="3430456" y="29080"/>
                </a:lnTo>
                <a:lnTo>
                  <a:pt x="3435989" y="29080"/>
                </a:lnTo>
                <a:lnTo>
                  <a:pt x="3441522" y="29080"/>
                </a:lnTo>
                <a:lnTo>
                  <a:pt x="3447055" y="24926"/>
                </a:lnTo>
                <a:lnTo>
                  <a:pt x="3452588" y="24926"/>
                </a:lnTo>
                <a:lnTo>
                  <a:pt x="3458121" y="29080"/>
                </a:lnTo>
                <a:lnTo>
                  <a:pt x="3463654" y="29080"/>
                </a:lnTo>
                <a:lnTo>
                  <a:pt x="3469187" y="29080"/>
                </a:lnTo>
                <a:lnTo>
                  <a:pt x="3474720" y="29080"/>
                </a:lnTo>
                <a:lnTo>
                  <a:pt x="3480252" y="29080"/>
                </a:lnTo>
                <a:lnTo>
                  <a:pt x="3485785" y="29080"/>
                </a:lnTo>
                <a:lnTo>
                  <a:pt x="3491318" y="33235"/>
                </a:lnTo>
                <a:lnTo>
                  <a:pt x="3496851" y="33235"/>
                </a:lnTo>
                <a:lnTo>
                  <a:pt x="3502384" y="33235"/>
                </a:lnTo>
                <a:lnTo>
                  <a:pt x="3507917" y="33235"/>
                </a:lnTo>
                <a:lnTo>
                  <a:pt x="3513450" y="33235"/>
                </a:lnTo>
                <a:lnTo>
                  <a:pt x="3518983" y="33235"/>
                </a:lnTo>
                <a:lnTo>
                  <a:pt x="3524516" y="33235"/>
                </a:lnTo>
                <a:lnTo>
                  <a:pt x="3530049" y="37389"/>
                </a:lnTo>
                <a:lnTo>
                  <a:pt x="3535582" y="33235"/>
                </a:lnTo>
                <a:lnTo>
                  <a:pt x="3541115" y="37389"/>
                </a:lnTo>
                <a:lnTo>
                  <a:pt x="3546648" y="33235"/>
                </a:lnTo>
                <a:lnTo>
                  <a:pt x="3552181" y="33235"/>
                </a:lnTo>
                <a:lnTo>
                  <a:pt x="3557714" y="33235"/>
                </a:lnTo>
                <a:lnTo>
                  <a:pt x="3563247" y="37389"/>
                </a:lnTo>
                <a:lnTo>
                  <a:pt x="3568780" y="37389"/>
                </a:lnTo>
                <a:lnTo>
                  <a:pt x="3574313" y="37389"/>
                </a:lnTo>
                <a:lnTo>
                  <a:pt x="3579846" y="37389"/>
                </a:lnTo>
                <a:lnTo>
                  <a:pt x="3585379" y="37389"/>
                </a:lnTo>
                <a:lnTo>
                  <a:pt x="3590912" y="37389"/>
                </a:lnTo>
                <a:lnTo>
                  <a:pt x="3596445" y="37389"/>
                </a:lnTo>
                <a:lnTo>
                  <a:pt x="3601978" y="37389"/>
                </a:lnTo>
                <a:lnTo>
                  <a:pt x="3607511" y="37389"/>
                </a:lnTo>
                <a:lnTo>
                  <a:pt x="3613044" y="41543"/>
                </a:lnTo>
                <a:lnTo>
                  <a:pt x="3618577" y="41543"/>
                </a:lnTo>
                <a:lnTo>
                  <a:pt x="3624110" y="37389"/>
                </a:lnTo>
                <a:lnTo>
                  <a:pt x="3629643" y="37389"/>
                </a:lnTo>
                <a:lnTo>
                  <a:pt x="3635176" y="41543"/>
                </a:lnTo>
                <a:lnTo>
                  <a:pt x="3640709" y="41543"/>
                </a:lnTo>
                <a:lnTo>
                  <a:pt x="3646242" y="41543"/>
                </a:lnTo>
                <a:lnTo>
                  <a:pt x="3651775" y="41543"/>
                </a:lnTo>
                <a:lnTo>
                  <a:pt x="3657308" y="41543"/>
                </a:lnTo>
                <a:lnTo>
                  <a:pt x="3662841" y="41543"/>
                </a:lnTo>
                <a:lnTo>
                  <a:pt x="3668374" y="41543"/>
                </a:lnTo>
                <a:lnTo>
                  <a:pt x="3673907" y="41543"/>
                </a:lnTo>
                <a:lnTo>
                  <a:pt x="3679440" y="45698"/>
                </a:lnTo>
                <a:lnTo>
                  <a:pt x="3684973" y="45698"/>
                </a:lnTo>
                <a:lnTo>
                  <a:pt x="3690506" y="45698"/>
                </a:lnTo>
                <a:lnTo>
                  <a:pt x="3696039" y="45698"/>
                </a:lnTo>
                <a:lnTo>
                  <a:pt x="3701572" y="45698"/>
                </a:lnTo>
                <a:lnTo>
                  <a:pt x="3707105" y="49852"/>
                </a:lnTo>
                <a:lnTo>
                  <a:pt x="3712638" y="45698"/>
                </a:lnTo>
                <a:lnTo>
                  <a:pt x="3718171" y="45698"/>
                </a:lnTo>
                <a:lnTo>
                  <a:pt x="3723704" y="49852"/>
                </a:lnTo>
                <a:lnTo>
                  <a:pt x="3729237" y="49852"/>
                </a:lnTo>
                <a:lnTo>
                  <a:pt x="3734770" y="54006"/>
                </a:lnTo>
                <a:lnTo>
                  <a:pt x="3740303" y="54006"/>
                </a:lnTo>
                <a:lnTo>
                  <a:pt x="3745836" y="54006"/>
                </a:lnTo>
                <a:lnTo>
                  <a:pt x="3751369" y="54006"/>
                </a:lnTo>
                <a:lnTo>
                  <a:pt x="3756902" y="54006"/>
                </a:lnTo>
                <a:lnTo>
                  <a:pt x="3762435" y="54006"/>
                </a:lnTo>
                <a:lnTo>
                  <a:pt x="3767968" y="54006"/>
                </a:lnTo>
                <a:lnTo>
                  <a:pt x="3773501" y="54006"/>
                </a:lnTo>
                <a:lnTo>
                  <a:pt x="3779034" y="58161"/>
                </a:lnTo>
                <a:lnTo>
                  <a:pt x="3784567" y="58161"/>
                </a:lnTo>
                <a:lnTo>
                  <a:pt x="3790100" y="58161"/>
                </a:lnTo>
                <a:lnTo>
                  <a:pt x="3795633" y="62315"/>
                </a:lnTo>
                <a:lnTo>
                  <a:pt x="3801166" y="62315"/>
                </a:lnTo>
                <a:lnTo>
                  <a:pt x="3806699" y="66469"/>
                </a:lnTo>
                <a:lnTo>
                  <a:pt x="3812232" y="70623"/>
                </a:lnTo>
                <a:lnTo>
                  <a:pt x="3817765" y="74778"/>
                </a:lnTo>
                <a:lnTo>
                  <a:pt x="3823298" y="74778"/>
                </a:lnTo>
                <a:lnTo>
                  <a:pt x="3828831" y="78932"/>
                </a:lnTo>
                <a:lnTo>
                  <a:pt x="3834364" y="78932"/>
                </a:lnTo>
                <a:lnTo>
                  <a:pt x="3839897" y="78932"/>
                </a:lnTo>
                <a:lnTo>
                  <a:pt x="3845430" y="78932"/>
                </a:lnTo>
                <a:lnTo>
                  <a:pt x="3850963" y="78932"/>
                </a:lnTo>
                <a:lnTo>
                  <a:pt x="3856496" y="78932"/>
                </a:lnTo>
                <a:lnTo>
                  <a:pt x="3862029" y="78932"/>
                </a:lnTo>
                <a:lnTo>
                  <a:pt x="3867562" y="78932"/>
                </a:lnTo>
                <a:lnTo>
                  <a:pt x="3873095" y="83086"/>
                </a:lnTo>
                <a:lnTo>
                  <a:pt x="3878628" y="91395"/>
                </a:lnTo>
                <a:lnTo>
                  <a:pt x="3884161" y="95549"/>
                </a:lnTo>
                <a:lnTo>
                  <a:pt x="3889694" y="108012"/>
                </a:lnTo>
                <a:lnTo>
                  <a:pt x="3895227" y="141247"/>
                </a:lnTo>
                <a:lnTo>
                  <a:pt x="3900760" y="191098"/>
                </a:lnTo>
                <a:lnTo>
                  <a:pt x="3906293" y="224333"/>
                </a:lnTo>
                <a:lnTo>
                  <a:pt x="3911826" y="249259"/>
                </a:lnTo>
                <a:lnTo>
                  <a:pt x="3917359" y="270030"/>
                </a:lnTo>
                <a:lnTo>
                  <a:pt x="3922892" y="282493"/>
                </a:lnTo>
                <a:lnTo>
                  <a:pt x="3928425" y="315728"/>
                </a:lnTo>
                <a:lnTo>
                  <a:pt x="3933958" y="361425"/>
                </a:lnTo>
                <a:lnTo>
                  <a:pt x="3939491" y="353117"/>
                </a:lnTo>
                <a:lnTo>
                  <a:pt x="3945024" y="332345"/>
                </a:lnTo>
                <a:lnTo>
                  <a:pt x="3950557" y="319882"/>
                </a:lnTo>
                <a:lnTo>
                  <a:pt x="3956090" y="299111"/>
                </a:lnTo>
                <a:lnTo>
                  <a:pt x="3961623" y="278339"/>
                </a:lnTo>
                <a:lnTo>
                  <a:pt x="3967156" y="253413"/>
                </a:lnTo>
                <a:lnTo>
                  <a:pt x="3972689" y="224333"/>
                </a:lnTo>
                <a:lnTo>
                  <a:pt x="3978222" y="203561"/>
                </a:lnTo>
                <a:lnTo>
                  <a:pt x="3983755" y="191098"/>
                </a:lnTo>
                <a:lnTo>
                  <a:pt x="3989288" y="182790"/>
                </a:lnTo>
                <a:lnTo>
                  <a:pt x="3994821" y="174481"/>
                </a:lnTo>
                <a:lnTo>
                  <a:pt x="4000354" y="166173"/>
                </a:lnTo>
                <a:lnTo>
                  <a:pt x="4005887" y="157864"/>
                </a:lnTo>
                <a:lnTo>
                  <a:pt x="4011420" y="157864"/>
                </a:lnTo>
                <a:lnTo>
                  <a:pt x="4016953" y="149555"/>
                </a:lnTo>
                <a:lnTo>
                  <a:pt x="4022486" y="141247"/>
                </a:lnTo>
                <a:lnTo>
                  <a:pt x="4028019" y="141247"/>
                </a:lnTo>
                <a:lnTo>
                  <a:pt x="4033552" y="137092"/>
                </a:lnTo>
                <a:lnTo>
                  <a:pt x="4039085" y="132938"/>
                </a:lnTo>
                <a:lnTo>
                  <a:pt x="4044618" y="128784"/>
                </a:lnTo>
                <a:lnTo>
                  <a:pt x="4050151" y="128784"/>
                </a:lnTo>
                <a:lnTo>
                  <a:pt x="4055684" y="124629"/>
                </a:lnTo>
                <a:lnTo>
                  <a:pt x="4061217" y="120475"/>
                </a:lnTo>
                <a:lnTo>
                  <a:pt x="4066750" y="116321"/>
                </a:lnTo>
                <a:lnTo>
                  <a:pt x="4072283" y="116321"/>
                </a:lnTo>
                <a:lnTo>
                  <a:pt x="4077816" y="112167"/>
                </a:lnTo>
                <a:lnTo>
                  <a:pt x="4083349" y="112167"/>
                </a:lnTo>
                <a:lnTo>
                  <a:pt x="4088882" y="112167"/>
                </a:lnTo>
                <a:lnTo>
                  <a:pt x="4094415" y="108012"/>
                </a:lnTo>
                <a:lnTo>
                  <a:pt x="4099948" y="108012"/>
                </a:lnTo>
                <a:lnTo>
                  <a:pt x="4105481" y="108012"/>
                </a:lnTo>
                <a:lnTo>
                  <a:pt x="4111014" y="103858"/>
                </a:lnTo>
                <a:lnTo>
                  <a:pt x="4116547" y="99704"/>
                </a:lnTo>
                <a:lnTo>
                  <a:pt x="4122080" y="103858"/>
                </a:lnTo>
                <a:lnTo>
                  <a:pt x="4127613" y="103858"/>
                </a:lnTo>
                <a:lnTo>
                  <a:pt x="4133146" y="103858"/>
                </a:lnTo>
                <a:lnTo>
                  <a:pt x="4138679" y="108012"/>
                </a:lnTo>
                <a:lnTo>
                  <a:pt x="4144212" y="108012"/>
                </a:lnTo>
                <a:lnTo>
                  <a:pt x="4149745" y="108012"/>
                </a:lnTo>
                <a:lnTo>
                  <a:pt x="4155278" y="108012"/>
                </a:lnTo>
                <a:lnTo>
                  <a:pt x="4160811" y="108012"/>
                </a:lnTo>
                <a:lnTo>
                  <a:pt x="4166344" y="103858"/>
                </a:lnTo>
                <a:lnTo>
                  <a:pt x="4171877" y="103858"/>
                </a:lnTo>
                <a:lnTo>
                  <a:pt x="4177410" y="103858"/>
                </a:lnTo>
                <a:lnTo>
                  <a:pt x="4182943" y="103858"/>
                </a:lnTo>
                <a:lnTo>
                  <a:pt x="4188476" y="103858"/>
                </a:lnTo>
                <a:lnTo>
                  <a:pt x="4194009" y="103858"/>
                </a:lnTo>
                <a:lnTo>
                  <a:pt x="4199542" y="103858"/>
                </a:lnTo>
                <a:lnTo>
                  <a:pt x="4205075" y="108012"/>
                </a:lnTo>
                <a:lnTo>
                  <a:pt x="4210608" y="103858"/>
                </a:lnTo>
                <a:lnTo>
                  <a:pt x="4216141" y="108012"/>
                </a:lnTo>
                <a:lnTo>
                  <a:pt x="4221674" y="108012"/>
                </a:lnTo>
                <a:lnTo>
                  <a:pt x="4227207" y="108012"/>
                </a:lnTo>
                <a:lnTo>
                  <a:pt x="4232740" y="108012"/>
                </a:lnTo>
                <a:lnTo>
                  <a:pt x="4238273" y="112167"/>
                </a:lnTo>
                <a:lnTo>
                  <a:pt x="4243806" y="112167"/>
                </a:lnTo>
                <a:lnTo>
                  <a:pt x="4249339" y="112167"/>
                </a:lnTo>
                <a:lnTo>
                  <a:pt x="4254872" y="108012"/>
                </a:lnTo>
                <a:lnTo>
                  <a:pt x="4260405" y="108012"/>
                </a:lnTo>
                <a:lnTo>
                  <a:pt x="4265938" y="112167"/>
                </a:lnTo>
                <a:lnTo>
                  <a:pt x="4271471" y="112167"/>
                </a:lnTo>
                <a:lnTo>
                  <a:pt x="4277004" y="116321"/>
                </a:lnTo>
                <a:lnTo>
                  <a:pt x="4282537" y="124629"/>
                </a:lnTo>
                <a:lnTo>
                  <a:pt x="4288070" y="128784"/>
                </a:lnTo>
                <a:lnTo>
                  <a:pt x="4293603" y="132938"/>
                </a:lnTo>
                <a:lnTo>
                  <a:pt x="4299136" y="149555"/>
                </a:lnTo>
                <a:lnTo>
                  <a:pt x="4304669" y="174481"/>
                </a:lnTo>
                <a:lnTo>
                  <a:pt x="4310202" y="216024"/>
                </a:lnTo>
                <a:lnTo>
                  <a:pt x="4315735" y="274185"/>
                </a:lnTo>
                <a:lnTo>
                  <a:pt x="4321268" y="286648"/>
                </a:lnTo>
                <a:lnTo>
                  <a:pt x="4326801" y="299111"/>
                </a:lnTo>
                <a:lnTo>
                  <a:pt x="4332334" y="328191"/>
                </a:lnTo>
                <a:lnTo>
                  <a:pt x="4337867" y="357271"/>
                </a:lnTo>
                <a:lnTo>
                  <a:pt x="4343400" y="390505"/>
                </a:lnTo>
                <a:lnTo>
                  <a:pt x="4348932" y="398814"/>
                </a:lnTo>
                <a:lnTo>
                  <a:pt x="4354465" y="378042"/>
                </a:lnTo>
                <a:lnTo>
                  <a:pt x="4359998" y="357271"/>
                </a:lnTo>
                <a:lnTo>
                  <a:pt x="4365531" y="340654"/>
                </a:lnTo>
                <a:lnTo>
                  <a:pt x="4371064" y="307419"/>
                </a:lnTo>
                <a:lnTo>
                  <a:pt x="4376597" y="270030"/>
                </a:lnTo>
                <a:lnTo>
                  <a:pt x="4382130" y="245105"/>
                </a:lnTo>
                <a:lnTo>
                  <a:pt x="4387663" y="228487"/>
                </a:lnTo>
                <a:lnTo>
                  <a:pt x="4393196" y="207716"/>
                </a:lnTo>
                <a:lnTo>
                  <a:pt x="4398729" y="216024"/>
                </a:lnTo>
                <a:lnTo>
                  <a:pt x="4404262" y="220179"/>
                </a:lnTo>
                <a:lnTo>
                  <a:pt x="4409795" y="224333"/>
                </a:lnTo>
                <a:lnTo>
                  <a:pt x="4415328" y="228487"/>
                </a:lnTo>
                <a:lnTo>
                  <a:pt x="4420861" y="236796"/>
                </a:lnTo>
                <a:lnTo>
                  <a:pt x="4426394" y="232642"/>
                </a:lnTo>
                <a:lnTo>
                  <a:pt x="4431927" y="228487"/>
                </a:lnTo>
                <a:lnTo>
                  <a:pt x="4437460" y="224333"/>
                </a:lnTo>
                <a:lnTo>
                  <a:pt x="4442993" y="211870"/>
                </a:lnTo>
                <a:lnTo>
                  <a:pt x="4448526" y="216024"/>
                </a:lnTo>
                <a:lnTo>
                  <a:pt x="4454059" y="216024"/>
                </a:lnTo>
                <a:lnTo>
                  <a:pt x="4459592" y="220179"/>
                </a:lnTo>
                <a:lnTo>
                  <a:pt x="4465125" y="224333"/>
                </a:lnTo>
                <a:lnTo>
                  <a:pt x="4470658" y="228487"/>
                </a:lnTo>
                <a:lnTo>
                  <a:pt x="4476191" y="253413"/>
                </a:lnTo>
                <a:lnTo>
                  <a:pt x="4481724" y="282493"/>
                </a:lnTo>
                <a:lnTo>
                  <a:pt x="4487257" y="294956"/>
                </a:lnTo>
                <a:lnTo>
                  <a:pt x="4492790" y="303265"/>
                </a:lnTo>
                <a:lnTo>
                  <a:pt x="4498323" y="311573"/>
                </a:lnTo>
                <a:lnTo>
                  <a:pt x="4503856" y="319882"/>
                </a:lnTo>
                <a:lnTo>
                  <a:pt x="4509389" y="340654"/>
                </a:lnTo>
                <a:lnTo>
                  <a:pt x="4514922" y="365580"/>
                </a:lnTo>
                <a:lnTo>
                  <a:pt x="4520455" y="353117"/>
                </a:lnTo>
                <a:lnTo>
                  <a:pt x="4525988" y="340654"/>
                </a:lnTo>
                <a:lnTo>
                  <a:pt x="4531521" y="332345"/>
                </a:lnTo>
                <a:lnTo>
                  <a:pt x="4537054" y="324036"/>
                </a:lnTo>
                <a:lnTo>
                  <a:pt x="4542587" y="307419"/>
                </a:lnTo>
                <a:lnTo>
                  <a:pt x="4548120" y="286648"/>
                </a:lnTo>
                <a:lnTo>
                  <a:pt x="4553653" y="270030"/>
                </a:lnTo>
                <a:lnTo>
                  <a:pt x="4559186" y="253413"/>
                </a:lnTo>
                <a:lnTo>
                  <a:pt x="4564719" y="245105"/>
                </a:lnTo>
                <a:lnTo>
                  <a:pt x="4570252" y="236796"/>
                </a:lnTo>
                <a:lnTo>
                  <a:pt x="4575785" y="228487"/>
                </a:lnTo>
                <a:lnTo>
                  <a:pt x="4581318" y="224333"/>
                </a:lnTo>
                <a:lnTo>
                  <a:pt x="4586851" y="236796"/>
                </a:lnTo>
                <a:lnTo>
                  <a:pt x="4592384" y="257567"/>
                </a:lnTo>
                <a:lnTo>
                  <a:pt x="4597917" y="290802"/>
                </a:lnTo>
                <a:lnTo>
                  <a:pt x="4603450" y="340654"/>
                </a:lnTo>
                <a:lnTo>
                  <a:pt x="4608983" y="390505"/>
                </a:lnTo>
                <a:lnTo>
                  <a:pt x="4614516" y="427894"/>
                </a:lnTo>
                <a:lnTo>
                  <a:pt x="4620049" y="452820"/>
                </a:lnTo>
                <a:lnTo>
                  <a:pt x="4625582" y="477746"/>
                </a:lnTo>
                <a:lnTo>
                  <a:pt x="4631115" y="510980"/>
                </a:lnTo>
                <a:lnTo>
                  <a:pt x="4636648" y="556678"/>
                </a:lnTo>
                <a:lnTo>
                  <a:pt x="4642181" y="598221"/>
                </a:lnTo>
                <a:lnTo>
                  <a:pt x="4647714" y="610684"/>
                </a:lnTo>
                <a:lnTo>
                  <a:pt x="4653247" y="594067"/>
                </a:lnTo>
                <a:lnTo>
                  <a:pt x="4658780" y="569141"/>
                </a:lnTo>
                <a:lnTo>
                  <a:pt x="4664313" y="540061"/>
                </a:lnTo>
                <a:lnTo>
                  <a:pt x="4669846" y="506826"/>
                </a:lnTo>
                <a:lnTo>
                  <a:pt x="4675379" y="469437"/>
                </a:lnTo>
                <a:lnTo>
                  <a:pt x="4680912" y="444511"/>
                </a:lnTo>
                <a:lnTo>
                  <a:pt x="4686445" y="419586"/>
                </a:lnTo>
                <a:lnTo>
                  <a:pt x="4691978" y="398814"/>
                </a:lnTo>
                <a:lnTo>
                  <a:pt x="4697511" y="378042"/>
                </a:lnTo>
                <a:lnTo>
                  <a:pt x="4703044" y="348962"/>
                </a:lnTo>
                <a:lnTo>
                  <a:pt x="4708577" y="315728"/>
                </a:lnTo>
                <a:lnTo>
                  <a:pt x="4714110" y="303265"/>
                </a:lnTo>
                <a:lnTo>
                  <a:pt x="4719643" y="303265"/>
                </a:lnTo>
                <a:lnTo>
                  <a:pt x="4725176" y="307419"/>
                </a:lnTo>
                <a:lnTo>
                  <a:pt x="4730709" y="307419"/>
                </a:lnTo>
                <a:lnTo>
                  <a:pt x="4736242" y="294956"/>
                </a:lnTo>
                <a:lnTo>
                  <a:pt x="4741775" y="286648"/>
                </a:lnTo>
                <a:lnTo>
                  <a:pt x="4747308" y="278339"/>
                </a:lnTo>
                <a:lnTo>
                  <a:pt x="4752841" y="270030"/>
                </a:lnTo>
                <a:lnTo>
                  <a:pt x="4758374" y="261722"/>
                </a:lnTo>
                <a:lnTo>
                  <a:pt x="4763907" y="249259"/>
                </a:lnTo>
                <a:lnTo>
                  <a:pt x="4769440" y="236796"/>
                </a:lnTo>
                <a:lnTo>
                  <a:pt x="4774973" y="224333"/>
                </a:lnTo>
                <a:lnTo>
                  <a:pt x="4780506" y="211870"/>
                </a:lnTo>
                <a:lnTo>
                  <a:pt x="4786039" y="199407"/>
                </a:lnTo>
                <a:lnTo>
                  <a:pt x="4791572" y="195253"/>
                </a:lnTo>
                <a:lnTo>
                  <a:pt x="4797105" y="186944"/>
                </a:lnTo>
                <a:lnTo>
                  <a:pt x="4802638" y="182790"/>
                </a:lnTo>
                <a:lnTo>
                  <a:pt x="4808171" y="178636"/>
                </a:lnTo>
                <a:lnTo>
                  <a:pt x="4813704" y="170327"/>
                </a:lnTo>
                <a:lnTo>
                  <a:pt x="4819237" y="166173"/>
                </a:lnTo>
                <a:lnTo>
                  <a:pt x="4824770" y="170327"/>
                </a:lnTo>
                <a:lnTo>
                  <a:pt x="4830303" y="178636"/>
                </a:lnTo>
                <a:lnTo>
                  <a:pt x="4835836" y="191098"/>
                </a:lnTo>
                <a:lnTo>
                  <a:pt x="4841369" y="203561"/>
                </a:lnTo>
                <a:lnTo>
                  <a:pt x="4846902" y="216024"/>
                </a:lnTo>
                <a:lnTo>
                  <a:pt x="4852435" y="228487"/>
                </a:lnTo>
                <a:lnTo>
                  <a:pt x="4857968" y="245105"/>
                </a:lnTo>
                <a:lnTo>
                  <a:pt x="4863501" y="265876"/>
                </a:lnTo>
                <a:lnTo>
                  <a:pt x="4869034" y="290802"/>
                </a:lnTo>
                <a:lnTo>
                  <a:pt x="4874567" y="319882"/>
                </a:lnTo>
                <a:lnTo>
                  <a:pt x="4880100" y="348962"/>
                </a:lnTo>
                <a:lnTo>
                  <a:pt x="4885633" y="369734"/>
                </a:lnTo>
                <a:lnTo>
                  <a:pt x="4891166" y="394660"/>
                </a:lnTo>
                <a:lnTo>
                  <a:pt x="4896699" y="415431"/>
                </a:lnTo>
                <a:lnTo>
                  <a:pt x="4902232" y="436203"/>
                </a:lnTo>
                <a:lnTo>
                  <a:pt x="4907765" y="456974"/>
                </a:lnTo>
                <a:lnTo>
                  <a:pt x="4913298" y="473592"/>
                </a:lnTo>
                <a:lnTo>
                  <a:pt x="4918831" y="473592"/>
                </a:lnTo>
                <a:lnTo>
                  <a:pt x="4924364" y="465283"/>
                </a:lnTo>
                <a:lnTo>
                  <a:pt x="4929897" y="456974"/>
                </a:lnTo>
                <a:lnTo>
                  <a:pt x="4935430" y="448666"/>
                </a:lnTo>
                <a:lnTo>
                  <a:pt x="4940963" y="436203"/>
                </a:lnTo>
                <a:lnTo>
                  <a:pt x="4946496" y="423740"/>
                </a:lnTo>
                <a:lnTo>
                  <a:pt x="4952029" y="411277"/>
                </a:lnTo>
                <a:lnTo>
                  <a:pt x="4957562" y="402968"/>
                </a:lnTo>
                <a:lnTo>
                  <a:pt x="4963095" y="398814"/>
                </a:lnTo>
                <a:lnTo>
                  <a:pt x="4968628" y="394660"/>
                </a:lnTo>
                <a:lnTo>
                  <a:pt x="4974161" y="398814"/>
                </a:lnTo>
                <a:lnTo>
                  <a:pt x="4979694" y="398814"/>
                </a:lnTo>
                <a:lnTo>
                  <a:pt x="4985227" y="402968"/>
                </a:lnTo>
                <a:lnTo>
                  <a:pt x="4990760" y="402968"/>
                </a:lnTo>
                <a:lnTo>
                  <a:pt x="4996293" y="398814"/>
                </a:lnTo>
                <a:lnTo>
                  <a:pt x="5001826" y="394660"/>
                </a:lnTo>
                <a:lnTo>
                  <a:pt x="5007359" y="390505"/>
                </a:lnTo>
                <a:lnTo>
                  <a:pt x="5012892" y="386351"/>
                </a:lnTo>
                <a:lnTo>
                  <a:pt x="5018425" y="382197"/>
                </a:lnTo>
                <a:lnTo>
                  <a:pt x="5023958" y="382197"/>
                </a:lnTo>
                <a:lnTo>
                  <a:pt x="5029491" y="378042"/>
                </a:lnTo>
                <a:lnTo>
                  <a:pt x="5035024" y="373888"/>
                </a:lnTo>
                <a:lnTo>
                  <a:pt x="5040557" y="365580"/>
                </a:lnTo>
                <a:lnTo>
                  <a:pt x="5046090" y="357271"/>
                </a:lnTo>
                <a:lnTo>
                  <a:pt x="5051623" y="353117"/>
                </a:lnTo>
                <a:lnTo>
                  <a:pt x="5057156" y="344808"/>
                </a:lnTo>
                <a:lnTo>
                  <a:pt x="5062689" y="340654"/>
                </a:lnTo>
                <a:lnTo>
                  <a:pt x="5068222" y="336499"/>
                </a:lnTo>
                <a:lnTo>
                  <a:pt x="5073755" y="328191"/>
                </a:lnTo>
                <a:lnTo>
                  <a:pt x="5079288" y="336499"/>
                </a:lnTo>
                <a:lnTo>
                  <a:pt x="5084821" y="353117"/>
                </a:lnTo>
                <a:lnTo>
                  <a:pt x="5090354" y="365580"/>
                </a:lnTo>
                <a:lnTo>
                  <a:pt x="5095887" y="386351"/>
                </a:lnTo>
                <a:lnTo>
                  <a:pt x="5101420" y="402968"/>
                </a:lnTo>
                <a:lnTo>
                  <a:pt x="5106953" y="423740"/>
                </a:lnTo>
                <a:lnTo>
                  <a:pt x="5112486" y="436203"/>
                </a:lnTo>
                <a:lnTo>
                  <a:pt x="5118019" y="452820"/>
                </a:lnTo>
                <a:lnTo>
                  <a:pt x="5123552" y="469437"/>
                </a:lnTo>
                <a:lnTo>
                  <a:pt x="5129085" y="486055"/>
                </a:lnTo>
                <a:lnTo>
                  <a:pt x="5134618" y="494363"/>
                </a:lnTo>
                <a:lnTo>
                  <a:pt x="5140151" y="481900"/>
                </a:lnTo>
                <a:lnTo>
                  <a:pt x="5145684" y="469437"/>
                </a:lnTo>
                <a:lnTo>
                  <a:pt x="5151217" y="461129"/>
                </a:lnTo>
                <a:lnTo>
                  <a:pt x="5156750" y="448666"/>
                </a:lnTo>
                <a:lnTo>
                  <a:pt x="5162283" y="440357"/>
                </a:lnTo>
                <a:lnTo>
                  <a:pt x="5167816" y="423740"/>
                </a:lnTo>
                <a:lnTo>
                  <a:pt x="5173349" y="411277"/>
                </a:lnTo>
                <a:lnTo>
                  <a:pt x="5178882" y="398814"/>
                </a:lnTo>
                <a:lnTo>
                  <a:pt x="5184415" y="390505"/>
                </a:lnTo>
                <a:lnTo>
                  <a:pt x="5189948" y="378042"/>
                </a:lnTo>
                <a:lnTo>
                  <a:pt x="5195481" y="369734"/>
                </a:lnTo>
                <a:lnTo>
                  <a:pt x="5201014" y="361425"/>
                </a:lnTo>
                <a:lnTo>
                  <a:pt x="5206547" y="353117"/>
                </a:lnTo>
                <a:lnTo>
                  <a:pt x="5212080" y="344808"/>
                </a:lnTo>
                <a:lnTo>
                  <a:pt x="5217612" y="340654"/>
                </a:lnTo>
                <a:lnTo>
                  <a:pt x="5223145" y="332345"/>
                </a:lnTo>
                <a:lnTo>
                  <a:pt x="5228678" y="324036"/>
                </a:lnTo>
                <a:lnTo>
                  <a:pt x="5234211" y="315728"/>
                </a:lnTo>
                <a:lnTo>
                  <a:pt x="5239744" y="307419"/>
                </a:lnTo>
                <a:lnTo>
                  <a:pt x="5245277" y="303265"/>
                </a:lnTo>
                <a:lnTo>
                  <a:pt x="5250810" y="299111"/>
                </a:lnTo>
                <a:lnTo>
                  <a:pt x="5256343" y="303265"/>
                </a:lnTo>
                <a:lnTo>
                  <a:pt x="5261876" y="311573"/>
                </a:lnTo>
                <a:lnTo>
                  <a:pt x="5267409" y="315728"/>
                </a:lnTo>
                <a:lnTo>
                  <a:pt x="5272942" y="315728"/>
                </a:lnTo>
                <a:lnTo>
                  <a:pt x="5278475" y="319882"/>
                </a:lnTo>
                <a:lnTo>
                  <a:pt x="5284008" y="319882"/>
                </a:lnTo>
                <a:lnTo>
                  <a:pt x="5289541" y="315728"/>
                </a:lnTo>
                <a:lnTo>
                  <a:pt x="5295074" y="315728"/>
                </a:lnTo>
                <a:lnTo>
                  <a:pt x="5300607" y="315728"/>
                </a:lnTo>
                <a:lnTo>
                  <a:pt x="5306140" y="315728"/>
                </a:lnTo>
                <a:lnTo>
                  <a:pt x="5311673" y="315728"/>
                </a:lnTo>
                <a:lnTo>
                  <a:pt x="5317206" y="315728"/>
                </a:lnTo>
                <a:lnTo>
                  <a:pt x="5322739" y="319882"/>
                </a:lnTo>
                <a:lnTo>
                  <a:pt x="5328272" y="324036"/>
                </a:lnTo>
                <a:lnTo>
                  <a:pt x="5333805" y="332345"/>
                </a:lnTo>
                <a:lnTo>
                  <a:pt x="5339338" y="336499"/>
                </a:lnTo>
                <a:lnTo>
                  <a:pt x="5344871" y="340654"/>
                </a:lnTo>
                <a:lnTo>
                  <a:pt x="5350404" y="344808"/>
                </a:lnTo>
                <a:lnTo>
                  <a:pt x="5355937" y="353117"/>
                </a:lnTo>
                <a:lnTo>
                  <a:pt x="5361470" y="348962"/>
                </a:lnTo>
                <a:lnTo>
                  <a:pt x="5367003" y="348962"/>
                </a:lnTo>
                <a:lnTo>
                  <a:pt x="5372536" y="344808"/>
                </a:lnTo>
                <a:lnTo>
                  <a:pt x="5378069" y="348962"/>
                </a:lnTo>
                <a:lnTo>
                  <a:pt x="5383602" y="357271"/>
                </a:lnTo>
                <a:lnTo>
                  <a:pt x="5389135" y="357271"/>
                </a:lnTo>
                <a:lnTo>
                  <a:pt x="5394668" y="361425"/>
                </a:lnTo>
                <a:lnTo>
                  <a:pt x="5400201" y="369734"/>
                </a:lnTo>
                <a:lnTo>
                  <a:pt x="5405734" y="369734"/>
                </a:lnTo>
                <a:lnTo>
                  <a:pt x="5411267" y="361425"/>
                </a:lnTo>
                <a:lnTo>
                  <a:pt x="5416800" y="357271"/>
                </a:lnTo>
                <a:lnTo>
                  <a:pt x="5422333" y="348962"/>
                </a:lnTo>
                <a:lnTo>
                  <a:pt x="5427866" y="340654"/>
                </a:lnTo>
                <a:lnTo>
                  <a:pt x="5433399" y="332345"/>
                </a:lnTo>
                <a:lnTo>
                  <a:pt x="5438932" y="324036"/>
                </a:lnTo>
                <a:lnTo>
                  <a:pt x="5444465" y="315728"/>
                </a:lnTo>
                <a:lnTo>
                  <a:pt x="5449998" y="311573"/>
                </a:lnTo>
                <a:lnTo>
                  <a:pt x="5455531" y="311573"/>
                </a:lnTo>
                <a:lnTo>
                  <a:pt x="5461064" y="311573"/>
                </a:lnTo>
                <a:lnTo>
                  <a:pt x="5466597" y="311573"/>
                </a:lnTo>
                <a:lnTo>
                  <a:pt x="5472130" y="315728"/>
                </a:lnTo>
                <a:lnTo>
                  <a:pt x="5477663" y="315728"/>
                </a:lnTo>
                <a:lnTo>
                  <a:pt x="5483196" y="315728"/>
                </a:lnTo>
                <a:lnTo>
                  <a:pt x="5488729" y="319882"/>
                </a:lnTo>
                <a:lnTo>
                  <a:pt x="5494262" y="319882"/>
                </a:lnTo>
                <a:lnTo>
                  <a:pt x="5499795" y="319882"/>
                </a:lnTo>
                <a:lnTo>
                  <a:pt x="5505328" y="328191"/>
                </a:lnTo>
                <a:lnTo>
                  <a:pt x="5510861" y="336499"/>
                </a:lnTo>
                <a:lnTo>
                  <a:pt x="5516394" y="344808"/>
                </a:lnTo>
                <a:lnTo>
                  <a:pt x="5521927" y="353117"/>
                </a:lnTo>
                <a:lnTo>
                  <a:pt x="5527460" y="361425"/>
                </a:lnTo>
                <a:lnTo>
                  <a:pt x="5532993" y="382197"/>
                </a:lnTo>
                <a:lnTo>
                  <a:pt x="5538526" y="402968"/>
                </a:lnTo>
                <a:lnTo>
                  <a:pt x="5544059" y="432049"/>
                </a:lnTo>
                <a:lnTo>
                  <a:pt x="5549592" y="461129"/>
                </a:lnTo>
                <a:lnTo>
                  <a:pt x="5555125" y="486055"/>
                </a:lnTo>
                <a:lnTo>
                  <a:pt x="5560658" y="515135"/>
                </a:lnTo>
                <a:lnTo>
                  <a:pt x="5566191" y="540061"/>
                </a:lnTo>
                <a:lnTo>
                  <a:pt x="5571724" y="564986"/>
                </a:lnTo>
                <a:lnTo>
                  <a:pt x="5577257" y="594067"/>
                </a:lnTo>
                <a:lnTo>
                  <a:pt x="5582790" y="618993"/>
                </a:lnTo>
                <a:lnTo>
                  <a:pt x="5588323" y="643918"/>
                </a:lnTo>
                <a:lnTo>
                  <a:pt x="5593856" y="664690"/>
                </a:lnTo>
                <a:lnTo>
                  <a:pt x="5599389" y="677153"/>
                </a:lnTo>
                <a:lnTo>
                  <a:pt x="5604922" y="681307"/>
                </a:lnTo>
                <a:lnTo>
                  <a:pt x="5610455" y="668844"/>
                </a:lnTo>
                <a:lnTo>
                  <a:pt x="5615988" y="656381"/>
                </a:lnTo>
                <a:lnTo>
                  <a:pt x="5621521" y="652227"/>
                </a:lnTo>
                <a:lnTo>
                  <a:pt x="5627054" y="648073"/>
                </a:lnTo>
                <a:lnTo>
                  <a:pt x="5632587" y="643918"/>
                </a:lnTo>
                <a:lnTo>
                  <a:pt x="5638120" y="656381"/>
                </a:lnTo>
                <a:lnTo>
                  <a:pt x="5643653" y="685461"/>
                </a:lnTo>
                <a:lnTo>
                  <a:pt x="5649186" y="714542"/>
                </a:lnTo>
                <a:lnTo>
                  <a:pt x="5654719" y="747776"/>
                </a:lnTo>
                <a:lnTo>
                  <a:pt x="5660252" y="789319"/>
                </a:lnTo>
                <a:lnTo>
                  <a:pt x="5665785" y="818399"/>
                </a:lnTo>
                <a:lnTo>
                  <a:pt x="5671318" y="839171"/>
                </a:lnTo>
                <a:lnTo>
                  <a:pt x="5676851" y="868251"/>
                </a:lnTo>
                <a:lnTo>
                  <a:pt x="5682384" y="897331"/>
                </a:lnTo>
                <a:lnTo>
                  <a:pt x="5687917" y="930566"/>
                </a:lnTo>
                <a:lnTo>
                  <a:pt x="5693450" y="984572"/>
                </a:lnTo>
                <a:lnTo>
                  <a:pt x="5698983" y="1026115"/>
                </a:lnTo>
                <a:lnTo>
                  <a:pt x="5704516" y="1051041"/>
                </a:lnTo>
                <a:lnTo>
                  <a:pt x="5710049" y="1067658"/>
                </a:lnTo>
                <a:lnTo>
                  <a:pt x="5715582" y="1075967"/>
                </a:lnTo>
                <a:lnTo>
                  <a:pt x="5721115" y="1092584"/>
                </a:lnTo>
                <a:lnTo>
                  <a:pt x="5726648" y="1117510"/>
                </a:lnTo>
                <a:lnTo>
                  <a:pt x="5732181" y="1071812"/>
                </a:lnTo>
                <a:lnTo>
                  <a:pt x="5737714" y="1030269"/>
                </a:lnTo>
                <a:lnTo>
                  <a:pt x="5743247" y="997035"/>
                </a:lnTo>
                <a:lnTo>
                  <a:pt x="5748780" y="972109"/>
                </a:lnTo>
                <a:lnTo>
                  <a:pt x="5754313" y="930566"/>
                </a:lnTo>
                <a:lnTo>
                  <a:pt x="5759846" y="876560"/>
                </a:lnTo>
                <a:lnTo>
                  <a:pt x="5765379" y="805937"/>
                </a:lnTo>
                <a:lnTo>
                  <a:pt x="5770912" y="751930"/>
                </a:lnTo>
                <a:lnTo>
                  <a:pt x="5776445" y="710387"/>
                </a:lnTo>
                <a:lnTo>
                  <a:pt x="5781978" y="681307"/>
                </a:lnTo>
                <a:lnTo>
                  <a:pt x="5787511" y="643918"/>
                </a:lnTo>
                <a:lnTo>
                  <a:pt x="5793044" y="618993"/>
                </a:lnTo>
                <a:lnTo>
                  <a:pt x="5798577" y="598221"/>
                </a:lnTo>
                <a:lnTo>
                  <a:pt x="5804110" y="581604"/>
                </a:lnTo>
                <a:lnTo>
                  <a:pt x="5809643" y="564986"/>
                </a:lnTo>
                <a:lnTo>
                  <a:pt x="5815176" y="552524"/>
                </a:lnTo>
                <a:lnTo>
                  <a:pt x="5820709" y="535906"/>
                </a:lnTo>
                <a:lnTo>
                  <a:pt x="5826242" y="527598"/>
                </a:lnTo>
                <a:lnTo>
                  <a:pt x="5831775" y="510980"/>
                </a:lnTo>
                <a:lnTo>
                  <a:pt x="5837308" y="498517"/>
                </a:lnTo>
                <a:lnTo>
                  <a:pt x="5842841" y="486055"/>
                </a:lnTo>
                <a:lnTo>
                  <a:pt x="5848374" y="481900"/>
                </a:lnTo>
                <a:lnTo>
                  <a:pt x="5853907" y="473592"/>
                </a:lnTo>
                <a:lnTo>
                  <a:pt x="5859440" y="465283"/>
                </a:lnTo>
                <a:lnTo>
                  <a:pt x="5864973" y="461129"/>
                </a:lnTo>
                <a:lnTo>
                  <a:pt x="5870506" y="456974"/>
                </a:lnTo>
                <a:lnTo>
                  <a:pt x="5876039" y="440357"/>
                </a:lnTo>
                <a:lnTo>
                  <a:pt x="5881572" y="440357"/>
                </a:lnTo>
                <a:lnTo>
                  <a:pt x="5887105" y="436203"/>
                </a:lnTo>
                <a:lnTo>
                  <a:pt x="5892638" y="432049"/>
                </a:lnTo>
                <a:lnTo>
                  <a:pt x="5898171" y="440357"/>
                </a:lnTo>
                <a:lnTo>
                  <a:pt x="5903704" y="444511"/>
                </a:lnTo>
                <a:lnTo>
                  <a:pt x="5909237" y="456974"/>
                </a:lnTo>
                <a:lnTo>
                  <a:pt x="5914770" y="465283"/>
                </a:lnTo>
                <a:lnTo>
                  <a:pt x="5920303" y="469437"/>
                </a:lnTo>
                <a:lnTo>
                  <a:pt x="5925836" y="481900"/>
                </a:lnTo>
                <a:lnTo>
                  <a:pt x="5931369" y="494363"/>
                </a:lnTo>
                <a:lnTo>
                  <a:pt x="5936902" y="498517"/>
                </a:lnTo>
                <a:lnTo>
                  <a:pt x="5942435" y="490209"/>
                </a:lnTo>
                <a:lnTo>
                  <a:pt x="5947968" y="490209"/>
                </a:lnTo>
                <a:lnTo>
                  <a:pt x="5953501" y="494363"/>
                </a:lnTo>
                <a:lnTo>
                  <a:pt x="5959034" y="498517"/>
                </a:lnTo>
                <a:lnTo>
                  <a:pt x="5964567" y="502672"/>
                </a:lnTo>
                <a:lnTo>
                  <a:pt x="5970100" y="519289"/>
                </a:lnTo>
                <a:lnTo>
                  <a:pt x="5975633" y="527598"/>
                </a:lnTo>
                <a:lnTo>
                  <a:pt x="5981166" y="540061"/>
                </a:lnTo>
                <a:lnTo>
                  <a:pt x="5986699" y="548369"/>
                </a:lnTo>
                <a:lnTo>
                  <a:pt x="5992232" y="552524"/>
                </a:lnTo>
                <a:lnTo>
                  <a:pt x="5997765" y="544215"/>
                </a:lnTo>
                <a:lnTo>
                  <a:pt x="6003298" y="544215"/>
                </a:lnTo>
                <a:lnTo>
                  <a:pt x="6008831" y="548369"/>
                </a:lnTo>
                <a:lnTo>
                  <a:pt x="6014364" y="556678"/>
                </a:lnTo>
                <a:lnTo>
                  <a:pt x="6019897" y="560832"/>
                </a:lnTo>
                <a:lnTo>
                  <a:pt x="6025430" y="564986"/>
                </a:lnTo>
                <a:lnTo>
                  <a:pt x="6030963" y="581604"/>
                </a:lnTo>
                <a:lnTo>
                  <a:pt x="6036496" y="585758"/>
                </a:lnTo>
                <a:lnTo>
                  <a:pt x="6042029" y="581604"/>
                </a:lnTo>
                <a:lnTo>
                  <a:pt x="6047562" y="577449"/>
                </a:lnTo>
                <a:lnTo>
                  <a:pt x="6053095" y="573295"/>
                </a:lnTo>
                <a:lnTo>
                  <a:pt x="6058628" y="577449"/>
                </a:lnTo>
                <a:lnTo>
                  <a:pt x="6064161" y="569141"/>
                </a:lnTo>
                <a:lnTo>
                  <a:pt x="6069694" y="564986"/>
                </a:lnTo>
                <a:lnTo>
                  <a:pt x="6075227" y="564986"/>
                </a:lnTo>
                <a:lnTo>
                  <a:pt x="6080760" y="560832"/>
                </a:lnTo>
              </a:path>
            </a:pathLst>
          </a:custGeom>
          <a:noFill/>
          <a:ln w="19050">
            <a:solidFill>
              <a:srgbClr val="7C15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188720" y="1920240"/>
            <a:ext cx="0" cy="3364992"/>
          </a:xfrm>
          <a:prstGeom prst="line">
            <a:avLst/>
          </a:prstGeom>
          <a:ln w="1778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88720" y="5285232"/>
            <a:ext cx="6080760" cy="0"/>
          </a:xfrm>
          <a:prstGeom prst="line">
            <a:avLst/>
          </a:prstGeom>
          <a:ln w="1778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88720" y="5285232"/>
            <a:ext cx="0" cy="64008"/>
          </a:xfrm>
          <a:prstGeom prst="line">
            <a:avLst/>
          </a:prstGeom>
          <a:ln w="127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41832" y="5385816"/>
            <a:ext cx="512064" cy="2103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111111"/>
                </a:solidFill>
                <a:latin typeface="Microsoft YaHei"/>
              </a:defRPr>
            </a:pPr>
            <a:r>
              <a:t>4000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033884" y="5285232"/>
            <a:ext cx="0" cy="64008"/>
          </a:xfrm>
          <a:prstGeom prst="line">
            <a:avLst/>
          </a:prstGeom>
          <a:ln w="127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786996" y="5385816"/>
            <a:ext cx="512064" cy="2103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111111"/>
                </a:solidFill>
                <a:latin typeface="Microsoft YaHei"/>
              </a:defRPr>
            </a:pPr>
            <a:r>
              <a:t>3500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79049" y="5285232"/>
            <a:ext cx="0" cy="64008"/>
          </a:xfrm>
          <a:prstGeom prst="line">
            <a:avLst/>
          </a:prstGeom>
          <a:ln w="127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632161" y="5385816"/>
            <a:ext cx="512064" cy="2103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111111"/>
                </a:solidFill>
                <a:latin typeface="Microsoft YaHei"/>
              </a:defRPr>
            </a:pPr>
            <a:r>
              <a:t>3000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24214" y="5285232"/>
            <a:ext cx="0" cy="64008"/>
          </a:xfrm>
          <a:prstGeom prst="line">
            <a:avLst/>
          </a:prstGeom>
          <a:ln w="127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477326" y="5385816"/>
            <a:ext cx="512064" cy="2103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111111"/>
                </a:solidFill>
                <a:latin typeface="Microsoft YaHei"/>
              </a:defRPr>
            </a:pPr>
            <a:r>
              <a:t>2500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69379" y="5285232"/>
            <a:ext cx="0" cy="64008"/>
          </a:xfrm>
          <a:prstGeom prst="line">
            <a:avLst/>
          </a:prstGeom>
          <a:ln w="127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322491" y="5385816"/>
            <a:ext cx="512064" cy="2103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111111"/>
                </a:solidFill>
                <a:latin typeface="Microsoft YaHei"/>
              </a:defRPr>
            </a:pPr>
            <a:r>
              <a:t>2000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14543" y="5285232"/>
            <a:ext cx="0" cy="64008"/>
          </a:xfrm>
          <a:prstGeom prst="line">
            <a:avLst/>
          </a:prstGeom>
          <a:ln w="127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167655" y="5385816"/>
            <a:ext cx="512064" cy="2103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111111"/>
                </a:solidFill>
                <a:latin typeface="Microsoft YaHei"/>
              </a:defRPr>
            </a:pPr>
            <a:r>
              <a:t>1500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259708" y="5285232"/>
            <a:ext cx="0" cy="64008"/>
          </a:xfrm>
          <a:prstGeom prst="line">
            <a:avLst/>
          </a:prstGeom>
          <a:ln w="127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012820" y="5385816"/>
            <a:ext cx="512064" cy="2103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111111"/>
                </a:solidFill>
                <a:latin typeface="Microsoft YaHei"/>
              </a:defRPr>
            </a:pPr>
            <a:r>
              <a:t>1000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04873" y="5285232"/>
            <a:ext cx="0" cy="64008"/>
          </a:xfrm>
          <a:prstGeom prst="line">
            <a:avLst/>
          </a:prstGeom>
          <a:ln w="127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7985" y="5385816"/>
            <a:ext cx="512064" cy="2103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111111"/>
                </a:solidFill>
                <a:latin typeface="Microsoft YaHei"/>
              </a:defRPr>
            </a:pPr>
            <a:r>
              <a:t>500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5586984"/>
            <a:ext cx="329184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111111"/>
                </a:solidFill>
                <a:latin typeface="Microsoft YaHei"/>
              </a:defRPr>
            </a:pPr>
            <a:r>
              <a:t>Wavenumber / cm⁻¹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1664208"/>
            <a:ext cx="3017520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11111"/>
                </a:solidFill>
                <a:latin typeface="Microsoft YaHei"/>
              </a:defRPr>
            </a:pPr>
            <a:r>
              <a:t>Transmittance (%)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89320" y="2039112"/>
            <a:ext cx="402336" cy="0"/>
          </a:xfrm>
          <a:prstGeom prst="line">
            <a:avLst/>
          </a:prstGeom>
          <a:ln w="25400">
            <a:solidFill>
              <a:srgbClr val="F18A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64808" y="1911095"/>
            <a:ext cx="64008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18A3C"/>
                </a:solidFill>
                <a:latin typeface="Microsoft YaHei"/>
              </a:defRPr>
            </a:pPr>
            <a:r>
              <a:t>12 h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89320" y="2331720"/>
            <a:ext cx="402336" cy="0"/>
          </a:xfrm>
          <a:prstGeom prst="line">
            <a:avLst/>
          </a:prstGeom>
          <a:ln w="25400">
            <a:solidFill>
              <a:srgbClr val="7C15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64808" y="2203703"/>
            <a:ext cx="64008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7C159F"/>
                </a:solidFill>
                <a:latin typeface="Microsoft YaHei"/>
              </a:defRPr>
            </a:pPr>
            <a:r>
              <a:t>24 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27264" y="1911095"/>
            <a:ext cx="3429000" cy="34747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03864"/>
                </a:solidFill>
                <a:latin typeface="Microsoft YaHei"/>
              </a:defRPr>
            </a:pPr>
            <a:r>
              <a:t>目前可以讨论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27264" y="2478024"/>
            <a:ext cx="146304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55864" y="2478024"/>
            <a:ext cx="3172968" cy="6309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约3451 cm⁻¹：O–H区域变化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27264" y="3172968"/>
            <a:ext cx="146304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55864" y="3172968"/>
            <a:ext cx="3172968" cy="6309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约2913 cm⁻¹：C–H区域变化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27264" y="3867912"/>
            <a:ext cx="146304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55864" y="3867912"/>
            <a:ext cx="3172968" cy="6309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指纹区与整体谱形存在差异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27264" y="4608576"/>
            <a:ext cx="3429000" cy="34747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03864"/>
                </a:solidFill>
                <a:latin typeface="Microsoft YaHei"/>
              </a:defRPr>
            </a:pPr>
            <a:r>
              <a:t>尚不能单凭此图确定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45552" y="5056632"/>
            <a:ext cx="3392424" cy="4937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A9262D"/>
                </a:solidFill>
                <a:latin typeface="Microsoft YaHei"/>
              </a:defRPr>
            </a:pPr>
            <a:r>
              <a:t>脱氯量、分子量下降</a:t>
            </a:r>
          </a:p>
          <a:p>
            <a:pPr>
              <a:spcAft>
                <a:spcPts val="600"/>
              </a:spcAft>
              <a:defRPr sz="1800" b="1">
                <a:solidFill>
                  <a:srgbClr val="A9262D"/>
                </a:solidFill>
                <a:latin typeface="Microsoft YaHei"/>
              </a:defRPr>
            </a:pPr>
            <a:r>
              <a:t>与主链断裂程度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5879592"/>
            <a:ext cx="1083564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6112" y="5934456"/>
            <a:ext cx="10506456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FT-IR 提供结构变化线索；基线、归一化、对照与分子量分析必须同步。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93192"/>
            <a:ext cx="164592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1207" y="393192"/>
            <a:ext cx="41148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804672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1111"/>
                </a:solidFill>
                <a:latin typeface="Microsoft YaHei"/>
              </a:defRPr>
            </a:pPr>
            <a:r>
              <a:t>工作假说：自由基反应网络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292608"/>
            <a:ext cx="269748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5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58952"/>
            <a:ext cx="3017520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869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24712"/>
            <a:ext cx="1092708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实线：一般文献过程；虚线：本体系待验证。统一以R·表示碳中心自由基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78408"/>
            <a:ext cx="8229600" cy="1737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50" b="0">
                <a:solidFill>
                  <a:srgbClr val="566273"/>
                </a:solidFill>
                <a:latin typeface="Microsoft YaHei"/>
              </a:defRPr>
            </a:pPr>
            <a:r>
              <a:t>06 / 机理假说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" y="6492240"/>
            <a:ext cx="11301984" cy="0"/>
          </a:xfrm>
          <a:prstGeom prst="line">
            <a:avLst/>
          </a:prstGeom>
          <a:ln w="508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56248"/>
            <a:ext cx="1056132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111111"/>
                </a:solidFill>
                <a:latin typeface="Arial"/>
              </a:defRPr>
            </a:pPr>
            <a:r>
              <a:t>Gardette et al., Macromolecules 1989, 22, 2576–2581. Chen et al., Environ. Sci. Ecotechnol. 2024, 22, 100449.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19104" y="6309360"/>
            <a:ext cx="630936" cy="44805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3968" y="6364224"/>
            <a:ext cx="512064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810512"/>
            <a:ext cx="2514600" cy="34747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203864"/>
                </a:solidFill>
                <a:latin typeface="Microsoft YaHei"/>
              </a:defRPr>
            </a:pPr>
            <a:r>
              <a:t>AQ 小循环</a:t>
            </a:r>
          </a:p>
        </p:txBody>
      </p:sp>
      <p:sp>
        <p:nvSpPr>
          <p:cNvPr id="14" name="Freeform 13"/>
          <p:cNvSpPr/>
          <p:nvPr/>
        </p:nvSpPr>
        <p:spPr>
          <a:xfrm>
            <a:off x="2396706" y="2786299"/>
            <a:ext cx="518136" cy="593910"/>
          </a:xfrm>
          <a:custGeom>
            <a:avLst/>
            <a:gdLst/>
            <a:ahLst/>
            <a:cxnLst/>
            <a:rect l="l" t="t" r="r" b="b"/>
            <a:pathLst>
              <a:path w="518136" h="593910">
                <a:moveTo>
                  <a:pt x="0" y="0"/>
                </a:moveTo>
                <a:lnTo>
                  <a:pt x="17683" y="7725"/>
                </a:lnTo>
                <a:lnTo>
                  <a:pt x="35184" y="15788"/>
                </a:lnTo>
                <a:lnTo>
                  <a:pt x="52495" y="24184"/>
                </a:lnTo>
                <a:lnTo>
                  <a:pt x="69608" y="32910"/>
                </a:lnTo>
                <a:lnTo>
                  <a:pt x="86516" y="41962"/>
                </a:lnTo>
                <a:lnTo>
                  <a:pt x="103212" y="51336"/>
                </a:lnTo>
                <a:lnTo>
                  <a:pt x="119689" y="61029"/>
                </a:lnTo>
                <a:lnTo>
                  <a:pt x="135938" y="71035"/>
                </a:lnTo>
                <a:lnTo>
                  <a:pt x="151952" y="81350"/>
                </a:lnTo>
                <a:lnTo>
                  <a:pt x="167726" y="91969"/>
                </a:lnTo>
                <a:lnTo>
                  <a:pt x="183251" y="102889"/>
                </a:lnTo>
                <a:lnTo>
                  <a:pt x="198521" y="114104"/>
                </a:lnTo>
                <a:lnTo>
                  <a:pt x="213529" y="125609"/>
                </a:lnTo>
                <a:lnTo>
                  <a:pt x="228268" y="137400"/>
                </a:lnTo>
                <a:lnTo>
                  <a:pt x="242732" y="149470"/>
                </a:lnTo>
                <a:lnTo>
                  <a:pt x="256915" y="161814"/>
                </a:lnTo>
                <a:lnTo>
                  <a:pt x="270810" y="174428"/>
                </a:lnTo>
                <a:lnTo>
                  <a:pt x="284411" y="187306"/>
                </a:lnTo>
                <a:lnTo>
                  <a:pt x="297713" y="200441"/>
                </a:lnTo>
                <a:lnTo>
                  <a:pt x="310708" y="213828"/>
                </a:lnTo>
                <a:lnTo>
                  <a:pt x="323392" y="227462"/>
                </a:lnTo>
                <a:lnTo>
                  <a:pt x="335759" y="241335"/>
                </a:lnTo>
                <a:lnTo>
                  <a:pt x="347803" y="255442"/>
                </a:lnTo>
                <a:lnTo>
                  <a:pt x="359519" y="269778"/>
                </a:lnTo>
                <a:lnTo>
                  <a:pt x="370902" y="284334"/>
                </a:lnTo>
                <a:lnTo>
                  <a:pt x="381947" y="299106"/>
                </a:lnTo>
                <a:lnTo>
                  <a:pt x="392649" y="314086"/>
                </a:lnTo>
                <a:lnTo>
                  <a:pt x="403004" y="329268"/>
                </a:lnTo>
                <a:lnTo>
                  <a:pt x="413005" y="344644"/>
                </a:lnTo>
                <a:lnTo>
                  <a:pt x="422651" y="360210"/>
                </a:lnTo>
                <a:lnTo>
                  <a:pt x="431935" y="375956"/>
                </a:lnTo>
                <a:lnTo>
                  <a:pt x="440854" y="391877"/>
                </a:lnTo>
                <a:lnTo>
                  <a:pt x="449404" y="407966"/>
                </a:lnTo>
                <a:lnTo>
                  <a:pt x="457581" y="424215"/>
                </a:lnTo>
                <a:lnTo>
                  <a:pt x="465382" y="440617"/>
                </a:lnTo>
                <a:lnTo>
                  <a:pt x="472803" y="457165"/>
                </a:lnTo>
                <a:lnTo>
                  <a:pt x="479840" y="473851"/>
                </a:lnTo>
                <a:lnTo>
                  <a:pt x="486492" y="490669"/>
                </a:lnTo>
                <a:lnTo>
                  <a:pt x="492754" y="507610"/>
                </a:lnTo>
                <a:lnTo>
                  <a:pt x="498624" y="524668"/>
                </a:lnTo>
                <a:lnTo>
                  <a:pt x="504100" y="541834"/>
                </a:lnTo>
                <a:lnTo>
                  <a:pt x="509179" y="559102"/>
                </a:lnTo>
                <a:lnTo>
                  <a:pt x="513858" y="576463"/>
                </a:lnTo>
                <a:lnTo>
                  <a:pt x="518136" y="593910"/>
                </a:lnTo>
              </a:path>
            </a:pathLst>
          </a:custGeom>
          <a:noFill/>
          <a:ln w="20320">
            <a:solidFill>
              <a:srgbClr val="20386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381894" y="3805646"/>
            <a:ext cx="512575" cy="528241"/>
          </a:xfrm>
          <a:custGeom>
            <a:avLst/>
            <a:gdLst/>
            <a:ahLst/>
            <a:cxnLst/>
            <a:rect l="l" t="t" r="r" b="b"/>
            <a:pathLst>
              <a:path w="512575" h="528241">
                <a:moveTo>
                  <a:pt x="512575" y="0"/>
                </a:moveTo>
                <a:lnTo>
                  <a:pt x="507107" y="15759"/>
                </a:lnTo>
                <a:lnTo>
                  <a:pt x="501304" y="31417"/>
                </a:lnTo>
                <a:lnTo>
                  <a:pt x="495168" y="46970"/>
                </a:lnTo>
                <a:lnTo>
                  <a:pt x="488702" y="62411"/>
                </a:lnTo>
                <a:lnTo>
                  <a:pt x="481908" y="77735"/>
                </a:lnTo>
                <a:lnTo>
                  <a:pt x="474788" y="92936"/>
                </a:lnTo>
                <a:lnTo>
                  <a:pt x="467346" y="108007"/>
                </a:lnTo>
                <a:lnTo>
                  <a:pt x="459584" y="122944"/>
                </a:lnTo>
                <a:lnTo>
                  <a:pt x="451505" y="137740"/>
                </a:lnTo>
                <a:lnTo>
                  <a:pt x="443112" y="152390"/>
                </a:lnTo>
                <a:lnTo>
                  <a:pt x="434408" y="166889"/>
                </a:lnTo>
                <a:lnTo>
                  <a:pt x="425397" y="181231"/>
                </a:lnTo>
                <a:lnTo>
                  <a:pt x="416082" y="195410"/>
                </a:lnTo>
                <a:lnTo>
                  <a:pt x="406466" y="209422"/>
                </a:lnTo>
                <a:lnTo>
                  <a:pt x="396554" y="223261"/>
                </a:lnTo>
                <a:lnTo>
                  <a:pt x="386349" y="236921"/>
                </a:lnTo>
                <a:lnTo>
                  <a:pt x="375854" y="250398"/>
                </a:lnTo>
                <a:lnTo>
                  <a:pt x="365074" y="263687"/>
                </a:lnTo>
                <a:lnTo>
                  <a:pt x="354012" y="276782"/>
                </a:lnTo>
                <a:lnTo>
                  <a:pt x="342674" y="289678"/>
                </a:lnTo>
                <a:lnTo>
                  <a:pt x="331063" y="302371"/>
                </a:lnTo>
                <a:lnTo>
                  <a:pt x="319184" y="314856"/>
                </a:lnTo>
                <a:lnTo>
                  <a:pt x="307040" y="327128"/>
                </a:lnTo>
                <a:lnTo>
                  <a:pt x="294637" y="339183"/>
                </a:lnTo>
                <a:lnTo>
                  <a:pt x="281980" y="351015"/>
                </a:lnTo>
                <a:lnTo>
                  <a:pt x="269073" y="362621"/>
                </a:lnTo>
                <a:lnTo>
                  <a:pt x="255921" y="373997"/>
                </a:lnTo>
                <a:lnTo>
                  <a:pt x="242529" y="385136"/>
                </a:lnTo>
                <a:lnTo>
                  <a:pt x="228902" y="396037"/>
                </a:lnTo>
                <a:lnTo>
                  <a:pt x="215045" y="406694"/>
                </a:lnTo>
                <a:lnTo>
                  <a:pt x="200964" y="417103"/>
                </a:lnTo>
                <a:lnTo>
                  <a:pt x="186663" y="427261"/>
                </a:lnTo>
                <a:lnTo>
                  <a:pt x="172149" y="437164"/>
                </a:lnTo>
                <a:lnTo>
                  <a:pt x="157426" y="446807"/>
                </a:lnTo>
                <a:lnTo>
                  <a:pt x="142501" y="456188"/>
                </a:lnTo>
                <a:lnTo>
                  <a:pt x="127378" y="465302"/>
                </a:lnTo>
                <a:lnTo>
                  <a:pt x="112064" y="474147"/>
                </a:lnTo>
                <a:lnTo>
                  <a:pt x="96564" y="482719"/>
                </a:lnTo>
                <a:lnTo>
                  <a:pt x="80885" y="491014"/>
                </a:lnTo>
                <a:lnTo>
                  <a:pt x="65031" y="499030"/>
                </a:lnTo>
                <a:lnTo>
                  <a:pt x="49010" y="506764"/>
                </a:lnTo>
                <a:lnTo>
                  <a:pt x="32827" y="514212"/>
                </a:lnTo>
                <a:lnTo>
                  <a:pt x="16488" y="521372"/>
                </a:lnTo>
                <a:lnTo>
                  <a:pt x="0" y="528241"/>
                </a:lnTo>
              </a:path>
            </a:pathLst>
          </a:custGeom>
          <a:noFill/>
          <a:ln w="20320">
            <a:solidFill>
              <a:srgbClr val="20386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069874" y="2774226"/>
            <a:ext cx="568231" cy="1533641"/>
          </a:xfrm>
          <a:custGeom>
            <a:avLst/>
            <a:gdLst/>
            <a:ahLst/>
            <a:cxnLst/>
            <a:rect l="l" t="t" r="r" b="b"/>
            <a:pathLst>
              <a:path w="568231" h="1533641">
                <a:moveTo>
                  <a:pt x="494791" y="1533641"/>
                </a:moveTo>
                <a:lnTo>
                  <a:pt x="453243" y="1512238"/>
                </a:lnTo>
                <a:lnTo>
                  <a:pt x="412951" y="1488926"/>
                </a:lnTo>
                <a:lnTo>
                  <a:pt x="374019" y="1463765"/>
                </a:lnTo>
                <a:lnTo>
                  <a:pt x="336549" y="1436822"/>
                </a:lnTo>
                <a:lnTo>
                  <a:pt x="300640" y="1408167"/>
                </a:lnTo>
                <a:lnTo>
                  <a:pt x="266385" y="1377874"/>
                </a:lnTo>
                <a:lnTo>
                  <a:pt x="233874" y="1346024"/>
                </a:lnTo>
                <a:lnTo>
                  <a:pt x="203193" y="1312699"/>
                </a:lnTo>
                <a:lnTo>
                  <a:pt x="174421" y="1277987"/>
                </a:lnTo>
                <a:lnTo>
                  <a:pt x="147635" y="1241978"/>
                </a:lnTo>
                <a:lnTo>
                  <a:pt x="122903" y="1204768"/>
                </a:lnTo>
                <a:lnTo>
                  <a:pt x="100291" y="1166453"/>
                </a:lnTo>
                <a:lnTo>
                  <a:pt x="79858" y="1127134"/>
                </a:lnTo>
                <a:lnTo>
                  <a:pt x="61657" y="1086913"/>
                </a:lnTo>
                <a:lnTo>
                  <a:pt x="45737" y="1045896"/>
                </a:lnTo>
                <a:lnTo>
                  <a:pt x="32138" y="1004190"/>
                </a:lnTo>
                <a:lnTo>
                  <a:pt x="20897" y="961905"/>
                </a:lnTo>
                <a:lnTo>
                  <a:pt x="12042" y="919151"/>
                </a:lnTo>
                <a:lnTo>
                  <a:pt x="5598" y="876040"/>
                </a:lnTo>
                <a:lnTo>
                  <a:pt x="1580" y="832684"/>
                </a:lnTo>
                <a:lnTo>
                  <a:pt x="0" y="789199"/>
                </a:lnTo>
                <a:lnTo>
                  <a:pt x="861" y="745696"/>
                </a:lnTo>
                <a:lnTo>
                  <a:pt x="4162" y="702290"/>
                </a:lnTo>
                <a:lnTo>
                  <a:pt x="9893" y="659096"/>
                </a:lnTo>
                <a:lnTo>
                  <a:pt x="18039" y="616225"/>
                </a:lnTo>
                <a:lnTo>
                  <a:pt x="28580" y="573790"/>
                </a:lnTo>
                <a:lnTo>
                  <a:pt x="41488" y="531902"/>
                </a:lnTo>
                <a:lnTo>
                  <a:pt x="56729" y="490671"/>
                </a:lnTo>
                <a:lnTo>
                  <a:pt x="74262" y="450204"/>
                </a:lnTo>
                <a:lnTo>
                  <a:pt x="94043" y="410609"/>
                </a:lnTo>
                <a:lnTo>
                  <a:pt x="116019" y="371987"/>
                </a:lnTo>
                <a:lnTo>
                  <a:pt x="140133" y="334441"/>
                </a:lnTo>
                <a:lnTo>
                  <a:pt x="166321" y="298069"/>
                </a:lnTo>
                <a:lnTo>
                  <a:pt x="194516" y="262965"/>
                </a:lnTo>
                <a:lnTo>
                  <a:pt x="224643" y="229223"/>
                </a:lnTo>
                <a:lnTo>
                  <a:pt x="256623" y="196929"/>
                </a:lnTo>
                <a:lnTo>
                  <a:pt x="290373" y="166169"/>
                </a:lnTo>
                <a:lnTo>
                  <a:pt x="325805" y="137023"/>
                </a:lnTo>
                <a:lnTo>
                  <a:pt x="362825" y="109568"/>
                </a:lnTo>
                <a:lnTo>
                  <a:pt x="401336" y="83875"/>
                </a:lnTo>
                <a:lnTo>
                  <a:pt x="441239" y="60012"/>
                </a:lnTo>
                <a:lnTo>
                  <a:pt x="482428" y="38041"/>
                </a:lnTo>
                <a:lnTo>
                  <a:pt x="524796" y="18019"/>
                </a:lnTo>
                <a:lnTo>
                  <a:pt x="568231" y="0"/>
                </a:lnTo>
              </a:path>
            </a:pathLst>
          </a:custGeom>
          <a:noFill/>
          <a:ln w="20320">
            <a:solidFill>
              <a:srgbClr val="20386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53896" y="2459736"/>
            <a:ext cx="109728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500" b="1">
                <a:solidFill>
                  <a:srgbClr val="203864"/>
                </a:solidFill>
                <a:latin typeface="Microsoft YaHei"/>
              </a:defRPr>
            </a:pPr>
            <a:r>
              <a:t>AQ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337560"/>
            <a:ext cx="868680" cy="4023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203864"/>
                </a:solidFill>
                <a:latin typeface="Microsoft YaHei"/>
              </a:defRPr>
            </a:pPr>
            <a:r>
              <a:t>AQ*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" y="4407408"/>
            <a:ext cx="210312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203864"/>
                </a:solidFill>
                <a:latin typeface="Microsoft YaHei"/>
              </a:defRPr>
            </a:pPr>
            <a:r>
              <a:t>AQH· / AHQ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2734056"/>
            <a:ext cx="530352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1111"/>
                </a:solidFill>
                <a:latin typeface="Microsoft YaHei"/>
              </a:defRPr>
            </a:pPr>
            <a:r>
              <a:t>hν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7208" y="3986784"/>
            <a:ext cx="658368" cy="5029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111111"/>
                </a:solidFill>
                <a:latin typeface="Microsoft YaHei"/>
              </a:defRPr>
            </a:pPr>
            <a:r>
              <a:t>R–H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111111"/>
                </a:solidFill>
                <a:latin typeface="Microsoft YaHei"/>
              </a:defRPr>
            </a:pPr>
            <a:r>
              <a:t>攫氢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18688"/>
            <a:ext cx="484632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11111"/>
                </a:solidFill>
                <a:latin typeface="Microsoft YaHei"/>
              </a:defRPr>
            </a:pPr>
            <a:r>
              <a:t>O₂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" y="3767328"/>
            <a:ext cx="640080" cy="4937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566273"/>
                </a:solidFill>
                <a:latin typeface="Microsoft YaHei"/>
              </a:defRPr>
            </a:pPr>
            <a:r>
              <a:t>再氧化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566273"/>
                </a:solidFill>
                <a:latin typeface="Microsoft YaHei"/>
              </a:defRPr>
            </a:pPr>
            <a:r>
              <a:t>恢复AQ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3383280"/>
            <a:ext cx="1216152" cy="5029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111111"/>
                </a:solidFill>
                <a:latin typeface="Microsoft YaHei"/>
              </a:defRPr>
            </a:pPr>
            <a:r>
              <a:t>攫氢</a:t>
            </a:r>
          </a:p>
          <a:p>
            <a:pPr algn="ctr">
              <a:spcAft>
                <a:spcPts val="600"/>
              </a:spcAft>
              <a:defRPr sz="1600" b="1">
                <a:solidFill>
                  <a:srgbClr val="111111"/>
                </a:solidFill>
                <a:latin typeface="Microsoft YaHei"/>
              </a:defRPr>
            </a:pPr>
            <a:r>
              <a:t>再生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010912"/>
            <a:ext cx="2670048" cy="5486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66273"/>
                </a:solidFill>
                <a:latin typeface="Microsoft YaHei"/>
              </a:defRPr>
            </a:pPr>
            <a:r>
              <a:t>AQ类一般过程；</a:t>
            </a:r>
          </a:p>
          <a:p>
            <a:pPr>
              <a:spcAft>
                <a:spcPts val="600"/>
              </a:spcAft>
              <a:defRPr sz="1200" b="0">
                <a:solidFill>
                  <a:srgbClr val="566273"/>
                </a:solidFill>
                <a:latin typeface="Microsoft YaHei"/>
              </a:defRPr>
            </a:pPr>
            <a:r>
              <a:t>本实验EAQ的具体中间体待确认。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758184" y="1837943"/>
            <a:ext cx="0" cy="3703321"/>
          </a:xfrm>
          <a:prstGeom prst="line">
            <a:avLst/>
          </a:prstGeom>
          <a:ln w="12700">
            <a:solidFill>
              <a:srgbClr val="D5DE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4983480" y="2075688"/>
            <a:ext cx="5212079" cy="182880"/>
          </a:xfrm>
          <a:custGeom>
            <a:avLst/>
            <a:gdLst/>
            <a:ahLst/>
            <a:cxnLst/>
            <a:rect l="l" t="t" r="r" b="b"/>
            <a:pathLst>
              <a:path w="5212079" h="182880">
                <a:moveTo>
                  <a:pt x="0" y="0"/>
                </a:moveTo>
                <a:lnTo>
                  <a:pt x="521208" y="182880"/>
                </a:lnTo>
                <a:lnTo>
                  <a:pt x="1042416" y="0"/>
                </a:lnTo>
                <a:lnTo>
                  <a:pt x="1563624" y="182880"/>
                </a:lnTo>
                <a:lnTo>
                  <a:pt x="2084832" y="0"/>
                </a:lnTo>
                <a:lnTo>
                  <a:pt x="2606040" y="182880"/>
                </a:lnTo>
                <a:lnTo>
                  <a:pt x="3127248" y="0"/>
                </a:lnTo>
                <a:lnTo>
                  <a:pt x="3648456" y="182880"/>
                </a:lnTo>
                <a:lnTo>
                  <a:pt x="4169664" y="0"/>
                </a:lnTo>
                <a:lnTo>
                  <a:pt x="4690872" y="182880"/>
                </a:lnTo>
                <a:lnTo>
                  <a:pt x="5212079" y="0"/>
                </a:lnTo>
              </a:path>
            </a:pathLst>
          </a:custGeom>
          <a:noFill/>
          <a:ln w="2286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5504688" y="2258568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376672" y="2660904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47104" y="2258568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19088" y="2660904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589520" y="2258568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461504" y="2660904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631936" y="2258568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503919" y="2660904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674352" y="2258568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546336" y="2660904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36592" y="2048256"/>
            <a:ext cx="27432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2048256"/>
            <a:ext cx="27432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2907792"/>
            <a:ext cx="2395728" cy="3200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03864"/>
                </a:solidFill>
                <a:latin typeface="Microsoft YaHei"/>
              </a:defRPr>
            </a:pPr>
            <a:r>
              <a:t>AQ* 攫氢？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2907792"/>
            <a:ext cx="2240280" cy="3200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03864"/>
                </a:solidFill>
                <a:latin typeface="Microsoft YaHei"/>
              </a:defRPr>
            </a:pPr>
            <a:r>
              <a:t>C–Cl 活化？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5916168" y="2743200"/>
            <a:ext cx="484632" cy="576072"/>
          </a:xfrm>
          <a:prstGeom prst="line">
            <a:avLst/>
          </a:prstGeom>
          <a:ln w="17780">
            <a:solidFill>
              <a:srgbClr val="20386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857232" y="2743200"/>
            <a:ext cx="512064" cy="576072"/>
          </a:xfrm>
          <a:prstGeom prst="line">
            <a:avLst/>
          </a:prstGeom>
          <a:ln w="17780">
            <a:solidFill>
              <a:srgbClr val="20386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349240" y="3456432"/>
            <a:ext cx="1188720" cy="4389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111111"/>
                </a:solidFill>
                <a:latin typeface="Microsoft YaHei"/>
              </a:defRPr>
            </a:pPr>
            <a:r>
              <a:t>R·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57232" y="3456432"/>
            <a:ext cx="1554480" cy="4389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A9262D"/>
                </a:solidFill>
                <a:latin typeface="Microsoft YaHei"/>
              </a:defRPr>
            </a:pPr>
            <a:r>
              <a:t>Cl· ?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6830568" y="3675887"/>
            <a:ext cx="2697480" cy="0"/>
          </a:xfrm>
          <a:prstGeom prst="line">
            <a:avLst/>
          </a:prstGeom>
          <a:ln w="17780">
            <a:solidFill>
              <a:srgbClr val="A9262D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360920" y="3282696"/>
            <a:ext cx="1645920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A9262D"/>
                </a:solidFill>
                <a:latin typeface="Microsoft YaHei"/>
              </a:defRPr>
            </a:pPr>
            <a:r>
              <a:t>HAT？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86016" y="3840480"/>
            <a:ext cx="2560320" cy="24688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566273"/>
                </a:solidFill>
                <a:latin typeface="Microsoft YaHei"/>
              </a:defRPr>
            </a:pPr>
            <a:r>
              <a:t>R–H → R· + HCl ?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925312" y="3995928"/>
            <a:ext cx="0" cy="310896"/>
          </a:xfrm>
          <a:prstGeom prst="line">
            <a:avLst/>
          </a:prstGeom>
          <a:ln w="1778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190488" y="4023360"/>
            <a:ext cx="82296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11111"/>
                </a:solidFill>
                <a:latin typeface="Microsoft YaHei"/>
              </a:defRPr>
            </a:pPr>
            <a:r>
              <a:t>+ O₂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56632" y="4462272"/>
            <a:ext cx="169164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111111"/>
                </a:solidFill>
                <a:latin typeface="Microsoft YaHei"/>
              </a:defRPr>
            </a:pPr>
            <a:r>
              <a:t>ROO·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839712" y="4654296"/>
            <a:ext cx="429768" cy="0"/>
          </a:xfrm>
          <a:prstGeom prst="line">
            <a:avLst/>
          </a:prstGeom>
          <a:ln w="16510">
            <a:solidFill>
              <a:srgbClr val="20386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351775" y="4462272"/>
            <a:ext cx="182880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111111"/>
                </a:solidFill>
                <a:latin typeface="Microsoft YaHei"/>
              </a:defRPr>
            </a:pPr>
            <a:r>
              <a:t>ROOH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226296" y="4654296"/>
            <a:ext cx="429768" cy="0"/>
          </a:xfrm>
          <a:prstGeom prst="line">
            <a:avLst/>
          </a:prstGeom>
          <a:ln w="16510">
            <a:solidFill>
              <a:srgbClr val="20386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784080" y="4462272"/>
            <a:ext cx="164592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111111"/>
                </a:solidFill>
                <a:latin typeface="Microsoft YaHei"/>
              </a:defRPr>
            </a:pPr>
            <a:r>
              <a:t>RO·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99432" y="5266944"/>
            <a:ext cx="6784848" cy="3200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R¹–CH(O·)–CH₂–R²  →  R¹–CHO + ·CH₂–R²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23960" y="4937760"/>
            <a:ext cx="2377440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203864"/>
                </a:solidFill>
                <a:latin typeface="Microsoft YaHei"/>
              </a:defRPr>
            </a:pPr>
            <a:r>
              <a:t>后续β-裂解？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" y="5879592"/>
            <a:ext cx="1083564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6112" y="5934456"/>
            <a:ext cx="10506456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关键问题：Cl· 是否参与？氧化是否带来真实C–C断裂？两者均需独立证据。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93192"/>
            <a:ext cx="164592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1207" y="393192"/>
            <a:ext cx="41148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804672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1111"/>
                </a:solidFill>
                <a:latin typeface="Microsoft YaHei"/>
              </a:defRPr>
            </a:pPr>
            <a:r>
              <a:t>关键验证：反应必要条件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292608"/>
            <a:ext cx="269748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5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58952"/>
            <a:ext cx="3017520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869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24712"/>
            <a:ext cx="1092708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所有组使用同一套底物/产物定量方法，并检查分析干扰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78408"/>
            <a:ext cx="8229600" cy="1737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50" b="0">
                <a:solidFill>
                  <a:srgbClr val="566273"/>
                </a:solidFill>
                <a:latin typeface="Microsoft YaHei"/>
              </a:defRPr>
            </a:pPr>
            <a:r>
              <a:t>07 / 关键对照实验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" y="6492240"/>
            <a:ext cx="11301984" cy="0"/>
          </a:xfrm>
          <a:prstGeom prst="line">
            <a:avLst/>
          </a:prstGeom>
          <a:ln w="508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56248"/>
            <a:ext cx="1056132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111111"/>
                </a:solidFill>
                <a:latin typeface="Arial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11119104" y="6309360"/>
            <a:ext cx="630936" cy="44805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3968" y="6364224"/>
            <a:ext cx="512064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16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14400" y="1828800"/>
          <a:ext cx="10341864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840480"/>
                <a:gridCol w="3666744"/>
              </a:tblGrid>
              <a:tr h="50292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实验组合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要回答的问题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必须同步控制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光照 / 暗反应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反应是否真正光驱动？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温度、时间与取样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有 / 无EAQ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光敏组分是否必要？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吸光、背景光解与EAQ稳定性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有 / 无底物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DCE自身能否产生相同产物？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溶剂、气氛与光照相同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DCE / 非氯溶剂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介质参与还是物理性质改变？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溶解性、吸收与浓度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O₂ / N₂ / 空气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氧改变了速率还是产物路径？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进气、传质与残余氧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不同波长 / 光通量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实际吸光者及光照依赖？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吸收光谱与有效光通量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31520" y="5879592"/>
            <a:ext cx="1083564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5934456"/>
            <a:ext cx="10506456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先确定必要条件和真实产物，再进入特定自由基与闭环机制归属。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93192"/>
            <a:ext cx="164592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1207" y="393192"/>
            <a:ext cx="41148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804672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1111"/>
                </a:solidFill>
                <a:latin typeface="Microsoft YaHei"/>
              </a:defRPr>
            </a:pPr>
            <a:r>
              <a:t>关键验证：机制证据链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292608"/>
            <a:ext cx="269748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5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58952"/>
            <a:ext cx="3017520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869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24712"/>
            <a:ext cx="1092708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捕获剂抑制、EPR信号、FTIR变化和分子量下降应分别解释，再交叉验证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78408"/>
            <a:ext cx="8229600" cy="1737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50" b="0">
                <a:solidFill>
                  <a:srgbClr val="566273"/>
                </a:solidFill>
                <a:latin typeface="Microsoft YaHei"/>
              </a:defRPr>
            </a:pPr>
            <a:r>
              <a:t>07 / 机制证据链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" y="6492240"/>
            <a:ext cx="11301984" cy="0"/>
          </a:xfrm>
          <a:prstGeom prst="line">
            <a:avLst/>
          </a:prstGeom>
          <a:ln w="508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56248"/>
            <a:ext cx="1056132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111111"/>
                </a:solidFill>
                <a:latin typeface="Arial"/>
              </a:defRPr>
            </a:pPr>
            <a:r>
              <a:t>Gardette et al., Macromolecules 1989, 22, 2576–2581. Qin et al., Appl. Catal. B: Environ. 2024, 341, 123355. Su et al., Angew. Chem. Int. Ed. 2026, e5578835.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19104" y="6309360"/>
            <a:ext cx="630936" cy="44805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3968" y="6364224"/>
            <a:ext cx="512064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17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14400" y="1828800"/>
          <a:ext cx="10341864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114800"/>
                <a:gridCol w="4032504"/>
              </a:tblGrid>
              <a:tr h="509451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待证明的环节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优先证据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主要局限 / 补充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Cl·与其他自由基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EPR自旋捕获 + 合理化学捕获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捕获剂改变吸光；信号需归属与空白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R·与氧化路径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氧气依赖、产物及探针交叉验证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单一猝灭剂不具绝对选择性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含氯结构转化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Cl⁻、总氯/有机氯与回收率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考虑固、液、气相；注意分析背景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C–C链断裂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SEC/GPC + 可溶/不溶组分平衡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仅测可溶部分可能产生偏差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产物来源与价值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GC-MS/NMR/标准品及定量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结构鉴别与收率不能混为一谈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AQ是否再生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组分随时间变化、稳定性与对照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不能仅因反应持续就认定催化周转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31520" y="5879592"/>
            <a:ext cx="1083564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5934456"/>
            <a:ext cx="10506456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每一个机制箭头都要有可观测量；不能用一个阳性结果证明整张机理图。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93192"/>
            <a:ext cx="164592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1207" y="393192"/>
            <a:ext cx="41148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804672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1111"/>
                </a:solidFill>
                <a:latin typeface="Microsoft YaHei"/>
              </a:defRPr>
            </a:pPr>
            <a:r>
              <a:t>下一阶段实验计划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292608"/>
            <a:ext cx="269748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5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58952"/>
            <a:ext cx="3017520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869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24712"/>
            <a:ext cx="1092708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不预设完成日期；以可复核的阶段结果作为推进判据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78408"/>
            <a:ext cx="8229600" cy="1737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50" b="0">
                <a:solidFill>
                  <a:srgbClr val="566273"/>
                </a:solidFill>
                <a:latin typeface="Microsoft YaHei"/>
              </a:defRPr>
            </a:pPr>
            <a:r>
              <a:t>08 / 下一步计划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" y="6492240"/>
            <a:ext cx="11301984" cy="0"/>
          </a:xfrm>
          <a:prstGeom prst="line">
            <a:avLst/>
          </a:prstGeom>
          <a:ln w="508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56248"/>
            <a:ext cx="1056132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111111"/>
                </a:solidFill>
                <a:latin typeface="Arial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11119104" y="6309360"/>
            <a:ext cx="630936" cy="44805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3968" y="6364224"/>
            <a:ext cx="512064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828800"/>
            <a:ext cx="3044952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203864"/>
                </a:solidFill>
                <a:latin typeface="Microsoft YaHei"/>
              </a:defRPr>
            </a:pPr>
            <a:r>
              <a:t>阶段一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2340864"/>
            <a:ext cx="3017520" cy="0"/>
          </a:xfrm>
          <a:prstGeom prst="line">
            <a:avLst/>
          </a:prstGeom>
          <a:ln w="22860">
            <a:solidFill>
              <a:srgbClr val="426B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2660904"/>
            <a:ext cx="3044952" cy="6400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111111"/>
                </a:solidFill>
                <a:latin typeface="Microsoft YaHei"/>
              </a:defRPr>
            </a:pPr>
            <a:r>
              <a:t>核查现有模型数据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48456"/>
            <a:ext cx="3044952" cy="1033271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重审峰归属、内标与校准</a:t>
            </a:r>
          </a:p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无底物DCE及暗反应空白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937760"/>
            <a:ext cx="3044952" cy="56692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4" y="5047488"/>
            <a:ext cx="2843784" cy="3657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03864"/>
                </a:solidFill>
                <a:latin typeface="Microsoft YaHei"/>
              </a:defRPr>
            </a:pPr>
            <a:r>
              <a:t>可重复的底物消耗与产物对应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1828800"/>
            <a:ext cx="3044952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203864"/>
                </a:solidFill>
                <a:latin typeface="Microsoft YaHei"/>
              </a:defRPr>
            </a:pPr>
            <a:r>
              <a:t>阶段二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25696" y="2340864"/>
            <a:ext cx="3017520" cy="0"/>
          </a:xfrm>
          <a:prstGeom prst="line">
            <a:avLst/>
          </a:prstGeom>
          <a:ln w="22860">
            <a:solidFill>
              <a:srgbClr val="426B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425696" y="2660904"/>
            <a:ext cx="3044952" cy="6400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111111"/>
                </a:solidFill>
                <a:latin typeface="Microsoft YaHei"/>
              </a:defRPr>
            </a:pPr>
            <a:r>
              <a:t>优化与扩大底物范围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3648456"/>
            <a:ext cx="3044952" cy="1033271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2-氯己烷等模型</a:t>
            </a:r>
          </a:p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介质、气氛、波长与时间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25696" y="4937760"/>
            <a:ext cx="3044952" cy="56692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5047488"/>
            <a:ext cx="2843784" cy="3657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03864"/>
                </a:solidFill>
                <a:latin typeface="Microsoft YaHei"/>
              </a:defRPr>
            </a:pPr>
            <a:r>
              <a:t>排除溶剂主导的表观转化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1828800"/>
            <a:ext cx="3044952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203864"/>
                </a:solidFill>
                <a:latin typeface="Microsoft YaHei"/>
              </a:defRPr>
            </a:pPr>
            <a:r>
              <a:t>阶段三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36992" y="2340864"/>
            <a:ext cx="3017520" cy="0"/>
          </a:xfrm>
          <a:prstGeom prst="line">
            <a:avLst/>
          </a:prstGeom>
          <a:ln w="22860">
            <a:solidFill>
              <a:srgbClr val="426B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936992" y="2660904"/>
            <a:ext cx="3044952" cy="6400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111111"/>
                </a:solidFill>
                <a:latin typeface="Microsoft YaHei"/>
              </a:defRPr>
            </a:pPr>
            <a:r>
              <a:t>PVC与机制证据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3648456"/>
            <a:ext cx="3044952" cy="1033271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氯代石蜡 → PVC</a:t>
            </a:r>
          </a:p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EPR、氯平衡、SEC与产物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36992" y="4937760"/>
            <a:ext cx="3044952" cy="56692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37575" y="5047488"/>
            <a:ext cx="2843784" cy="3657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03864"/>
                </a:solidFill>
                <a:latin typeface="Microsoft YaHei"/>
              </a:defRPr>
            </a:pPr>
            <a:r>
              <a:t>同时回答氯去向与链长变化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879592"/>
            <a:ext cx="1083564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934456"/>
            <a:ext cx="10506456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近期最重要的结果：把现有色谱和溶剂空白讲清楚，而不是追求更高表观转化率。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93192"/>
            <a:ext cx="164592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1207" y="393192"/>
            <a:ext cx="41148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804672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1111"/>
                </a:solidFill>
                <a:latin typeface="Microsoft YaHei"/>
              </a:defRPr>
            </a:pPr>
            <a:r>
              <a:t>阶段总结与讨论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292608"/>
            <a:ext cx="269748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5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58952"/>
            <a:ext cx="3017520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869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24712"/>
            <a:ext cx="1092708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目前是机制探索与分析方法完善阶段，尚未建立经充分验证的PVC降解体系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78408"/>
            <a:ext cx="8229600" cy="1737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50" b="0">
                <a:solidFill>
                  <a:srgbClr val="566273"/>
                </a:solidFill>
                <a:latin typeface="Microsoft YaHei"/>
              </a:defRPr>
            </a:pPr>
            <a:r>
              <a:t>研究认识与证据边界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" y="6492240"/>
            <a:ext cx="11301984" cy="0"/>
          </a:xfrm>
          <a:prstGeom prst="line">
            <a:avLst/>
          </a:prstGeom>
          <a:ln w="508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56248"/>
            <a:ext cx="1056132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111111"/>
                </a:solidFill>
                <a:latin typeface="Arial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11119104" y="6309360"/>
            <a:ext cx="630936" cy="44805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3968" y="6364224"/>
            <a:ext cx="512064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1636776" cy="65836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020824"/>
            <a:ext cx="1417320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t>研究依据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2" y="1874519"/>
            <a:ext cx="8275320" cy="9052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11111"/>
                </a:solidFill>
                <a:latin typeface="Microsoft YaHei"/>
              </a:defRPr>
            </a:pPr>
            <a:r>
              <a:t>PVC光氧化与含氯介质的自由基反应具有文献基础；</a:t>
            </a:r>
          </a:p>
          <a:p>
            <a:pPr>
              <a:spcAft>
                <a:spcPts val="600"/>
              </a:spcAft>
              <a:defRPr sz="2000" b="0">
                <a:solidFill>
                  <a:srgbClr val="111111"/>
                </a:solidFill>
                <a:latin typeface="Microsoft YaHei"/>
              </a:defRPr>
            </a:pPr>
            <a:r>
              <a:t>AQ可作为候选光敏入口，但不同材料和介质不能照搬。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072384"/>
            <a:ext cx="1636776" cy="65836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236976"/>
            <a:ext cx="1417320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t>已有线索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3090672"/>
            <a:ext cx="8275320" cy="9052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11111"/>
                </a:solidFill>
                <a:latin typeface="Microsoft YaHei"/>
              </a:defRPr>
            </a:pPr>
            <a:r>
              <a:t>模型实验记录了转化与候选产物；PVC红外谱形改变。</a:t>
            </a:r>
          </a:p>
          <a:p>
            <a:pPr>
              <a:spcAft>
                <a:spcPts val="600"/>
              </a:spcAft>
              <a:defRPr sz="2000" b="0">
                <a:solidFill>
                  <a:srgbClr val="111111"/>
                </a:solidFill>
                <a:latin typeface="Microsoft YaHei"/>
              </a:defRPr>
            </a:pPr>
            <a:r>
              <a:t>目前尚不足以确认产物来源、Cl·主导或有效C–C断裂。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288536"/>
            <a:ext cx="1636776" cy="65836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453127"/>
            <a:ext cx="1417320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t>优先任务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62072" y="4306823"/>
            <a:ext cx="8275320" cy="9052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11111"/>
                </a:solidFill>
                <a:latin typeface="Microsoft YaHei"/>
              </a:defRPr>
            </a:pPr>
            <a:r>
              <a:t>先核对定量与溶剂竞争，再以R自由基、氯去向、</a:t>
            </a:r>
          </a:p>
          <a:p>
            <a:pPr>
              <a:spcAft>
                <a:spcPts val="600"/>
              </a:spcAft>
              <a:defRPr sz="2000" b="0">
                <a:solidFill>
                  <a:srgbClr val="111111"/>
                </a:solidFill>
                <a:latin typeface="Microsoft YaHei"/>
              </a:defRPr>
            </a:pPr>
            <a:r>
              <a:t>分子量和产物组成验证工作假说。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879592"/>
            <a:ext cx="1083564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934456"/>
            <a:ext cx="10506456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讨论重点：哪一组实验最能区分“溶剂副反应”与“PVC真正断链”？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" y="393192"/>
            <a:ext cx="164592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1207" y="393192"/>
            <a:ext cx="41148" cy="4754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4"/>
            <a:ext cx="804672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1111"/>
                </a:solidFill>
                <a:latin typeface="Microsoft YaHei"/>
              </a:defRPr>
            </a:pPr>
            <a:r>
              <a:t>主要参考文献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292608"/>
            <a:ext cx="269748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5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58952"/>
            <a:ext cx="3017520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869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24712"/>
            <a:ext cx="10927080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前六篇已取得用户上传全文；第七篇为新增参考图与已读论文的交叉引文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78408"/>
            <a:ext cx="8229600" cy="1737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50" b="0">
                <a:solidFill>
                  <a:srgbClr val="566273"/>
                </a:solidFill>
                <a:latin typeface="Microsoft YaHei"/>
              </a:defRPr>
            </a:pPr>
            <a:r>
              <a:t>参考文献与来源说明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" y="6492240"/>
            <a:ext cx="11301984" cy="0"/>
          </a:xfrm>
          <a:prstGeom prst="line">
            <a:avLst/>
          </a:prstGeom>
          <a:ln w="508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556248"/>
            <a:ext cx="1056132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111111"/>
                </a:solidFill>
                <a:latin typeface="Arial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11119104" y="6309360"/>
            <a:ext cx="630936" cy="44805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3968" y="6364224"/>
            <a:ext cx="512064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773936"/>
            <a:ext cx="402336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03864"/>
                </a:solidFill>
                <a:latin typeface="Microsoft YaHei"/>
              </a:defRPr>
            </a:pPr>
            <a:r>
              <a:t>[1]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1773936"/>
            <a:ext cx="996696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66273"/>
                </a:solidFill>
                <a:latin typeface="Microsoft YaHei"/>
              </a:defRPr>
            </a:pPr>
            <a:r>
              <a:t>Xu, S.; Han, Z.; et al. Nat. Rev. Methods Primers 2023, 3, 44.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1947672"/>
            <a:ext cx="9966960" cy="2103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030" b="1">
                <a:solidFill>
                  <a:srgbClr val="111111"/>
                </a:solidFill>
                <a:latin typeface="Microsoft YaHei"/>
              </a:defRPr>
            </a:pPr>
            <a:r>
              <a:t>Upcycling chlorinated waste plastics.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139696"/>
            <a:ext cx="996696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80" b="0">
                <a:solidFill>
                  <a:srgbClr val="203864"/>
                </a:solidFill>
                <a:latin typeface="Microsoft YaHei"/>
              </a:defRPr>
            </a:pPr>
            <a:r>
              <a:rPr>
                <a:hlinkClick r:id="rId2"/>
              </a:rPr>
              <a:t>https://doi.org/10.1038/s43586-023-00227-w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2313432"/>
            <a:ext cx="402336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03864"/>
                </a:solidFill>
                <a:latin typeface="Microsoft YaHei"/>
              </a:defRPr>
            </a:pPr>
            <a:r>
              <a:t>[2]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2313432"/>
            <a:ext cx="996696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66273"/>
                </a:solidFill>
                <a:latin typeface="Microsoft YaHei"/>
              </a:defRPr>
            </a:pPr>
            <a:r>
              <a:t>Gardette, J.-L.; Gaumet, S.; Lemaire, J. Macromolecules 1989, 22, 2576–2581.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487168"/>
            <a:ext cx="9966960" cy="2103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030" b="1">
                <a:solidFill>
                  <a:srgbClr val="111111"/>
                </a:solidFill>
                <a:latin typeface="Microsoft YaHei"/>
              </a:defRPr>
            </a:pPr>
            <a:r>
              <a:t>Photooxidation of poly(vinyl chloride). 1. A reexamination of the mechanism.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2679191"/>
            <a:ext cx="996696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80" b="0">
                <a:solidFill>
                  <a:srgbClr val="203864"/>
                </a:solidFill>
                <a:latin typeface="Microsoft YaHei"/>
              </a:defRPr>
            </a:pPr>
            <a:r>
              <a:rPr>
                <a:hlinkClick r:id="rId3"/>
              </a:rPr>
              <a:t>https://doi.org/10.1021/ma00196a005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2852928"/>
            <a:ext cx="402336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03864"/>
                </a:solidFill>
                <a:latin typeface="Microsoft YaHei"/>
              </a:defRPr>
            </a:pPr>
            <a:r>
              <a:t>[3]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2852928"/>
            <a:ext cx="996696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66273"/>
                </a:solidFill>
                <a:latin typeface="Microsoft YaHei"/>
              </a:defRPr>
            </a:pPr>
            <a:r>
              <a:t>Huang, Z.; Wang, H. J. Polym. Sci. 2024, 62, 969–997.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026664"/>
            <a:ext cx="9966960" cy="2103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030" b="1">
                <a:solidFill>
                  <a:srgbClr val="111111"/>
                </a:solidFill>
                <a:latin typeface="Microsoft YaHei"/>
              </a:defRPr>
            </a:pPr>
            <a:r>
              <a:t>A review on photochemical effects of common plastics and their related applications.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3218688"/>
            <a:ext cx="996696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80" b="0">
                <a:solidFill>
                  <a:srgbClr val="203864"/>
                </a:solidFill>
                <a:latin typeface="Microsoft YaHei"/>
              </a:defRPr>
            </a:pPr>
            <a:r>
              <a:rPr>
                <a:hlinkClick r:id="rId4"/>
              </a:rPr>
              <a:t>https://doi.org/10.1002/pol.20230322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3392424"/>
            <a:ext cx="402336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03864"/>
                </a:solidFill>
                <a:latin typeface="Microsoft YaHei"/>
              </a:defRPr>
            </a:pPr>
            <a:r>
              <a:t>[4]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3392424"/>
            <a:ext cx="996696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66273"/>
                </a:solidFill>
                <a:latin typeface="Microsoft YaHei"/>
              </a:defRPr>
            </a:pPr>
            <a:r>
              <a:t>Chen, C.-X.; Yang, S.-S.; et al. Environ. Sci. Ecotechnol. 2024, 22, 100449.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3566160"/>
            <a:ext cx="9966960" cy="2103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030" b="1">
                <a:solidFill>
                  <a:srgbClr val="111111"/>
                </a:solidFill>
                <a:latin typeface="Microsoft YaHei"/>
              </a:defRPr>
            </a:pPr>
            <a:r>
              <a:t>Anthraquinones-based photocatalysis: A comprehensive review.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3758184"/>
            <a:ext cx="996696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80" b="0">
                <a:solidFill>
                  <a:srgbClr val="203864"/>
                </a:solidFill>
                <a:latin typeface="Microsoft YaHei"/>
              </a:defRPr>
            </a:pPr>
            <a:r>
              <a:rPr>
                <a:hlinkClick r:id="rId5"/>
              </a:rPr>
              <a:t>https://doi.org/10.1016/j.ese.2024.100449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3931920"/>
            <a:ext cx="402336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03864"/>
                </a:solidFill>
                <a:latin typeface="Microsoft YaHei"/>
              </a:defRPr>
            </a:pPr>
            <a:r>
              <a:t>[5]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3931920"/>
            <a:ext cx="996696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66273"/>
                </a:solidFill>
                <a:latin typeface="Microsoft YaHei"/>
              </a:defRPr>
            </a:pPr>
            <a:r>
              <a:t>Qin, J.; Dou, Y.; et al. Appl. Catal. B: Environ. 2024, 341, 123355.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4105656"/>
            <a:ext cx="9966960" cy="2103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030" b="1">
                <a:solidFill>
                  <a:srgbClr val="111111"/>
                </a:solidFill>
                <a:latin typeface="Microsoft YaHei"/>
              </a:defRPr>
            </a:pPr>
            <a:r>
              <a:t>Encapsulation of carbon-nanodots into metal-organic frameworks for boosting photocatalytic upcycling of polyvinyl chloride plastic.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4297680"/>
            <a:ext cx="996696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80" b="0">
                <a:solidFill>
                  <a:srgbClr val="203864"/>
                </a:solidFill>
                <a:latin typeface="Microsoft YaHei"/>
              </a:defRPr>
            </a:pPr>
            <a:r>
              <a:rPr>
                <a:hlinkClick r:id="rId6"/>
              </a:rPr>
              <a:t>https://doi.org/10.1016/j.apcatb.2023.123355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" y="4471416"/>
            <a:ext cx="402336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03864"/>
                </a:solidFill>
                <a:latin typeface="Microsoft YaHei"/>
              </a:defRPr>
            </a:pPr>
            <a:r>
              <a:t>[6]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4471416"/>
            <a:ext cx="996696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66273"/>
                </a:solidFill>
                <a:latin typeface="Microsoft YaHei"/>
              </a:defRPr>
            </a:pPr>
            <a:r>
              <a:t>Su, K.; Gao, T.; Liu, H.; et al. Angew. Chem. Int. Ed. 2026, e5578835.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4645152"/>
            <a:ext cx="9966960" cy="2103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030" b="1">
                <a:solidFill>
                  <a:srgbClr val="111111"/>
                </a:solidFill>
                <a:latin typeface="Microsoft YaHei"/>
              </a:defRPr>
            </a:pPr>
            <a:r>
              <a:t>Photocracking of Polystyrene into Aromatic Products in CH₂Cl₂.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" y="4837176"/>
            <a:ext cx="996696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80" b="0">
                <a:solidFill>
                  <a:srgbClr val="203864"/>
                </a:solidFill>
                <a:latin typeface="Microsoft YaHei"/>
              </a:defRPr>
            </a:pPr>
            <a:r>
              <a:rPr>
                <a:hlinkClick r:id="rId7"/>
              </a:rPr>
              <a:t>https://doi.org/10.1002/anie.5578835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" y="5010912"/>
            <a:ext cx="402336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03864"/>
                </a:solidFill>
                <a:latin typeface="Microsoft YaHei"/>
              </a:defRPr>
            </a:pPr>
            <a:r>
              <a:t>[7]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5010912"/>
            <a:ext cx="996696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66273"/>
                </a:solidFill>
                <a:latin typeface="Microsoft YaHei"/>
              </a:defRPr>
            </a:pPr>
            <a:r>
              <a:t>Wang, H. S.; Agrachev, M.; Kim, H.; et al. Science 2025, 387, 874–880.（全文待补）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98448" y="5184648"/>
            <a:ext cx="9966960" cy="2103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030" b="1">
                <a:solidFill>
                  <a:srgbClr val="111111"/>
                </a:solidFill>
                <a:latin typeface="Microsoft YaHei"/>
              </a:defRPr>
            </a:pPr>
            <a:r>
              <a:t>Visible Light–triggered Depolymerization of Commercial Polymethacrylates.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8448" y="5376672"/>
            <a:ext cx="996696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980" b="0">
                <a:solidFill>
                  <a:srgbClr val="203864"/>
                </a:solidFill>
                <a:latin typeface="Microsoft YaHei"/>
              </a:defRPr>
            </a:pPr>
            <a:r>
              <a:rPr>
                <a:hlinkClick r:id="rId8"/>
              </a:rPr>
              <a:t>https://doi.org/10.1126/science.adr1637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879592"/>
            <a:ext cx="1083564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" y="5934456"/>
            <a:ext cx="10506456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感谢各位老师聆听，敬请批评指正。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