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转化率</c:v>
                </c:pt>
              </c:strCache>
            </c:strRef>
          </c:tx>
          <c:spPr>
            <a:solidFill>
              <a:srgbClr val="063584"/>
            </a:solidFill>
            <a:ln>
              <a:noFill/>
            </a:ln>
          </c:spPr>
          <c:cat>
            <c:strRef>
              <c:f>Sheet1!$A$2:$A$5</c:f>
              <c:strCache>
                <c:ptCount val="4"/>
                <c:pt idx="0">
                  <c:v>O₂</c:v>
                </c:pt>
                <c:pt idx="1">
                  <c:v>O₂ 鼓泡</c:v>
                </c:pt>
                <c:pt idx="2">
                  <c:v>N₂</c:v>
                </c:pt>
                <c:pt idx="3">
                  <c:v>空气</c:v>
                </c:pt>
              </c:strCache>
            </c:strRef>
          </c:cat>
          <c:val>
            <c:numRef>
              <c:f>Sheet1!$B$2:$B$5</c:f>
              <c:numCache>
                <c:formatCode>General</c:formatCode>
                <c:ptCount val="4"/>
                <c:pt idx="0">
                  <c:v>87.6</c:v>
                </c:pt>
                <c:pt idx="1">
                  <c:v>82.8</c:v>
                </c:pt>
                <c:pt idx="2">
                  <c:v>73.8</c:v>
                </c:pt>
                <c:pt idx="3">
                  <c:v>76.6</c:v>
                </c:pt>
              </c:numCache>
            </c:numRef>
          </c:val>
        </c:ser>
        <c:dLbls>
          <c:txPr>
            <a:bodyPr/>
            <a:lstStyle/>
            <a:p>
              <a:pPr>
                <a:defRPr sz="1300"/>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max val="100.0"/>
          <c:min val="0.0"/>
        </c:scaling>
        <c:delete val="0"/>
        <c:axPos val="l"/>
        <c:majorGridlines/>
        <c:majorTickMark val="out"/>
        <c:minorTickMark val="none"/>
        <c:tickLblPos val="nextTo"/>
        <c:txPr>
          <a:bodyPr/>
          <a:lstStyle/>
          <a:p>
            <a:pPr>
              <a:defRPr sz="1100"/>
            </a:pPr>
          </a:p>
        </c:txPr>
        <c:crossAx val="-2068027336"/>
        <c:crosses val="autoZero"/>
        <c:majorUnit val="20.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次汇报处于课题探索阶段。研究目标是利用不含贵金属的有机光敏组分，在常温常压条件下探索PVC脱氯和碳骨架转化，但该目标尚未完成。已有模型实验值得进一步分析，不能写成已经建立完整降解体系。封面2-EAQ为文献结构示例，实际试剂乙基取代位号待核实。下一页说明研究故事的六个环节。</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六个部分不是机械问答。研究背景界定氯和碳目标，文献提出可行反应，科学问题区分不同来源，策略用简单模型减少解析难度。前期结果没有确认预期产物，因此引出介质竞争和分析复核，最后据此安排实验。接下来从PVC传统处置的局限说明研究目标。</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页依据用户提供的背景页重建，配色沿用上一版科研答辩模板。左上展示PVC的结构和制品特点，左下区分机械、热化学和光化学处理。右侧将含氯塑料的化学升级利用按碳化、官能化、裂解或偶联、溶剂处理、解聚或低分子化及新材料/闭环利用分类。各路径是概念示意，不表示同一反应闭合循环，也不表示EAQ体系已完成这些转化；溶剂处理属于加工或分离路径，不能直接等同于C–C断裂。所有结构、图标、路径、文字和箭头均为原生可编辑对象，原照片位置改为可编辑装置/材料示意。文献：Xu et al., Upcycling chlorinated waste plastics, Nat.Rev.Methods Primers2023,3,44, DOI10.1038/s43586-023-00227-w。下一页从早期PVC光老化研究引出自由基反应的调控思路。</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rdette在引言讨论多烯相关含氯结构多步激发以及部分Cl原子逸出并引发氧化链的路径。这比笼统声称所有PVC的C–Cl在光照下均裂更准确。正文通过光谱、化学处理和氢过氧化物测定鉴别产物，再提出网络，不是逐一直接检测所有自由基。传统稳定剂也并非只以淬灭Cl自由基一种机理工作。本研究思路是利用和调控这些过程，但具体作用仍需在EAQ/DCE体系证明。下一页说明选择乙基蒽醌的依据。</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在合适波长吸收后先形成单重激发态，再经ISC形成三重态，并非基态直接一步生成三重态。蒽醌类有HAT和ET的一般文献基础，但取代基、介质和能级影响具体行为。Chen综述收录Ren等2-EAQ在充气溶液光还原并生成H2O2的原始研究线索，当前原文和DOI未取得，明确为二次引文。尚没有直接证明本体系EAQ在365纳米下活化有机C–Cl并释放Cl自由基的证据，不使用宽泛的C–X文献描述来填补这个缺口。下一页介绍真实聚合物光转化案例及可迁移部分。</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左侧Su体系标准条件为10毫克PS、4毫升CH2Cl2、365纳米、1bar氧气、30±5摄氏度。原文正文报告Mn和Mw从75.1和208.4kDa降至1.2和1.3kDa；PBN捕获和模拟支持作者对Cl自由基的归属。这些数值作为可编辑图形摘要保留，不伪造原始GPC曲线。右侧Qin摘要报告约76.5%转化和约14%乙酸收率，两者定义不同，不作为同一指标比较。正文说明PVC预处理100摄氏度2小时，其GPC原曲线在未获得的SI中。两文分别说明介质参与和PVC可光催化转化，但都不能直接证明EAQ/DCE体系。下一页从文献事实收敛出自己的科学问题。</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三类组分可以同时影响反应，不预设某一物种为唯一主导。脱氯可经取代或消除等路径，不一定释放游离Cl自由基。相似的局部键型支持选择氯代烷烃模型，但PVC的连续位点、缺陷、添加剂和聚集态不被模型完整模拟。不能单凭键能大小判定365纳米必然直接光解，必须结合吸收和激发态测量。下一页将这些边界落实为逐级研究策略。</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现阶段先用2-氯戊烷建立分析，后续可用2-氯己烷等扩展模型。确认局部反应后进入氯代石蜡，再到PVC。各阶段以真实产物、定量、回收率及必要空白作为推进条件，不能只比较一个表观转化数值。下一页先展示依据文献形成的预想机理，再报告实验检验中出现的异常。</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页作为实验前的预想机理，采用用户指定的小AQ循环与大PVC路径。左侧概括AQ类的一般激发、还原及氧再氧化过程，AQH自由基和AHQ表示不同还原层级，不声称同时检出。ET与HAT为不同候选路径，不画成同一具体化学基元步骤。左下将ROS与DCE或模型反应列为待鉴定支路；不混同单线态氧、超氧和羟基自由基，也不把ROS当作一种确定物种。右侧PVC攫氢、C–Cl活化和Cl自由基HAT均未在本体系证实，因此使用虚线及问号。R自由基与氧形成ROO为一般基元反应，但不代表本样品已检测。后续ROOH、RO自由基与β裂解需要独立证据，底部连接式仅示意烷氧自由基裂解。HAT与脱氯可以竞争或并行，Cl离子释放不能独自证明Cl自由基。下一页报告实际模型实验条件，再用观察结果检验这一预想。</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记录为2-氯戊烷0.5毫摩尔、EAQ5毫克每毫升、DCE4毫升、365纳米照射6小时，比较四种气氛。明确写出DCE为1,2-二氯乙烷，避免与文献二氯甲烷混淆。装置图是规范示意，不冒充原实验照片。没有提供实际温度和光通量，不能为了符合目标补写反应已在确定的常温条件进行。下一页完整展示四组转化率与六行候选产物记录。</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四组数值87.6、82.8、73.8和76.6来自原始记录。计算式、内标和响应因子未提供，不把通常的转化率公式冒充原记录实际执行的方法。六行定性记录完整保留，2,4-二氯戊烷、四氯丁烷类、氯乙酸为候选名称，不绘制未经确认的确定结构。n.d.和斜杠不等同，不能据此推断零反应或收率。数据未提供重复性，不添加虚假误差线。下一页分析为什么目标产物尚不明确而溶剂相关信号更值得关注。</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当前不是已经证明溶剂一定优先反应，而是溶剂相关候选信号提示需要检验这一解释。EAQ激发态与DCE的作用、模型活化不足和检测漏检均可能并存。乙腈更换同时改变溶解性与吸光，不能单独证明Cl自由基或断言零转化。先澄清信号来源和分析方法，再研究选择性。下一页用观察结果更新初始机理，而不是把异常硬塞进原先循环。</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始假说重视PVC链活化；实验异常要求把DCE与模型供氢体纳入并行竞争。这里使用虚线，说明三条支路均需本体系证据。原有观察并未鉴定特定ROS或Cl自由基，也未证明AQ再生及真正链裂解，因此不指定唯一物种。EAQ激发态受溶剂和氧影响的可能性应通过相同吸收与溶解性条件比较。下一页先确定必要条件，避免过早进入复杂物种归属。</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光暗组必须控制温度和时间，有无EAQ比较需同时考虑光敏剂吸收和稳定性。AQ与EAQ对比取决于实际试剂及吸收匹配，不把取代基效应归因于唯一因素。DCE与非氯介质对比还会改变溶解性，供气方式也改变传质。因此所有组沿用同一套定量和回收率方法。下一页设置能够支持或否定机理箭头的独立测量。</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三个原生示意不是新生成的实验谱图。自旋捕获需探针自身、溶剂和无底物空白，并结合模拟与合理化学捕获；抑制效应可能来自吸光改变等因素。氯平衡需考虑不同相及背景，SEC仅测可溶部分可能有偏差，需结合凝胶分数与回收率。GC-MS、标准品和必要NMR确认产物来源。EAQ再生应以组分随时间变化和稳定性支持，不能因反应继续就认定催化周转。下一页按可完成的阶段结果安排工作。</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始已完成模型为2-氯戊烷，2-氯己烷列为后续模型计划，不混写成已做。各阶段按真实结果推进，部分分析可并行，但要先确认现有信号来源，再扩大底物。PVC阶段必须有独立的链长与物料证据。下一页将最优先的无底物空白和回收实验具体化为可决策的最小组合。</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页把优先任务具体化，而不是重复研究计划。无底物DCE空白出现同类物质会增加介质来源解释的可信度，但仍需确认同一结构；加标回收异常则应先修正分析；只有消耗与产物建立可重复对应后，才深入研究物种和选择性。背景扣除必须有定量依据，不能简单减峰面积或自动把候选物判为唯一产物。下一页总结目前认识与研究方向。</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课题价值在于把老化领域的自由基认识转化为主动调控的研究问题，不代表已经建立Cl自由基主导的PVC降解。AQ提供候选入口，介质反应使初始假说需要修正。下一阶段以分析可靠性和来源区分为近期交付，再把机制解释连接到PVC链长和物料变化。参考文献页明确哪些是直接读到全文、哪些仍为二次引用，最后结束汇报。</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题名、作者、年卷页与DOI文本按上传全文或文件标识核对，在线解析因网络403未完成。Gardette DOI与ma00196a005文件标识及配套来源一致，原PDF未显式印出DOI。Huang按正式2024卷期引用。Ren题名与卷页来自Chen Ref.98，原文及DOI未取得，明确为二次引用。完整文献证据与局限另附说明。下一页结束，不再引入新的科学结论。</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感谢各位老师聆听，敬请对分析方法、优先对照及机制证据提出建议。本页不引入新的科学结论。</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38/s43586-023-00227-w" TargetMode="External"/><Relationship Id="rId3" Type="http://schemas.openxmlformats.org/officeDocument/2006/relationships/hyperlink" Target="https://doi.org/10.1021/ma00196a005" TargetMode="External"/><Relationship Id="rId4" Type="http://schemas.openxmlformats.org/officeDocument/2006/relationships/hyperlink" Target="https://doi.org/10.1002/pol.20230322" TargetMode="External"/><Relationship Id="rId5" Type="http://schemas.openxmlformats.org/officeDocument/2006/relationships/hyperlink" Target="https://doi.org/10.1016/j.ese.2024.100449" TargetMode="External"/><Relationship Id="rId6" Type="http://schemas.openxmlformats.org/officeDocument/2006/relationships/hyperlink" Target="https://doi.org/10.1016/j.apcatb.2023.123355" TargetMode="External"/><Relationship Id="rId7" Type="http://schemas.openxmlformats.org/officeDocument/2006/relationships/hyperlink" Target="https://doi.org/10.1002/anie.5578835" TargetMode="Externa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PVC 光化学转化与降解机制探索</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课题组工作汇报；结构示例依据 Chen et al. 2024。</a:t>
            </a:r>
          </a:p>
        </p:txBody>
      </p:sp>
      <p:sp>
        <p:nvSpPr>
          <p:cNvPr id="5" name="TextBox 4"/>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a:t>
            </a:r>
          </a:p>
        </p:txBody>
      </p:sp>
      <p:sp>
        <p:nvSpPr>
          <p:cNvPr id="6" name="TextBox 5"/>
          <p:cNvSpPr txBox="1"/>
          <p:nvPr/>
        </p:nvSpPr>
        <p:spPr>
          <a:xfrm>
            <a:off x="475488" y="1033271"/>
            <a:ext cx="6400800" cy="1060704"/>
          </a:xfrm>
          <a:prstGeom prst="rect">
            <a:avLst/>
          </a:prstGeom>
          <a:noFill/>
          <a:effectLst/>
        </p:spPr>
        <p:txBody>
          <a:bodyPr wrap="square" lIns="22860" rIns="22860" tIns="0" bIns="0">
            <a:spAutoFit/>
          </a:bodyPr>
          <a:lstStyle/>
          <a:p>
            <a:pPr>
              <a:spcAft>
                <a:spcPts val="600"/>
              </a:spcAft>
              <a:defRPr sz="3100" b="1">
                <a:solidFill>
                  <a:srgbClr val="063584"/>
                </a:solidFill>
                <a:latin typeface="Microsoft YaHei"/>
              </a:defRPr>
            </a:pPr>
            <a:r>
              <a:t>蒽醌参与的</a:t>
            </a:r>
          </a:p>
          <a:p>
            <a:pPr>
              <a:spcAft>
                <a:spcPts val="600"/>
              </a:spcAft>
              <a:defRPr sz="3100" b="1">
                <a:solidFill>
                  <a:srgbClr val="063584"/>
                </a:solidFill>
                <a:latin typeface="Microsoft YaHei"/>
              </a:defRPr>
            </a:pPr>
            <a:r>
              <a:t>自由基反应与模型探索</a:t>
            </a:r>
          </a:p>
        </p:txBody>
      </p:sp>
      <p:cxnSp>
        <p:nvCxnSpPr>
          <p:cNvPr id="7" name="Connector 6"/>
          <p:cNvCxnSpPr/>
          <p:nvPr/>
        </p:nvCxnSpPr>
        <p:spPr>
          <a:xfrm>
            <a:off x="502920" y="2295144"/>
            <a:ext cx="6099048" cy="0"/>
          </a:xfrm>
          <a:prstGeom prst="line">
            <a:avLst/>
          </a:prstGeom>
          <a:ln w="1905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30352" y="2487168"/>
            <a:ext cx="6153912" cy="704088"/>
          </a:xfrm>
          <a:prstGeom prst="rect">
            <a:avLst/>
          </a:prstGeom>
          <a:noFill/>
          <a:effectLst/>
        </p:spPr>
        <p:txBody>
          <a:bodyPr wrap="square" lIns="22860" rIns="22860" tIns="0" bIns="0">
            <a:spAutoFit/>
          </a:bodyPr>
          <a:lstStyle/>
          <a:p>
            <a:pPr>
              <a:spcAft>
                <a:spcPts val="600"/>
              </a:spcAft>
              <a:defRPr sz="2000" b="1">
                <a:solidFill>
                  <a:srgbClr val="111111"/>
                </a:solidFill>
                <a:latin typeface="Microsoft YaHei"/>
              </a:defRPr>
            </a:pPr>
            <a:r>
              <a:t>研究目标：发展有机光敏体系，</a:t>
            </a:r>
          </a:p>
          <a:p>
            <a:pPr>
              <a:spcAft>
                <a:spcPts val="600"/>
              </a:spcAft>
              <a:defRPr sz="2000" b="1">
                <a:solidFill>
                  <a:srgbClr val="111111"/>
                </a:solidFill>
                <a:latin typeface="Microsoft YaHei"/>
              </a:defRPr>
            </a:pPr>
            <a:r>
              <a:t>探索常温常压下 PVC 脱氯与碳骨架转化。</a:t>
            </a:r>
          </a:p>
        </p:txBody>
      </p:sp>
      <p:sp>
        <p:nvSpPr>
          <p:cNvPr id="9" name="Rounded Rectangle 8"/>
          <p:cNvSpPr/>
          <p:nvPr/>
        </p:nvSpPr>
        <p:spPr>
          <a:xfrm>
            <a:off x="512064" y="3474720"/>
            <a:ext cx="6053328" cy="1353312"/>
          </a:xfrm>
          <a:prstGeom prst="roundRect">
            <a:avLst>
              <a:gd name="adj" fmla="val 2500"/>
            </a:avLst>
          </a:prstGeom>
          <a:solidFill>
            <a:srgbClr val="F6F8FC"/>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04088" y="3675887"/>
            <a:ext cx="5669280" cy="320040"/>
          </a:xfrm>
          <a:prstGeom prst="rect">
            <a:avLst/>
          </a:prstGeom>
          <a:noFill/>
          <a:effectLst/>
        </p:spPr>
        <p:txBody>
          <a:bodyPr wrap="square" lIns="22860" rIns="22860" tIns="0" bIns="0">
            <a:spAutoFit/>
          </a:bodyPr>
          <a:lstStyle/>
          <a:p>
            <a:pPr>
              <a:spcAft>
                <a:spcPts val="600"/>
              </a:spcAft>
              <a:defRPr sz="1900" b="1">
                <a:solidFill>
                  <a:srgbClr val="063584"/>
                </a:solidFill>
                <a:latin typeface="Microsoft YaHei"/>
              </a:defRPr>
            </a:pPr>
            <a:r>
              <a:t>报告人：佟可心</a:t>
            </a:r>
          </a:p>
        </p:txBody>
      </p:sp>
      <p:sp>
        <p:nvSpPr>
          <p:cNvPr id="11" name="TextBox 10"/>
          <p:cNvSpPr txBox="1"/>
          <p:nvPr/>
        </p:nvSpPr>
        <p:spPr>
          <a:xfrm>
            <a:off x="704088" y="4123944"/>
            <a:ext cx="5577840" cy="292608"/>
          </a:xfrm>
          <a:prstGeom prst="rect">
            <a:avLst/>
          </a:prstGeom>
          <a:noFill/>
          <a:effectLst/>
        </p:spPr>
        <p:txBody>
          <a:bodyPr wrap="square" lIns="22860" rIns="22860" tIns="0" bIns="0">
            <a:spAutoFit/>
          </a:bodyPr>
          <a:lstStyle/>
          <a:p>
            <a:pPr>
              <a:spcAft>
                <a:spcPts val="600"/>
              </a:spcAft>
              <a:defRPr sz="1600" b="0">
                <a:solidFill>
                  <a:srgbClr val="111111"/>
                </a:solidFill>
                <a:latin typeface="Microsoft YaHei"/>
              </a:defRPr>
            </a:pPr>
            <a:r>
              <a:t>指导教师：孙再成 教授 / 李鹏飞 博士</a:t>
            </a:r>
          </a:p>
        </p:txBody>
      </p:sp>
      <p:sp>
        <p:nvSpPr>
          <p:cNvPr id="12" name="TextBox 11"/>
          <p:cNvSpPr txBox="1"/>
          <p:nvPr/>
        </p:nvSpPr>
        <p:spPr>
          <a:xfrm>
            <a:off x="704088" y="4535424"/>
            <a:ext cx="5577840" cy="210312"/>
          </a:xfrm>
          <a:prstGeom prst="rect">
            <a:avLst/>
          </a:prstGeom>
          <a:noFill/>
          <a:effectLst/>
        </p:spPr>
        <p:txBody>
          <a:bodyPr wrap="square" lIns="22860" rIns="22860" tIns="0" bIns="0">
            <a:spAutoFit/>
          </a:bodyPr>
          <a:lstStyle/>
          <a:p>
            <a:pPr>
              <a:spcAft>
                <a:spcPts val="600"/>
              </a:spcAft>
              <a:defRPr sz="1300" b="0">
                <a:solidFill>
                  <a:srgbClr val="566273"/>
                </a:solidFill>
                <a:latin typeface="Microsoft YaHei"/>
              </a:defRPr>
            </a:pPr>
            <a:r>
              <a:t>北京工业大学  ·  2026 年 10 月 17 日</a:t>
            </a:r>
          </a:p>
        </p:txBody>
      </p:sp>
      <p:sp>
        <p:nvSpPr>
          <p:cNvPr id="13" name="Rounded Rectangle 12"/>
          <p:cNvSpPr/>
          <p:nvPr/>
        </p:nvSpPr>
        <p:spPr>
          <a:xfrm>
            <a:off x="6949440" y="1024128"/>
            <a:ext cx="4700016" cy="3822191"/>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ounded Rectangle 13"/>
          <p:cNvSpPr/>
          <p:nvPr/>
        </p:nvSpPr>
        <p:spPr>
          <a:xfrm>
            <a:off x="6976872" y="1051560"/>
            <a:ext cx="464515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7095744" y="1101852"/>
            <a:ext cx="440740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光敏组分与含氯主链的候选关联</a:t>
            </a:r>
          </a:p>
        </p:txBody>
      </p:sp>
      <p:sp>
        <p:nvSpPr>
          <p:cNvPr id="16" name="Freeform 15"/>
          <p:cNvSpPr/>
          <p:nvPr/>
        </p:nvSpPr>
        <p:spPr>
          <a:xfrm>
            <a:off x="8584950" y="1929384"/>
            <a:ext cx="506812" cy="585216"/>
          </a:xfrm>
          <a:custGeom>
            <a:avLst/>
            <a:gdLst/>
            <a:ahLst/>
            <a:cxnLst/>
            <a:rect l="l" t="t" r="r" b="b"/>
            <a:pathLst>
              <a:path w="506812" h="585216">
                <a:moveTo>
                  <a:pt x="253406" y="0"/>
                </a:moveTo>
                <a:lnTo>
                  <a:pt x="506812" y="146304"/>
                </a:lnTo>
                <a:lnTo>
                  <a:pt x="506812" y="438912"/>
                </a:lnTo>
                <a:lnTo>
                  <a:pt x="253406" y="585216"/>
                </a:lnTo>
                <a:lnTo>
                  <a:pt x="0" y="438912"/>
                </a:lnTo>
                <a:lnTo>
                  <a:pt x="0" y="146304"/>
                </a:lnTo>
                <a:lnTo>
                  <a:pt x="253406"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 name="Connector 16"/>
          <p:cNvCxnSpPr/>
          <p:nvPr/>
        </p:nvCxnSpPr>
        <p:spPr>
          <a:xfrm>
            <a:off x="8838356" y="2011314"/>
            <a:ext cx="182452" cy="105339"/>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flipH="1">
            <a:off x="8838356" y="2327330"/>
            <a:ext cx="182452" cy="105339"/>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9" name="Connector 18"/>
          <p:cNvCxnSpPr/>
          <p:nvPr/>
        </p:nvCxnSpPr>
        <p:spPr>
          <a:xfrm flipV="1">
            <a:off x="8655903" y="2116653"/>
            <a:ext cx="0" cy="210677"/>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0" name="Freeform 19"/>
          <p:cNvSpPr/>
          <p:nvPr/>
        </p:nvSpPr>
        <p:spPr>
          <a:xfrm>
            <a:off x="9091762" y="1929384"/>
            <a:ext cx="506811" cy="585216"/>
          </a:xfrm>
          <a:custGeom>
            <a:avLst/>
            <a:gdLst/>
            <a:ahLst/>
            <a:cxnLst/>
            <a:rect l="l" t="t" r="r" b="b"/>
            <a:pathLst>
              <a:path w="506811" h="585216">
                <a:moveTo>
                  <a:pt x="253406" y="0"/>
                </a:moveTo>
                <a:lnTo>
                  <a:pt x="506811" y="146304"/>
                </a:lnTo>
                <a:lnTo>
                  <a:pt x="506811" y="438912"/>
                </a:lnTo>
                <a:lnTo>
                  <a:pt x="253406" y="585216"/>
                </a:lnTo>
                <a:lnTo>
                  <a:pt x="0" y="438912"/>
                </a:lnTo>
                <a:lnTo>
                  <a:pt x="0" y="146304"/>
                </a:lnTo>
                <a:lnTo>
                  <a:pt x="253406"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Freeform 20"/>
          <p:cNvSpPr/>
          <p:nvPr/>
        </p:nvSpPr>
        <p:spPr>
          <a:xfrm>
            <a:off x="9598573" y="1929384"/>
            <a:ext cx="506812" cy="585216"/>
          </a:xfrm>
          <a:custGeom>
            <a:avLst/>
            <a:gdLst/>
            <a:ahLst/>
            <a:cxnLst/>
            <a:rect l="l" t="t" r="r" b="b"/>
            <a:pathLst>
              <a:path w="506812" h="585216">
                <a:moveTo>
                  <a:pt x="253406" y="0"/>
                </a:moveTo>
                <a:lnTo>
                  <a:pt x="506812" y="146304"/>
                </a:lnTo>
                <a:lnTo>
                  <a:pt x="506812" y="438912"/>
                </a:lnTo>
                <a:lnTo>
                  <a:pt x="253406" y="585216"/>
                </a:lnTo>
                <a:lnTo>
                  <a:pt x="0" y="438912"/>
                </a:lnTo>
                <a:lnTo>
                  <a:pt x="0" y="146304"/>
                </a:lnTo>
                <a:lnTo>
                  <a:pt x="253406"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2" name="Connector 21"/>
          <p:cNvCxnSpPr/>
          <p:nvPr/>
        </p:nvCxnSpPr>
        <p:spPr>
          <a:xfrm>
            <a:off x="9851979" y="2011314"/>
            <a:ext cx="182453" cy="105339"/>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flipH="1">
            <a:off x="9851979" y="2327330"/>
            <a:ext cx="182453" cy="105339"/>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flipV="1">
            <a:off x="9669527" y="2116653"/>
            <a:ext cx="0" cy="210677"/>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flipV="1">
            <a:off x="9322308" y="1719072"/>
            <a:ext cx="0" cy="210312"/>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flipV="1">
            <a:off x="9368028" y="1719072"/>
            <a:ext cx="0" cy="210312"/>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7" name="TextBox 26"/>
          <p:cNvSpPr txBox="1"/>
          <p:nvPr/>
        </p:nvSpPr>
        <p:spPr>
          <a:xfrm>
            <a:off x="9244584" y="1499616"/>
            <a:ext cx="274320" cy="228600"/>
          </a:xfrm>
          <a:prstGeom prst="rect">
            <a:avLst/>
          </a:prstGeom>
          <a:noFill/>
          <a:effectLst/>
        </p:spPr>
        <p:txBody>
          <a:bodyPr wrap="square" lIns="22860" rIns="22860" tIns="0" bIns="0">
            <a:spAutoFit/>
          </a:bodyPr>
          <a:lstStyle/>
          <a:p>
            <a:pPr>
              <a:spcAft>
                <a:spcPts val="600"/>
              </a:spcAft>
              <a:defRPr sz="1300" b="0">
                <a:solidFill>
                  <a:srgbClr val="111111"/>
                </a:solidFill>
                <a:latin typeface="Arial"/>
              </a:defRPr>
            </a:pPr>
            <a:r>
              <a:t>O</a:t>
            </a:r>
          </a:p>
        </p:txBody>
      </p:sp>
      <p:cxnSp>
        <p:nvCxnSpPr>
          <p:cNvPr id="28" name="Connector 27"/>
          <p:cNvCxnSpPr/>
          <p:nvPr/>
        </p:nvCxnSpPr>
        <p:spPr>
          <a:xfrm>
            <a:off x="9322308" y="2514600"/>
            <a:ext cx="0" cy="210312"/>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9" name="Connector 28"/>
          <p:cNvCxnSpPr/>
          <p:nvPr/>
        </p:nvCxnSpPr>
        <p:spPr>
          <a:xfrm>
            <a:off x="9368028" y="2514600"/>
            <a:ext cx="0" cy="210312"/>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0" name="TextBox 29"/>
          <p:cNvSpPr txBox="1"/>
          <p:nvPr/>
        </p:nvSpPr>
        <p:spPr>
          <a:xfrm>
            <a:off x="9244584" y="2734056"/>
            <a:ext cx="274320" cy="228600"/>
          </a:xfrm>
          <a:prstGeom prst="rect">
            <a:avLst/>
          </a:prstGeom>
          <a:noFill/>
          <a:effectLst/>
        </p:spPr>
        <p:txBody>
          <a:bodyPr wrap="square" lIns="22860" rIns="22860" tIns="0" bIns="0">
            <a:spAutoFit/>
          </a:bodyPr>
          <a:lstStyle/>
          <a:p>
            <a:pPr>
              <a:spcAft>
                <a:spcPts val="600"/>
              </a:spcAft>
              <a:defRPr sz="1300" b="0">
                <a:solidFill>
                  <a:srgbClr val="111111"/>
                </a:solidFill>
                <a:latin typeface="Arial"/>
              </a:defRPr>
            </a:pPr>
            <a:r>
              <a:t>O</a:t>
            </a:r>
          </a:p>
        </p:txBody>
      </p:sp>
      <p:cxnSp>
        <p:nvCxnSpPr>
          <p:cNvPr id="31" name="Connector 30"/>
          <p:cNvCxnSpPr/>
          <p:nvPr/>
        </p:nvCxnSpPr>
        <p:spPr>
          <a:xfrm flipH="1" flipV="1">
            <a:off x="8328918" y="1920240"/>
            <a:ext cx="256032" cy="155448"/>
          </a:xfrm>
          <a:prstGeom prst="line">
            <a:avLst/>
          </a:prstGeom>
          <a:ln w="1778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2" name="Connector 31"/>
          <p:cNvCxnSpPr/>
          <p:nvPr/>
        </p:nvCxnSpPr>
        <p:spPr>
          <a:xfrm flipH="1">
            <a:off x="8072886" y="1920240"/>
            <a:ext cx="256032" cy="155448"/>
          </a:xfrm>
          <a:prstGeom prst="line">
            <a:avLst/>
          </a:prstGeom>
          <a:ln w="1778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3" name="TextBox 32"/>
          <p:cNvSpPr txBox="1"/>
          <p:nvPr/>
        </p:nvSpPr>
        <p:spPr>
          <a:xfrm>
            <a:off x="7635240" y="2852928"/>
            <a:ext cx="3429000" cy="265176"/>
          </a:xfrm>
          <a:prstGeom prst="rect">
            <a:avLst/>
          </a:prstGeom>
          <a:noFill/>
          <a:effectLst/>
        </p:spPr>
        <p:txBody>
          <a:bodyPr wrap="square" lIns="22860" rIns="22860" tIns="0" bIns="0">
            <a:spAutoFit/>
          </a:bodyPr>
          <a:lstStyle/>
          <a:p>
            <a:pPr algn="ctr">
              <a:spcAft>
                <a:spcPts val="600"/>
              </a:spcAft>
              <a:defRPr sz="1100" b="0">
                <a:solidFill>
                  <a:srgbClr val="566273"/>
                </a:solidFill>
                <a:latin typeface="Microsoft YaHei"/>
              </a:defRPr>
            </a:pPr>
            <a:r>
              <a:t>2-EAQ 文献结构示例；实际位号待核</a:t>
            </a:r>
          </a:p>
        </p:txBody>
      </p:sp>
      <p:sp>
        <p:nvSpPr>
          <p:cNvPr id="34" name="TextBox 33"/>
          <p:cNvSpPr txBox="1"/>
          <p:nvPr/>
        </p:nvSpPr>
        <p:spPr>
          <a:xfrm>
            <a:off x="8257031" y="3255264"/>
            <a:ext cx="2221992" cy="301752"/>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hν / O₂</a:t>
            </a:r>
          </a:p>
        </p:txBody>
      </p:sp>
      <p:sp>
        <p:nvSpPr>
          <p:cNvPr id="35" name="Freeform 34"/>
          <p:cNvSpPr/>
          <p:nvPr/>
        </p:nvSpPr>
        <p:spPr>
          <a:xfrm>
            <a:off x="7479792" y="3803904"/>
            <a:ext cx="3401567" cy="164592"/>
          </a:xfrm>
          <a:custGeom>
            <a:avLst/>
            <a:gdLst/>
            <a:ahLst/>
            <a:cxnLst/>
            <a:rect l="l" t="t" r="r" b="b"/>
            <a:pathLst>
              <a:path w="3401567" h="164592">
                <a:moveTo>
                  <a:pt x="0" y="0"/>
                </a:moveTo>
                <a:lnTo>
                  <a:pt x="566927" y="164592"/>
                </a:lnTo>
                <a:lnTo>
                  <a:pt x="1133856" y="0"/>
                </a:lnTo>
                <a:lnTo>
                  <a:pt x="1700784" y="164592"/>
                </a:lnTo>
                <a:lnTo>
                  <a:pt x="2267712" y="0"/>
                </a:lnTo>
                <a:lnTo>
                  <a:pt x="2834640" y="164592"/>
                </a:lnTo>
                <a:lnTo>
                  <a:pt x="3401567" y="0"/>
                </a:lnTo>
              </a:path>
            </a:pathLst>
          </a:custGeom>
          <a:noFill/>
          <a:ln w="2286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6" name="Connector 35"/>
          <p:cNvCxnSpPr/>
          <p:nvPr/>
        </p:nvCxnSpPr>
        <p:spPr>
          <a:xfrm>
            <a:off x="8046719" y="396849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7" name="TextBox 36"/>
          <p:cNvSpPr txBox="1"/>
          <p:nvPr/>
        </p:nvSpPr>
        <p:spPr>
          <a:xfrm>
            <a:off x="7918703" y="437083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38" name="Connector 37"/>
          <p:cNvCxnSpPr/>
          <p:nvPr/>
        </p:nvCxnSpPr>
        <p:spPr>
          <a:xfrm>
            <a:off x="9180576" y="396849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9" name="TextBox 38"/>
          <p:cNvSpPr txBox="1"/>
          <p:nvPr/>
        </p:nvSpPr>
        <p:spPr>
          <a:xfrm>
            <a:off x="9052559" y="437083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40" name="Connector 39"/>
          <p:cNvCxnSpPr/>
          <p:nvPr/>
        </p:nvCxnSpPr>
        <p:spPr>
          <a:xfrm>
            <a:off x="10314432" y="396849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41" name="TextBox 40"/>
          <p:cNvSpPr txBox="1"/>
          <p:nvPr/>
        </p:nvSpPr>
        <p:spPr>
          <a:xfrm>
            <a:off x="10186415" y="437083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sp>
        <p:nvSpPr>
          <p:cNvPr id="42" name="TextBox 41"/>
          <p:cNvSpPr txBox="1"/>
          <p:nvPr/>
        </p:nvSpPr>
        <p:spPr>
          <a:xfrm>
            <a:off x="7232904" y="3776472"/>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43" name="TextBox 42"/>
          <p:cNvSpPr txBox="1"/>
          <p:nvPr/>
        </p:nvSpPr>
        <p:spPr>
          <a:xfrm>
            <a:off x="10927080" y="3776472"/>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44" name="Rounded Rectangle 43"/>
          <p:cNvSpPr/>
          <p:nvPr/>
        </p:nvSpPr>
        <p:spPr>
          <a:xfrm>
            <a:off x="502920" y="5074920"/>
            <a:ext cx="3538728"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603504" y="5166359"/>
            <a:ext cx="3337560"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研究基础</a:t>
            </a:r>
          </a:p>
        </p:txBody>
      </p:sp>
      <p:sp>
        <p:nvSpPr>
          <p:cNvPr id="46" name="TextBox 45"/>
          <p:cNvSpPr txBox="1"/>
          <p:nvPr/>
        </p:nvSpPr>
        <p:spPr>
          <a:xfrm>
            <a:off x="603504" y="5495544"/>
            <a:ext cx="3337560"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PVC 光老化与聚合物光转化</a:t>
            </a:r>
          </a:p>
        </p:txBody>
      </p:sp>
      <p:sp>
        <p:nvSpPr>
          <p:cNvPr id="47" name="Rounded Rectangle 46"/>
          <p:cNvSpPr/>
          <p:nvPr/>
        </p:nvSpPr>
        <p:spPr>
          <a:xfrm>
            <a:off x="4251959" y="5074920"/>
            <a:ext cx="3538728"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4352544" y="5166359"/>
            <a:ext cx="3337560"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已有探索</a:t>
            </a:r>
          </a:p>
        </p:txBody>
      </p:sp>
      <p:sp>
        <p:nvSpPr>
          <p:cNvPr id="49" name="TextBox 48"/>
          <p:cNvSpPr txBox="1"/>
          <p:nvPr/>
        </p:nvSpPr>
        <p:spPr>
          <a:xfrm>
            <a:off x="4352544" y="5495544"/>
            <a:ext cx="3337560"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模型底物转化与溶剂相关信号</a:t>
            </a:r>
          </a:p>
        </p:txBody>
      </p:sp>
      <p:sp>
        <p:nvSpPr>
          <p:cNvPr id="50" name="Rounded Rectangle 49"/>
          <p:cNvSpPr/>
          <p:nvPr/>
        </p:nvSpPr>
        <p:spPr>
          <a:xfrm>
            <a:off x="8001000" y="5074920"/>
            <a:ext cx="3538728"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8101583" y="5166359"/>
            <a:ext cx="3337560"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工作重点</a:t>
            </a:r>
          </a:p>
        </p:txBody>
      </p:sp>
      <p:sp>
        <p:nvSpPr>
          <p:cNvPr id="52" name="TextBox 51"/>
          <p:cNvSpPr txBox="1"/>
          <p:nvPr/>
        </p:nvSpPr>
        <p:spPr>
          <a:xfrm>
            <a:off x="8101583" y="5495544"/>
            <a:ext cx="3337560"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区分反应来源，检验自由基路径</a:t>
            </a:r>
          </a:p>
        </p:txBody>
      </p:sp>
      <p:sp>
        <p:nvSpPr>
          <p:cNvPr id="53" name="Rectangle 52"/>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Chevron 53"/>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汇报定位</a:t>
            </a:r>
          </a:p>
        </p:txBody>
      </p:sp>
      <p:sp>
        <p:nvSpPr>
          <p:cNvPr id="56" name="TextBox 55"/>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用模型结果识别竞争反应，以独立证据连接自由基化学与 PVC 主链变化。</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汇报主线：由文献依据走向可证伪的实验假说</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研究背景—文献启发—科学问题—研究策略—前期探索—下一步实验</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2</a:t>
            </a:r>
          </a:p>
        </p:txBody>
      </p:sp>
      <p:sp>
        <p:nvSpPr>
          <p:cNvPr id="7" name="Rounded Rectangle 6"/>
          <p:cNvSpPr/>
          <p:nvPr/>
        </p:nvSpPr>
        <p:spPr>
          <a:xfrm>
            <a:off x="438912" y="1463040"/>
            <a:ext cx="181051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557784" y="1513332"/>
            <a:ext cx="157276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研究背景</a:t>
            </a:r>
          </a:p>
        </p:txBody>
      </p:sp>
      <p:sp>
        <p:nvSpPr>
          <p:cNvPr id="9" name="TextBox 8"/>
          <p:cNvSpPr txBox="1"/>
          <p:nvPr/>
        </p:nvSpPr>
        <p:spPr>
          <a:xfrm>
            <a:off x="548640" y="1965960"/>
            <a:ext cx="1600200" cy="585216"/>
          </a:xfrm>
          <a:prstGeom prst="rect">
            <a:avLst/>
          </a:prstGeom>
          <a:noFill/>
          <a:effectLst/>
        </p:spPr>
        <p:txBody>
          <a:bodyPr wrap="square" lIns="22860" rIns="22860" tIns="0" bIns="0">
            <a:spAutoFit/>
          </a:bodyPr>
          <a:lstStyle/>
          <a:p>
            <a:pPr algn="ctr">
              <a:spcAft>
                <a:spcPts val="600"/>
              </a:spcAft>
              <a:defRPr sz="1500" b="1">
                <a:solidFill>
                  <a:srgbClr val="111111"/>
                </a:solidFill>
                <a:latin typeface="Microsoft YaHei"/>
              </a:defRPr>
            </a:pPr>
            <a:r>
              <a:t>氯管理 + 碳骨架</a:t>
            </a:r>
          </a:p>
        </p:txBody>
      </p:sp>
      <p:cxnSp>
        <p:nvCxnSpPr>
          <p:cNvPr id="10" name="Connector 9"/>
          <p:cNvCxnSpPr/>
          <p:nvPr/>
        </p:nvCxnSpPr>
        <p:spPr>
          <a:xfrm>
            <a:off x="2249424" y="2167128"/>
            <a:ext cx="109728" cy="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1" name="Rounded Rectangle 10"/>
          <p:cNvSpPr/>
          <p:nvPr/>
        </p:nvSpPr>
        <p:spPr>
          <a:xfrm>
            <a:off x="2377440" y="1463040"/>
            <a:ext cx="181051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2496312" y="1513332"/>
            <a:ext cx="157276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文献启发</a:t>
            </a:r>
          </a:p>
        </p:txBody>
      </p:sp>
      <p:sp>
        <p:nvSpPr>
          <p:cNvPr id="13" name="TextBox 12"/>
          <p:cNvSpPr txBox="1"/>
          <p:nvPr/>
        </p:nvSpPr>
        <p:spPr>
          <a:xfrm>
            <a:off x="2487168" y="1965960"/>
            <a:ext cx="1600200" cy="585216"/>
          </a:xfrm>
          <a:prstGeom prst="rect">
            <a:avLst/>
          </a:prstGeom>
          <a:noFill/>
          <a:effectLst/>
        </p:spPr>
        <p:txBody>
          <a:bodyPr wrap="square" lIns="22860" rIns="22860" tIns="0" bIns="0">
            <a:spAutoFit/>
          </a:bodyPr>
          <a:lstStyle/>
          <a:p>
            <a:pPr algn="ctr">
              <a:spcAft>
                <a:spcPts val="600"/>
              </a:spcAft>
              <a:defRPr sz="1500" b="1">
                <a:solidFill>
                  <a:srgbClr val="111111"/>
                </a:solidFill>
                <a:latin typeface="Microsoft YaHei"/>
              </a:defRPr>
            </a:pPr>
            <a:r>
              <a:t>老化、AQ 与介质</a:t>
            </a:r>
          </a:p>
        </p:txBody>
      </p:sp>
      <p:cxnSp>
        <p:nvCxnSpPr>
          <p:cNvPr id="14" name="Connector 13"/>
          <p:cNvCxnSpPr/>
          <p:nvPr/>
        </p:nvCxnSpPr>
        <p:spPr>
          <a:xfrm>
            <a:off x="4187952" y="2167128"/>
            <a:ext cx="109728" cy="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5" name="Rounded Rectangle 14"/>
          <p:cNvSpPr/>
          <p:nvPr/>
        </p:nvSpPr>
        <p:spPr>
          <a:xfrm>
            <a:off x="4315968" y="1463040"/>
            <a:ext cx="181051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434840" y="1513332"/>
            <a:ext cx="157276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科学问题</a:t>
            </a:r>
          </a:p>
        </p:txBody>
      </p:sp>
      <p:sp>
        <p:nvSpPr>
          <p:cNvPr id="17" name="TextBox 16"/>
          <p:cNvSpPr txBox="1"/>
          <p:nvPr/>
        </p:nvSpPr>
        <p:spPr>
          <a:xfrm>
            <a:off x="4425696" y="1965960"/>
            <a:ext cx="1600200" cy="585216"/>
          </a:xfrm>
          <a:prstGeom prst="rect">
            <a:avLst/>
          </a:prstGeom>
          <a:noFill/>
          <a:effectLst/>
        </p:spPr>
        <p:txBody>
          <a:bodyPr wrap="square" lIns="22860" rIns="22860" tIns="0" bIns="0">
            <a:spAutoFit/>
          </a:bodyPr>
          <a:lstStyle/>
          <a:p>
            <a:pPr algn="ctr">
              <a:spcAft>
                <a:spcPts val="600"/>
              </a:spcAft>
              <a:defRPr sz="1500" b="1">
                <a:solidFill>
                  <a:srgbClr val="111111"/>
                </a:solidFill>
                <a:latin typeface="Microsoft YaHei"/>
              </a:defRPr>
            </a:pPr>
            <a:r>
              <a:t>活性来源与链裂解</a:t>
            </a:r>
          </a:p>
        </p:txBody>
      </p:sp>
      <p:cxnSp>
        <p:nvCxnSpPr>
          <p:cNvPr id="18" name="Connector 17"/>
          <p:cNvCxnSpPr/>
          <p:nvPr/>
        </p:nvCxnSpPr>
        <p:spPr>
          <a:xfrm>
            <a:off x="6126480" y="2167128"/>
            <a:ext cx="109728" cy="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9" name="Rounded Rectangle 18"/>
          <p:cNvSpPr/>
          <p:nvPr/>
        </p:nvSpPr>
        <p:spPr>
          <a:xfrm>
            <a:off x="6254496" y="1463040"/>
            <a:ext cx="181051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373368" y="1513332"/>
            <a:ext cx="157276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研究策略</a:t>
            </a:r>
          </a:p>
        </p:txBody>
      </p:sp>
      <p:sp>
        <p:nvSpPr>
          <p:cNvPr id="21" name="TextBox 20"/>
          <p:cNvSpPr txBox="1"/>
          <p:nvPr/>
        </p:nvSpPr>
        <p:spPr>
          <a:xfrm>
            <a:off x="6364224" y="1965960"/>
            <a:ext cx="1600200" cy="585216"/>
          </a:xfrm>
          <a:prstGeom prst="rect">
            <a:avLst/>
          </a:prstGeom>
          <a:noFill/>
          <a:effectLst/>
        </p:spPr>
        <p:txBody>
          <a:bodyPr wrap="square" lIns="22860" rIns="22860" tIns="0" bIns="0">
            <a:spAutoFit/>
          </a:bodyPr>
          <a:lstStyle/>
          <a:p>
            <a:pPr algn="ctr">
              <a:spcAft>
                <a:spcPts val="600"/>
              </a:spcAft>
              <a:defRPr sz="1500" b="1">
                <a:solidFill>
                  <a:srgbClr val="111111"/>
                </a:solidFill>
                <a:latin typeface="Microsoft YaHei"/>
              </a:defRPr>
            </a:pPr>
            <a:r>
              <a:t>局部模型 → PVC</a:t>
            </a:r>
          </a:p>
        </p:txBody>
      </p:sp>
      <p:cxnSp>
        <p:nvCxnSpPr>
          <p:cNvPr id="22" name="Connector 21"/>
          <p:cNvCxnSpPr/>
          <p:nvPr/>
        </p:nvCxnSpPr>
        <p:spPr>
          <a:xfrm>
            <a:off x="8065008" y="2167128"/>
            <a:ext cx="109728" cy="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3" name="Rounded Rectangle 22"/>
          <p:cNvSpPr/>
          <p:nvPr/>
        </p:nvSpPr>
        <p:spPr>
          <a:xfrm>
            <a:off x="8193024" y="1463040"/>
            <a:ext cx="181051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311896" y="1513332"/>
            <a:ext cx="157276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前期探索</a:t>
            </a:r>
          </a:p>
        </p:txBody>
      </p:sp>
      <p:sp>
        <p:nvSpPr>
          <p:cNvPr id="25" name="TextBox 24"/>
          <p:cNvSpPr txBox="1"/>
          <p:nvPr/>
        </p:nvSpPr>
        <p:spPr>
          <a:xfrm>
            <a:off x="8302752" y="1965960"/>
            <a:ext cx="1600200" cy="585216"/>
          </a:xfrm>
          <a:prstGeom prst="rect">
            <a:avLst/>
          </a:prstGeom>
          <a:noFill/>
          <a:effectLst/>
        </p:spPr>
        <p:txBody>
          <a:bodyPr wrap="square" lIns="22860" rIns="22860" tIns="0" bIns="0">
            <a:spAutoFit/>
          </a:bodyPr>
          <a:lstStyle/>
          <a:p>
            <a:pPr algn="ctr">
              <a:spcAft>
                <a:spcPts val="600"/>
              </a:spcAft>
              <a:defRPr sz="1500" b="1">
                <a:solidFill>
                  <a:srgbClr val="111111"/>
                </a:solidFill>
                <a:latin typeface="Microsoft YaHei"/>
              </a:defRPr>
            </a:pPr>
            <a:r>
              <a:t>转化与产物不匹配</a:t>
            </a:r>
          </a:p>
        </p:txBody>
      </p:sp>
      <p:cxnSp>
        <p:nvCxnSpPr>
          <p:cNvPr id="26" name="Connector 25"/>
          <p:cNvCxnSpPr/>
          <p:nvPr/>
        </p:nvCxnSpPr>
        <p:spPr>
          <a:xfrm>
            <a:off x="10003536" y="2167128"/>
            <a:ext cx="109728" cy="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7" name="Rounded Rectangle 26"/>
          <p:cNvSpPr/>
          <p:nvPr/>
        </p:nvSpPr>
        <p:spPr>
          <a:xfrm>
            <a:off x="10131552" y="1463040"/>
            <a:ext cx="181051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10250424" y="1513332"/>
            <a:ext cx="157276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下一步实验</a:t>
            </a:r>
          </a:p>
        </p:txBody>
      </p:sp>
      <p:sp>
        <p:nvSpPr>
          <p:cNvPr id="29" name="TextBox 28"/>
          <p:cNvSpPr txBox="1"/>
          <p:nvPr/>
        </p:nvSpPr>
        <p:spPr>
          <a:xfrm>
            <a:off x="10241280" y="1965960"/>
            <a:ext cx="1600200" cy="585216"/>
          </a:xfrm>
          <a:prstGeom prst="rect">
            <a:avLst/>
          </a:prstGeom>
          <a:noFill/>
          <a:effectLst/>
        </p:spPr>
        <p:txBody>
          <a:bodyPr wrap="square" lIns="22860" rIns="22860" tIns="0" bIns="0">
            <a:spAutoFit/>
          </a:bodyPr>
          <a:lstStyle/>
          <a:p>
            <a:pPr algn="ctr">
              <a:spcAft>
                <a:spcPts val="600"/>
              </a:spcAft>
              <a:defRPr sz="1500" b="1">
                <a:solidFill>
                  <a:srgbClr val="111111"/>
                </a:solidFill>
                <a:latin typeface="Microsoft YaHei"/>
              </a:defRPr>
            </a:pPr>
            <a:r>
              <a:t>空白、物种与链长</a:t>
            </a:r>
          </a:p>
        </p:txBody>
      </p:sp>
      <p:sp>
        <p:nvSpPr>
          <p:cNvPr id="30" name="Rounded Rectangle 29"/>
          <p:cNvSpPr/>
          <p:nvPr/>
        </p:nvSpPr>
        <p:spPr>
          <a:xfrm>
            <a:off x="448056" y="2889504"/>
            <a:ext cx="6858000" cy="267004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475488" y="2916936"/>
            <a:ext cx="680313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94360" y="2967228"/>
            <a:ext cx="656539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贯穿汇报的因果链</a:t>
            </a:r>
          </a:p>
        </p:txBody>
      </p:sp>
      <p:sp>
        <p:nvSpPr>
          <p:cNvPr id="33" name="Oval 32"/>
          <p:cNvSpPr/>
          <p:nvPr/>
        </p:nvSpPr>
        <p:spPr>
          <a:xfrm>
            <a:off x="658368" y="343814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62940" y="3447287"/>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1</a:t>
            </a:r>
          </a:p>
        </p:txBody>
      </p:sp>
      <p:sp>
        <p:nvSpPr>
          <p:cNvPr id="35" name="TextBox 34"/>
          <p:cNvSpPr txBox="1"/>
          <p:nvPr/>
        </p:nvSpPr>
        <p:spPr>
          <a:xfrm>
            <a:off x="1033271" y="3438144"/>
            <a:ext cx="2167128" cy="310896"/>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文献给出可能性</a:t>
            </a:r>
          </a:p>
        </p:txBody>
      </p:sp>
      <p:sp>
        <p:nvSpPr>
          <p:cNvPr id="36" name="TextBox 35"/>
          <p:cNvSpPr txBox="1"/>
          <p:nvPr/>
        </p:nvSpPr>
        <p:spPr>
          <a:xfrm>
            <a:off x="3282696" y="3456432"/>
            <a:ext cx="3767328" cy="448056"/>
          </a:xfrm>
          <a:prstGeom prst="rect">
            <a:avLst/>
          </a:prstGeom>
          <a:noFill/>
          <a:effectLst/>
        </p:spPr>
        <p:txBody>
          <a:bodyPr wrap="square" lIns="22860" rIns="22860" tIns="0" bIns="0">
            <a:spAutoFit/>
          </a:bodyPr>
          <a:lstStyle/>
          <a:p>
            <a:pPr>
              <a:spcAft>
                <a:spcPts val="600"/>
              </a:spcAft>
              <a:defRPr sz="1400" b="0">
                <a:solidFill>
                  <a:srgbClr val="111111"/>
                </a:solidFill>
                <a:latin typeface="Microsoft YaHei"/>
              </a:defRPr>
            </a:pPr>
            <a:r>
              <a:t>自由基过程与含氯介质提供可研究入口</a:t>
            </a:r>
          </a:p>
        </p:txBody>
      </p:sp>
      <p:sp>
        <p:nvSpPr>
          <p:cNvPr id="37" name="Oval 36"/>
          <p:cNvSpPr/>
          <p:nvPr/>
        </p:nvSpPr>
        <p:spPr>
          <a:xfrm>
            <a:off x="658368" y="407822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62940" y="4087368"/>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2</a:t>
            </a:r>
          </a:p>
        </p:txBody>
      </p:sp>
      <p:sp>
        <p:nvSpPr>
          <p:cNvPr id="39" name="TextBox 38"/>
          <p:cNvSpPr txBox="1"/>
          <p:nvPr/>
        </p:nvSpPr>
        <p:spPr>
          <a:xfrm>
            <a:off x="1033271" y="4078224"/>
            <a:ext cx="2167128" cy="310896"/>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实验暴露竞争解释</a:t>
            </a:r>
          </a:p>
        </p:txBody>
      </p:sp>
      <p:sp>
        <p:nvSpPr>
          <p:cNvPr id="40" name="TextBox 39"/>
          <p:cNvSpPr txBox="1"/>
          <p:nvPr/>
        </p:nvSpPr>
        <p:spPr>
          <a:xfrm>
            <a:off x="3282696" y="4096511"/>
            <a:ext cx="3767328" cy="448056"/>
          </a:xfrm>
          <a:prstGeom prst="rect">
            <a:avLst/>
          </a:prstGeom>
          <a:noFill/>
          <a:effectLst/>
        </p:spPr>
        <p:txBody>
          <a:bodyPr wrap="square" lIns="22860" rIns="22860" tIns="0" bIns="0">
            <a:spAutoFit/>
          </a:bodyPr>
          <a:lstStyle/>
          <a:p>
            <a:pPr>
              <a:spcAft>
                <a:spcPts val="600"/>
              </a:spcAft>
              <a:defRPr sz="1400" b="0">
                <a:solidFill>
                  <a:srgbClr val="111111"/>
                </a:solidFill>
                <a:latin typeface="Microsoft YaHei"/>
              </a:defRPr>
            </a:pPr>
            <a:r>
              <a:t>目标产物未确认，DCE 相关信号值得关注</a:t>
            </a:r>
          </a:p>
        </p:txBody>
      </p:sp>
      <p:sp>
        <p:nvSpPr>
          <p:cNvPr id="41" name="Oval 40"/>
          <p:cNvSpPr/>
          <p:nvPr/>
        </p:nvSpPr>
        <p:spPr>
          <a:xfrm>
            <a:off x="658368" y="471830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662940" y="4727448"/>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3</a:t>
            </a:r>
          </a:p>
        </p:txBody>
      </p:sp>
      <p:sp>
        <p:nvSpPr>
          <p:cNvPr id="43" name="TextBox 42"/>
          <p:cNvSpPr txBox="1"/>
          <p:nvPr/>
        </p:nvSpPr>
        <p:spPr>
          <a:xfrm>
            <a:off x="1033271" y="4718304"/>
            <a:ext cx="2167128" cy="310896"/>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机制通过实验被约束</a:t>
            </a:r>
          </a:p>
        </p:txBody>
      </p:sp>
      <p:sp>
        <p:nvSpPr>
          <p:cNvPr id="44" name="TextBox 43"/>
          <p:cNvSpPr txBox="1"/>
          <p:nvPr/>
        </p:nvSpPr>
        <p:spPr>
          <a:xfrm>
            <a:off x="3282696" y="4736592"/>
            <a:ext cx="3767328" cy="448056"/>
          </a:xfrm>
          <a:prstGeom prst="rect">
            <a:avLst/>
          </a:prstGeom>
          <a:noFill/>
          <a:effectLst/>
        </p:spPr>
        <p:txBody>
          <a:bodyPr wrap="square" lIns="22860" rIns="22860" tIns="0" bIns="0">
            <a:spAutoFit/>
          </a:bodyPr>
          <a:lstStyle/>
          <a:p>
            <a:pPr>
              <a:spcAft>
                <a:spcPts val="600"/>
              </a:spcAft>
              <a:defRPr sz="1400" b="0">
                <a:solidFill>
                  <a:srgbClr val="111111"/>
                </a:solidFill>
                <a:latin typeface="Microsoft YaHei"/>
              </a:defRPr>
            </a:pPr>
            <a:r>
              <a:t>每个关键箭头对应独立测量与否定对照</a:t>
            </a:r>
          </a:p>
        </p:txBody>
      </p:sp>
      <p:sp>
        <p:nvSpPr>
          <p:cNvPr id="45" name="Rounded Rectangle 44"/>
          <p:cNvSpPr/>
          <p:nvPr/>
        </p:nvSpPr>
        <p:spPr>
          <a:xfrm>
            <a:off x="7534656" y="2889504"/>
            <a:ext cx="4114800" cy="2670048"/>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Rounded Rectangle 45"/>
          <p:cNvSpPr/>
          <p:nvPr/>
        </p:nvSpPr>
        <p:spPr>
          <a:xfrm>
            <a:off x="7562088" y="2916936"/>
            <a:ext cx="405993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7680960" y="2967228"/>
            <a:ext cx="382219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本次汇报的判据</a:t>
            </a:r>
          </a:p>
        </p:txBody>
      </p:sp>
      <p:sp>
        <p:nvSpPr>
          <p:cNvPr id="48" name="TextBox 47"/>
          <p:cNvSpPr txBox="1"/>
          <p:nvPr/>
        </p:nvSpPr>
        <p:spPr>
          <a:xfrm>
            <a:off x="7781544" y="3538728"/>
            <a:ext cx="3621024" cy="932688"/>
          </a:xfrm>
          <a:prstGeom prst="rect">
            <a:avLst/>
          </a:prstGeom>
          <a:noFill/>
          <a:effectLst/>
        </p:spPr>
        <p:txBody>
          <a:bodyPr wrap="square" lIns="22860" rIns="22860" tIns="0" bIns="0">
            <a:spAutoFit/>
          </a:bodyPr>
          <a:lstStyle/>
          <a:p>
            <a:pPr algn="ctr">
              <a:spcAft>
                <a:spcPts val="600"/>
              </a:spcAft>
              <a:defRPr sz="2100" b="1">
                <a:solidFill>
                  <a:srgbClr val="063584"/>
                </a:solidFill>
                <a:latin typeface="Microsoft YaHei"/>
              </a:defRPr>
            </a:pPr>
            <a:r>
              <a:t>底物转化</a:t>
            </a:r>
          </a:p>
          <a:p>
            <a:pPr algn="ctr">
              <a:spcAft>
                <a:spcPts val="600"/>
              </a:spcAft>
              <a:defRPr sz="2100" b="1">
                <a:solidFill>
                  <a:srgbClr val="063584"/>
                </a:solidFill>
                <a:latin typeface="Microsoft YaHei"/>
              </a:defRPr>
            </a:pPr>
            <a:r>
              <a:t>不直接等同于</a:t>
            </a:r>
          </a:p>
        </p:txBody>
      </p:sp>
      <p:sp>
        <p:nvSpPr>
          <p:cNvPr id="49" name="TextBox 48"/>
          <p:cNvSpPr txBox="1"/>
          <p:nvPr/>
        </p:nvSpPr>
        <p:spPr>
          <a:xfrm>
            <a:off x="7781544" y="4626864"/>
            <a:ext cx="3621024" cy="576072"/>
          </a:xfrm>
          <a:prstGeom prst="rect">
            <a:avLst/>
          </a:prstGeom>
          <a:noFill/>
          <a:effectLst/>
        </p:spPr>
        <p:txBody>
          <a:bodyPr wrap="square" lIns="22860" rIns="22860" tIns="0" bIns="0">
            <a:spAutoFit/>
          </a:bodyPr>
          <a:lstStyle/>
          <a:p>
            <a:pPr algn="ctr">
              <a:spcAft>
                <a:spcPts val="600"/>
              </a:spcAft>
              <a:defRPr sz="2100" b="1">
                <a:solidFill>
                  <a:srgbClr val="C00000"/>
                </a:solidFill>
                <a:latin typeface="Microsoft YaHei"/>
              </a:defRPr>
            </a:pPr>
            <a:r>
              <a:t>脱氯率、目标收率</a:t>
            </a:r>
          </a:p>
          <a:p>
            <a:pPr algn="ctr">
              <a:spcAft>
                <a:spcPts val="600"/>
              </a:spcAft>
              <a:defRPr sz="2100" b="1">
                <a:solidFill>
                  <a:srgbClr val="C00000"/>
                </a:solidFill>
                <a:latin typeface="Microsoft YaHei"/>
              </a:defRPr>
            </a:pPr>
            <a:r>
              <a:t>或 PVC 降解率</a:t>
            </a:r>
          </a:p>
        </p:txBody>
      </p:sp>
      <p:sp>
        <p:nvSpPr>
          <p:cNvPr id="50" name="Rectangle 49"/>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Chevron 50"/>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53" name="TextBox 52"/>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故事围绕“反应由谁启动、信号来自哪里、主链是否改变”逐层收敛。</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研究背景：PVC 回收与化学升级利用路径</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PVC 回收利用路径多样，化学结构转化为高值利用提供新的研究方向</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Xu et al., Nat. Rev. Methods Primers 2023, 3, 44.  DOI: 10.1038/s43586-023-00227-w</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3</a:t>
            </a:r>
          </a:p>
        </p:txBody>
      </p:sp>
      <p:sp>
        <p:nvSpPr>
          <p:cNvPr id="7" name="Rounded Rectangle 6"/>
          <p:cNvSpPr/>
          <p:nvPr/>
        </p:nvSpPr>
        <p:spPr>
          <a:xfrm>
            <a:off x="320040" y="1325880"/>
            <a:ext cx="6227064" cy="1746504"/>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347472" y="1353312"/>
            <a:ext cx="6172200"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66344" y="1403604"/>
            <a:ext cx="5934456"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PVC：重要的含氯通用塑料</a:t>
            </a:r>
          </a:p>
        </p:txBody>
      </p:sp>
      <p:sp>
        <p:nvSpPr>
          <p:cNvPr id="10" name="Freeform 9"/>
          <p:cNvSpPr/>
          <p:nvPr/>
        </p:nvSpPr>
        <p:spPr>
          <a:xfrm>
            <a:off x="713232" y="1901952"/>
            <a:ext cx="1700783" cy="118872"/>
          </a:xfrm>
          <a:custGeom>
            <a:avLst/>
            <a:gdLst/>
            <a:ahLst/>
            <a:cxnLst/>
            <a:rect l="l" t="t" r="r" b="b"/>
            <a:pathLst>
              <a:path w="1700783" h="118872">
                <a:moveTo>
                  <a:pt x="0" y="0"/>
                </a:moveTo>
                <a:lnTo>
                  <a:pt x="283464" y="118872"/>
                </a:lnTo>
                <a:lnTo>
                  <a:pt x="566928" y="0"/>
                </a:lnTo>
                <a:lnTo>
                  <a:pt x="850392" y="118872"/>
                </a:lnTo>
                <a:lnTo>
                  <a:pt x="1133856" y="0"/>
                </a:lnTo>
                <a:lnTo>
                  <a:pt x="1417320" y="118872"/>
                </a:lnTo>
                <a:lnTo>
                  <a:pt x="1700783"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 name="Connector 10"/>
          <p:cNvCxnSpPr/>
          <p:nvPr/>
        </p:nvCxnSpPr>
        <p:spPr>
          <a:xfrm>
            <a:off x="996696" y="2020824"/>
            <a:ext cx="0" cy="21945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905256" y="2267712"/>
            <a:ext cx="292608" cy="192024"/>
          </a:xfrm>
          <a:prstGeom prst="rect">
            <a:avLst/>
          </a:prstGeom>
          <a:noFill/>
          <a:effectLst/>
        </p:spPr>
        <p:txBody>
          <a:bodyPr wrap="square" lIns="22860" rIns="22860" tIns="0" bIns="0">
            <a:spAutoFit/>
          </a:bodyPr>
          <a:lstStyle/>
          <a:p>
            <a:pPr>
              <a:spcAft>
                <a:spcPts val="600"/>
              </a:spcAft>
              <a:defRPr sz="1200" b="0">
                <a:solidFill>
                  <a:srgbClr val="063584"/>
                </a:solidFill>
                <a:latin typeface="Arial"/>
              </a:defRPr>
            </a:pPr>
            <a:r>
              <a:t>Cl</a:t>
            </a:r>
          </a:p>
        </p:txBody>
      </p:sp>
      <p:cxnSp>
        <p:nvCxnSpPr>
          <p:cNvPr id="13" name="Connector 12"/>
          <p:cNvCxnSpPr/>
          <p:nvPr/>
        </p:nvCxnSpPr>
        <p:spPr>
          <a:xfrm>
            <a:off x="1563624" y="2020824"/>
            <a:ext cx="0" cy="21945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1472184" y="2267712"/>
            <a:ext cx="292608" cy="192024"/>
          </a:xfrm>
          <a:prstGeom prst="rect">
            <a:avLst/>
          </a:prstGeom>
          <a:noFill/>
          <a:effectLst/>
        </p:spPr>
        <p:txBody>
          <a:bodyPr wrap="square" lIns="22860" rIns="22860" tIns="0" bIns="0">
            <a:spAutoFit/>
          </a:bodyPr>
          <a:lstStyle/>
          <a:p>
            <a:pPr>
              <a:spcAft>
                <a:spcPts val="600"/>
              </a:spcAft>
              <a:defRPr sz="1200" b="0">
                <a:solidFill>
                  <a:srgbClr val="063584"/>
                </a:solidFill>
                <a:latin typeface="Arial"/>
              </a:defRPr>
            </a:pPr>
            <a:r>
              <a:t>Cl</a:t>
            </a:r>
          </a:p>
        </p:txBody>
      </p:sp>
      <p:cxnSp>
        <p:nvCxnSpPr>
          <p:cNvPr id="15" name="Connector 14"/>
          <p:cNvCxnSpPr/>
          <p:nvPr/>
        </p:nvCxnSpPr>
        <p:spPr>
          <a:xfrm>
            <a:off x="2130552" y="2020824"/>
            <a:ext cx="0" cy="21945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2039112" y="2267712"/>
            <a:ext cx="292608" cy="192024"/>
          </a:xfrm>
          <a:prstGeom prst="rect">
            <a:avLst/>
          </a:prstGeom>
          <a:noFill/>
          <a:effectLst/>
        </p:spPr>
        <p:txBody>
          <a:bodyPr wrap="square" lIns="22860" rIns="22860" tIns="0" bIns="0">
            <a:spAutoFit/>
          </a:bodyPr>
          <a:lstStyle/>
          <a:p>
            <a:pPr>
              <a:spcAft>
                <a:spcPts val="600"/>
              </a:spcAft>
              <a:defRPr sz="1200" b="0">
                <a:solidFill>
                  <a:srgbClr val="063584"/>
                </a:solidFill>
                <a:latin typeface="Arial"/>
              </a:defRPr>
            </a:pPr>
            <a:r>
              <a:t>Cl</a:t>
            </a:r>
          </a:p>
        </p:txBody>
      </p:sp>
      <p:sp>
        <p:nvSpPr>
          <p:cNvPr id="17" name="Freeform 16"/>
          <p:cNvSpPr/>
          <p:nvPr/>
        </p:nvSpPr>
        <p:spPr>
          <a:xfrm>
            <a:off x="576072" y="1746504"/>
            <a:ext cx="82296" cy="822960"/>
          </a:xfrm>
          <a:custGeom>
            <a:avLst/>
            <a:gdLst/>
            <a:ahLst/>
            <a:cxnLst/>
            <a:rect l="l" t="t" r="r" b="b"/>
            <a:pathLst>
              <a:path w="82296" h="822960">
                <a:moveTo>
                  <a:pt x="82296" y="0"/>
                </a:moveTo>
                <a:lnTo>
                  <a:pt x="0" y="0"/>
                </a:lnTo>
                <a:lnTo>
                  <a:pt x="0" y="822960"/>
                </a:lnTo>
                <a:lnTo>
                  <a:pt x="82296" y="822960"/>
                </a:lnTo>
              </a:path>
            </a:pathLst>
          </a:custGeom>
          <a:noFill/>
          <a:ln w="1651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Freeform 17"/>
          <p:cNvSpPr/>
          <p:nvPr/>
        </p:nvSpPr>
        <p:spPr>
          <a:xfrm>
            <a:off x="2514600" y="1746504"/>
            <a:ext cx="82296" cy="822960"/>
          </a:xfrm>
          <a:custGeom>
            <a:avLst/>
            <a:gdLst/>
            <a:ahLst/>
            <a:cxnLst/>
            <a:rect l="l" t="t" r="r" b="b"/>
            <a:pathLst>
              <a:path w="82296" h="822960">
                <a:moveTo>
                  <a:pt x="0" y="0"/>
                </a:moveTo>
                <a:lnTo>
                  <a:pt x="82296" y="0"/>
                </a:lnTo>
                <a:lnTo>
                  <a:pt x="82296" y="822960"/>
                </a:lnTo>
                <a:lnTo>
                  <a:pt x="0" y="822960"/>
                </a:lnTo>
              </a:path>
            </a:pathLst>
          </a:custGeom>
          <a:noFill/>
          <a:ln w="1651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2624328" y="2423160"/>
            <a:ext cx="201168" cy="210312"/>
          </a:xfrm>
          <a:prstGeom prst="rect">
            <a:avLst/>
          </a:prstGeom>
          <a:noFill/>
          <a:effectLst/>
        </p:spPr>
        <p:txBody>
          <a:bodyPr wrap="square" lIns="22860" rIns="22860" tIns="0" bIns="0">
            <a:spAutoFit/>
          </a:bodyPr>
          <a:lstStyle/>
          <a:p>
            <a:pPr>
              <a:spcAft>
                <a:spcPts val="600"/>
              </a:spcAft>
              <a:defRPr sz="1200" b="0">
                <a:solidFill>
                  <a:srgbClr val="111111"/>
                </a:solidFill>
                <a:latin typeface="Arial"/>
              </a:defRPr>
            </a:pPr>
            <a:r>
              <a:t>n</a:t>
            </a:r>
          </a:p>
        </p:txBody>
      </p:sp>
      <p:sp>
        <p:nvSpPr>
          <p:cNvPr id="20" name="TextBox 19"/>
          <p:cNvSpPr txBox="1"/>
          <p:nvPr/>
        </p:nvSpPr>
        <p:spPr>
          <a:xfrm>
            <a:off x="658368" y="2734056"/>
            <a:ext cx="2011680" cy="210312"/>
          </a:xfrm>
          <a:prstGeom prst="rect">
            <a:avLst/>
          </a:prstGeom>
          <a:noFill/>
          <a:effectLst/>
        </p:spPr>
        <p:txBody>
          <a:bodyPr wrap="square" lIns="22860" rIns="22860" tIns="0" bIns="0">
            <a:spAutoFit/>
          </a:bodyPr>
          <a:lstStyle/>
          <a:p>
            <a:pPr algn="ctr">
              <a:spcAft>
                <a:spcPts val="600"/>
              </a:spcAft>
              <a:defRPr sz="1250" b="1">
                <a:solidFill>
                  <a:srgbClr val="063584"/>
                </a:solidFill>
                <a:latin typeface="Microsoft YaHei"/>
              </a:defRPr>
            </a:pPr>
            <a:r>
              <a:t>PVC 结构单元</a:t>
            </a:r>
          </a:p>
        </p:txBody>
      </p:sp>
      <p:sp>
        <p:nvSpPr>
          <p:cNvPr id="21" name="Oval 20"/>
          <p:cNvSpPr/>
          <p:nvPr/>
        </p:nvSpPr>
        <p:spPr>
          <a:xfrm>
            <a:off x="2956255" y="1822399"/>
            <a:ext cx="104241" cy="104241"/>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3154680" y="1783080"/>
            <a:ext cx="3182112" cy="237744"/>
          </a:xfrm>
          <a:prstGeom prst="rect">
            <a:avLst/>
          </a:prstGeom>
          <a:noFill/>
          <a:effectLst/>
        </p:spPr>
        <p:txBody>
          <a:bodyPr wrap="square" lIns="22860" rIns="22860" tIns="0" bIns="0">
            <a:spAutoFit/>
          </a:bodyPr>
          <a:lstStyle/>
          <a:p>
            <a:pPr>
              <a:spcAft>
                <a:spcPts val="600"/>
              </a:spcAft>
              <a:defRPr sz="1250" b="0">
                <a:solidFill>
                  <a:srgbClr val="063584"/>
                </a:solidFill>
                <a:latin typeface="Microsoft YaHei"/>
              </a:defRPr>
            </a:pPr>
            <a:r>
              <a:t>产量大、应用广泛</a:t>
            </a:r>
          </a:p>
        </p:txBody>
      </p:sp>
      <p:sp>
        <p:nvSpPr>
          <p:cNvPr id="23" name="Oval 22"/>
          <p:cNvSpPr/>
          <p:nvPr/>
        </p:nvSpPr>
        <p:spPr>
          <a:xfrm>
            <a:off x="2956255" y="2115007"/>
            <a:ext cx="104241" cy="104241"/>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3154680" y="2075688"/>
            <a:ext cx="3182112" cy="237744"/>
          </a:xfrm>
          <a:prstGeom prst="rect">
            <a:avLst/>
          </a:prstGeom>
          <a:noFill/>
          <a:effectLst/>
        </p:spPr>
        <p:txBody>
          <a:bodyPr wrap="square" lIns="22860" rIns="22860" tIns="0" bIns="0">
            <a:spAutoFit/>
          </a:bodyPr>
          <a:lstStyle/>
          <a:p>
            <a:pPr>
              <a:spcAft>
                <a:spcPts val="600"/>
              </a:spcAft>
              <a:defRPr sz="1250" b="0">
                <a:solidFill>
                  <a:srgbClr val="063584"/>
                </a:solidFill>
                <a:latin typeface="Microsoft YaHei"/>
              </a:defRPr>
            </a:pPr>
            <a:r>
              <a:t>含有大量 C–Cl 键，具有独特的化学结构</a:t>
            </a:r>
          </a:p>
        </p:txBody>
      </p:sp>
      <p:sp>
        <p:nvSpPr>
          <p:cNvPr id="25" name="Oval 24"/>
          <p:cNvSpPr/>
          <p:nvPr/>
        </p:nvSpPr>
        <p:spPr>
          <a:xfrm>
            <a:off x="2956255" y="2407615"/>
            <a:ext cx="104241" cy="104241"/>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3154680" y="2368296"/>
            <a:ext cx="3182112" cy="237744"/>
          </a:xfrm>
          <a:prstGeom prst="rect">
            <a:avLst/>
          </a:prstGeom>
          <a:noFill/>
          <a:effectLst/>
        </p:spPr>
        <p:txBody>
          <a:bodyPr wrap="square" lIns="22860" rIns="22860" tIns="0" bIns="0">
            <a:spAutoFit/>
          </a:bodyPr>
          <a:lstStyle/>
          <a:p>
            <a:pPr>
              <a:spcAft>
                <a:spcPts val="600"/>
              </a:spcAft>
              <a:defRPr sz="1250" b="0">
                <a:solidFill>
                  <a:srgbClr val="063584"/>
                </a:solidFill>
                <a:latin typeface="Microsoft YaHei"/>
              </a:defRPr>
            </a:pPr>
            <a:r>
              <a:t>实际制品含增塑剂、稳定剂等多种添加剂</a:t>
            </a:r>
          </a:p>
        </p:txBody>
      </p:sp>
      <p:sp>
        <p:nvSpPr>
          <p:cNvPr id="27" name="Oval 26"/>
          <p:cNvSpPr/>
          <p:nvPr/>
        </p:nvSpPr>
        <p:spPr>
          <a:xfrm>
            <a:off x="2956255" y="2700223"/>
            <a:ext cx="104241" cy="104241"/>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3154680" y="2660904"/>
            <a:ext cx="3182112" cy="237744"/>
          </a:xfrm>
          <a:prstGeom prst="rect">
            <a:avLst/>
          </a:prstGeom>
          <a:noFill/>
          <a:effectLst/>
        </p:spPr>
        <p:txBody>
          <a:bodyPr wrap="square" lIns="22860" rIns="22860" tIns="0" bIns="0">
            <a:spAutoFit/>
          </a:bodyPr>
          <a:lstStyle/>
          <a:p>
            <a:pPr>
              <a:spcAft>
                <a:spcPts val="600"/>
              </a:spcAft>
              <a:defRPr sz="1250" b="0">
                <a:solidFill>
                  <a:srgbClr val="063584"/>
                </a:solidFill>
                <a:latin typeface="Microsoft YaHei"/>
              </a:defRPr>
            </a:pPr>
            <a:r>
              <a:t>回收与化学转化需协同管理氯与碳骨架</a:t>
            </a:r>
          </a:p>
        </p:txBody>
      </p:sp>
      <p:sp>
        <p:nvSpPr>
          <p:cNvPr id="29" name="Rounded Rectangle 28"/>
          <p:cNvSpPr/>
          <p:nvPr/>
        </p:nvSpPr>
        <p:spPr>
          <a:xfrm>
            <a:off x="320040" y="3246120"/>
            <a:ext cx="6227064" cy="25054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347472" y="3273551"/>
            <a:ext cx="6172200"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466344" y="3323844"/>
            <a:ext cx="5934456"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PVC 的主要回收与转化方式</a:t>
            </a:r>
          </a:p>
        </p:txBody>
      </p:sp>
      <p:sp>
        <p:nvSpPr>
          <p:cNvPr id="32" name="Rounded Rectangle 31"/>
          <p:cNvSpPr/>
          <p:nvPr/>
        </p:nvSpPr>
        <p:spPr>
          <a:xfrm>
            <a:off x="438912" y="3685032"/>
            <a:ext cx="5989320" cy="594360"/>
          </a:xfrm>
          <a:prstGeom prst="roundRect">
            <a:avLst>
              <a:gd name="adj" fmla="val 2500"/>
            </a:avLst>
          </a:prstGeom>
          <a:solidFill>
            <a:srgbClr val="F4F7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Freeform 32"/>
          <p:cNvSpPr/>
          <p:nvPr/>
        </p:nvSpPr>
        <p:spPr>
          <a:xfrm>
            <a:off x="754562" y="3815974"/>
            <a:ext cx="159838" cy="159837"/>
          </a:xfrm>
          <a:custGeom>
            <a:avLst/>
            <a:gdLst/>
            <a:ahLst/>
            <a:cxnLst/>
            <a:rect l="l" t="t" r="r" b="b"/>
            <a:pathLst>
              <a:path w="159838" h="159837">
                <a:moveTo>
                  <a:pt x="0" y="0"/>
                </a:moveTo>
                <a:lnTo>
                  <a:pt x="5705" y="101"/>
                </a:lnTo>
                <a:lnTo>
                  <a:pt x="11403" y="407"/>
                </a:lnTo>
                <a:lnTo>
                  <a:pt x="17086" y="915"/>
                </a:lnTo>
                <a:lnTo>
                  <a:pt x="22748" y="1626"/>
                </a:lnTo>
                <a:lnTo>
                  <a:pt x="28380" y="2539"/>
                </a:lnTo>
                <a:lnTo>
                  <a:pt x="33976" y="3652"/>
                </a:lnTo>
                <a:lnTo>
                  <a:pt x="39529" y="4965"/>
                </a:lnTo>
                <a:lnTo>
                  <a:pt x="45032" y="6474"/>
                </a:lnTo>
                <a:lnTo>
                  <a:pt x="50477" y="8179"/>
                </a:lnTo>
                <a:lnTo>
                  <a:pt x="55858" y="10077"/>
                </a:lnTo>
                <a:lnTo>
                  <a:pt x="61167" y="12166"/>
                </a:lnTo>
                <a:lnTo>
                  <a:pt x="66399" y="14444"/>
                </a:lnTo>
                <a:lnTo>
                  <a:pt x="71546" y="16906"/>
                </a:lnTo>
                <a:lnTo>
                  <a:pt x="76602" y="19551"/>
                </a:lnTo>
                <a:lnTo>
                  <a:pt x="81560" y="22375"/>
                </a:lnTo>
                <a:lnTo>
                  <a:pt x="86415" y="25373"/>
                </a:lnTo>
                <a:lnTo>
                  <a:pt x="91159" y="28543"/>
                </a:lnTo>
                <a:lnTo>
                  <a:pt x="95787" y="31880"/>
                </a:lnTo>
                <a:lnTo>
                  <a:pt x="100293" y="35381"/>
                </a:lnTo>
                <a:lnTo>
                  <a:pt x="104671" y="39040"/>
                </a:lnTo>
                <a:lnTo>
                  <a:pt x="108916" y="42853"/>
                </a:lnTo>
                <a:lnTo>
                  <a:pt x="113022" y="46815"/>
                </a:lnTo>
                <a:lnTo>
                  <a:pt x="116984" y="50921"/>
                </a:lnTo>
                <a:lnTo>
                  <a:pt x="120797" y="55166"/>
                </a:lnTo>
                <a:lnTo>
                  <a:pt x="124456" y="59544"/>
                </a:lnTo>
                <a:lnTo>
                  <a:pt x="127957" y="64050"/>
                </a:lnTo>
                <a:lnTo>
                  <a:pt x="131294" y="68678"/>
                </a:lnTo>
                <a:lnTo>
                  <a:pt x="134464" y="73422"/>
                </a:lnTo>
                <a:lnTo>
                  <a:pt x="137463" y="78277"/>
                </a:lnTo>
                <a:lnTo>
                  <a:pt x="140286" y="83235"/>
                </a:lnTo>
                <a:lnTo>
                  <a:pt x="142931" y="88291"/>
                </a:lnTo>
                <a:lnTo>
                  <a:pt x="145393" y="93438"/>
                </a:lnTo>
                <a:lnTo>
                  <a:pt x="147671" y="98670"/>
                </a:lnTo>
                <a:lnTo>
                  <a:pt x="149760" y="103979"/>
                </a:lnTo>
                <a:lnTo>
                  <a:pt x="151658" y="109360"/>
                </a:lnTo>
                <a:lnTo>
                  <a:pt x="153363" y="114805"/>
                </a:lnTo>
                <a:lnTo>
                  <a:pt x="154873" y="120308"/>
                </a:lnTo>
                <a:lnTo>
                  <a:pt x="156185" y="125861"/>
                </a:lnTo>
                <a:lnTo>
                  <a:pt x="157298" y="131457"/>
                </a:lnTo>
                <a:lnTo>
                  <a:pt x="158211" y="137090"/>
                </a:lnTo>
                <a:lnTo>
                  <a:pt x="158922" y="142751"/>
                </a:lnTo>
                <a:lnTo>
                  <a:pt x="159430" y="148434"/>
                </a:lnTo>
                <a:lnTo>
                  <a:pt x="159736" y="154132"/>
                </a:lnTo>
                <a:lnTo>
                  <a:pt x="159838" y="159837"/>
                </a:lnTo>
              </a:path>
            </a:pathLst>
          </a:custGeom>
          <a:noFill/>
          <a:ln w="20320">
            <a:solidFill>
              <a:srgbClr val="063584"/>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Freeform 33"/>
          <p:cNvSpPr/>
          <p:nvPr/>
        </p:nvSpPr>
        <p:spPr>
          <a:xfrm>
            <a:off x="674644" y="4055729"/>
            <a:ext cx="218341" cy="79908"/>
          </a:xfrm>
          <a:custGeom>
            <a:avLst/>
            <a:gdLst/>
            <a:ahLst/>
            <a:cxnLst/>
            <a:rect l="l" t="t" r="r" b="b"/>
            <a:pathLst>
              <a:path w="218341" h="79908">
                <a:moveTo>
                  <a:pt x="218341" y="0"/>
                </a:moveTo>
                <a:lnTo>
                  <a:pt x="215401" y="4890"/>
                </a:lnTo>
                <a:lnTo>
                  <a:pt x="212287" y="9672"/>
                </a:lnTo>
                <a:lnTo>
                  <a:pt x="209005" y="14339"/>
                </a:lnTo>
                <a:lnTo>
                  <a:pt x="205559" y="18886"/>
                </a:lnTo>
                <a:lnTo>
                  <a:pt x="201952" y="23308"/>
                </a:lnTo>
                <a:lnTo>
                  <a:pt x="198190" y="27598"/>
                </a:lnTo>
                <a:lnTo>
                  <a:pt x="194277" y="31751"/>
                </a:lnTo>
                <a:lnTo>
                  <a:pt x="190219" y="35761"/>
                </a:lnTo>
                <a:lnTo>
                  <a:pt x="186019" y="39624"/>
                </a:lnTo>
                <a:lnTo>
                  <a:pt x="181685" y="43335"/>
                </a:lnTo>
                <a:lnTo>
                  <a:pt x="177221" y="46889"/>
                </a:lnTo>
                <a:lnTo>
                  <a:pt x="172633" y="50281"/>
                </a:lnTo>
                <a:lnTo>
                  <a:pt x="167927" y="53507"/>
                </a:lnTo>
                <a:lnTo>
                  <a:pt x="163108" y="56564"/>
                </a:lnTo>
                <a:lnTo>
                  <a:pt x="158184" y="59446"/>
                </a:lnTo>
                <a:lnTo>
                  <a:pt x="153160" y="62151"/>
                </a:lnTo>
                <a:lnTo>
                  <a:pt x="148043" y="64674"/>
                </a:lnTo>
                <a:lnTo>
                  <a:pt x="142838" y="67014"/>
                </a:lnTo>
                <a:lnTo>
                  <a:pt x="137554" y="69166"/>
                </a:lnTo>
                <a:lnTo>
                  <a:pt x="132196" y="71128"/>
                </a:lnTo>
                <a:lnTo>
                  <a:pt x="126771" y="72898"/>
                </a:lnTo>
                <a:lnTo>
                  <a:pt x="121287" y="74473"/>
                </a:lnTo>
                <a:lnTo>
                  <a:pt x="115750" y="75851"/>
                </a:lnTo>
                <a:lnTo>
                  <a:pt x="110168" y="77030"/>
                </a:lnTo>
                <a:lnTo>
                  <a:pt x="104547" y="78010"/>
                </a:lnTo>
                <a:lnTo>
                  <a:pt x="98894" y="78788"/>
                </a:lnTo>
                <a:lnTo>
                  <a:pt x="93217" y="79365"/>
                </a:lnTo>
                <a:lnTo>
                  <a:pt x="87524" y="79738"/>
                </a:lnTo>
                <a:lnTo>
                  <a:pt x="81820" y="79908"/>
                </a:lnTo>
                <a:lnTo>
                  <a:pt x="76115" y="79874"/>
                </a:lnTo>
                <a:lnTo>
                  <a:pt x="70414" y="79636"/>
                </a:lnTo>
                <a:lnTo>
                  <a:pt x="64725" y="79195"/>
                </a:lnTo>
                <a:lnTo>
                  <a:pt x="59055" y="78551"/>
                </a:lnTo>
                <a:lnTo>
                  <a:pt x="53413" y="77706"/>
                </a:lnTo>
                <a:lnTo>
                  <a:pt x="47804" y="76659"/>
                </a:lnTo>
                <a:lnTo>
                  <a:pt x="42235" y="75413"/>
                </a:lnTo>
                <a:lnTo>
                  <a:pt x="36715" y="73969"/>
                </a:lnTo>
                <a:lnTo>
                  <a:pt x="31250" y="72329"/>
                </a:lnTo>
                <a:lnTo>
                  <a:pt x="25847" y="70495"/>
                </a:lnTo>
                <a:lnTo>
                  <a:pt x="20513" y="68469"/>
                </a:lnTo>
                <a:lnTo>
                  <a:pt x="15254" y="66254"/>
                </a:lnTo>
                <a:lnTo>
                  <a:pt x="10078" y="63853"/>
                </a:lnTo>
                <a:lnTo>
                  <a:pt x="4991" y="61269"/>
                </a:lnTo>
                <a:lnTo>
                  <a:pt x="0" y="58505"/>
                </a:lnTo>
              </a:path>
            </a:pathLst>
          </a:custGeom>
          <a:noFill/>
          <a:ln w="20320">
            <a:solidFill>
              <a:srgbClr val="063584"/>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Freeform 34"/>
          <p:cNvSpPr/>
          <p:nvPr/>
        </p:nvSpPr>
        <p:spPr>
          <a:xfrm>
            <a:off x="594737" y="3837388"/>
            <a:ext cx="79907" cy="218341"/>
          </a:xfrm>
          <a:custGeom>
            <a:avLst/>
            <a:gdLst/>
            <a:ahLst/>
            <a:cxnLst/>
            <a:rect l="l" t="t" r="r" b="b"/>
            <a:pathLst>
              <a:path w="79907" h="218341">
                <a:moveTo>
                  <a:pt x="21402" y="218341"/>
                </a:moveTo>
                <a:lnTo>
                  <a:pt x="18638" y="213350"/>
                </a:lnTo>
                <a:lnTo>
                  <a:pt x="16054" y="208263"/>
                </a:lnTo>
                <a:lnTo>
                  <a:pt x="13653" y="203087"/>
                </a:lnTo>
                <a:lnTo>
                  <a:pt x="11438" y="197828"/>
                </a:lnTo>
                <a:lnTo>
                  <a:pt x="9412" y="192494"/>
                </a:lnTo>
                <a:lnTo>
                  <a:pt x="7578" y="187091"/>
                </a:lnTo>
                <a:lnTo>
                  <a:pt x="5938" y="181626"/>
                </a:lnTo>
                <a:lnTo>
                  <a:pt x="4494" y="176106"/>
                </a:lnTo>
                <a:lnTo>
                  <a:pt x="3248" y="170538"/>
                </a:lnTo>
                <a:lnTo>
                  <a:pt x="2201" y="164928"/>
                </a:lnTo>
                <a:lnTo>
                  <a:pt x="1356" y="159286"/>
                </a:lnTo>
                <a:lnTo>
                  <a:pt x="712" y="153616"/>
                </a:lnTo>
                <a:lnTo>
                  <a:pt x="271" y="147927"/>
                </a:lnTo>
                <a:lnTo>
                  <a:pt x="34" y="142226"/>
                </a:lnTo>
                <a:lnTo>
                  <a:pt x="0" y="136521"/>
                </a:lnTo>
                <a:lnTo>
                  <a:pt x="169" y="130817"/>
                </a:lnTo>
                <a:lnTo>
                  <a:pt x="542" y="125124"/>
                </a:lnTo>
                <a:lnTo>
                  <a:pt x="1119" y="119447"/>
                </a:lnTo>
                <a:lnTo>
                  <a:pt x="1897" y="113794"/>
                </a:lnTo>
                <a:lnTo>
                  <a:pt x="2877" y="108173"/>
                </a:lnTo>
                <a:lnTo>
                  <a:pt x="4056" y="102591"/>
                </a:lnTo>
                <a:lnTo>
                  <a:pt x="5435" y="97054"/>
                </a:lnTo>
                <a:lnTo>
                  <a:pt x="7010" y="91570"/>
                </a:lnTo>
                <a:lnTo>
                  <a:pt x="8779" y="86145"/>
                </a:lnTo>
                <a:lnTo>
                  <a:pt x="10741" y="80787"/>
                </a:lnTo>
                <a:lnTo>
                  <a:pt x="12893" y="75503"/>
                </a:lnTo>
                <a:lnTo>
                  <a:pt x="15233" y="70299"/>
                </a:lnTo>
                <a:lnTo>
                  <a:pt x="17756" y="65181"/>
                </a:lnTo>
                <a:lnTo>
                  <a:pt x="20461" y="60157"/>
                </a:lnTo>
                <a:lnTo>
                  <a:pt x="23343" y="55233"/>
                </a:lnTo>
                <a:lnTo>
                  <a:pt x="26400" y="50414"/>
                </a:lnTo>
                <a:lnTo>
                  <a:pt x="29626" y="45708"/>
                </a:lnTo>
                <a:lnTo>
                  <a:pt x="33018" y="41120"/>
                </a:lnTo>
                <a:lnTo>
                  <a:pt x="36572" y="36656"/>
                </a:lnTo>
                <a:lnTo>
                  <a:pt x="40283" y="32322"/>
                </a:lnTo>
                <a:lnTo>
                  <a:pt x="44146" y="28122"/>
                </a:lnTo>
                <a:lnTo>
                  <a:pt x="48156" y="24064"/>
                </a:lnTo>
                <a:lnTo>
                  <a:pt x="52309" y="20151"/>
                </a:lnTo>
                <a:lnTo>
                  <a:pt x="56599" y="16389"/>
                </a:lnTo>
                <a:lnTo>
                  <a:pt x="61021" y="12782"/>
                </a:lnTo>
                <a:lnTo>
                  <a:pt x="65568" y="9336"/>
                </a:lnTo>
                <a:lnTo>
                  <a:pt x="70235" y="6054"/>
                </a:lnTo>
                <a:lnTo>
                  <a:pt x="75017" y="2940"/>
                </a:lnTo>
                <a:lnTo>
                  <a:pt x="79907" y="0"/>
                </a:lnTo>
              </a:path>
            </a:pathLst>
          </a:custGeom>
          <a:noFill/>
          <a:ln w="20320">
            <a:solidFill>
              <a:srgbClr val="063584"/>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1097280" y="3758184"/>
            <a:ext cx="1554480" cy="246888"/>
          </a:xfrm>
          <a:prstGeom prst="rect">
            <a:avLst/>
          </a:prstGeom>
          <a:noFill/>
          <a:effectLst/>
        </p:spPr>
        <p:txBody>
          <a:bodyPr wrap="square" lIns="22860" rIns="22860" tIns="0" bIns="0">
            <a:spAutoFit/>
          </a:bodyPr>
          <a:lstStyle/>
          <a:p>
            <a:pPr>
              <a:spcAft>
                <a:spcPts val="600"/>
              </a:spcAft>
              <a:defRPr sz="1600" b="1">
                <a:solidFill>
                  <a:srgbClr val="063584"/>
                </a:solidFill>
                <a:latin typeface="Microsoft YaHei"/>
              </a:defRPr>
            </a:pPr>
            <a:r>
              <a:t>机械回收</a:t>
            </a:r>
          </a:p>
        </p:txBody>
      </p:sp>
      <p:sp>
        <p:nvSpPr>
          <p:cNvPr id="37" name="TextBox 36"/>
          <p:cNvSpPr txBox="1"/>
          <p:nvPr/>
        </p:nvSpPr>
        <p:spPr>
          <a:xfrm>
            <a:off x="1097280" y="4078224"/>
            <a:ext cx="1691640" cy="173736"/>
          </a:xfrm>
          <a:prstGeom prst="rect">
            <a:avLst/>
          </a:prstGeom>
          <a:noFill/>
          <a:effectLst/>
        </p:spPr>
        <p:txBody>
          <a:bodyPr wrap="square" lIns="22860" rIns="22860" tIns="0" bIns="0">
            <a:spAutoFit/>
          </a:bodyPr>
          <a:lstStyle/>
          <a:p>
            <a:pPr>
              <a:spcAft>
                <a:spcPts val="600"/>
              </a:spcAft>
              <a:defRPr sz="940" b="0">
                <a:solidFill>
                  <a:srgbClr val="566273"/>
                </a:solidFill>
                <a:latin typeface="Microsoft YaHei"/>
              </a:defRPr>
            </a:pPr>
            <a:r>
              <a:t>分选、清洗、再加工</a:t>
            </a:r>
          </a:p>
        </p:txBody>
      </p:sp>
      <p:sp>
        <p:nvSpPr>
          <p:cNvPr id="38" name="Freeform 37"/>
          <p:cNvSpPr/>
          <p:nvPr/>
        </p:nvSpPr>
        <p:spPr>
          <a:xfrm>
            <a:off x="2663281" y="3805275"/>
            <a:ext cx="138257" cy="120975"/>
          </a:xfrm>
          <a:custGeom>
            <a:avLst/>
            <a:gdLst/>
            <a:ahLst/>
            <a:cxnLst/>
            <a:rect l="l" t="t" r="r" b="b"/>
            <a:pathLst>
              <a:path w="138257" h="120975">
                <a:moveTo>
                  <a:pt x="11521" y="11522"/>
                </a:moveTo>
                <a:lnTo>
                  <a:pt x="115214" y="0"/>
                </a:lnTo>
                <a:lnTo>
                  <a:pt x="138257" y="80650"/>
                </a:lnTo>
                <a:lnTo>
                  <a:pt x="69129" y="120975"/>
                </a:lnTo>
                <a:lnTo>
                  <a:pt x="0" y="69129"/>
                </a:lnTo>
                <a:lnTo>
                  <a:pt x="11521" y="11522"/>
                </a:lnTo>
              </a:path>
            </a:pathLst>
          </a:custGeom>
          <a:solidFill>
            <a:srgbClr val="D2E1F6"/>
          </a:solidFill>
          <a:ln w="12700">
            <a:solidFill>
              <a:srgbClr val="3365B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Freeform 38"/>
          <p:cNvSpPr/>
          <p:nvPr/>
        </p:nvSpPr>
        <p:spPr>
          <a:xfrm>
            <a:off x="2836103" y="3822557"/>
            <a:ext cx="138257" cy="120975"/>
          </a:xfrm>
          <a:custGeom>
            <a:avLst/>
            <a:gdLst/>
            <a:ahLst/>
            <a:cxnLst/>
            <a:rect l="l" t="t" r="r" b="b"/>
            <a:pathLst>
              <a:path w="138257" h="120975">
                <a:moveTo>
                  <a:pt x="11521" y="11522"/>
                </a:moveTo>
                <a:lnTo>
                  <a:pt x="115214" y="0"/>
                </a:lnTo>
                <a:lnTo>
                  <a:pt x="138257" y="80650"/>
                </a:lnTo>
                <a:lnTo>
                  <a:pt x="69128" y="120975"/>
                </a:lnTo>
                <a:lnTo>
                  <a:pt x="0" y="69129"/>
                </a:lnTo>
                <a:lnTo>
                  <a:pt x="11521" y="11522"/>
                </a:lnTo>
              </a:path>
            </a:pathLst>
          </a:custGeom>
          <a:solidFill>
            <a:srgbClr val="EDF3FF"/>
          </a:solidFill>
          <a:ln w="12700">
            <a:solidFill>
              <a:srgbClr val="3365B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Freeform 39"/>
          <p:cNvSpPr/>
          <p:nvPr/>
        </p:nvSpPr>
        <p:spPr>
          <a:xfrm>
            <a:off x="2743931" y="3937772"/>
            <a:ext cx="138257" cy="120975"/>
          </a:xfrm>
          <a:custGeom>
            <a:avLst/>
            <a:gdLst/>
            <a:ahLst/>
            <a:cxnLst/>
            <a:rect l="l" t="t" r="r" b="b"/>
            <a:pathLst>
              <a:path w="138257" h="120975">
                <a:moveTo>
                  <a:pt x="11521" y="11521"/>
                </a:moveTo>
                <a:lnTo>
                  <a:pt x="115214" y="0"/>
                </a:lnTo>
                <a:lnTo>
                  <a:pt x="138257" y="80650"/>
                </a:lnTo>
                <a:lnTo>
                  <a:pt x="69129" y="120975"/>
                </a:lnTo>
                <a:lnTo>
                  <a:pt x="0" y="69128"/>
                </a:lnTo>
                <a:lnTo>
                  <a:pt x="11521" y="11521"/>
                </a:lnTo>
              </a:path>
            </a:pathLst>
          </a:custGeom>
          <a:solidFill>
            <a:srgbClr val="D2E1F6"/>
          </a:solidFill>
          <a:ln w="12700">
            <a:solidFill>
              <a:srgbClr val="3365B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Freeform 40"/>
          <p:cNvSpPr/>
          <p:nvPr/>
        </p:nvSpPr>
        <p:spPr>
          <a:xfrm>
            <a:off x="2928274" y="3955054"/>
            <a:ext cx="138257" cy="120975"/>
          </a:xfrm>
          <a:custGeom>
            <a:avLst/>
            <a:gdLst/>
            <a:ahLst/>
            <a:cxnLst/>
            <a:rect l="l" t="t" r="r" b="b"/>
            <a:pathLst>
              <a:path w="138257" h="120975">
                <a:moveTo>
                  <a:pt x="11522" y="11521"/>
                </a:moveTo>
                <a:lnTo>
                  <a:pt x="115214" y="0"/>
                </a:lnTo>
                <a:lnTo>
                  <a:pt x="138257" y="80650"/>
                </a:lnTo>
                <a:lnTo>
                  <a:pt x="69129" y="120975"/>
                </a:lnTo>
                <a:lnTo>
                  <a:pt x="0" y="69128"/>
                </a:lnTo>
                <a:lnTo>
                  <a:pt x="11522" y="11521"/>
                </a:lnTo>
              </a:path>
            </a:pathLst>
          </a:custGeom>
          <a:solidFill>
            <a:srgbClr val="EDF3FF"/>
          </a:solidFill>
          <a:ln w="12700">
            <a:solidFill>
              <a:srgbClr val="3365B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Freeform 41"/>
          <p:cNvSpPr/>
          <p:nvPr/>
        </p:nvSpPr>
        <p:spPr>
          <a:xfrm>
            <a:off x="2651760" y="4041465"/>
            <a:ext cx="138257" cy="120975"/>
          </a:xfrm>
          <a:custGeom>
            <a:avLst/>
            <a:gdLst/>
            <a:ahLst/>
            <a:cxnLst/>
            <a:rect l="l" t="t" r="r" b="b"/>
            <a:pathLst>
              <a:path w="138257" h="120975">
                <a:moveTo>
                  <a:pt x="11521" y="11521"/>
                </a:moveTo>
                <a:lnTo>
                  <a:pt x="115214" y="0"/>
                </a:lnTo>
                <a:lnTo>
                  <a:pt x="138257" y="80650"/>
                </a:lnTo>
                <a:lnTo>
                  <a:pt x="69128" y="120975"/>
                </a:lnTo>
                <a:lnTo>
                  <a:pt x="0" y="69128"/>
                </a:lnTo>
                <a:lnTo>
                  <a:pt x="11521" y="11521"/>
                </a:lnTo>
              </a:path>
            </a:pathLst>
          </a:custGeom>
          <a:solidFill>
            <a:srgbClr val="D2E1F6"/>
          </a:solidFill>
          <a:ln w="12700">
            <a:solidFill>
              <a:srgbClr val="3365B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Freeform 42"/>
          <p:cNvSpPr/>
          <p:nvPr/>
        </p:nvSpPr>
        <p:spPr>
          <a:xfrm>
            <a:off x="2847624" y="4076029"/>
            <a:ext cx="138257" cy="120975"/>
          </a:xfrm>
          <a:custGeom>
            <a:avLst/>
            <a:gdLst/>
            <a:ahLst/>
            <a:cxnLst/>
            <a:rect l="l" t="t" r="r" b="b"/>
            <a:pathLst>
              <a:path w="138257" h="120975">
                <a:moveTo>
                  <a:pt x="11521" y="11521"/>
                </a:moveTo>
                <a:lnTo>
                  <a:pt x="115214" y="0"/>
                </a:lnTo>
                <a:lnTo>
                  <a:pt x="138257" y="80650"/>
                </a:lnTo>
                <a:lnTo>
                  <a:pt x="69129" y="120975"/>
                </a:lnTo>
                <a:lnTo>
                  <a:pt x="0" y="69129"/>
                </a:lnTo>
                <a:lnTo>
                  <a:pt x="11521" y="11521"/>
                </a:lnTo>
              </a:path>
            </a:pathLst>
          </a:custGeom>
          <a:solidFill>
            <a:srgbClr val="EDF3FF"/>
          </a:solidFill>
          <a:ln w="12700">
            <a:solidFill>
              <a:srgbClr val="3365B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4" name="Connector 43"/>
          <p:cNvCxnSpPr/>
          <p:nvPr/>
        </p:nvCxnSpPr>
        <p:spPr>
          <a:xfrm>
            <a:off x="3209544" y="3968496"/>
            <a:ext cx="292608" cy="0"/>
          </a:xfrm>
          <a:prstGeom prst="line">
            <a:avLst/>
          </a:prstGeom>
          <a:ln w="2413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45" name="TextBox 44"/>
          <p:cNvSpPr txBox="1"/>
          <p:nvPr/>
        </p:nvSpPr>
        <p:spPr>
          <a:xfrm>
            <a:off x="3675887" y="3730752"/>
            <a:ext cx="2596896" cy="356616"/>
          </a:xfrm>
          <a:prstGeom prst="rect">
            <a:avLst/>
          </a:prstGeom>
          <a:noFill/>
          <a:effectLst/>
        </p:spPr>
        <p:txBody>
          <a:bodyPr wrap="square" lIns="22860" rIns="22860" tIns="0" bIns="0">
            <a:spAutoFit/>
          </a:bodyPr>
          <a:lstStyle/>
          <a:p>
            <a:pPr>
              <a:spcAft>
                <a:spcPts val="600"/>
              </a:spcAft>
              <a:defRPr sz="1230" b="0">
                <a:solidFill>
                  <a:srgbClr val="111111"/>
                </a:solidFill>
                <a:latin typeface="Microsoft YaHei"/>
              </a:defRPr>
            </a:pPr>
            <a:r>
              <a:t>侧重保留聚合物主体结构，实现材料循环利用</a:t>
            </a:r>
          </a:p>
        </p:txBody>
      </p:sp>
      <p:sp>
        <p:nvSpPr>
          <p:cNvPr id="46" name="TextBox 45"/>
          <p:cNvSpPr txBox="1"/>
          <p:nvPr/>
        </p:nvSpPr>
        <p:spPr>
          <a:xfrm>
            <a:off x="3675887" y="4105656"/>
            <a:ext cx="2596896" cy="155448"/>
          </a:xfrm>
          <a:prstGeom prst="rect">
            <a:avLst/>
          </a:prstGeom>
          <a:noFill/>
          <a:effectLst/>
        </p:spPr>
        <p:txBody>
          <a:bodyPr wrap="square" lIns="22860" rIns="22860" tIns="0" bIns="0">
            <a:spAutoFit/>
          </a:bodyPr>
          <a:lstStyle/>
          <a:p>
            <a:pPr>
              <a:spcAft>
                <a:spcPts val="600"/>
              </a:spcAft>
              <a:defRPr sz="919" b="1">
                <a:solidFill>
                  <a:srgbClr val="063584"/>
                </a:solidFill>
                <a:latin typeface="Microsoft YaHei"/>
              </a:defRPr>
            </a:pPr>
            <a:r>
              <a:t>关注：材料性能与循环质量</a:t>
            </a:r>
          </a:p>
        </p:txBody>
      </p:sp>
      <p:sp>
        <p:nvSpPr>
          <p:cNvPr id="47" name="Rounded Rectangle 46"/>
          <p:cNvSpPr/>
          <p:nvPr/>
        </p:nvSpPr>
        <p:spPr>
          <a:xfrm>
            <a:off x="438912" y="4352544"/>
            <a:ext cx="5989320" cy="594360"/>
          </a:xfrm>
          <a:prstGeom prst="roundRect">
            <a:avLst>
              <a:gd name="adj" fmla="val 2500"/>
            </a:avLst>
          </a:prstGeom>
          <a:solidFill>
            <a:srgbClr val="F4F7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Oval 47"/>
          <p:cNvSpPr/>
          <p:nvPr/>
        </p:nvSpPr>
        <p:spPr>
          <a:xfrm>
            <a:off x="688543" y="4667646"/>
            <a:ext cx="132039" cy="132039"/>
          </a:xfrm>
          <a:prstGeom prst="ellipse">
            <a:avLst/>
          </a:prstGeom>
          <a:solidFill>
            <a:srgbClr val="EDF3FF"/>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9" name="Connector 48"/>
          <p:cNvCxnSpPr/>
          <p:nvPr/>
        </p:nvCxnSpPr>
        <p:spPr>
          <a:xfrm flipV="1">
            <a:off x="712866" y="4504334"/>
            <a:ext cx="0" cy="201534"/>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50" name="Connector 49"/>
          <p:cNvCxnSpPr/>
          <p:nvPr/>
        </p:nvCxnSpPr>
        <p:spPr>
          <a:xfrm flipV="1">
            <a:off x="796259" y="4504334"/>
            <a:ext cx="0" cy="201534"/>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51" name="Connector 50"/>
          <p:cNvCxnSpPr/>
          <p:nvPr/>
        </p:nvCxnSpPr>
        <p:spPr>
          <a:xfrm>
            <a:off x="712866" y="4504334"/>
            <a:ext cx="83393" cy="0"/>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52" name="Connector 51"/>
          <p:cNvCxnSpPr/>
          <p:nvPr/>
        </p:nvCxnSpPr>
        <p:spPr>
          <a:xfrm flipV="1">
            <a:off x="754562" y="4559929"/>
            <a:ext cx="0" cy="145939"/>
          </a:xfrm>
          <a:prstGeom prst="line">
            <a:avLst/>
          </a:prstGeom>
          <a:ln w="2794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53" name="Connector 52"/>
          <p:cNvCxnSpPr/>
          <p:nvPr/>
        </p:nvCxnSpPr>
        <p:spPr>
          <a:xfrm flipH="1" flipV="1">
            <a:off x="629472" y="4413991"/>
            <a:ext cx="20849" cy="48646"/>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54" name="Connector 53"/>
          <p:cNvCxnSpPr/>
          <p:nvPr/>
        </p:nvCxnSpPr>
        <p:spPr>
          <a:xfrm flipH="1" flipV="1">
            <a:off x="844905" y="4413991"/>
            <a:ext cx="20848" cy="48646"/>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1097280" y="4425696"/>
            <a:ext cx="1554480" cy="246888"/>
          </a:xfrm>
          <a:prstGeom prst="rect">
            <a:avLst/>
          </a:prstGeom>
          <a:noFill/>
          <a:effectLst/>
        </p:spPr>
        <p:txBody>
          <a:bodyPr wrap="square" lIns="22860" rIns="22860" tIns="0" bIns="0">
            <a:spAutoFit/>
          </a:bodyPr>
          <a:lstStyle/>
          <a:p>
            <a:pPr>
              <a:spcAft>
                <a:spcPts val="600"/>
              </a:spcAft>
              <a:defRPr sz="1600" b="1">
                <a:solidFill>
                  <a:srgbClr val="063584"/>
                </a:solidFill>
                <a:latin typeface="Microsoft YaHei"/>
              </a:defRPr>
            </a:pPr>
            <a:r>
              <a:t>热化学转化</a:t>
            </a:r>
          </a:p>
        </p:txBody>
      </p:sp>
      <p:sp>
        <p:nvSpPr>
          <p:cNvPr id="56" name="TextBox 55"/>
          <p:cNvSpPr txBox="1"/>
          <p:nvPr/>
        </p:nvSpPr>
        <p:spPr>
          <a:xfrm>
            <a:off x="1097280" y="4745736"/>
            <a:ext cx="1691640" cy="173736"/>
          </a:xfrm>
          <a:prstGeom prst="rect">
            <a:avLst/>
          </a:prstGeom>
          <a:noFill/>
          <a:effectLst/>
        </p:spPr>
        <p:txBody>
          <a:bodyPr wrap="square" lIns="22860" rIns="22860" tIns="0" bIns="0">
            <a:spAutoFit/>
          </a:bodyPr>
          <a:lstStyle/>
          <a:p>
            <a:pPr>
              <a:spcAft>
                <a:spcPts val="600"/>
              </a:spcAft>
              <a:defRPr sz="940" b="0">
                <a:solidFill>
                  <a:srgbClr val="566273"/>
                </a:solidFill>
                <a:latin typeface="Microsoft YaHei"/>
              </a:defRPr>
            </a:pPr>
            <a:r>
              <a:t>热裂解、催化裂解</a:t>
            </a:r>
          </a:p>
        </p:txBody>
      </p:sp>
      <p:sp>
        <p:nvSpPr>
          <p:cNvPr id="57" name="Can 56"/>
          <p:cNvSpPr/>
          <p:nvPr/>
        </p:nvSpPr>
        <p:spPr>
          <a:xfrm>
            <a:off x="2726649" y="4507351"/>
            <a:ext cx="276514" cy="264993"/>
          </a:xfrm>
          <a:prstGeom prst="can">
            <a:avLst/>
          </a:prstGeom>
          <a:solidFill>
            <a:srgbClr val="D8E5F6"/>
          </a:solidFill>
          <a:ln>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58" name="Connector 57"/>
          <p:cNvCxnSpPr/>
          <p:nvPr/>
        </p:nvCxnSpPr>
        <p:spPr>
          <a:xfrm flipV="1">
            <a:off x="2864906" y="4438223"/>
            <a:ext cx="0" cy="69128"/>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59" name="Connector 58"/>
          <p:cNvCxnSpPr/>
          <p:nvPr/>
        </p:nvCxnSpPr>
        <p:spPr>
          <a:xfrm flipH="1">
            <a:off x="2645999" y="4605284"/>
            <a:ext cx="57607" cy="0"/>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60" name="Connector 59"/>
          <p:cNvCxnSpPr/>
          <p:nvPr/>
        </p:nvCxnSpPr>
        <p:spPr>
          <a:xfrm>
            <a:off x="3031967" y="4605284"/>
            <a:ext cx="51847" cy="0"/>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61" name="Connector 60"/>
          <p:cNvCxnSpPr/>
          <p:nvPr/>
        </p:nvCxnSpPr>
        <p:spPr>
          <a:xfrm flipH="1">
            <a:off x="2755452" y="4772345"/>
            <a:ext cx="28804" cy="74889"/>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62" name="Connector 61"/>
          <p:cNvCxnSpPr/>
          <p:nvPr/>
        </p:nvCxnSpPr>
        <p:spPr>
          <a:xfrm>
            <a:off x="2945556" y="4772345"/>
            <a:ext cx="28804" cy="74889"/>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63" name="Connector 62"/>
          <p:cNvCxnSpPr/>
          <p:nvPr/>
        </p:nvCxnSpPr>
        <p:spPr>
          <a:xfrm>
            <a:off x="2726649" y="4852995"/>
            <a:ext cx="282275" cy="0"/>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64" name="Connector 63"/>
          <p:cNvCxnSpPr/>
          <p:nvPr/>
        </p:nvCxnSpPr>
        <p:spPr>
          <a:xfrm>
            <a:off x="3209544" y="4636007"/>
            <a:ext cx="292608" cy="0"/>
          </a:xfrm>
          <a:prstGeom prst="line">
            <a:avLst/>
          </a:prstGeom>
          <a:ln w="2413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65" name="TextBox 64"/>
          <p:cNvSpPr txBox="1"/>
          <p:nvPr/>
        </p:nvSpPr>
        <p:spPr>
          <a:xfrm>
            <a:off x="3675887" y="4398264"/>
            <a:ext cx="2596896" cy="356616"/>
          </a:xfrm>
          <a:prstGeom prst="rect">
            <a:avLst/>
          </a:prstGeom>
          <a:noFill/>
          <a:effectLst/>
        </p:spPr>
        <p:txBody>
          <a:bodyPr wrap="square" lIns="22860" rIns="22860" tIns="0" bIns="0">
            <a:spAutoFit/>
          </a:bodyPr>
          <a:lstStyle/>
          <a:p>
            <a:pPr>
              <a:spcAft>
                <a:spcPts val="600"/>
              </a:spcAft>
              <a:defRPr sz="1230" b="0">
                <a:solidFill>
                  <a:srgbClr val="111111"/>
                </a:solidFill>
                <a:latin typeface="Microsoft YaHei"/>
              </a:defRPr>
            </a:pPr>
            <a:r>
              <a:t>热驱动反应改变结构，获得燃料、化学品或单体</a:t>
            </a:r>
          </a:p>
        </p:txBody>
      </p:sp>
      <p:sp>
        <p:nvSpPr>
          <p:cNvPr id="66" name="TextBox 65"/>
          <p:cNvSpPr txBox="1"/>
          <p:nvPr/>
        </p:nvSpPr>
        <p:spPr>
          <a:xfrm>
            <a:off x="3675887" y="4773168"/>
            <a:ext cx="2596896" cy="155448"/>
          </a:xfrm>
          <a:prstGeom prst="rect">
            <a:avLst/>
          </a:prstGeom>
          <a:noFill/>
          <a:effectLst/>
        </p:spPr>
        <p:txBody>
          <a:bodyPr wrap="square" lIns="22860" rIns="22860" tIns="0" bIns="0">
            <a:spAutoFit/>
          </a:bodyPr>
          <a:lstStyle/>
          <a:p>
            <a:pPr>
              <a:spcAft>
                <a:spcPts val="600"/>
              </a:spcAft>
              <a:defRPr sz="919" b="1">
                <a:solidFill>
                  <a:srgbClr val="063584"/>
                </a:solidFill>
                <a:latin typeface="Microsoft YaHei"/>
              </a:defRPr>
            </a:pPr>
            <a:r>
              <a:t>关注：产物分布与过程控制</a:t>
            </a:r>
          </a:p>
        </p:txBody>
      </p:sp>
      <p:sp>
        <p:nvSpPr>
          <p:cNvPr id="67" name="Rounded Rectangle 66"/>
          <p:cNvSpPr/>
          <p:nvPr/>
        </p:nvSpPr>
        <p:spPr>
          <a:xfrm>
            <a:off x="438912" y="5020056"/>
            <a:ext cx="5989320" cy="594360"/>
          </a:xfrm>
          <a:prstGeom prst="roundRect">
            <a:avLst>
              <a:gd name="adj" fmla="val 2500"/>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Oval 67"/>
          <p:cNvSpPr/>
          <p:nvPr/>
        </p:nvSpPr>
        <p:spPr>
          <a:xfrm>
            <a:off x="650321" y="5157947"/>
            <a:ext cx="208483" cy="208483"/>
          </a:xfrm>
          <a:prstGeom prst="ellipse">
            <a:avLst/>
          </a:prstGeom>
          <a:solidFill>
            <a:srgbClr val="FFFFFF"/>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9" name="Connector 68"/>
          <p:cNvCxnSpPr/>
          <p:nvPr/>
        </p:nvCxnSpPr>
        <p:spPr>
          <a:xfrm>
            <a:off x="692017" y="5338632"/>
            <a:ext cx="0" cy="69495"/>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70" name="Connector 69"/>
          <p:cNvCxnSpPr/>
          <p:nvPr/>
        </p:nvCxnSpPr>
        <p:spPr>
          <a:xfrm>
            <a:off x="817107" y="5338632"/>
            <a:ext cx="0" cy="69495"/>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71" name="Connector 70"/>
          <p:cNvCxnSpPr/>
          <p:nvPr/>
        </p:nvCxnSpPr>
        <p:spPr>
          <a:xfrm>
            <a:off x="692017" y="5408127"/>
            <a:ext cx="125090" cy="0"/>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72" name="Connector 71"/>
          <p:cNvCxnSpPr/>
          <p:nvPr/>
        </p:nvCxnSpPr>
        <p:spPr>
          <a:xfrm>
            <a:off x="712866" y="5442874"/>
            <a:ext cx="83393" cy="0"/>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73" name="Connector 72"/>
          <p:cNvCxnSpPr/>
          <p:nvPr/>
        </p:nvCxnSpPr>
        <p:spPr>
          <a:xfrm>
            <a:off x="900501" y="5262189"/>
            <a:ext cx="48646" cy="0"/>
          </a:xfrm>
          <a:prstGeom prst="line">
            <a:avLst/>
          </a:prstGeom>
          <a:ln w="1397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74" name="Connector 73"/>
          <p:cNvCxnSpPr/>
          <p:nvPr/>
        </p:nvCxnSpPr>
        <p:spPr>
          <a:xfrm>
            <a:off x="857756" y="5365383"/>
            <a:ext cx="34398" cy="34398"/>
          </a:xfrm>
          <a:prstGeom prst="line">
            <a:avLst/>
          </a:prstGeom>
          <a:ln w="1397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75" name="Connector 74"/>
          <p:cNvCxnSpPr/>
          <p:nvPr/>
        </p:nvCxnSpPr>
        <p:spPr>
          <a:xfrm>
            <a:off x="754562" y="5408127"/>
            <a:ext cx="0" cy="48646"/>
          </a:xfrm>
          <a:prstGeom prst="line">
            <a:avLst/>
          </a:prstGeom>
          <a:ln w="1397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76" name="Connector 75"/>
          <p:cNvCxnSpPr/>
          <p:nvPr/>
        </p:nvCxnSpPr>
        <p:spPr>
          <a:xfrm flipH="1">
            <a:off x="616970" y="5365383"/>
            <a:ext cx="34398" cy="34398"/>
          </a:xfrm>
          <a:prstGeom prst="line">
            <a:avLst/>
          </a:prstGeom>
          <a:ln w="1397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77" name="Connector 76"/>
          <p:cNvCxnSpPr/>
          <p:nvPr/>
        </p:nvCxnSpPr>
        <p:spPr>
          <a:xfrm flipH="1">
            <a:off x="559978" y="5262189"/>
            <a:ext cx="48646" cy="0"/>
          </a:xfrm>
          <a:prstGeom prst="line">
            <a:avLst/>
          </a:prstGeom>
          <a:ln w="1397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78" name="Connector 77"/>
          <p:cNvCxnSpPr/>
          <p:nvPr/>
        </p:nvCxnSpPr>
        <p:spPr>
          <a:xfrm flipH="1" flipV="1">
            <a:off x="616970" y="5124597"/>
            <a:ext cx="34398" cy="34398"/>
          </a:xfrm>
          <a:prstGeom prst="line">
            <a:avLst/>
          </a:prstGeom>
          <a:ln w="1397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79" name="Connector 78"/>
          <p:cNvCxnSpPr/>
          <p:nvPr/>
        </p:nvCxnSpPr>
        <p:spPr>
          <a:xfrm flipV="1">
            <a:off x="754562" y="5067604"/>
            <a:ext cx="0" cy="48646"/>
          </a:xfrm>
          <a:prstGeom prst="line">
            <a:avLst/>
          </a:prstGeom>
          <a:ln w="1397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80" name="Connector 79"/>
          <p:cNvCxnSpPr/>
          <p:nvPr/>
        </p:nvCxnSpPr>
        <p:spPr>
          <a:xfrm flipV="1">
            <a:off x="857756" y="5124597"/>
            <a:ext cx="34398" cy="34398"/>
          </a:xfrm>
          <a:prstGeom prst="line">
            <a:avLst/>
          </a:prstGeom>
          <a:ln w="1397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81" name="TextBox 80"/>
          <p:cNvSpPr txBox="1"/>
          <p:nvPr/>
        </p:nvSpPr>
        <p:spPr>
          <a:xfrm>
            <a:off x="1097280" y="5093208"/>
            <a:ext cx="1554480" cy="246888"/>
          </a:xfrm>
          <a:prstGeom prst="rect">
            <a:avLst/>
          </a:prstGeom>
          <a:noFill/>
          <a:effectLst/>
        </p:spPr>
        <p:txBody>
          <a:bodyPr wrap="square" lIns="22860" rIns="22860" tIns="0" bIns="0">
            <a:spAutoFit/>
          </a:bodyPr>
          <a:lstStyle/>
          <a:p>
            <a:pPr>
              <a:spcAft>
                <a:spcPts val="600"/>
              </a:spcAft>
              <a:defRPr sz="1600" b="1">
                <a:solidFill>
                  <a:srgbClr val="063584"/>
                </a:solidFill>
                <a:latin typeface="Microsoft YaHei"/>
              </a:defRPr>
            </a:pPr>
            <a:r>
              <a:t>光化学转化</a:t>
            </a:r>
          </a:p>
        </p:txBody>
      </p:sp>
      <p:sp>
        <p:nvSpPr>
          <p:cNvPr id="82" name="TextBox 81"/>
          <p:cNvSpPr txBox="1"/>
          <p:nvPr/>
        </p:nvSpPr>
        <p:spPr>
          <a:xfrm>
            <a:off x="1097280" y="5413248"/>
            <a:ext cx="1691640" cy="173736"/>
          </a:xfrm>
          <a:prstGeom prst="rect">
            <a:avLst/>
          </a:prstGeom>
          <a:noFill/>
          <a:effectLst/>
        </p:spPr>
        <p:txBody>
          <a:bodyPr wrap="square" lIns="22860" rIns="22860" tIns="0" bIns="0">
            <a:spAutoFit/>
          </a:bodyPr>
          <a:lstStyle/>
          <a:p>
            <a:pPr>
              <a:spcAft>
                <a:spcPts val="600"/>
              </a:spcAft>
              <a:defRPr sz="940" b="0">
                <a:solidFill>
                  <a:srgbClr val="566273"/>
                </a:solidFill>
                <a:latin typeface="Microsoft YaHei"/>
              </a:defRPr>
            </a:pPr>
            <a:r>
              <a:t>光催化、光氧化、光裂解</a:t>
            </a:r>
          </a:p>
        </p:txBody>
      </p:sp>
      <p:sp>
        <p:nvSpPr>
          <p:cNvPr id="83" name="Rectangle 82"/>
          <p:cNvSpPr/>
          <p:nvPr/>
        </p:nvSpPr>
        <p:spPr>
          <a:xfrm>
            <a:off x="2651760" y="5169103"/>
            <a:ext cx="86410" cy="264993"/>
          </a:xfrm>
          <a:prstGeom prst="rect">
            <a:avLst/>
          </a:prstGeom>
          <a:solidFill>
            <a:srgbClr val="FFFFFF"/>
          </a:solidFill>
          <a:ln w="1651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Rectangle 83"/>
          <p:cNvSpPr/>
          <p:nvPr/>
        </p:nvSpPr>
        <p:spPr>
          <a:xfrm>
            <a:off x="2651760" y="5295839"/>
            <a:ext cx="86410" cy="138257"/>
          </a:xfrm>
          <a:prstGeom prst="rect">
            <a:avLst/>
          </a:prstGeom>
          <a:solidFill>
            <a:srgbClr val="D0E2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Rectangle 84"/>
          <p:cNvSpPr/>
          <p:nvPr/>
        </p:nvSpPr>
        <p:spPr>
          <a:xfrm>
            <a:off x="2643118" y="5140299"/>
            <a:ext cx="103692" cy="34564"/>
          </a:xfrm>
          <a:prstGeom prst="rect">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86" name="Connector 85"/>
          <p:cNvCxnSpPr/>
          <p:nvPr/>
        </p:nvCxnSpPr>
        <p:spPr>
          <a:xfrm flipV="1">
            <a:off x="2692085" y="5468660"/>
            <a:ext cx="0" cy="97932"/>
          </a:xfrm>
          <a:prstGeom prst="line">
            <a:avLst/>
          </a:prstGeom>
          <a:ln w="13970">
            <a:solidFill>
              <a:srgbClr val="3365B2"/>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87" name="Rectangle 86"/>
          <p:cNvSpPr/>
          <p:nvPr/>
        </p:nvSpPr>
        <p:spPr>
          <a:xfrm>
            <a:off x="2790017" y="5169103"/>
            <a:ext cx="86410" cy="264993"/>
          </a:xfrm>
          <a:prstGeom prst="rect">
            <a:avLst/>
          </a:prstGeom>
          <a:solidFill>
            <a:srgbClr val="FFFFFF"/>
          </a:solidFill>
          <a:ln w="1651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Rectangle 87"/>
          <p:cNvSpPr/>
          <p:nvPr/>
        </p:nvSpPr>
        <p:spPr>
          <a:xfrm>
            <a:off x="2790017" y="5295839"/>
            <a:ext cx="86410" cy="138257"/>
          </a:xfrm>
          <a:prstGeom prst="rect">
            <a:avLst/>
          </a:prstGeom>
          <a:solidFill>
            <a:srgbClr val="D0E2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Rectangle 88"/>
          <p:cNvSpPr/>
          <p:nvPr/>
        </p:nvSpPr>
        <p:spPr>
          <a:xfrm>
            <a:off x="2781376" y="5140299"/>
            <a:ext cx="103692" cy="34564"/>
          </a:xfrm>
          <a:prstGeom prst="rect">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0" name="Connector 89"/>
          <p:cNvCxnSpPr/>
          <p:nvPr/>
        </p:nvCxnSpPr>
        <p:spPr>
          <a:xfrm flipV="1">
            <a:off x="2830342" y="5468660"/>
            <a:ext cx="0" cy="97932"/>
          </a:xfrm>
          <a:prstGeom prst="line">
            <a:avLst/>
          </a:prstGeom>
          <a:ln w="13970">
            <a:solidFill>
              <a:srgbClr val="3365B2"/>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91" name="Rectangle 90"/>
          <p:cNvSpPr/>
          <p:nvPr/>
        </p:nvSpPr>
        <p:spPr>
          <a:xfrm>
            <a:off x="2928274" y="5169103"/>
            <a:ext cx="86410" cy="264993"/>
          </a:xfrm>
          <a:prstGeom prst="rect">
            <a:avLst/>
          </a:prstGeom>
          <a:solidFill>
            <a:srgbClr val="FFFFFF"/>
          </a:solidFill>
          <a:ln w="1651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Rectangle 91"/>
          <p:cNvSpPr/>
          <p:nvPr/>
        </p:nvSpPr>
        <p:spPr>
          <a:xfrm>
            <a:off x="2928274" y="5295839"/>
            <a:ext cx="86410" cy="138257"/>
          </a:xfrm>
          <a:prstGeom prst="rect">
            <a:avLst/>
          </a:prstGeom>
          <a:solidFill>
            <a:srgbClr val="D0E2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Rectangle 92"/>
          <p:cNvSpPr/>
          <p:nvPr/>
        </p:nvSpPr>
        <p:spPr>
          <a:xfrm>
            <a:off x="2919633" y="5140299"/>
            <a:ext cx="103692" cy="34564"/>
          </a:xfrm>
          <a:prstGeom prst="rect">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4" name="Connector 93"/>
          <p:cNvCxnSpPr/>
          <p:nvPr/>
        </p:nvCxnSpPr>
        <p:spPr>
          <a:xfrm flipV="1">
            <a:off x="2968599" y="5468660"/>
            <a:ext cx="0" cy="97932"/>
          </a:xfrm>
          <a:prstGeom prst="line">
            <a:avLst/>
          </a:prstGeom>
          <a:ln w="13970">
            <a:solidFill>
              <a:srgbClr val="3365B2"/>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95" name="Connector 94"/>
          <p:cNvCxnSpPr/>
          <p:nvPr/>
        </p:nvCxnSpPr>
        <p:spPr>
          <a:xfrm>
            <a:off x="3209544" y="5303520"/>
            <a:ext cx="292608" cy="0"/>
          </a:xfrm>
          <a:prstGeom prst="line">
            <a:avLst/>
          </a:prstGeom>
          <a:ln w="2413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96" name="TextBox 95"/>
          <p:cNvSpPr txBox="1"/>
          <p:nvPr/>
        </p:nvSpPr>
        <p:spPr>
          <a:xfrm>
            <a:off x="3675887" y="5065776"/>
            <a:ext cx="2596896" cy="356616"/>
          </a:xfrm>
          <a:prstGeom prst="rect">
            <a:avLst/>
          </a:prstGeom>
          <a:noFill/>
          <a:effectLst/>
        </p:spPr>
        <p:txBody>
          <a:bodyPr wrap="square" lIns="22860" rIns="22860" tIns="0" bIns="0">
            <a:spAutoFit/>
          </a:bodyPr>
          <a:lstStyle/>
          <a:p>
            <a:pPr>
              <a:spcAft>
                <a:spcPts val="600"/>
              </a:spcAft>
              <a:defRPr sz="1230" b="0">
                <a:solidFill>
                  <a:srgbClr val="111111"/>
                </a:solidFill>
                <a:latin typeface="Microsoft YaHei"/>
              </a:defRPr>
            </a:pPr>
            <a:r>
              <a:t>利用光能启动或调控反应，实现结构转化与高值利用</a:t>
            </a:r>
          </a:p>
        </p:txBody>
      </p:sp>
      <p:sp>
        <p:nvSpPr>
          <p:cNvPr id="97" name="TextBox 96"/>
          <p:cNvSpPr txBox="1"/>
          <p:nvPr/>
        </p:nvSpPr>
        <p:spPr>
          <a:xfrm>
            <a:off x="3675887" y="5440680"/>
            <a:ext cx="2596896" cy="155448"/>
          </a:xfrm>
          <a:prstGeom prst="rect">
            <a:avLst/>
          </a:prstGeom>
          <a:noFill/>
          <a:effectLst/>
        </p:spPr>
        <p:txBody>
          <a:bodyPr wrap="square" lIns="22860" rIns="22860" tIns="0" bIns="0">
            <a:spAutoFit/>
          </a:bodyPr>
          <a:lstStyle/>
          <a:p>
            <a:pPr>
              <a:spcAft>
                <a:spcPts val="600"/>
              </a:spcAft>
              <a:defRPr sz="919" b="1">
                <a:solidFill>
                  <a:srgbClr val="063584"/>
                </a:solidFill>
                <a:latin typeface="Microsoft YaHei"/>
              </a:defRPr>
            </a:pPr>
            <a:r>
              <a:t>关注：机制与温和条件下的效率</a:t>
            </a:r>
          </a:p>
        </p:txBody>
      </p:sp>
      <p:sp>
        <p:nvSpPr>
          <p:cNvPr id="98" name="Rounded Rectangle 97"/>
          <p:cNvSpPr/>
          <p:nvPr/>
        </p:nvSpPr>
        <p:spPr>
          <a:xfrm>
            <a:off x="6757416" y="1325880"/>
            <a:ext cx="5111496" cy="442569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Rounded Rectangle 98"/>
          <p:cNvSpPr/>
          <p:nvPr/>
        </p:nvSpPr>
        <p:spPr>
          <a:xfrm>
            <a:off x="6784848" y="1353312"/>
            <a:ext cx="505663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0" name="TextBox 99"/>
          <p:cNvSpPr txBox="1"/>
          <p:nvPr/>
        </p:nvSpPr>
        <p:spPr>
          <a:xfrm>
            <a:off x="6903720" y="1403604"/>
            <a:ext cx="481888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含氯塑料的化学升级利用路径（示意）</a:t>
            </a:r>
          </a:p>
        </p:txBody>
      </p:sp>
      <p:sp>
        <p:nvSpPr>
          <p:cNvPr id="101" name="Hexagon 100"/>
          <p:cNvSpPr/>
          <p:nvPr/>
        </p:nvSpPr>
        <p:spPr>
          <a:xfrm>
            <a:off x="8549640" y="3145536"/>
            <a:ext cx="1252728" cy="978408"/>
          </a:xfrm>
          <a:prstGeom prst="hexagon">
            <a:avLst/>
          </a:prstGeom>
          <a:solidFill>
            <a:srgbClr val="E2ED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2" name="Freeform 101"/>
          <p:cNvSpPr/>
          <p:nvPr/>
        </p:nvSpPr>
        <p:spPr>
          <a:xfrm>
            <a:off x="8823960" y="3419856"/>
            <a:ext cx="685800" cy="91440"/>
          </a:xfrm>
          <a:custGeom>
            <a:avLst/>
            <a:gdLst/>
            <a:ahLst/>
            <a:cxnLst/>
            <a:rect l="l" t="t" r="r" b="b"/>
            <a:pathLst>
              <a:path w="685800" h="91440">
                <a:moveTo>
                  <a:pt x="0" y="0"/>
                </a:moveTo>
                <a:lnTo>
                  <a:pt x="137160" y="91440"/>
                </a:lnTo>
                <a:lnTo>
                  <a:pt x="274320" y="0"/>
                </a:lnTo>
                <a:lnTo>
                  <a:pt x="411480" y="91440"/>
                </a:lnTo>
                <a:lnTo>
                  <a:pt x="548640" y="0"/>
                </a:lnTo>
                <a:lnTo>
                  <a:pt x="685800" y="91440"/>
                </a:lnTo>
              </a:path>
            </a:pathLst>
          </a:custGeom>
          <a:noFill/>
          <a:ln w="2159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3" name="TextBox 102"/>
          <p:cNvSpPr txBox="1"/>
          <p:nvPr/>
        </p:nvSpPr>
        <p:spPr>
          <a:xfrm>
            <a:off x="8686800" y="3703320"/>
            <a:ext cx="987552" cy="246888"/>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PVC</a:t>
            </a:r>
          </a:p>
        </p:txBody>
      </p:sp>
      <p:sp>
        <p:nvSpPr>
          <p:cNvPr id="104" name="Freeform 103"/>
          <p:cNvSpPr/>
          <p:nvPr/>
        </p:nvSpPr>
        <p:spPr>
          <a:xfrm>
            <a:off x="8577072" y="2889504"/>
            <a:ext cx="228600" cy="292608"/>
          </a:xfrm>
          <a:custGeom>
            <a:avLst/>
            <a:gdLst/>
            <a:ahLst/>
            <a:cxnLst/>
            <a:rect l="l" t="t" r="r" b="b"/>
            <a:pathLst>
              <a:path w="228600" h="292608">
                <a:moveTo>
                  <a:pt x="228600" y="292608"/>
                </a:moveTo>
                <a:lnTo>
                  <a:pt x="109728" y="128016"/>
                </a:lnTo>
                <a:lnTo>
                  <a:pt x="0" y="0"/>
                </a:lnTo>
              </a:path>
            </a:pathLst>
          </a:custGeom>
          <a:noFill/>
          <a:ln w="30480">
            <a:solidFill>
              <a:srgbClr val="3365B2"/>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Freeform 104"/>
          <p:cNvSpPr/>
          <p:nvPr/>
        </p:nvSpPr>
        <p:spPr>
          <a:xfrm>
            <a:off x="9418320" y="2468880"/>
            <a:ext cx="749808" cy="694944"/>
          </a:xfrm>
          <a:custGeom>
            <a:avLst/>
            <a:gdLst/>
            <a:ahLst/>
            <a:cxnLst/>
            <a:rect l="l" t="t" r="r" b="b"/>
            <a:pathLst>
              <a:path w="749808" h="694944">
                <a:moveTo>
                  <a:pt x="0" y="694944"/>
                </a:moveTo>
                <a:lnTo>
                  <a:pt x="365760" y="274320"/>
                </a:lnTo>
                <a:lnTo>
                  <a:pt x="749808" y="0"/>
                </a:lnTo>
              </a:path>
            </a:pathLst>
          </a:custGeom>
          <a:noFill/>
          <a:ln w="30480">
            <a:solidFill>
              <a:srgbClr val="3365B2"/>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6" name="Freeform 105"/>
          <p:cNvSpPr/>
          <p:nvPr/>
        </p:nvSpPr>
        <p:spPr>
          <a:xfrm>
            <a:off x="9811512" y="3081528"/>
            <a:ext cx="777240" cy="384048"/>
          </a:xfrm>
          <a:custGeom>
            <a:avLst/>
            <a:gdLst/>
            <a:ahLst/>
            <a:cxnLst/>
            <a:rect l="l" t="t" r="r" b="b"/>
            <a:pathLst>
              <a:path w="777240" h="384048">
                <a:moveTo>
                  <a:pt x="0" y="384048"/>
                </a:moveTo>
                <a:lnTo>
                  <a:pt x="411480" y="137160"/>
                </a:lnTo>
                <a:lnTo>
                  <a:pt x="777240" y="0"/>
                </a:lnTo>
              </a:path>
            </a:pathLst>
          </a:custGeom>
          <a:noFill/>
          <a:ln w="30480">
            <a:solidFill>
              <a:srgbClr val="3365B2"/>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Freeform 106"/>
          <p:cNvSpPr/>
          <p:nvPr/>
        </p:nvSpPr>
        <p:spPr>
          <a:xfrm>
            <a:off x="9802368" y="3785615"/>
            <a:ext cx="777240" cy="356617"/>
          </a:xfrm>
          <a:custGeom>
            <a:avLst/>
            <a:gdLst/>
            <a:ahLst/>
            <a:cxnLst/>
            <a:rect l="l" t="t" r="r" b="b"/>
            <a:pathLst>
              <a:path w="777240" h="356617">
                <a:moveTo>
                  <a:pt x="0" y="0"/>
                </a:moveTo>
                <a:lnTo>
                  <a:pt x="420624" y="201169"/>
                </a:lnTo>
                <a:lnTo>
                  <a:pt x="777240" y="356617"/>
                </a:lnTo>
              </a:path>
            </a:pathLst>
          </a:custGeom>
          <a:noFill/>
          <a:ln w="30480">
            <a:solidFill>
              <a:srgbClr val="3365B2"/>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Freeform 107"/>
          <p:cNvSpPr/>
          <p:nvPr/>
        </p:nvSpPr>
        <p:spPr>
          <a:xfrm>
            <a:off x="9390888" y="4096512"/>
            <a:ext cx="685800" cy="694944"/>
          </a:xfrm>
          <a:custGeom>
            <a:avLst/>
            <a:gdLst/>
            <a:ahLst/>
            <a:cxnLst/>
            <a:rect l="l" t="t" r="r" b="b"/>
            <a:pathLst>
              <a:path w="685800" h="694944">
                <a:moveTo>
                  <a:pt x="0" y="0"/>
                </a:moveTo>
                <a:lnTo>
                  <a:pt x="347472" y="411480"/>
                </a:lnTo>
                <a:lnTo>
                  <a:pt x="685800" y="694944"/>
                </a:lnTo>
              </a:path>
            </a:pathLst>
          </a:custGeom>
          <a:noFill/>
          <a:ln w="30480">
            <a:solidFill>
              <a:srgbClr val="3365B2"/>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9" name="Freeform 108"/>
          <p:cNvSpPr/>
          <p:nvPr/>
        </p:nvSpPr>
        <p:spPr>
          <a:xfrm>
            <a:off x="8686800" y="4078224"/>
            <a:ext cx="82296" cy="667512"/>
          </a:xfrm>
          <a:custGeom>
            <a:avLst/>
            <a:gdLst/>
            <a:ahLst/>
            <a:cxnLst/>
            <a:rect l="l" t="t" r="r" b="b"/>
            <a:pathLst>
              <a:path w="82296" h="667512">
                <a:moveTo>
                  <a:pt x="82296" y="0"/>
                </a:moveTo>
                <a:lnTo>
                  <a:pt x="45720" y="420624"/>
                </a:lnTo>
                <a:lnTo>
                  <a:pt x="0" y="667512"/>
                </a:lnTo>
              </a:path>
            </a:pathLst>
          </a:custGeom>
          <a:noFill/>
          <a:ln w="30480">
            <a:solidFill>
              <a:srgbClr val="3365B2"/>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0" name="Connector 109"/>
          <p:cNvCxnSpPr/>
          <p:nvPr/>
        </p:nvCxnSpPr>
        <p:spPr>
          <a:xfrm>
            <a:off x="7434072" y="1947672"/>
            <a:ext cx="181051" cy="0"/>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111" name="Connector 110"/>
          <p:cNvCxnSpPr/>
          <p:nvPr/>
        </p:nvCxnSpPr>
        <p:spPr>
          <a:xfrm>
            <a:off x="7434072" y="1947672"/>
            <a:ext cx="60350" cy="130759"/>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112" name="Oval 111"/>
          <p:cNvSpPr/>
          <p:nvPr/>
        </p:nvSpPr>
        <p:spPr>
          <a:xfrm>
            <a:off x="7405908" y="1919508"/>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3" name="Connector 112"/>
          <p:cNvCxnSpPr/>
          <p:nvPr/>
        </p:nvCxnSpPr>
        <p:spPr>
          <a:xfrm>
            <a:off x="7494422" y="2078431"/>
            <a:ext cx="181051" cy="0"/>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114" name="Connector 113"/>
          <p:cNvCxnSpPr/>
          <p:nvPr/>
        </p:nvCxnSpPr>
        <p:spPr>
          <a:xfrm flipH="1">
            <a:off x="7434072" y="2078431"/>
            <a:ext cx="60350" cy="130759"/>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115" name="Oval 114"/>
          <p:cNvSpPr/>
          <p:nvPr/>
        </p:nvSpPr>
        <p:spPr>
          <a:xfrm>
            <a:off x="7466258" y="2050267"/>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6" name="Connector 115"/>
          <p:cNvCxnSpPr/>
          <p:nvPr/>
        </p:nvCxnSpPr>
        <p:spPr>
          <a:xfrm>
            <a:off x="7434072" y="2209190"/>
            <a:ext cx="181051" cy="0"/>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117" name="Oval 116"/>
          <p:cNvSpPr/>
          <p:nvPr/>
        </p:nvSpPr>
        <p:spPr>
          <a:xfrm>
            <a:off x="7405908" y="2181026"/>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8" name="Connector 117"/>
          <p:cNvCxnSpPr/>
          <p:nvPr/>
        </p:nvCxnSpPr>
        <p:spPr>
          <a:xfrm>
            <a:off x="7615123" y="1947672"/>
            <a:ext cx="181051" cy="0"/>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119" name="Connector 118"/>
          <p:cNvCxnSpPr/>
          <p:nvPr/>
        </p:nvCxnSpPr>
        <p:spPr>
          <a:xfrm>
            <a:off x="7615123" y="1947672"/>
            <a:ext cx="60350" cy="130759"/>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120" name="Oval 119"/>
          <p:cNvSpPr/>
          <p:nvPr/>
        </p:nvSpPr>
        <p:spPr>
          <a:xfrm>
            <a:off x="7586959" y="1919508"/>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1" name="Connector 120"/>
          <p:cNvCxnSpPr/>
          <p:nvPr/>
        </p:nvCxnSpPr>
        <p:spPr>
          <a:xfrm>
            <a:off x="7675473" y="2078431"/>
            <a:ext cx="181051" cy="0"/>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122" name="Connector 121"/>
          <p:cNvCxnSpPr/>
          <p:nvPr/>
        </p:nvCxnSpPr>
        <p:spPr>
          <a:xfrm flipH="1">
            <a:off x="7615123" y="2078431"/>
            <a:ext cx="60350" cy="130759"/>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123" name="Oval 122"/>
          <p:cNvSpPr/>
          <p:nvPr/>
        </p:nvSpPr>
        <p:spPr>
          <a:xfrm>
            <a:off x="7647310" y="2050267"/>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4" name="Connector 123"/>
          <p:cNvCxnSpPr/>
          <p:nvPr/>
        </p:nvCxnSpPr>
        <p:spPr>
          <a:xfrm>
            <a:off x="7615123" y="2209190"/>
            <a:ext cx="181051" cy="0"/>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125" name="Oval 124"/>
          <p:cNvSpPr/>
          <p:nvPr/>
        </p:nvSpPr>
        <p:spPr>
          <a:xfrm>
            <a:off x="7586959" y="2181026"/>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6" name="Connector 125"/>
          <p:cNvCxnSpPr/>
          <p:nvPr/>
        </p:nvCxnSpPr>
        <p:spPr>
          <a:xfrm>
            <a:off x="7796174" y="1947672"/>
            <a:ext cx="60350" cy="130759"/>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127" name="Oval 126"/>
          <p:cNvSpPr/>
          <p:nvPr/>
        </p:nvSpPr>
        <p:spPr>
          <a:xfrm>
            <a:off x="7768010" y="1919508"/>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8" name="Connector 127"/>
          <p:cNvCxnSpPr/>
          <p:nvPr/>
        </p:nvCxnSpPr>
        <p:spPr>
          <a:xfrm flipH="1">
            <a:off x="7796174" y="2078431"/>
            <a:ext cx="60350" cy="130759"/>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129" name="Oval 128"/>
          <p:cNvSpPr/>
          <p:nvPr/>
        </p:nvSpPr>
        <p:spPr>
          <a:xfrm>
            <a:off x="7828361" y="2050267"/>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0" name="Oval 129"/>
          <p:cNvSpPr/>
          <p:nvPr/>
        </p:nvSpPr>
        <p:spPr>
          <a:xfrm>
            <a:off x="7768010" y="2181026"/>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1" name="TextBox 130"/>
          <p:cNvSpPr txBox="1"/>
          <p:nvPr/>
        </p:nvSpPr>
        <p:spPr>
          <a:xfrm>
            <a:off x="7050024" y="2395728"/>
            <a:ext cx="1682496" cy="448056"/>
          </a:xfrm>
          <a:prstGeom prst="rect">
            <a:avLst/>
          </a:prstGeom>
          <a:noFill/>
          <a:effectLst/>
        </p:spPr>
        <p:txBody>
          <a:bodyPr wrap="square" lIns="22860" rIns="22860" tIns="0" bIns="0">
            <a:spAutoFit/>
          </a:bodyPr>
          <a:lstStyle/>
          <a:p>
            <a:pPr algn="ctr">
              <a:spcAft>
                <a:spcPts val="600"/>
              </a:spcAft>
              <a:defRPr sz="1400" b="1">
                <a:solidFill>
                  <a:srgbClr val="063584"/>
                </a:solidFill>
                <a:latin typeface="Microsoft YaHei"/>
              </a:defRPr>
            </a:pPr>
            <a:r>
              <a:t>新型聚合物</a:t>
            </a:r>
          </a:p>
          <a:p>
            <a:pPr algn="ctr">
              <a:spcAft>
                <a:spcPts val="600"/>
              </a:spcAft>
              <a:defRPr sz="1400" b="1">
                <a:solidFill>
                  <a:srgbClr val="063584"/>
                </a:solidFill>
                <a:latin typeface="Microsoft YaHei"/>
              </a:defRPr>
            </a:pPr>
            <a:r>
              <a:t>闭环利用</a:t>
            </a:r>
          </a:p>
        </p:txBody>
      </p:sp>
      <p:sp>
        <p:nvSpPr>
          <p:cNvPr id="132" name="TextBox 131"/>
          <p:cNvSpPr txBox="1"/>
          <p:nvPr/>
        </p:nvSpPr>
        <p:spPr>
          <a:xfrm>
            <a:off x="7050024" y="2971800"/>
            <a:ext cx="1408176" cy="438912"/>
          </a:xfrm>
          <a:prstGeom prst="rect">
            <a:avLst/>
          </a:prstGeom>
          <a:noFill/>
          <a:effectLst/>
        </p:spPr>
        <p:txBody>
          <a:bodyPr wrap="square" lIns="22860" rIns="22860" tIns="0" bIns="0">
            <a:spAutoFit/>
          </a:bodyPr>
          <a:lstStyle/>
          <a:p>
            <a:pPr algn="ctr">
              <a:spcAft>
                <a:spcPts val="600"/>
              </a:spcAft>
              <a:defRPr sz="1050" b="0">
                <a:solidFill>
                  <a:srgbClr val="566273"/>
                </a:solidFill>
                <a:latin typeface="Microsoft YaHei"/>
              </a:defRPr>
            </a:pPr>
            <a:r>
              <a:t>多路径协同</a:t>
            </a:r>
          </a:p>
          <a:p>
            <a:pPr algn="ctr">
              <a:spcAft>
                <a:spcPts val="600"/>
              </a:spcAft>
              <a:defRPr sz="1050" b="0">
                <a:solidFill>
                  <a:srgbClr val="566273"/>
                </a:solidFill>
                <a:latin typeface="Microsoft YaHei"/>
              </a:defRPr>
            </a:pPr>
            <a:r>
              <a:t>与材料循环</a:t>
            </a:r>
          </a:p>
        </p:txBody>
      </p:sp>
      <p:sp>
        <p:nvSpPr>
          <p:cNvPr id="133" name="Can 132"/>
          <p:cNvSpPr/>
          <p:nvPr/>
        </p:nvSpPr>
        <p:spPr>
          <a:xfrm>
            <a:off x="9893808" y="2008479"/>
            <a:ext cx="268833" cy="412851"/>
          </a:xfrm>
          <a:prstGeom prst="can">
            <a:avLst/>
          </a:prstGeom>
          <a:solidFill>
            <a:srgbClr val="7D98BD"/>
          </a:solidFill>
          <a:ln w="1270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4" name="Can 133"/>
          <p:cNvSpPr/>
          <p:nvPr/>
        </p:nvSpPr>
        <p:spPr>
          <a:xfrm>
            <a:off x="10133838" y="1950872"/>
            <a:ext cx="268833" cy="412851"/>
          </a:xfrm>
          <a:prstGeom prst="can">
            <a:avLst/>
          </a:prstGeom>
          <a:solidFill>
            <a:srgbClr val="7D98BD"/>
          </a:solidFill>
          <a:ln w="1270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Can 134"/>
          <p:cNvSpPr/>
          <p:nvPr/>
        </p:nvSpPr>
        <p:spPr>
          <a:xfrm>
            <a:off x="10009022" y="1778050"/>
            <a:ext cx="268833" cy="412851"/>
          </a:xfrm>
          <a:prstGeom prst="can">
            <a:avLst/>
          </a:prstGeom>
          <a:solidFill>
            <a:srgbClr val="AFC5E2"/>
          </a:solidFill>
          <a:ln w="1270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6" name="TextBox 135"/>
          <p:cNvSpPr txBox="1"/>
          <p:nvPr/>
        </p:nvSpPr>
        <p:spPr>
          <a:xfrm>
            <a:off x="10561320" y="1856231"/>
            <a:ext cx="1005840" cy="265176"/>
          </a:xfrm>
          <a:prstGeom prst="rect">
            <a:avLst/>
          </a:prstGeom>
          <a:noFill/>
          <a:effectLst/>
        </p:spPr>
        <p:txBody>
          <a:bodyPr wrap="square" lIns="22860" rIns="22860" tIns="0" bIns="0">
            <a:spAutoFit/>
          </a:bodyPr>
          <a:lstStyle/>
          <a:p>
            <a:pPr>
              <a:spcAft>
                <a:spcPts val="600"/>
              </a:spcAft>
              <a:defRPr sz="1500" b="1">
                <a:solidFill>
                  <a:srgbClr val="063584"/>
                </a:solidFill>
                <a:latin typeface="Microsoft YaHei"/>
              </a:defRPr>
            </a:pPr>
            <a:r>
              <a:t>碳化</a:t>
            </a:r>
          </a:p>
        </p:txBody>
      </p:sp>
      <p:sp>
        <p:nvSpPr>
          <p:cNvPr id="137" name="TextBox 136"/>
          <p:cNvSpPr txBox="1"/>
          <p:nvPr/>
        </p:nvSpPr>
        <p:spPr>
          <a:xfrm>
            <a:off x="10561320" y="2231136"/>
            <a:ext cx="1060704" cy="393192"/>
          </a:xfrm>
          <a:prstGeom prst="rect">
            <a:avLst/>
          </a:prstGeom>
          <a:noFill/>
          <a:effectLst/>
        </p:spPr>
        <p:txBody>
          <a:bodyPr wrap="square" lIns="22860" rIns="22860" tIns="0" bIns="0">
            <a:spAutoFit/>
          </a:bodyPr>
          <a:lstStyle/>
          <a:p>
            <a:pPr>
              <a:spcAft>
                <a:spcPts val="600"/>
              </a:spcAft>
              <a:defRPr sz="1050" b="0">
                <a:solidFill>
                  <a:srgbClr val="566273"/>
                </a:solidFill>
                <a:latin typeface="Microsoft YaHei"/>
              </a:defRPr>
            </a:pPr>
            <a:r>
              <a:t>碳材料</a:t>
            </a:r>
          </a:p>
          <a:p>
            <a:pPr>
              <a:spcAft>
                <a:spcPts val="600"/>
              </a:spcAft>
              <a:defRPr sz="1050" b="0">
                <a:solidFill>
                  <a:srgbClr val="566273"/>
                </a:solidFill>
                <a:latin typeface="Microsoft YaHei"/>
              </a:defRPr>
            </a:pPr>
            <a:r>
              <a:t>功能材料</a:t>
            </a:r>
          </a:p>
        </p:txBody>
      </p:sp>
      <p:sp>
        <p:nvSpPr>
          <p:cNvPr id="138" name="Freeform 137"/>
          <p:cNvSpPr/>
          <p:nvPr/>
        </p:nvSpPr>
        <p:spPr>
          <a:xfrm>
            <a:off x="10963656" y="2796235"/>
            <a:ext cx="264809" cy="305775"/>
          </a:xfrm>
          <a:custGeom>
            <a:avLst/>
            <a:gdLst/>
            <a:ahLst/>
            <a:cxnLst/>
            <a:rect l="l" t="t" r="r" b="b"/>
            <a:pathLst>
              <a:path w="264809" h="305775">
                <a:moveTo>
                  <a:pt x="132405" y="0"/>
                </a:moveTo>
                <a:lnTo>
                  <a:pt x="264809" y="76444"/>
                </a:lnTo>
                <a:lnTo>
                  <a:pt x="264809" y="229331"/>
                </a:lnTo>
                <a:lnTo>
                  <a:pt x="132405" y="305775"/>
                </a:lnTo>
                <a:lnTo>
                  <a:pt x="0" y="229331"/>
                </a:lnTo>
                <a:lnTo>
                  <a:pt x="0" y="76444"/>
                </a:lnTo>
                <a:lnTo>
                  <a:pt x="132405"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39" name="Connector 138"/>
          <p:cNvCxnSpPr/>
          <p:nvPr/>
        </p:nvCxnSpPr>
        <p:spPr>
          <a:xfrm>
            <a:off x="11096061" y="2839043"/>
            <a:ext cx="95331" cy="5504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40" name="Connector 139"/>
          <p:cNvCxnSpPr/>
          <p:nvPr/>
        </p:nvCxnSpPr>
        <p:spPr>
          <a:xfrm flipH="1">
            <a:off x="11096061" y="3004162"/>
            <a:ext cx="95331" cy="5504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41" name="Connector 140"/>
          <p:cNvCxnSpPr/>
          <p:nvPr/>
        </p:nvCxnSpPr>
        <p:spPr>
          <a:xfrm flipV="1">
            <a:off x="11000729" y="2894083"/>
            <a:ext cx="0" cy="110079"/>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42" name="Connector 141"/>
          <p:cNvCxnSpPr/>
          <p:nvPr/>
        </p:nvCxnSpPr>
        <p:spPr>
          <a:xfrm flipV="1">
            <a:off x="11228100" y="2796235"/>
            <a:ext cx="138989" cy="76444"/>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143" name="TextBox 142"/>
          <p:cNvSpPr txBox="1"/>
          <p:nvPr/>
        </p:nvSpPr>
        <p:spPr>
          <a:xfrm>
            <a:off x="11367089" y="2719791"/>
            <a:ext cx="277977" cy="166786"/>
          </a:xfrm>
          <a:prstGeom prst="rect">
            <a:avLst/>
          </a:prstGeom>
          <a:noFill/>
          <a:effectLst/>
        </p:spPr>
        <p:txBody>
          <a:bodyPr wrap="square" lIns="22860" rIns="22860" tIns="0" bIns="0">
            <a:spAutoFit/>
          </a:bodyPr>
          <a:lstStyle/>
          <a:p>
            <a:pPr>
              <a:spcAft>
                <a:spcPts val="600"/>
              </a:spcAft>
              <a:defRPr sz="836" b="1">
                <a:solidFill>
                  <a:srgbClr val="C00000"/>
                </a:solidFill>
                <a:latin typeface="Arial"/>
              </a:defRPr>
            </a:pPr>
            <a:r>
              <a:t>OH</a:t>
            </a:r>
          </a:p>
        </p:txBody>
      </p:sp>
      <p:sp>
        <p:nvSpPr>
          <p:cNvPr id="144" name="TextBox 143"/>
          <p:cNvSpPr txBox="1"/>
          <p:nvPr/>
        </p:nvSpPr>
        <p:spPr>
          <a:xfrm>
            <a:off x="10040112" y="2743200"/>
            <a:ext cx="1024128" cy="274320"/>
          </a:xfrm>
          <a:prstGeom prst="rect">
            <a:avLst/>
          </a:prstGeom>
          <a:noFill/>
          <a:effectLst/>
        </p:spPr>
        <p:txBody>
          <a:bodyPr wrap="square" lIns="22860" rIns="22860" tIns="0" bIns="0">
            <a:spAutoFit/>
          </a:bodyPr>
          <a:lstStyle/>
          <a:p>
            <a:pPr>
              <a:spcAft>
                <a:spcPts val="600"/>
              </a:spcAft>
              <a:defRPr sz="1400" b="1">
                <a:solidFill>
                  <a:srgbClr val="063584"/>
                </a:solidFill>
                <a:latin typeface="Microsoft YaHei"/>
              </a:defRPr>
            </a:pPr>
            <a:r>
              <a:t>官能化</a:t>
            </a:r>
          </a:p>
        </p:txBody>
      </p:sp>
      <p:sp>
        <p:nvSpPr>
          <p:cNvPr id="145" name="TextBox 144"/>
          <p:cNvSpPr txBox="1"/>
          <p:nvPr/>
        </p:nvSpPr>
        <p:spPr>
          <a:xfrm>
            <a:off x="10213848" y="3209544"/>
            <a:ext cx="1316736" cy="374904"/>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引入官能团</a:t>
            </a:r>
          </a:p>
          <a:p>
            <a:pPr>
              <a:spcAft>
                <a:spcPts val="600"/>
              </a:spcAft>
              <a:defRPr sz="1000" b="0">
                <a:solidFill>
                  <a:srgbClr val="566273"/>
                </a:solidFill>
                <a:latin typeface="Microsoft YaHei"/>
              </a:defRPr>
            </a:pPr>
            <a:r>
              <a:t>拓展材料功能</a:t>
            </a:r>
          </a:p>
        </p:txBody>
      </p:sp>
      <p:sp>
        <p:nvSpPr>
          <p:cNvPr id="146" name="Oval 145"/>
          <p:cNvSpPr/>
          <p:nvPr/>
        </p:nvSpPr>
        <p:spPr>
          <a:xfrm>
            <a:off x="11083991" y="3907779"/>
            <a:ext cx="131673" cy="131673"/>
          </a:xfrm>
          <a:prstGeom prst="ellipse">
            <a:avLst/>
          </a:prstGeom>
          <a:solidFill>
            <a:srgbClr val="FFFFFF"/>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7" name="Oval 146"/>
          <p:cNvSpPr/>
          <p:nvPr/>
        </p:nvSpPr>
        <p:spPr>
          <a:xfrm>
            <a:off x="11274917" y="3907779"/>
            <a:ext cx="131673" cy="131673"/>
          </a:xfrm>
          <a:prstGeom prst="ellipse">
            <a:avLst/>
          </a:prstGeom>
          <a:solidFill>
            <a:srgbClr val="FFFFFF"/>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8" name="Connector 147"/>
          <p:cNvCxnSpPr/>
          <p:nvPr/>
        </p:nvCxnSpPr>
        <p:spPr>
          <a:xfrm flipV="1">
            <a:off x="11182746" y="3670767"/>
            <a:ext cx="217261" cy="25018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149" name="Connector 148"/>
          <p:cNvCxnSpPr/>
          <p:nvPr/>
        </p:nvCxnSpPr>
        <p:spPr>
          <a:xfrm flipH="1" flipV="1">
            <a:off x="11097158" y="3670767"/>
            <a:ext cx="204094" cy="25018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150" name="TextBox 149"/>
          <p:cNvSpPr txBox="1"/>
          <p:nvPr/>
        </p:nvSpPr>
        <p:spPr>
          <a:xfrm>
            <a:off x="10149840" y="3685032"/>
            <a:ext cx="1115568" cy="283464"/>
          </a:xfrm>
          <a:prstGeom prst="rect">
            <a:avLst/>
          </a:prstGeom>
          <a:noFill/>
          <a:effectLst/>
        </p:spPr>
        <p:txBody>
          <a:bodyPr wrap="square" lIns="22860" rIns="22860" tIns="0" bIns="0">
            <a:spAutoFit/>
          </a:bodyPr>
          <a:lstStyle/>
          <a:p>
            <a:pPr>
              <a:spcAft>
                <a:spcPts val="600"/>
              </a:spcAft>
              <a:defRPr sz="1350" b="1">
                <a:solidFill>
                  <a:srgbClr val="063584"/>
                </a:solidFill>
                <a:latin typeface="Microsoft YaHei"/>
              </a:defRPr>
            </a:pPr>
            <a:r>
              <a:t>裂解与偶联</a:t>
            </a:r>
          </a:p>
        </p:txBody>
      </p:sp>
      <p:sp>
        <p:nvSpPr>
          <p:cNvPr id="151" name="TextBox 150"/>
          <p:cNvSpPr txBox="1"/>
          <p:nvPr/>
        </p:nvSpPr>
        <p:spPr>
          <a:xfrm>
            <a:off x="10460736" y="4169663"/>
            <a:ext cx="1106424" cy="429768"/>
          </a:xfrm>
          <a:prstGeom prst="rect">
            <a:avLst/>
          </a:prstGeom>
          <a:noFill/>
          <a:effectLst/>
        </p:spPr>
        <p:txBody>
          <a:bodyPr wrap="square" lIns="22860" rIns="22860" tIns="0" bIns="0">
            <a:spAutoFit/>
          </a:bodyPr>
          <a:lstStyle/>
          <a:p>
            <a:pPr>
              <a:spcAft>
                <a:spcPts val="600"/>
              </a:spcAft>
              <a:defRPr sz="960" b="0">
                <a:solidFill>
                  <a:srgbClr val="566273"/>
                </a:solidFill>
                <a:latin typeface="Microsoft YaHei"/>
              </a:defRPr>
            </a:pPr>
            <a:r>
              <a:t>小分子化学品</a:t>
            </a:r>
          </a:p>
          <a:p>
            <a:pPr>
              <a:spcAft>
                <a:spcPts val="600"/>
              </a:spcAft>
              <a:defRPr sz="960" b="0">
                <a:solidFill>
                  <a:srgbClr val="566273"/>
                </a:solidFill>
                <a:latin typeface="Microsoft YaHei"/>
              </a:defRPr>
            </a:pPr>
            <a:r>
              <a:t>或新结构聚合物</a:t>
            </a:r>
          </a:p>
        </p:txBody>
      </p:sp>
      <p:sp>
        <p:nvSpPr>
          <p:cNvPr id="152" name="Freeform 151"/>
          <p:cNvSpPr/>
          <p:nvPr/>
        </p:nvSpPr>
        <p:spPr>
          <a:xfrm>
            <a:off x="10531327" y="4718304"/>
            <a:ext cx="487375" cy="494873"/>
          </a:xfrm>
          <a:custGeom>
            <a:avLst/>
            <a:gdLst/>
            <a:ahLst/>
            <a:cxnLst/>
            <a:rect l="l" t="t" r="r" b="b"/>
            <a:pathLst>
              <a:path w="487375" h="494873">
                <a:moveTo>
                  <a:pt x="164958" y="0"/>
                </a:moveTo>
                <a:lnTo>
                  <a:pt x="322418" y="0"/>
                </a:lnTo>
                <a:lnTo>
                  <a:pt x="322418" y="172455"/>
                </a:lnTo>
                <a:lnTo>
                  <a:pt x="487375" y="494873"/>
                </a:lnTo>
                <a:lnTo>
                  <a:pt x="0" y="494873"/>
                </a:lnTo>
                <a:lnTo>
                  <a:pt x="164958" y="172455"/>
                </a:lnTo>
                <a:lnTo>
                  <a:pt x="164958" y="0"/>
                </a:lnTo>
              </a:path>
            </a:pathLst>
          </a:custGeom>
          <a:solidFill>
            <a:srgbClr val="F6F9FE"/>
          </a:solidFill>
          <a:ln w="1778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3" name="Freeform 152"/>
          <p:cNvSpPr/>
          <p:nvPr/>
        </p:nvSpPr>
        <p:spPr>
          <a:xfrm>
            <a:off x="10531327" y="5040721"/>
            <a:ext cx="487375" cy="172456"/>
          </a:xfrm>
          <a:custGeom>
            <a:avLst/>
            <a:gdLst/>
            <a:ahLst/>
            <a:cxnLst/>
            <a:rect l="l" t="t" r="r" b="b"/>
            <a:pathLst>
              <a:path w="487375" h="172456">
                <a:moveTo>
                  <a:pt x="89977" y="0"/>
                </a:moveTo>
                <a:lnTo>
                  <a:pt x="397398" y="0"/>
                </a:lnTo>
                <a:lnTo>
                  <a:pt x="487375" y="172456"/>
                </a:lnTo>
                <a:lnTo>
                  <a:pt x="0" y="172456"/>
                </a:lnTo>
                <a:lnTo>
                  <a:pt x="89977" y="0"/>
                </a:lnTo>
              </a:path>
            </a:pathLst>
          </a:custGeom>
          <a:solidFill>
            <a:srgbClr val="C5D9F5"/>
          </a:solidFill>
          <a:ln w="12700">
            <a:solidFill>
              <a:srgbClr val="3365B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4" name="Connector 153"/>
          <p:cNvCxnSpPr/>
          <p:nvPr/>
        </p:nvCxnSpPr>
        <p:spPr>
          <a:xfrm>
            <a:off x="10673791" y="4718304"/>
            <a:ext cx="202448" cy="0"/>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155" name="TextBox 154"/>
          <p:cNvSpPr txBox="1"/>
          <p:nvPr/>
        </p:nvSpPr>
        <p:spPr>
          <a:xfrm>
            <a:off x="9592056" y="5084064"/>
            <a:ext cx="1024128" cy="283464"/>
          </a:xfrm>
          <a:prstGeom prst="rect">
            <a:avLst/>
          </a:prstGeom>
          <a:noFill/>
          <a:effectLst/>
        </p:spPr>
        <p:txBody>
          <a:bodyPr wrap="square" lIns="22860" rIns="22860" tIns="0" bIns="0">
            <a:spAutoFit/>
          </a:bodyPr>
          <a:lstStyle/>
          <a:p>
            <a:pPr>
              <a:spcAft>
                <a:spcPts val="600"/>
              </a:spcAft>
              <a:defRPr sz="1350" b="1">
                <a:solidFill>
                  <a:srgbClr val="063584"/>
                </a:solidFill>
                <a:latin typeface="Microsoft YaHei"/>
              </a:defRPr>
            </a:pPr>
            <a:r>
              <a:t>溶剂处理</a:t>
            </a:r>
          </a:p>
        </p:txBody>
      </p:sp>
      <p:sp>
        <p:nvSpPr>
          <p:cNvPr id="156" name="TextBox 155"/>
          <p:cNvSpPr txBox="1"/>
          <p:nvPr/>
        </p:nvSpPr>
        <p:spPr>
          <a:xfrm>
            <a:off x="10634472" y="5312664"/>
            <a:ext cx="969264" cy="256032"/>
          </a:xfrm>
          <a:prstGeom prst="rect">
            <a:avLst/>
          </a:prstGeom>
          <a:noFill/>
          <a:effectLst/>
        </p:spPr>
        <p:txBody>
          <a:bodyPr wrap="square" lIns="22860" rIns="22860" tIns="0" bIns="0">
            <a:spAutoFit/>
          </a:bodyPr>
          <a:lstStyle/>
          <a:p>
            <a:pPr>
              <a:spcAft>
                <a:spcPts val="600"/>
              </a:spcAft>
              <a:defRPr sz="950" b="0">
                <a:solidFill>
                  <a:srgbClr val="566273"/>
                </a:solidFill>
                <a:latin typeface="Microsoft YaHei"/>
              </a:defRPr>
            </a:pPr>
            <a:r>
              <a:t>分离 / 再加工</a:t>
            </a:r>
          </a:p>
        </p:txBody>
      </p:sp>
      <p:cxnSp>
        <p:nvCxnSpPr>
          <p:cNvPr id="157" name="Connector 156"/>
          <p:cNvCxnSpPr/>
          <p:nvPr/>
        </p:nvCxnSpPr>
        <p:spPr>
          <a:xfrm>
            <a:off x="7360920" y="4965192"/>
            <a:ext cx="106984" cy="82296"/>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158" name="Oval 157"/>
          <p:cNvSpPr/>
          <p:nvPr/>
        </p:nvSpPr>
        <p:spPr>
          <a:xfrm>
            <a:off x="7332116" y="4936388"/>
            <a:ext cx="57607" cy="5760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9" name="Connector 158"/>
          <p:cNvCxnSpPr/>
          <p:nvPr/>
        </p:nvCxnSpPr>
        <p:spPr>
          <a:xfrm>
            <a:off x="7550200" y="4965192"/>
            <a:ext cx="106985" cy="82296"/>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160" name="Oval 159"/>
          <p:cNvSpPr/>
          <p:nvPr/>
        </p:nvSpPr>
        <p:spPr>
          <a:xfrm>
            <a:off x="7521397" y="4936388"/>
            <a:ext cx="57607" cy="5760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61" name="Connector 160"/>
          <p:cNvCxnSpPr/>
          <p:nvPr/>
        </p:nvCxnSpPr>
        <p:spPr>
          <a:xfrm>
            <a:off x="7739481" y="4965192"/>
            <a:ext cx="106985" cy="82296"/>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162" name="Oval 161"/>
          <p:cNvSpPr/>
          <p:nvPr/>
        </p:nvSpPr>
        <p:spPr>
          <a:xfrm>
            <a:off x="7710678" y="4936388"/>
            <a:ext cx="57607" cy="5760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3" name="TextBox 162"/>
          <p:cNvSpPr txBox="1"/>
          <p:nvPr/>
        </p:nvSpPr>
        <p:spPr>
          <a:xfrm>
            <a:off x="7360920" y="5170931"/>
            <a:ext cx="1110996" cy="172821"/>
          </a:xfrm>
          <a:prstGeom prst="rect">
            <a:avLst/>
          </a:prstGeom>
          <a:noFill/>
          <a:effectLst/>
        </p:spPr>
        <p:txBody>
          <a:bodyPr wrap="square" lIns="22860" rIns="22860" tIns="0" bIns="0">
            <a:spAutoFit/>
          </a:bodyPr>
          <a:lstStyle/>
          <a:p>
            <a:pPr>
              <a:spcAft>
                <a:spcPts val="600"/>
              </a:spcAft>
              <a:defRPr sz="810" b="0">
                <a:solidFill>
                  <a:srgbClr val="566273"/>
                </a:solidFill>
                <a:latin typeface="Microsoft YaHei"/>
              </a:defRPr>
            </a:pPr>
            <a:r>
              <a:t>低聚物 / 小分子</a:t>
            </a:r>
          </a:p>
        </p:txBody>
      </p:sp>
      <p:sp>
        <p:nvSpPr>
          <p:cNvPr id="164" name="TextBox 163"/>
          <p:cNvSpPr txBox="1"/>
          <p:nvPr/>
        </p:nvSpPr>
        <p:spPr>
          <a:xfrm>
            <a:off x="7050024" y="4535424"/>
            <a:ext cx="1636776" cy="283464"/>
          </a:xfrm>
          <a:prstGeom prst="rect">
            <a:avLst/>
          </a:prstGeom>
          <a:noFill/>
          <a:effectLst/>
        </p:spPr>
        <p:txBody>
          <a:bodyPr wrap="square" lIns="22860" rIns="22860" tIns="0" bIns="0">
            <a:spAutoFit/>
          </a:bodyPr>
          <a:lstStyle/>
          <a:p>
            <a:pPr>
              <a:spcAft>
                <a:spcPts val="600"/>
              </a:spcAft>
              <a:defRPr sz="1350" b="1">
                <a:solidFill>
                  <a:srgbClr val="063584"/>
                </a:solidFill>
                <a:latin typeface="Microsoft YaHei"/>
              </a:defRPr>
            </a:pPr>
            <a:r>
              <a:t>解聚 / 低分子化</a:t>
            </a:r>
          </a:p>
        </p:txBody>
      </p:sp>
      <p:sp>
        <p:nvSpPr>
          <p:cNvPr id="165" name="TextBox 164"/>
          <p:cNvSpPr txBox="1"/>
          <p:nvPr/>
        </p:nvSpPr>
        <p:spPr>
          <a:xfrm>
            <a:off x="8412480" y="5486400"/>
            <a:ext cx="3209544" cy="155448"/>
          </a:xfrm>
          <a:prstGeom prst="rect">
            <a:avLst/>
          </a:prstGeom>
          <a:noFill/>
          <a:effectLst/>
        </p:spPr>
        <p:txBody>
          <a:bodyPr wrap="square" lIns="22860" rIns="22860" tIns="0" bIns="0">
            <a:spAutoFit/>
          </a:bodyPr>
          <a:lstStyle/>
          <a:p>
            <a:pPr algn="r">
              <a:spcAft>
                <a:spcPts val="600"/>
              </a:spcAft>
              <a:defRPr sz="930" b="0">
                <a:solidFill>
                  <a:srgbClr val="566273"/>
                </a:solidFill>
                <a:latin typeface="Microsoft YaHei"/>
              </a:defRPr>
            </a:pPr>
            <a:r>
              <a:t>路线分类示意，不代表本体系已实现。</a:t>
            </a:r>
          </a:p>
        </p:txBody>
      </p:sp>
      <p:sp>
        <p:nvSpPr>
          <p:cNvPr id="166" name="Rectangle 165"/>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7" name="Chevron 166"/>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8" name="TextBox 167"/>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研究切入点</a:t>
            </a:r>
          </a:p>
        </p:txBody>
      </p:sp>
      <p:sp>
        <p:nvSpPr>
          <p:cNvPr id="169" name="TextBox 168"/>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本研究聚焦光敏组分参与的 PVC 光化学转化，探索温和条件下的自由基路径。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文献启发：从抑制 PVC 光老化转向调控自由基转化</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Gardette 讨论多烯相关含氯位点的光激发与 Cl· 逸出，并提出自由基氧化链反应网络</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Gardette et al., Macromolecules 1989, 22, 2576–2581. Huang &amp; Wang, J. Polym. Sci. 2024, 62, 969–997.</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4</a:t>
            </a:r>
          </a:p>
        </p:txBody>
      </p:sp>
      <p:sp>
        <p:nvSpPr>
          <p:cNvPr id="7" name="Rounded Rectangle 6"/>
          <p:cNvSpPr/>
          <p:nvPr/>
        </p:nvSpPr>
        <p:spPr>
          <a:xfrm>
            <a:off x="438912" y="1417320"/>
            <a:ext cx="5632704"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5577840"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5340096"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早期光氧化的机制认识</a:t>
            </a:r>
          </a:p>
        </p:txBody>
      </p:sp>
      <p:sp>
        <p:nvSpPr>
          <p:cNvPr id="10" name="TextBox 9"/>
          <p:cNvSpPr txBox="1"/>
          <p:nvPr/>
        </p:nvSpPr>
        <p:spPr>
          <a:xfrm>
            <a:off x="694944" y="1947672"/>
            <a:ext cx="5148072" cy="512064"/>
          </a:xfrm>
          <a:prstGeom prst="rect">
            <a:avLst/>
          </a:prstGeom>
          <a:noFill/>
          <a:effectLst/>
        </p:spPr>
        <p:txBody>
          <a:bodyPr wrap="square" lIns="22860" rIns="22860" tIns="0" bIns="0">
            <a:spAutoFit/>
          </a:bodyPr>
          <a:lstStyle/>
          <a:p>
            <a:pPr>
              <a:spcAft>
                <a:spcPts val="600"/>
              </a:spcAft>
              <a:defRPr sz="2000" b="1">
                <a:solidFill>
                  <a:srgbClr val="063584"/>
                </a:solidFill>
                <a:latin typeface="Microsoft YaHei"/>
              </a:defRPr>
            </a:pPr>
            <a:r>
              <a:t>发色结构 / 缺陷 → 含氯位点活化</a:t>
            </a:r>
          </a:p>
        </p:txBody>
      </p:sp>
      <p:sp>
        <p:nvSpPr>
          <p:cNvPr id="11" name="TextBox 10"/>
          <p:cNvSpPr txBox="1"/>
          <p:nvPr/>
        </p:nvSpPr>
        <p:spPr>
          <a:xfrm>
            <a:off x="932688" y="2734056"/>
            <a:ext cx="4663440" cy="411480"/>
          </a:xfrm>
          <a:prstGeom prst="rect">
            <a:avLst/>
          </a:prstGeom>
          <a:noFill/>
          <a:effectLst/>
        </p:spPr>
        <p:txBody>
          <a:bodyPr wrap="square" lIns="22860" rIns="22860" tIns="0" bIns="0">
            <a:spAutoFit/>
          </a:bodyPr>
          <a:lstStyle/>
          <a:p>
            <a:pPr algn="ctr">
              <a:spcAft>
                <a:spcPts val="600"/>
              </a:spcAft>
              <a:defRPr sz="2600" b="1">
                <a:solidFill>
                  <a:srgbClr val="111111"/>
                </a:solidFill>
                <a:latin typeface="Microsoft YaHei"/>
              </a:defRPr>
            </a:pPr>
            <a:r>
              <a:t>R–Cl  →  R· + Cl·</a:t>
            </a:r>
          </a:p>
        </p:txBody>
      </p:sp>
      <p:cxnSp>
        <p:nvCxnSpPr>
          <p:cNvPr id="12" name="Connector 11"/>
          <p:cNvCxnSpPr/>
          <p:nvPr/>
        </p:nvCxnSpPr>
        <p:spPr>
          <a:xfrm>
            <a:off x="3200400" y="3337560"/>
            <a:ext cx="0" cy="338327"/>
          </a:xfrm>
          <a:prstGeom prst="line">
            <a:avLst/>
          </a:prstGeom>
          <a:ln w="1905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841248" y="3831336"/>
            <a:ext cx="4800600" cy="502920"/>
          </a:xfrm>
          <a:prstGeom prst="rect">
            <a:avLst/>
          </a:prstGeom>
          <a:noFill/>
          <a:effectLst/>
        </p:spPr>
        <p:txBody>
          <a:bodyPr wrap="square" lIns="22860" rIns="22860" tIns="0" bIns="0">
            <a:spAutoFit/>
          </a:bodyPr>
          <a:lstStyle/>
          <a:p>
            <a:pPr algn="ctr">
              <a:spcAft>
                <a:spcPts val="600"/>
              </a:spcAft>
              <a:defRPr sz="1800" b="1">
                <a:solidFill>
                  <a:srgbClr val="111111"/>
                </a:solidFill>
                <a:latin typeface="Microsoft YaHei"/>
              </a:defRPr>
            </a:pPr>
            <a:r>
              <a:t>R· + O₂ → ROO· → 氧化 / 可能裂解</a:t>
            </a:r>
          </a:p>
        </p:txBody>
      </p:sp>
      <p:sp>
        <p:nvSpPr>
          <p:cNvPr id="14" name="TextBox 13"/>
          <p:cNvSpPr txBox="1"/>
          <p:nvPr/>
        </p:nvSpPr>
        <p:spPr>
          <a:xfrm>
            <a:off x="740664" y="4709160"/>
            <a:ext cx="4983480" cy="722376"/>
          </a:xfrm>
          <a:prstGeom prst="rect">
            <a:avLst/>
          </a:prstGeom>
          <a:noFill/>
          <a:effectLst/>
        </p:spPr>
        <p:txBody>
          <a:bodyPr wrap="square" lIns="22860" rIns="22860" tIns="0" bIns="0">
            <a:spAutoFit/>
          </a:bodyPr>
          <a:lstStyle/>
          <a:p>
            <a:pPr>
              <a:spcAft>
                <a:spcPts val="600"/>
              </a:spcAft>
              <a:defRPr sz="1400" b="0">
                <a:solidFill>
                  <a:srgbClr val="566273"/>
                </a:solidFill>
                <a:latin typeface="Microsoft YaHei"/>
              </a:defRPr>
            </a:pPr>
            <a:r>
              <a:t>证据：含氧产物鉴别与选择性化学处理。</a:t>
            </a:r>
          </a:p>
          <a:p>
            <a:pPr>
              <a:spcAft>
                <a:spcPts val="600"/>
              </a:spcAft>
              <a:defRPr sz="1400" b="0">
                <a:solidFill>
                  <a:srgbClr val="566273"/>
                </a:solidFill>
                <a:latin typeface="Microsoft YaHei"/>
              </a:defRPr>
            </a:pPr>
            <a:r>
              <a:t>边界：不是所有饱和 C–Cl 均直接光解，</a:t>
            </a:r>
          </a:p>
          <a:p>
            <a:pPr>
              <a:spcAft>
                <a:spcPts val="600"/>
              </a:spcAft>
              <a:defRPr sz="1400" b="0">
                <a:solidFill>
                  <a:srgbClr val="566273"/>
                </a:solidFill>
                <a:latin typeface="Microsoft YaHei"/>
              </a:defRPr>
            </a:pPr>
            <a:r>
              <a:t>也不是本体系 Cl· 的直接测量。</a:t>
            </a:r>
          </a:p>
        </p:txBody>
      </p:sp>
      <p:sp>
        <p:nvSpPr>
          <p:cNvPr id="15" name="Rounded Rectangle 14"/>
          <p:cNvSpPr/>
          <p:nvPr/>
        </p:nvSpPr>
        <p:spPr>
          <a:xfrm>
            <a:off x="6281928" y="1417320"/>
            <a:ext cx="5358384" cy="1901952"/>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ounded Rectangle 15"/>
          <p:cNvSpPr/>
          <p:nvPr/>
        </p:nvSpPr>
        <p:spPr>
          <a:xfrm>
            <a:off x="6309360" y="1444752"/>
            <a:ext cx="5303520"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428232" y="1495044"/>
            <a:ext cx="5065776"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传统稳定化：抑制有害链反应</a:t>
            </a:r>
          </a:p>
        </p:txBody>
      </p:sp>
      <p:sp>
        <p:nvSpPr>
          <p:cNvPr id="18" name="Oval 17"/>
          <p:cNvSpPr/>
          <p:nvPr/>
        </p:nvSpPr>
        <p:spPr>
          <a:xfrm>
            <a:off x="6519672" y="1956816"/>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524244" y="1965960"/>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1</a:t>
            </a:r>
          </a:p>
        </p:txBody>
      </p:sp>
      <p:sp>
        <p:nvSpPr>
          <p:cNvPr id="20" name="TextBox 19"/>
          <p:cNvSpPr txBox="1"/>
          <p:nvPr/>
        </p:nvSpPr>
        <p:spPr>
          <a:xfrm>
            <a:off x="6867144" y="1956816"/>
            <a:ext cx="4526280"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降低不受控老化</a:t>
            </a:r>
          </a:p>
        </p:txBody>
      </p:sp>
      <p:sp>
        <p:nvSpPr>
          <p:cNvPr id="21" name="TextBox 20"/>
          <p:cNvSpPr txBox="1"/>
          <p:nvPr/>
        </p:nvSpPr>
        <p:spPr>
          <a:xfrm>
            <a:off x="6867144" y="2322576"/>
            <a:ext cx="4526280"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稳定化可涉及吸光屏蔽、HCl 捕获，</a:t>
            </a:r>
          </a:p>
          <a:p>
            <a:pPr>
              <a:spcAft>
                <a:spcPts val="600"/>
              </a:spcAft>
              <a:defRPr sz="1450" b="0">
                <a:solidFill>
                  <a:srgbClr val="111111"/>
                </a:solidFill>
                <a:latin typeface="Microsoft YaHei"/>
              </a:defRPr>
            </a:pPr>
            <a:r>
              <a:t>以及自由基或过氧化过程的抑制。</a:t>
            </a:r>
          </a:p>
        </p:txBody>
      </p:sp>
      <p:sp>
        <p:nvSpPr>
          <p:cNvPr id="22" name="Rounded Rectangle 21"/>
          <p:cNvSpPr/>
          <p:nvPr/>
        </p:nvSpPr>
        <p:spPr>
          <a:xfrm>
            <a:off x="6281928" y="3529584"/>
            <a:ext cx="5358384" cy="2221992"/>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ounded Rectangle 22"/>
          <p:cNvSpPr/>
          <p:nvPr/>
        </p:nvSpPr>
        <p:spPr>
          <a:xfrm>
            <a:off x="6309360" y="3557015"/>
            <a:ext cx="5303520"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428232" y="3607308"/>
            <a:ext cx="5065776"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本课题转换：定向启动与追踪</a:t>
            </a:r>
          </a:p>
        </p:txBody>
      </p:sp>
      <p:sp>
        <p:nvSpPr>
          <p:cNvPr id="25" name="Oval 24"/>
          <p:cNvSpPr/>
          <p:nvPr/>
        </p:nvSpPr>
        <p:spPr>
          <a:xfrm>
            <a:off x="6519672" y="407822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6524244" y="4087368"/>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2</a:t>
            </a:r>
          </a:p>
        </p:txBody>
      </p:sp>
      <p:sp>
        <p:nvSpPr>
          <p:cNvPr id="27" name="TextBox 26"/>
          <p:cNvSpPr txBox="1"/>
          <p:nvPr/>
        </p:nvSpPr>
        <p:spPr>
          <a:xfrm>
            <a:off x="6867144" y="4078224"/>
            <a:ext cx="4526280"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将自由基过程变成研究变量</a:t>
            </a:r>
          </a:p>
        </p:txBody>
      </p:sp>
      <p:sp>
        <p:nvSpPr>
          <p:cNvPr id="28" name="TextBox 27"/>
          <p:cNvSpPr txBox="1"/>
          <p:nvPr/>
        </p:nvSpPr>
        <p:spPr>
          <a:xfrm>
            <a:off x="6867144" y="4443984"/>
            <a:ext cx="4526280"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借助外加光敏组分调节反应入口；</a:t>
            </a:r>
          </a:p>
          <a:p>
            <a:pPr>
              <a:spcAft>
                <a:spcPts val="600"/>
              </a:spcAft>
              <a:defRPr sz="1450" b="0">
                <a:solidFill>
                  <a:srgbClr val="111111"/>
                </a:solidFill>
                <a:latin typeface="Microsoft YaHei"/>
              </a:defRPr>
            </a:pPr>
            <a:r>
              <a:t>Cl· 的产生、贡献和链裂解均单独验证。</a:t>
            </a:r>
          </a:p>
        </p:txBody>
      </p:sp>
      <p:sp>
        <p:nvSpPr>
          <p:cNvPr id="29" name="Rectangle 28"/>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Chevron 29"/>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32" name="TextBox 31"/>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借鉴老化机制的活化入口，避免将“参与老化”直接写成“已实现可控降解”。</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光敏组分选择：AQ 的激发态化学提供候选反应入口</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实际使用乙基蒽醌；“不含贵金属”不等于总体成本已优化，试剂用量与回收仍需评价</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Chen et al., Environ. Sci. Ecotechnol. 2024, 22, 100449.  Ren et al. 2011：据综述引文98，原文及 DOI 未取得。</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5</a:t>
            </a:r>
          </a:p>
        </p:txBody>
      </p:sp>
      <p:sp>
        <p:nvSpPr>
          <p:cNvPr id="7" name="Rounded Rectangle 6"/>
          <p:cNvSpPr/>
          <p:nvPr/>
        </p:nvSpPr>
        <p:spPr>
          <a:xfrm>
            <a:off x="438912" y="1417320"/>
            <a:ext cx="3246120"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319125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2953511"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分子基础：AQ 与 EAQ</a:t>
            </a:r>
          </a:p>
        </p:txBody>
      </p:sp>
      <p:sp>
        <p:nvSpPr>
          <p:cNvPr id="10" name="Freeform 9"/>
          <p:cNvSpPr/>
          <p:nvPr/>
        </p:nvSpPr>
        <p:spPr>
          <a:xfrm>
            <a:off x="1392926" y="2147011"/>
            <a:ext cx="430790" cy="497433"/>
          </a:xfrm>
          <a:custGeom>
            <a:avLst/>
            <a:gdLst/>
            <a:ahLst/>
            <a:cxnLst/>
            <a:rect l="l" t="t" r="r" b="b"/>
            <a:pathLst>
              <a:path w="430790" h="497433">
                <a:moveTo>
                  <a:pt x="215395" y="0"/>
                </a:moveTo>
                <a:lnTo>
                  <a:pt x="430790" y="124358"/>
                </a:lnTo>
                <a:lnTo>
                  <a:pt x="430790" y="373075"/>
                </a:lnTo>
                <a:lnTo>
                  <a:pt x="215395" y="497433"/>
                </a:lnTo>
                <a:lnTo>
                  <a:pt x="0" y="373075"/>
                </a:lnTo>
                <a:lnTo>
                  <a:pt x="0" y="124358"/>
                </a:lnTo>
                <a:lnTo>
                  <a:pt x="215395"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 name="Connector 10"/>
          <p:cNvCxnSpPr/>
          <p:nvPr/>
        </p:nvCxnSpPr>
        <p:spPr>
          <a:xfrm>
            <a:off x="1608321" y="2216651"/>
            <a:ext cx="155085"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2" name="Connector 11"/>
          <p:cNvCxnSpPr/>
          <p:nvPr/>
        </p:nvCxnSpPr>
        <p:spPr>
          <a:xfrm flipH="1">
            <a:off x="1608321" y="2485266"/>
            <a:ext cx="155085"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3" name="Connector 12"/>
          <p:cNvCxnSpPr/>
          <p:nvPr/>
        </p:nvCxnSpPr>
        <p:spPr>
          <a:xfrm flipV="1">
            <a:off x="1453237" y="2306189"/>
            <a:ext cx="0" cy="179077"/>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4" name="Freeform 13"/>
          <p:cNvSpPr/>
          <p:nvPr/>
        </p:nvSpPr>
        <p:spPr>
          <a:xfrm>
            <a:off x="1823716" y="2147011"/>
            <a:ext cx="430791" cy="497433"/>
          </a:xfrm>
          <a:custGeom>
            <a:avLst/>
            <a:gdLst/>
            <a:ahLst/>
            <a:cxnLst/>
            <a:rect l="l" t="t" r="r" b="b"/>
            <a:pathLst>
              <a:path w="430791" h="497433">
                <a:moveTo>
                  <a:pt x="215396" y="0"/>
                </a:moveTo>
                <a:lnTo>
                  <a:pt x="430791" y="124358"/>
                </a:lnTo>
                <a:lnTo>
                  <a:pt x="430791" y="373075"/>
                </a:lnTo>
                <a:lnTo>
                  <a:pt x="215396" y="497433"/>
                </a:lnTo>
                <a:lnTo>
                  <a:pt x="0" y="373075"/>
                </a:lnTo>
                <a:lnTo>
                  <a:pt x="0" y="124358"/>
                </a:lnTo>
                <a:lnTo>
                  <a:pt x="215396"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Freeform 14"/>
          <p:cNvSpPr/>
          <p:nvPr/>
        </p:nvSpPr>
        <p:spPr>
          <a:xfrm>
            <a:off x="2254507" y="2147011"/>
            <a:ext cx="430790" cy="497433"/>
          </a:xfrm>
          <a:custGeom>
            <a:avLst/>
            <a:gdLst/>
            <a:ahLst/>
            <a:cxnLst/>
            <a:rect l="l" t="t" r="r" b="b"/>
            <a:pathLst>
              <a:path w="430790" h="497433">
                <a:moveTo>
                  <a:pt x="215395" y="0"/>
                </a:moveTo>
                <a:lnTo>
                  <a:pt x="430790" y="124358"/>
                </a:lnTo>
                <a:lnTo>
                  <a:pt x="430790" y="373075"/>
                </a:lnTo>
                <a:lnTo>
                  <a:pt x="215395" y="497433"/>
                </a:lnTo>
                <a:lnTo>
                  <a:pt x="0" y="373075"/>
                </a:lnTo>
                <a:lnTo>
                  <a:pt x="0" y="124358"/>
                </a:lnTo>
                <a:lnTo>
                  <a:pt x="215395"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6" name="Connector 15"/>
          <p:cNvCxnSpPr/>
          <p:nvPr/>
        </p:nvCxnSpPr>
        <p:spPr>
          <a:xfrm>
            <a:off x="2469902" y="2216651"/>
            <a:ext cx="155084"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flipH="1">
            <a:off x="2469902" y="2485266"/>
            <a:ext cx="155084"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flipV="1">
            <a:off x="2314817" y="2306189"/>
            <a:ext cx="0" cy="179077"/>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9" name="Connector 18"/>
          <p:cNvCxnSpPr/>
          <p:nvPr/>
        </p:nvCxnSpPr>
        <p:spPr>
          <a:xfrm flipV="1">
            <a:off x="2019680" y="1968245"/>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0" name="Connector 19"/>
          <p:cNvCxnSpPr/>
          <p:nvPr/>
        </p:nvCxnSpPr>
        <p:spPr>
          <a:xfrm flipV="1">
            <a:off x="2058543" y="1968245"/>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1953615" y="1781708"/>
            <a:ext cx="233172" cy="194310"/>
          </a:xfrm>
          <a:prstGeom prst="rect">
            <a:avLst/>
          </a:prstGeom>
          <a:noFill/>
          <a:effectLst/>
        </p:spPr>
        <p:txBody>
          <a:bodyPr wrap="square" lIns="22860" rIns="22860" tIns="0" bIns="0">
            <a:spAutoFit/>
          </a:bodyPr>
          <a:lstStyle/>
          <a:p>
            <a:pPr>
              <a:spcAft>
                <a:spcPts val="600"/>
              </a:spcAft>
              <a:defRPr sz="1105" b="0">
                <a:solidFill>
                  <a:srgbClr val="111111"/>
                </a:solidFill>
                <a:latin typeface="Arial"/>
              </a:defRPr>
            </a:pPr>
            <a:r>
              <a:t>O</a:t>
            </a:r>
          </a:p>
        </p:txBody>
      </p:sp>
      <p:cxnSp>
        <p:nvCxnSpPr>
          <p:cNvPr id="22" name="Connector 21"/>
          <p:cNvCxnSpPr/>
          <p:nvPr/>
        </p:nvCxnSpPr>
        <p:spPr>
          <a:xfrm>
            <a:off x="2019680" y="2644444"/>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a:off x="2058543" y="2644444"/>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4" name="TextBox 23"/>
          <p:cNvSpPr txBox="1"/>
          <p:nvPr/>
        </p:nvSpPr>
        <p:spPr>
          <a:xfrm>
            <a:off x="1953615" y="2830982"/>
            <a:ext cx="233172" cy="194310"/>
          </a:xfrm>
          <a:prstGeom prst="rect">
            <a:avLst/>
          </a:prstGeom>
          <a:noFill/>
          <a:effectLst/>
        </p:spPr>
        <p:txBody>
          <a:bodyPr wrap="square" lIns="22860" rIns="22860" tIns="0" bIns="0">
            <a:spAutoFit/>
          </a:bodyPr>
          <a:lstStyle/>
          <a:p>
            <a:pPr>
              <a:spcAft>
                <a:spcPts val="600"/>
              </a:spcAft>
              <a:defRPr sz="1105" b="0">
                <a:solidFill>
                  <a:srgbClr val="111111"/>
                </a:solidFill>
                <a:latin typeface="Arial"/>
              </a:defRPr>
            </a:pPr>
            <a:r>
              <a:t>O</a:t>
            </a:r>
          </a:p>
        </p:txBody>
      </p:sp>
      <p:sp>
        <p:nvSpPr>
          <p:cNvPr id="25" name="TextBox 24"/>
          <p:cNvSpPr txBox="1"/>
          <p:nvPr/>
        </p:nvSpPr>
        <p:spPr>
          <a:xfrm>
            <a:off x="722376" y="3118104"/>
            <a:ext cx="2688336" cy="256032"/>
          </a:xfrm>
          <a:prstGeom prst="rect">
            <a:avLst/>
          </a:prstGeom>
          <a:noFill/>
          <a:effectLst/>
        </p:spPr>
        <p:txBody>
          <a:bodyPr wrap="square" lIns="22860" rIns="22860" tIns="0" bIns="0">
            <a:spAutoFit/>
          </a:bodyPr>
          <a:lstStyle/>
          <a:p>
            <a:pPr algn="ctr">
              <a:spcAft>
                <a:spcPts val="600"/>
              </a:spcAft>
              <a:defRPr sz="1300" b="1">
                <a:solidFill>
                  <a:srgbClr val="063584"/>
                </a:solidFill>
                <a:latin typeface="Microsoft YaHei"/>
              </a:defRPr>
            </a:pPr>
            <a:r>
              <a:t>AQ 母体：9,10-二羰基骨架</a:t>
            </a:r>
          </a:p>
        </p:txBody>
      </p:sp>
      <p:sp>
        <p:nvSpPr>
          <p:cNvPr id="26" name="Freeform 25"/>
          <p:cNvSpPr/>
          <p:nvPr/>
        </p:nvSpPr>
        <p:spPr>
          <a:xfrm>
            <a:off x="1392926" y="3756355"/>
            <a:ext cx="430790" cy="497433"/>
          </a:xfrm>
          <a:custGeom>
            <a:avLst/>
            <a:gdLst/>
            <a:ahLst/>
            <a:cxnLst/>
            <a:rect l="l" t="t" r="r" b="b"/>
            <a:pathLst>
              <a:path w="430790" h="497433">
                <a:moveTo>
                  <a:pt x="215395" y="0"/>
                </a:moveTo>
                <a:lnTo>
                  <a:pt x="430790" y="124358"/>
                </a:lnTo>
                <a:lnTo>
                  <a:pt x="430790" y="373075"/>
                </a:lnTo>
                <a:lnTo>
                  <a:pt x="215395" y="497433"/>
                </a:lnTo>
                <a:lnTo>
                  <a:pt x="0" y="373075"/>
                </a:lnTo>
                <a:lnTo>
                  <a:pt x="0" y="124358"/>
                </a:lnTo>
                <a:lnTo>
                  <a:pt x="215395"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7" name="Connector 26"/>
          <p:cNvCxnSpPr/>
          <p:nvPr/>
        </p:nvCxnSpPr>
        <p:spPr>
          <a:xfrm>
            <a:off x="1608321" y="3825995"/>
            <a:ext cx="155085"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flipH="1">
            <a:off x="1608321" y="4094610"/>
            <a:ext cx="155085"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9" name="Connector 28"/>
          <p:cNvCxnSpPr/>
          <p:nvPr/>
        </p:nvCxnSpPr>
        <p:spPr>
          <a:xfrm flipV="1">
            <a:off x="1453237" y="3915533"/>
            <a:ext cx="0" cy="179077"/>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0" name="Freeform 29"/>
          <p:cNvSpPr/>
          <p:nvPr/>
        </p:nvSpPr>
        <p:spPr>
          <a:xfrm>
            <a:off x="1823716" y="3756355"/>
            <a:ext cx="430791" cy="497433"/>
          </a:xfrm>
          <a:custGeom>
            <a:avLst/>
            <a:gdLst/>
            <a:ahLst/>
            <a:cxnLst/>
            <a:rect l="l" t="t" r="r" b="b"/>
            <a:pathLst>
              <a:path w="430791" h="497433">
                <a:moveTo>
                  <a:pt x="215396" y="0"/>
                </a:moveTo>
                <a:lnTo>
                  <a:pt x="430791" y="124358"/>
                </a:lnTo>
                <a:lnTo>
                  <a:pt x="430791" y="373075"/>
                </a:lnTo>
                <a:lnTo>
                  <a:pt x="215396" y="497433"/>
                </a:lnTo>
                <a:lnTo>
                  <a:pt x="0" y="373075"/>
                </a:lnTo>
                <a:lnTo>
                  <a:pt x="0" y="124358"/>
                </a:lnTo>
                <a:lnTo>
                  <a:pt x="215396"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Freeform 30"/>
          <p:cNvSpPr/>
          <p:nvPr/>
        </p:nvSpPr>
        <p:spPr>
          <a:xfrm>
            <a:off x="2254507" y="3756355"/>
            <a:ext cx="430790" cy="497433"/>
          </a:xfrm>
          <a:custGeom>
            <a:avLst/>
            <a:gdLst/>
            <a:ahLst/>
            <a:cxnLst/>
            <a:rect l="l" t="t" r="r" b="b"/>
            <a:pathLst>
              <a:path w="430790" h="497433">
                <a:moveTo>
                  <a:pt x="215395" y="0"/>
                </a:moveTo>
                <a:lnTo>
                  <a:pt x="430790" y="124358"/>
                </a:lnTo>
                <a:lnTo>
                  <a:pt x="430790" y="373075"/>
                </a:lnTo>
                <a:lnTo>
                  <a:pt x="215395" y="497433"/>
                </a:lnTo>
                <a:lnTo>
                  <a:pt x="0" y="373075"/>
                </a:lnTo>
                <a:lnTo>
                  <a:pt x="0" y="124358"/>
                </a:lnTo>
                <a:lnTo>
                  <a:pt x="215395"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2" name="Connector 31"/>
          <p:cNvCxnSpPr/>
          <p:nvPr/>
        </p:nvCxnSpPr>
        <p:spPr>
          <a:xfrm>
            <a:off x="2469902" y="3825995"/>
            <a:ext cx="155084"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3" name="Connector 32"/>
          <p:cNvCxnSpPr/>
          <p:nvPr/>
        </p:nvCxnSpPr>
        <p:spPr>
          <a:xfrm flipH="1">
            <a:off x="2469902" y="4094610"/>
            <a:ext cx="155084"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4" name="Connector 33"/>
          <p:cNvCxnSpPr/>
          <p:nvPr/>
        </p:nvCxnSpPr>
        <p:spPr>
          <a:xfrm flipV="1">
            <a:off x="2314817" y="3915533"/>
            <a:ext cx="0" cy="179077"/>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flipV="1">
            <a:off x="2019680" y="3577589"/>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6" name="Connector 35"/>
          <p:cNvCxnSpPr/>
          <p:nvPr/>
        </p:nvCxnSpPr>
        <p:spPr>
          <a:xfrm flipV="1">
            <a:off x="2058543" y="3577589"/>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7" name="TextBox 36"/>
          <p:cNvSpPr txBox="1"/>
          <p:nvPr/>
        </p:nvSpPr>
        <p:spPr>
          <a:xfrm>
            <a:off x="1953615" y="3391052"/>
            <a:ext cx="233172" cy="194310"/>
          </a:xfrm>
          <a:prstGeom prst="rect">
            <a:avLst/>
          </a:prstGeom>
          <a:noFill/>
          <a:effectLst/>
        </p:spPr>
        <p:txBody>
          <a:bodyPr wrap="square" lIns="22860" rIns="22860" tIns="0" bIns="0">
            <a:spAutoFit/>
          </a:bodyPr>
          <a:lstStyle/>
          <a:p>
            <a:pPr>
              <a:spcAft>
                <a:spcPts val="600"/>
              </a:spcAft>
              <a:defRPr sz="1105" b="0">
                <a:solidFill>
                  <a:srgbClr val="111111"/>
                </a:solidFill>
                <a:latin typeface="Arial"/>
              </a:defRPr>
            </a:pPr>
            <a:r>
              <a:t>O</a:t>
            </a:r>
          </a:p>
        </p:txBody>
      </p:sp>
      <p:cxnSp>
        <p:nvCxnSpPr>
          <p:cNvPr id="38" name="Connector 37"/>
          <p:cNvCxnSpPr/>
          <p:nvPr/>
        </p:nvCxnSpPr>
        <p:spPr>
          <a:xfrm>
            <a:off x="2019680" y="4253788"/>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9" name="Connector 38"/>
          <p:cNvCxnSpPr/>
          <p:nvPr/>
        </p:nvCxnSpPr>
        <p:spPr>
          <a:xfrm>
            <a:off x="2058543" y="4253788"/>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40" name="TextBox 39"/>
          <p:cNvSpPr txBox="1"/>
          <p:nvPr/>
        </p:nvSpPr>
        <p:spPr>
          <a:xfrm>
            <a:off x="1953615" y="4440326"/>
            <a:ext cx="233172" cy="194310"/>
          </a:xfrm>
          <a:prstGeom prst="rect">
            <a:avLst/>
          </a:prstGeom>
          <a:noFill/>
          <a:effectLst/>
        </p:spPr>
        <p:txBody>
          <a:bodyPr wrap="square" lIns="22860" rIns="22860" tIns="0" bIns="0">
            <a:spAutoFit/>
          </a:bodyPr>
          <a:lstStyle/>
          <a:p>
            <a:pPr>
              <a:spcAft>
                <a:spcPts val="600"/>
              </a:spcAft>
              <a:defRPr sz="1105" b="0">
                <a:solidFill>
                  <a:srgbClr val="111111"/>
                </a:solidFill>
                <a:latin typeface="Arial"/>
              </a:defRPr>
            </a:pPr>
            <a:r>
              <a:t>O</a:t>
            </a:r>
          </a:p>
        </p:txBody>
      </p:sp>
      <p:cxnSp>
        <p:nvCxnSpPr>
          <p:cNvPr id="41" name="Connector 40"/>
          <p:cNvCxnSpPr/>
          <p:nvPr/>
        </p:nvCxnSpPr>
        <p:spPr>
          <a:xfrm flipH="1" flipV="1">
            <a:off x="1175299" y="3748582"/>
            <a:ext cx="217627" cy="132131"/>
          </a:xfrm>
          <a:prstGeom prst="line">
            <a:avLst/>
          </a:prstGeom>
          <a:ln w="1778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42" name="Connector 41"/>
          <p:cNvCxnSpPr/>
          <p:nvPr/>
        </p:nvCxnSpPr>
        <p:spPr>
          <a:xfrm flipH="1">
            <a:off x="957672" y="3748582"/>
            <a:ext cx="217627" cy="132131"/>
          </a:xfrm>
          <a:prstGeom prst="line">
            <a:avLst/>
          </a:prstGeom>
          <a:ln w="1778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704088" y="4736592"/>
            <a:ext cx="2743200" cy="438912"/>
          </a:xfrm>
          <a:prstGeom prst="rect">
            <a:avLst/>
          </a:prstGeom>
          <a:noFill/>
          <a:effectLst/>
        </p:spPr>
        <p:txBody>
          <a:bodyPr wrap="square" lIns="22860" rIns="22860" tIns="0" bIns="0">
            <a:spAutoFit/>
          </a:bodyPr>
          <a:lstStyle/>
          <a:p>
            <a:pPr algn="ctr">
              <a:spcAft>
                <a:spcPts val="600"/>
              </a:spcAft>
              <a:defRPr sz="1200" b="0">
                <a:solidFill>
                  <a:srgbClr val="566273"/>
                </a:solidFill>
                <a:latin typeface="Microsoft YaHei"/>
              </a:defRPr>
            </a:pPr>
            <a:r>
              <a:t>2-EAQ：文献示例</a:t>
            </a:r>
          </a:p>
          <a:p>
            <a:pPr algn="ctr">
              <a:spcAft>
                <a:spcPts val="600"/>
              </a:spcAft>
              <a:defRPr sz="1200" b="0">
                <a:solidFill>
                  <a:srgbClr val="566273"/>
                </a:solidFill>
                <a:latin typeface="Microsoft YaHei"/>
              </a:defRPr>
            </a:pPr>
            <a:r>
              <a:t>本实验取代位号待核实</a:t>
            </a:r>
          </a:p>
        </p:txBody>
      </p:sp>
      <p:sp>
        <p:nvSpPr>
          <p:cNvPr id="44" name="TextBox 43"/>
          <p:cNvSpPr txBox="1"/>
          <p:nvPr/>
        </p:nvSpPr>
        <p:spPr>
          <a:xfrm>
            <a:off x="786384" y="5349240"/>
            <a:ext cx="2542032" cy="347472"/>
          </a:xfrm>
          <a:prstGeom prst="rect">
            <a:avLst/>
          </a:prstGeom>
          <a:noFill/>
          <a:effectLst/>
        </p:spPr>
        <p:txBody>
          <a:bodyPr wrap="square" lIns="22860" rIns="22860" tIns="0" bIns="0">
            <a:spAutoFit/>
          </a:bodyPr>
          <a:lstStyle/>
          <a:p>
            <a:pPr algn="ctr">
              <a:spcAft>
                <a:spcPts val="600"/>
              </a:spcAft>
              <a:defRPr sz="1400" b="1">
                <a:solidFill>
                  <a:srgbClr val="063584"/>
                </a:solidFill>
                <a:latin typeface="Microsoft YaHei"/>
              </a:defRPr>
            </a:pPr>
            <a:r>
              <a:t>取代基与介质影响光化学行为</a:t>
            </a:r>
          </a:p>
        </p:txBody>
      </p:sp>
      <p:sp>
        <p:nvSpPr>
          <p:cNvPr id="45" name="Rounded Rectangle 44"/>
          <p:cNvSpPr/>
          <p:nvPr/>
        </p:nvSpPr>
        <p:spPr>
          <a:xfrm>
            <a:off x="3886200" y="1417320"/>
            <a:ext cx="3822191"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Rounded Rectangle 45"/>
          <p:cNvSpPr/>
          <p:nvPr/>
        </p:nvSpPr>
        <p:spPr>
          <a:xfrm>
            <a:off x="3913632" y="1444752"/>
            <a:ext cx="3767328"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4032504" y="1495044"/>
            <a:ext cx="3529584"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反应入口：吸光、ISC 与转移</a:t>
            </a:r>
          </a:p>
        </p:txBody>
      </p:sp>
      <p:sp>
        <p:nvSpPr>
          <p:cNvPr id="48" name="TextBox 47"/>
          <p:cNvSpPr txBox="1"/>
          <p:nvPr/>
        </p:nvSpPr>
        <p:spPr>
          <a:xfrm>
            <a:off x="4709160" y="1965960"/>
            <a:ext cx="2157984" cy="338328"/>
          </a:xfrm>
          <a:prstGeom prst="rect">
            <a:avLst/>
          </a:prstGeom>
          <a:noFill/>
          <a:effectLst/>
        </p:spPr>
        <p:txBody>
          <a:bodyPr wrap="square" lIns="22860" rIns="22860" tIns="0" bIns="0">
            <a:spAutoFit/>
          </a:bodyPr>
          <a:lstStyle/>
          <a:p>
            <a:pPr algn="ctr">
              <a:spcAft>
                <a:spcPts val="600"/>
              </a:spcAft>
              <a:defRPr sz="2500" b="1">
                <a:solidFill>
                  <a:srgbClr val="063584"/>
                </a:solidFill>
                <a:latin typeface="Microsoft YaHei"/>
              </a:defRPr>
            </a:pPr>
            <a:r>
              <a:t>AQ</a:t>
            </a:r>
          </a:p>
        </p:txBody>
      </p:sp>
      <p:cxnSp>
        <p:nvCxnSpPr>
          <p:cNvPr id="49" name="Connector 48"/>
          <p:cNvCxnSpPr/>
          <p:nvPr/>
        </p:nvCxnSpPr>
        <p:spPr>
          <a:xfrm>
            <a:off x="5788152" y="2350008"/>
            <a:ext cx="0" cy="219456"/>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50" name="TextBox 49"/>
          <p:cNvSpPr txBox="1"/>
          <p:nvPr/>
        </p:nvSpPr>
        <p:spPr>
          <a:xfrm>
            <a:off x="4709160" y="2642615"/>
            <a:ext cx="2157984" cy="338328"/>
          </a:xfrm>
          <a:prstGeom prst="rect">
            <a:avLst/>
          </a:prstGeom>
          <a:noFill/>
          <a:effectLst/>
        </p:spPr>
        <p:txBody>
          <a:bodyPr wrap="square" lIns="22860" rIns="22860" tIns="0" bIns="0">
            <a:spAutoFit/>
          </a:bodyPr>
          <a:lstStyle/>
          <a:p>
            <a:pPr algn="ctr">
              <a:spcAft>
                <a:spcPts val="600"/>
              </a:spcAft>
              <a:defRPr sz="2500" b="1">
                <a:solidFill>
                  <a:srgbClr val="111111"/>
                </a:solidFill>
                <a:latin typeface="Microsoft YaHei"/>
              </a:defRPr>
            </a:pPr>
            <a:r>
              <a:t>¹AQ*</a:t>
            </a:r>
          </a:p>
        </p:txBody>
      </p:sp>
      <p:cxnSp>
        <p:nvCxnSpPr>
          <p:cNvPr id="51" name="Connector 50"/>
          <p:cNvCxnSpPr/>
          <p:nvPr/>
        </p:nvCxnSpPr>
        <p:spPr>
          <a:xfrm>
            <a:off x="5788152" y="3026663"/>
            <a:ext cx="0" cy="219457"/>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52" name="TextBox 51"/>
          <p:cNvSpPr txBox="1"/>
          <p:nvPr/>
        </p:nvSpPr>
        <p:spPr>
          <a:xfrm>
            <a:off x="4709160" y="3319272"/>
            <a:ext cx="2157984" cy="338328"/>
          </a:xfrm>
          <a:prstGeom prst="rect">
            <a:avLst/>
          </a:prstGeom>
          <a:noFill/>
          <a:effectLst/>
        </p:spPr>
        <p:txBody>
          <a:bodyPr wrap="square" lIns="22860" rIns="22860" tIns="0" bIns="0">
            <a:spAutoFit/>
          </a:bodyPr>
          <a:lstStyle/>
          <a:p>
            <a:pPr algn="ctr">
              <a:spcAft>
                <a:spcPts val="600"/>
              </a:spcAft>
              <a:defRPr sz="2500" b="1">
                <a:solidFill>
                  <a:srgbClr val="111111"/>
                </a:solidFill>
                <a:latin typeface="Microsoft YaHei"/>
              </a:defRPr>
            </a:pPr>
            <a:r>
              <a:t>³AQ*</a:t>
            </a:r>
          </a:p>
        </p:txBody>
      </p:sp>
      <p:sp>
        <p:nvSpPr>
          <p:cNvPr id="53" name="TextBox 52"/>
          <p:cNvSpPr txBox="1"/>
          <p:nvPr/>
        </p:nvSpPr>
        <p:spPr>
          <a:xfrm>
            <a:off x="6126480" y="2377440"/>
            <a:ext cx="1097280" cy="246888"/>
          </a:xfrm>
          <a:prstGeom prst="rect">
            <a:avLst/>
          </a:prstGeom>
          <a:noFill/>
          <a:effectLst/>
        </p:spPr>
        <p:txBody>
          <a:bodyPr wrap="square" lIns="22860" rIns="22860" tIns="0" bIns="0">
            <a:spAutoFit/>
          </a:bodyPr>
          <a:lstStyle/>
          <a:p>
            <a:pPr>
              <a:spcAft>
                <a:spcPts val="600"/>
              </a:spcAft>
              <a:defRPr sz="1500" b="0">
                <a:solidFill>
                  <a:srgbClr val="063584"/>
                </a:solidFill>
                <a:latin typeface="Microsoft YaHei"/>
              </a:defRPr>
            </a:pPr>
            <a:r>
              <a:t>hν</a:t>
            </a:r>
          </a:p>
        </p:txBody>
      </p:sp>
      <p:sp>
        <p:nvSpPr>
          <p:cNvPr id="54" name="TextBox 53"/>
          <p:cNvSpPr txBox="1"/>
          <p:nvPr/>
        </p:nvSpPr>
        <p:spPr>
          <a:xfrm>
            <a:off x="6126480" y="3054096"/>
            <a:ext cx="1097280" cy="246888"/>
          </a:xfrm>
          <a:prstGeom prst="rect">
            <a:avLst/>
          </a:prstGeom>
          <a:noFill/>
          <a:effectLst/>
        </p:spPr>
        <p:txBody>
          <a:bodyPr wrap="square" lIns="22860" rIns="22860" tIns="0" bIns="0">
            <a:spAutoFit/>
          </a:bodyPr>
          <a:lstStyle/>
          <a:p>
            <a:pPr>
              <a:spcAft>
                <a:spcPts val="600"/>
              </a:spcAft>
              <a:defRPr sz="1500" b="0">
                <a:solidFill>
                  <a:srgbClr val="063584"/>
                </a:solidFill>
                <a:latin typeface="Microsoft YaHei"/>
              </a:defRPr>
            </a:pPr>
            <a:r>
              <a:t>ISC</a:t>
            </a:r>
          </a:p>
        </p:txBody>
      </p:sp>
      <p:sp>
        <p:nvSpPr>
          <p:cNvPr id="55" name="TextBox 54"/>
          <p:cNvSpPr txBox="1"/>
          <p:nvPr/>
        </p:nvSpPr>
        <p:spPr>
          <a:xfrm>
            <a:off x="4197096" y="4206240"/>
            <a:ext cx="3200400" cy="621792"/>
          </a:xfrm>
          <a:prstGeom prst="rect">
            <a:avLst/>
          </a:prstGeom>
          <a:noFill/>
          <a:effectLst/>
        </p:spPr>
        <p:txBody>
          <a:bodyPr wrap="square" lIns="22860" rIns="22860" tIns="0" bIns="0">
            <a:spAutoFit/>
          </a:bodyPr>
          <a:lstStyle/>
          <a:p>
            <a:pPr algn="ctr">
              <a:spcAft>
                <a:spcPts val="600"/>
              </a:spcAft>
              <a:defRPr sz="1700" b="1">
                <a:solidFill>
                  <a:srgbClr val="111111"/>
                </a:solidFill>
                <a:latin typeface="Microsoft YaHei"/>
              </a:defRPr>
            </a:pPr>
            <a:r>
              <a:t>HAT / ET → 还原态 AQ</a:t>
            </a:r>
          </a:p>
          <a:p>
            <a:pPr algn="ctr">
              <a:spcAft>
                <a:spcPts val="600"/>
              </a:spcAft>
              <a:defRPr sz="1700" b="1">
                <a:solidFill>
                  <a:srgbClr val="111111"/>
                </a:solidFill>
                <a:latin typeface="Microsoft YaHei"/>
              </a:defRPr>
            </a:pPr>
            <a:r>
              <a:t>与 O₂ 反应 → 再生 / ROS 路径</a:t>
            </a:r>
          </a:p>
        </p:txBody>
      </p:sp>
      <p:sp>
        <p:nvSpPr>
          <p:cNvPr id="56" name="TextBox 55"/>
          <p:cNvSpPr txBox="1"/>
          <p:nvPr/>
        </p:nvSpPr>
        <p:spPr>
          <a:xfrm>
            <a:off x="4169663" y="5093208"/>
            <a:ext cx="3255264" cy="393192"/>
          </a:xfrm>
          <a:prstGeom prst="rect">
            <a:avLst/>
          </a:prstGeom>
          <a:noFill/>
          <a:effectLst/>
        </p:spPr>
        <p:txBody>
          <a:bodyPr wrap="square" lIns="22860" rIns="22860" tIns="0" bIns="0">
            <a:spAutoFit/>
          </a:bodyPr>
          <a:lstStyle/>
          <a:p>
            <a:pPr algn="ctr">
              <a:spcAft>
                <a:spcPts val="600"/>
              </a:spcAft>
              <a:defRPr sz="1250" b="0">
                <a:solidFill>
                  <a:srgbClr val="566273"/>
                </a:solidFill>
                <a:latin typeface="Microsoft YaHei"/>
              </a:defRPr>
            </a:pPr>
            <a:r>
              <a:t>365 nm 下的实际吸收、供氢体</a:t>
            </a:r>
          </a:p>
          <a:p>
            <a:pPr algn="ctr">
              <a:spcAft>
                <a:spcPts val="600"/>
              </a:spcAft>
              <a:defRPr sz="1250" b="0">
                <a:solidFill>
                  <a:srgbClr val="566273"/>
                </a:solidFill>
                <a:latin typeface="Microsoft YaHei"/>
              </a:defRPr>
            </a:pPr>
            <a:r>
              <a:t>与氧相关物种均需测量。</a:t>
            </a:r>
          </a:p>
        </p:txBody>
      </p:sp>
      <p:sp>
        <p:nvSpPr>
          <p:cNvPr id="57" name="Rounded Rectangle 56"/>
          <p:cNvSpPr/>
          <p:nvPr/>
        </p:nvSpPr>
        <p:spPr>
          <a:xfrm>
            <a:off x="7918704" y="1417320"/>
            <a:ext cx="3721608"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Rounded Rectangle 57"/>
          <p:cNvSpPr/>
          <p:nvPr/>
        </p:nvSpPr>
        <p:spPr>
          <a:xfrm>
            <a:off x="7946136" y="1444752"/>
            <a:ext cx="3666744"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8065008" y="1495044"/>
            <a:ext cx="3429000"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支持范围与本体系缺口</a:t>
            </a:r>
          </a:p>
        </p:txBody>
      </p:sp>
      <p:sp>
        <p:nvSpPr>
          <p:cNvPr id="60" name="Oval 59"/>
          <p:cNvSpPr/>
          <p:nvPr/>
        </p:nvSpPr>
        <p:spPr>
          <a:xfrm>
            <a:off x="8165592" y="1965960"/>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TextBox 60"/>
          <p:cNvSpPr txBox="1"/>
          <p:nvPr/>
        </p:nvSpPr>
        <p:spPr>
          <a:xfrm>
            <a:off x="8170164" y="1975103"/>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1</a:t>
            </a:r>
          </a:p>
        </p:txBody>
      </p:sp>
      <p:sp>
        <p:nvSpPr>
          <p:cNvPr id="62" name="TextBox 61"/>
          <p:cNvSpPr txBox="1"/>
          <p:nvPr/>
        </p:nvSpPr>
        <p:spPr>
          <a:xfrm>
            <a:off x="8513064" y="1965960"/>
            <a:ext cx="2898648"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综述的一般依据</a:t>
            </a:r>
          </a:p>
        </p:txBody>
      </p:sp>
      <p:sp>
        <p:nvSpPr>
          <p:cNvPr id="63" name="TextBox 62"/>
          <p:cNvSpPr txBox="1"/>
          <p:nvPr/>
        </p:nvSpPr>
        <p:spPr>
          <a:xfrm>
            <a:off x="8513064" y="2331720"/>
            <a:ext cx="2898648"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激发态、HAT / ET、</a:t>
            </a:r>
          </a:p>
          <a:p>
            <a:pPr>
              <a:spcAft>
                <a:spcPts val="600"/>
              </a:spcAft>
              <a:defRPr sz="1450" b="0">
                <a:solidFill>
                  <a:srgbClr val="111111"/>
                </a:solidFill>
                <a:latin typeface="Microsoft YaHei"/>
              </a:defRPr>
            </a:pPr>
            <a:r>
              <a:t>氧相关过程及再生。</a:t>
            </a:r>
          </a:p>
        </p:txBody>
      </p:sp>
      <p:sp>
        <p:nvSpPr>
          <p:cNvPr id="64" name="Oval 63"/>
          <p:cNvSpPr/>
          <p:nvPr/>
        </p:nvSpPr>
        <p:spPr>
          <a:xfrm>
            <a:off x="8165592" y="3218688"/>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8170164" y="3227832"/>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2</a:t>
            </a:r>
          </a:p>
        </p:txBody>
      </p:sp>
      <p:sp>
        <p:nvSpPr>
          <p:cNvPr id="66" name="TextBox 65"/>
          <p:cNvSpPr txBox="1"/>
          <p:nvPr/>
        </p:nvSpPr>
        <p:spPr>
          <a:xfrm>
            <a:off x="8513064" y="3218688"/>
            <a:ext cx="2898648"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原始研究线索</a:t>
            </a:r>
          </a:p>
        </p:txBody>
      </p:sp>
      <p:sp>
        <p:nvSpPr>
          <p:cNvPr id="67" name="TextBox 66"/>
          <p:cNvSpPr txBox="1"/>
          <p:nvPr/>
        </p:nvSpPr>
        <p:spPr>
          <a:xfrm>
            <a:off x="8513064" y="3584448"/>
            <a:ext cx="2898648"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2-EAQ 光还原与 H₂O₂</a:t>
            </a:r>
          </a:p>
          <a:p>
            <a:pPr>
              <a:spcAft>
                <a:spcPts val="600"/>
              </a:spcAft>
              <a:defRPr sz="1450" b="0">
                <a:solidFill>
                  <a:srgbClr val="111111"/>
                </a:solidFill>
                <a:latin typeface="Microsoft YaHei"/>
              </a:defRPr>
            </a:pPr>
            <a:r>
              <a:t>生成；仅据二次引文。</a:t>
            </a:r>
          </a:p>
        </p:txBody>
      </p:sp>
      <p:sp>
        <p:nvSpPr>
          <p:cNvPr id="68" name="Oval 67"/>
          <p:cNvSpPr/>
          <p:nvPr/>
        </p:nvSpPr>
        <p:spPr>
          <a:xfrm>
            <a:off x="8165592" y="4498848"/>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8170164" y="4507992"/>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3</a:t>
            </a:r>
          </a:p>
        </p:txBody>
      </p:sp>
      <p:sp>
        <p:nvSpPr>
          <p:cNvPr id="70" name="TextBox 69"/>
          <p:cNvSpPr txBox="1"/>
          <p:nvPr/>
        </p:nvSpPr>
        <p:spPr>
          <a:xfrm>
            <a:off x="8513064" y="4498848"/>
            <a:ext cx="2898648"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本课题需补证</a:t>
            </a:r>
          </a:p>
        </p:txBody>
      </p:sp>
      <p:sp>
        <p:nvSpPr>
          <p:cNvPr id="71" name="TextBox 70"/>
          <p:cNvSpPr txBox="1"/>
          <p:nvPr/>
        </p:nvSpPr>
        <p:spPr>
          <a:xfrm>
            <a:off x="8513064" y="4864608"/>
            <a:ext cx="2898648"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EAQ 吸光与稳定性；</a:t>
            </a:r>
          </a:p>
          <a:p>
            <a:pPr>
              <a:spcAft>
                <a:spcPts val="600"/>
              </a:spcAft>
              <a:defRPr sz="1450" b="0">
                <a:solidFill>
                  <a:srgbClr val="111111"/>
                </a:solidFill>
                <a:latin typeface="Microsoft YaHei"/>
              </a:defRPr>
            </a:pPr>
            <a:r>
              <a:t>不直接推定释放 Cl·。</a:t>
            </a:r>
          </a:p>
        </p:txBody>
      </p:sp>
      <p:sp>
        <p:nvSpPr>
          <p:cNvPr id="72" name="Rectangle 71"/>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Chevron 72"/>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75" name="TextBox 74"/>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AQ 的作用定位为待检验的光敏入口；C–X 活化与 Cl· 释放不能作为已证实催化步骤。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理论可行性：聚合物文献提供介质参与和链长变化证据</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以下为文献结果，条件与本课题不同；数值据正文报告，不与模型底物转化率混用</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Su et al., Angew. Chem. Int. Ed. 2026, e5578835. Qin et al., Appl. Catal. B: Environ. 2024, 341, 123355.</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6</a:t>
            </a:r>
          </a:p>
        </p:txBody>
      </p:sp>
      <p:sp>
        <p:nvSpPr>
          <p:cNvPr id="7" name="Rounded Rectangle 6"/>
          <p:cNvSpPr/>
          <p:nvPr/>
        </p:nvSpPr>
        <p:spPr>
          <a:xfrm>
            <a:off x="438912" y="1417320"/>
            <a:ext cx="5596128"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5541264"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5303520"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案例一：PS / CH₂Cl₂，无外加光催化剂</a:t>
            </a:r>
          </a:p>
        </p:txBody>
      </p:sp>
      <p:sp>
        <p:nvSpPr>
          <p:cNvPr id="10" name="Freeform 9"/>
          <p:cNvSpPr/>
          <p:nvPr/>
        </p:nvSpPr>
        <p:spPr>
          <a:xfrm>
            <a:off x="905256" y="2039112"/>
            <a:ext cx="2633472" cy="155448"/>
          </a:xfrm>
          <a:custGeom>
            <a:avLst/>
            <a:gdLst/>
            <a:ahLst/>
            <a:cxnLst/>
            <a:rect l="l" t="t" r="r" b="b"/>
            <a:pathLst>
              <a:path w="2633472" h="155448">
                <a:moveTo>
                  <a:pt x="0" y="0"/>
                </a:moveTo>
                <a:lnTo>
                  <a:pt x="438912" y="155448"/>
                </a:lnTo>
                <a:lnTo>
                  <a:pt x="877824" y="0"/>
                </a:lnTo>
                <a:lnTo>
                  <a:pt x="1316735" y="155448"/>
                </a:lnTo>
                <a:lnTo>
                  <a:pt x="1755648" y="0"/>
                </a:lnTo>
                <a:lnTo>
                  <a:pt x="2194559" y="155448"/>
                </a:lnTo>
                <a:lnTo>
                  <a:pt x="2633472" y="0"/>
                </a:lnTo>
              </a:path>
            </a:pathLst>
          </a:custGeom>
          <a:noFill/>
          <a:ln w="2286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58368" y="2011680"/>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12" name="TextBox 11"/>
          <p:cNvSpPr txBox="1"/>
          <p:nvPr/>
        </p:nvSpPr>
        <p:spPr>
          <a:xfrm>
            <a:off x="3584448" y="2011680"/>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cxnSp>
        <p:nvCxnSpPr>
          <p:cNvPr id="13" name="Connector 12"/>
          <p:cNvCxnSpPr/>
          <p:nvPr/>
        </p:nvCxnSpPr>
        <p:spPr>
          <a:xfrm>
            <a:off x="1344168" y="2194560"/>
            <a:ext cx="0" cy="210312"/>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4" name="Freeform 13"/>
          <p:cNvSpPr/>
          <p:nvPr/>
        </p:nvSpPr>
        <p:spPr>
          <a:xfrm>
            <a:off x="1169951" y="2423160"/>
            <a:ext cx="348433" cy="402336"/>
          </a:xfrm>
          <a:custGeom>
            <a:avLst/>
            <a:gdLst/>
            <a:ahLst/>
            <a:cxnLst/>
            <a:rect l="l" t="t" r="r" b="b"/>
            <a:pathLst>
              <a:path w="348433" h="402336">
                <a:moveTo>
                  <a:pt x="174217" y="0"/>
                </a:moveTo>
                <a:lnTo>
                  <a:pt x="348433" y="100584"/>
                </a:lnTo>
                <a:lnTo>
                  <a:pt x="348433" y="301752"/>
                </a:lnTo>
                <a:lnTo>
                  <a:pt x="174217" y="402336"/>
                </a:lnTo>
                <a:lnTo>
                  <a:pt x="0" y="301752"/>
                </a:lnTo>
                <a:lnTo>
                  <a:pt x="0" y="100584"/>
                </a:lnTo>
                <a:lnTo>
                  <a:pt x="174217"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1344168" y="2479487"/>
            <a:ext cx="125435" cy="7242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flipH="1">
            <a:off x="1344168" y="2696748"/>
            <a:ext cx="125435" cy="7242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flipV="1">
            <a:off x="1218732" y="2551907"/>
            <a:ext cx="0" cy="144841"/>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a:off x="2221991" y="2194560"/>
            <a:ext cx="0" cy="210312"/>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9" name="Freeform 18"/>
          <p:cNvSpPr/>
          <p:nvPr/>
        </p:nvSpPr>
        <p:spPr>
          <a:xfrm>
            <a:off x="2047775" y="2423160"/>
            <a:ext cx="348433" cy="402336"/>
          </a:xfrm>
          <a:custGeom>
            <a:avLst/>
            <a:gdLst/>
            <a:ahLst/>
            <a:cxnLst/>
            <a:rect l="l" t="t" r="r" b="b"/>
            <a:pathLst>
              <a:path w="348433" h="402336">
                <a:moveTo>
                  <a:pt x="174216" y="0"/>
                </a:moveTo>
                <a:lnTo>
                  <a:pt x="348433" y="100584"/>
                </a:lnTo>
                <a:lnTo>
                  <a:pt x="348433" y="301752"/>
                </a:lnTo>
                <a:lnTo>
                  <a:pt x="174216" y="402336"/>
                </a:lnTo>
                <a:lnTo>
                  <a:pt x="0" y="301752"/>
                </a:lnTo>
                <a:lnTo>
                  <a:pt x="0" y="100584"/>
                </a:lnTo>
                <a:lnTo>
                  <a:pt x="174216"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0" name="Connector 19"/>
          <p:cNvCxnSpPr/>
          <p:nvPr/>
        </p:nvCxnSpPr>
        <p:spPr>
          <a:xfrm>
            <a:off x="2221991" y="2479487"/>
            <a:ext cx="125436" cy="7242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1" name="Connector 20"/>
          <p:cNvCxnSpPr/>
          <p:nvPr/>
        </p:nvCxnSpPr>
        <p:spPr>
          <a:xfrm flipH="1">
            <a:off x="2221991" y="2696748"/>
            <a:ext cx="125436" cy="7242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flipV="1">
            <a:off x="2096556" y="2551907"/>
            <a:ext cx="0" cy="144841"/>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a:off x="3099815" y="2194560"/>
            <a:ext cx="0" cy="210312"/>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4" name="Freeform 23"/>
          <p:cNvSpPr/>
          <p:nvPr/>
        </p:nvSpPr>
        <p:spPr>
          <a:xfrm>
            <a:off x="2925599" y="2423160"/>
            <a:ext cx="348433" cy="402336"/>
          </a:xfrm>
          <a:custGeom>
            <a:avLst/>
            <a:gdLst/>
            <a:ahLst/>
            <a:cxnLst/>
            <a:rect l="l" t="t" r="r" b="b"/>
            <a:pathLst>
              <a:path w="348433" h="402336">
                <a:moveTo>
                  <a:pt x="174216" y="0"/>
                </a:moveTo>
                <a:lnTo>
                  <a:pt x="348433" y="100584"/>
                </a:lnTo>
                <a:lnTo>
                  <a:pt x="348433" y="301752"/>
                </a:lnTo>
                <a:lnTo>
                  <a:pt x="174216" y="402336"/>
                </a:lnTo>
                <a:lnTo>
                  <a:pt x="0" y="301752"/>
                </a:lnTo>
                <a:lnTo>
                  <a:pt x="0" y="100584"/>
                </a:lnTo>
                <a:lnTo>
                  <a:pt x="174216"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5" name="Connector 24"/>
          <p:cNvCxnSpPr/>
          <p:nvPr/>
        </p:nvCxnSpPr>
        <p:spPr>
          <a:xfrm>
            <a:off x="3099815" y="2479487"/>
            <a:ext cx="125436" cy="7242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flipH="1">
            <a:off x="3099815" y="2696748"/>
            <a:ext cx="125436" cy="7242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7" name="Connector 26"/>
          <p:cNvCxnSpPr/>
          <p:nvPr/>
        </p:nvCxnSpPr>
        <p:spPr>
          <a:xfrm flipV="1">
            <a:off x="2974380" y="2551907"/>
            <a:ext cx="0" cy="144841"/>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8" name="TextBox 27"/>
          <p:cNvSpPr txBox="1"/>
          <p:nvPr/>
        </p:nvSpPr>
        <p:spPr>
          <a:xfrm>
            <a:off x="4105656" y="2112264"/>
            <a:ext cx="1554480" cy="640080"/>
          </a:xfrm>
          <a:prstGeom prst="rect">
            <a:avLst/>
          </a:prstGeom>
          <a:noFill/>
          <a:effectLst/>
        </p:spPr>
        <p:txBody>
          <a:bodyPr wrap="square" lIns="22860" rIns="22860" tIns="0" bIns="0">
            <a:spAutoFit/>
          </a:bodyPr>
          <a:lstStyle/>
          <a:p>
            <a:pPr>
              <a:spcAft>
                <a:spcPts val="600"/>
              </a:spcAft>
              <a:defRPr sz="1300" b="1">
                <a:solidFill>
                  <a:srgbClr val="063584"/>
                </a:solidFill>
                <a:latin typeface="Microsoft YaHei"/>
              </a:defRPr>
            </a:pPr>
            <a:r>
              <a:t>365 nm</a:t>
            </a:r>
          </a:p>
          <a:p>
            <a:pPr>
              <a:spcAft>
                <a:spcPts val="600"/>
              </a:spcAft>
              <a:defRPr sz="1300" b="1">
                <a:solidFill>
                  <a:srgbClr val="063584"/>
                </a:solidFill>
                <a:latin typeface="Microsoft YaHei"/>
              </a:defRPr>
            </a:pPr>
            <a:r>
              <a:t>O₂，30 ± 5 ℃</a:t>
            </a:r>
          </a:p>
        </p:txBody>
      </p:sp>
      <p:cxnSp>
        <p:nvCxnSpPr>
          <p:cNvPr id="29" name="Connector 28"/>
          <p:cNvCxnSpPr/>
          <p:nvPr/>
        </p:nvCxnSpPr>
        <p:spPr>
          <a:xfrm>
            <a:off x="2331720" y="2980944"/>
            <a:ext cx="0" cy="283464"/>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30" name="TextBox 29"/>
          <p:cNvSpPr txBox="1"/>
          <p:nvPr/>
        </p:nvSpPr>
        <p:spPr>
          <a:xfrm>
            <a:off x="841248" y="3438144"/>
            <a:ext cx="4773168" cy="320040"/>
          </a:xfrm>
          <a:prstGeom prst="rect">
            <a:avLst/>
          </a:prstGeom>
          <a:noFill/>
          <a:effectLst/>
        </p:spPr>
        <p:txBody>
          <a:bodyPr wrap="square" lIns="22860" rIns="22860" tIns="0" bIns="0">
            <a:spAutoFit/>
          </a:bodyPr>
          <a:lstStyle/>
          <a:p>
            <a:pPr algn="ctr">
              <a:spcAft>
                <a:spcPts val="600"/>
              </a:spcAft>
              <a:defRPr sz="1800" b="1">
                <a:solidFill>
                  <a:srgbClr val="111111"/>
                </a:solidFill>
                <a:latin typeface="Microsoft YaHei"/>
              </a:defRPr>
            </a:pPr>
            <a:r>
              <a:t>含氧中间体 → C₆–C₈ 芳香族产物</a:t>
            </a:r>
          </a:p>
        </p:txBody>
      </p:sp>
      <p:sp>
        <p:nvSpPr>
          <p:cNvPr id="31" name="Rounded Rectangle 30"/>
          <p:cNvSpPr/>
          <p:nvPr/>
        </p:nvSpPr>
        <p:spPr>
          <a:xfrm>
            <a:off x="722376" y="4005072"/>
            <a:ext cx="2377440"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822960" y="4096511"/>
            <a:ext cx="2176272"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Mn：75.1 → 1.2</a:t>
            </a:r>
          </a:p>
        </p:txBody>
      </p:sp>
      <p:sp>
        <p:nvSpPr>
          <p:cNvPr id="33" name="TextBox 32"/>
          <p:cNvSpPr txBox="1"/>
          <p:nvPr/>
        </p:nvSpPr>
        <p:spPr>
          <a:xfrm>
            <a:off x="822960" y="4425696"/>
            <a:ext cx="2176272"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kDa；正文 GPC 报告</a:t>
            </a:r>
          </a:p>
        </p:txBody>
      </p:sp>
      <p:sp>
        <p:nvSpPr>
          <p:cNvPr id="34" name="Rounded Rectangle 33"/>
          <p:cNvSpPr/>
          <p:nvPr/>
        </p:nvSpPr>
        <p:spPr>
          <a:xfrm>
            <a:off x="3310128" y="4005072"/>
            <a:ext cx="2377440"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3410712" y="4096511"/>
            <a:ext cx="2176272"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Mw：208.4 → 1.3</a:t>
            </a:r>
          </a:p>
        </p:txBody>
      </p:sp>
      <p:sp>
        <p:nvSpPr>
          <p:cNvPr id="36" name="TextBox 35"/>
          <p:cNvSpPr txBox="1"/>
          <p:nvPr/>
        </p:nvSpPr>
        <p:spPr>
          <a:xfrm>
            <a:off x="3410712" y="4425696"/>
            <a:ext cx="2176272"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kDa；正文 GPC 报告</a:t>
            </a:r>
          </a:p>
        </p:txBody>
      </p:sp>
      <p:sp>
        <p:nvSpPr>
          <p:cNvPr id="37" name="TextBox 36"/>
          <p:cNvSpPr txBox="1"/>
          <p:nvPr/>
        </p:nvSpPr>
        <p:spPr>
          <a:xfrm>
            <a:off x="786384" y="5001768"/>
            <a:ext cx="4873752" cy="521207"/>
          </a:xfrm>
          <a:prstGeom prst="rect">
            <a:avLst/>
          </a:prstGeom>
          <a:noFill/>
          <a:effectLst/>
        </p:spPr>
        <p:txBody>
          <a:bodyPr wrap="square" lIns="22860" rIns="22860" tIns="0" bIns="0">
            <a:spAutoFit/>
          </a:bodyPr>
          <a:lstStyle/>
          <a:p>
            <a:pPr>
              <a:spcAft>
                <a:spcPts val="600"/>
              </a:spcAft>
              <a:defRPr sz="1400" b="1">
                <a:solidFill>
                  <a:srgbClr val="063584"/>
                </a:solidFill>
                <a:latin typeface="Microsoft YaHei"/>
              </a:defRPr>
            </a:pPr>
            <a:r>
              <a:t>Cl· 依据：PBN 自旋捕获及 EPR 模拟归属。</a:t>
            </a:r>
          </a:p>
          <a:p>
            <a:pPr>
              <a:spcAft>
                <a:spcPts val="600"/>
              </a:spcAft>
              <a:defRPr sz="1400" b="1">
                <a:solidFill>
                  <a:srgbClr val="063584"/>
                </a:solidFill>
                <a:latin typeface="Microsoft YaHei"/>
              </a:defRPr>
            </a:pPr>
            <a:r>
              <a:t>限制：CH₂Cl₂ ≠ DCE；PS ≠ PVC。</a:t>
            </a:r>
          </a:p>
        </p:txBody>
      </p:sp>
      <p:sp>
        <p:nvSpPr>
          <p:cNvPr id="38" name="Rounded Rectangle 37"/>
          <p:cNvSpPr/>
          <p:nvPr/>
        </p:nvSpPr>
        <p:spPr>
          <a:xfrm>
            <a:off x="6254496" y="1417320"/>
            <a:ext cx="5385816"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Rounded Rectangle 38"/>
          <p:cNvSpPr/>
          <p:nvPr/>
        </p:nvSpPr>
        <p:spPr>
          <a:xfrm>
            <a:off x="6281928" y="1444752"/>
            <a:ext cx="533095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6400800" y="1495044"/>
            <a:ext cx="509320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案例二：PVC / CDs–Zr-MOF 水相光催化</a:t>
            </a:r>
          </a:p>
        </p:txBody>
      </p:sp>
      <p:sp>
        <p:nvSpPr>
          <p:cNvPr id="41" name="Freeform 40"/>
          <p:cNvSpPr/>
          <p:nvPr/>
        </p:nvSpPr>
        <p:spPr>
          <a:xfrm>
            <a:off x="6793992" y="2039112"/>
            <a:ext cx="2121408" cy="146304"/>
          </a:xfrm>
          <a:custGeom>
            <a:avLst/>
            <a:gdLst/>
            <a:ahLst/>
            <a:cxnLst/>
            <a:rect l="l" t="t" r="r" b="b"/>
            <a:pathLst>
              <a:path w="2121408" h="146304">
                <a:moveTo>
                  <a:pt x="0" y="0"/>
                </a:moveTo>
                <a:lnTo>
                  <a:pt x="530352" y="146304"/>
                </a:lnTo>
                <a:lnTo>
                  <a:pt x="1060704" y="0"/>
                </a:lnTo>
                <a:lnTo>
                  <a:pt x="1591056" y="146304"/>
                </a:lnTo>
                <a:lnTo>
                  <a:pt x="2121408" y="0"/>
                </a:lnTo>
              </a:path>
            </a:pathLst>
          </a:custGeom>
          <a:noFill/>
          <a:ln w="2286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2" name="Connector 41"/>
          <p:cNvCxnSpPr/>
          <p:nvPr/>
        </p:nvCxnSpPr>
        <p:spPr>
          <a:xfrm>
            <a:off x="7324344" y="218541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7196328" y="258775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44" name="Connector 43"/>
          <p:cNvCxnSpPr/>
          <p:nvPr/>
        </p:nvCxnSpPr>
        <p:spPr>
          <a:xfrm>
            <a:off x="8385048" y="218541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45" name="TextBox 44"/>
          <p:cNvSpPr txBox="1"/>
          <p:nvPr/>
        </p:nvSpPr>
        <p:spPr>
          <a:xfrm>
            <a:off x="8257031" y="258775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sp>
        <p:nvSpPr>
          <p:cNvPr id="46" name="TextBox 45"/>
          <p:cNvSpPr txBox="1"/>
          <p:nvPr/>
        </p:nvSpPr>
        <p:spPr>
          <a:xfrm>
            <a:off x="6547104" y="2011680"/>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47" name="TextBox 46"/>
          <p:cNvSpPr txBox="1"/>
          <p:nvPr/>
        </p:nvSpPr>
        <p:spPr>
          <a:xfrm>
            <a:off x="8961120" y="2011680"/>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48" name="TextBox 47"/>
          <p:cNvSpPr txBox="1"/>
          <p:nvPr/>
        </p:nvSpPr>
        <p:spPr>
          <a:xfrm>
            <a:off x="9409176" y="2112264"/>
            <a:ext cx="1837943" cy="603504"/>
          </a:xfrm>
          <a:prstGeom prst="rect">
            <a:avLst/>
          </a:prstGeom>
          <a:noFill/>
          <a:effectLst/>
        </p:spPr>
        <p:txBody>
          <a:bodyPr wrap="square" lIns="22860" rIns="22860" tIns="0" bIns="0">
            <a:spAutoFit/>
          </a:bodyPr>
          <a:lstStyle/>
          <a:p>
            <a:pPr>
              <a:spcAft>
                <a:spcPts val="600"/>
              </a:spcAft>
              <a:defRPr sz="1300" b="1">
                <a:solidFill>
                  <a:srgbClr val="063584"/>
                </a:solidFill>
                <a:latin typeface="Microsoft YaHei"/>
              </a:defRPr>
            </a:pPr>
            <a:r>
              <a:t>300 W Xe</a:t>
            </a:r>
          </a:p>
          <a:p>
            <a:pPr>
              <a:spcAft>
                <a:spcPts val="600"/>
              </a:spcAft>
              <a:defRPr sz="1300" b="1">
                <a:solidFill>
                  <a:srgbClr val="063584"/>
                </a:solidFill>
                <a:latin typeface="Microsoft YaHei"/>
              </a:defRPr>
            </a:pPr>
            <a:r>
              <a:t>水相复合催化剂</a:t>
            </a:r>
          </a:p>
        </p:txBody>
      </p:sp>
      <p:cxnSp>
        <p:nvCxnSpPr>
          <p:cNvPr id="49" name="Connector 48"/>
          <p:cNvCxnSpPr/>
          <p:nvPr/>
        </p:nvCxnSpPr>
        <p:spPr>
          <a:xfrm>
            <a:off x="8577072" y="2880360"/>
            <a:ext cx="0" cy="32004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50" name="TextBox 49"/>
          <p:cNvSpPr txBox="1"/>
          <p:nvPr/>
        </p:nvSpPr>
        <p:spPr>
          <a:xfrm>
            <a:off x="6601968" y="3410712"/>
            <a:ext cx="4690872" cy="365760"/>
          </a:xfrm>
          <a:prstGeom prst="rect">
            <a:avLst/>
          </a:prstGeom>
          <a:noFill/>
          <a:effectLst/>
        </p:spPr>
        <p:txBody>
          <a:bodyPr wrap="square" lIns="22860" rIns="22860" tIns="0" bIns="0">
            <a:spAutoFit/>
          </a:bodyPr>
          <a:lstStyle/>
          <a:p>
            <a:pPr algn="ctr">
              <a:spcAft>
                <a:spcPts val="600"/>
              </a:spcAft>
              <a:defRPr sz="1800" b="1">
                <a:solidFill>
                  <a:srgbClr val="111111"/>
                </a:solidFill>
                <a:latin typeface="Microsoft YaHei"/>
              </a:defRPr>
            </a:pPr>
            <a:r>
              <a:t>氯释放 + 活性物种 + 聚合物 / 产物</a:t>
            </a:r>
          </a:p>
        </p:txBody>
      </p:sp>
      <p:sp>
        <p:nvSpPr>
          <p:cNvPr id="51" name="Rounded Rectangle 50"/>
          <p:cNvSpPr/>
          <p:nvPr/>
        </p:nvSpPr>
        <p:spPr>
          <a:xfrm>
            <a:off x="6547104" y="4005072"/>
            <a:ext cx="2286000"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6647688" y="4096511"/>
            <a:ext cx="2084831"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约 76.5% 转化</a:t>
            </a:r>
          </a:p>
        </p:txBody>
      </p:sp>
      <p:sp>
        <p:nvSpPr>
          <p:cNvPr id="53" name="TextBox 52"/>
          <p:cNvSpPr txBox="1"/>
          <p:nvPr/>
        </p:nvSpPr>
        <p:spPr>
          <a:xfrm>
            <a:off x="6647688" y="4425696"/>
            <a:ext cx="2084831"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原文所定义指标</a:t>
            </a:r>
          </a:p>
        </p:txBody>
      </p:sp>
      <p:sp>
        <p:nvSpPr>
          <p:cNvPr id="54" name="Rounded Rectangle 53"/>
          <p:cNvSpPr/>
          <p:nvPr/>
        </p:nvSpPr>
        <p:spPr>
          <a:xfrm>
            <a:off x="9043416" y="4005072"/>
            <a:ext cx="2286000"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9144000" y="4096511"/>
            <a:ext cx="2084831"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约 14% 乙酸收率</a:t>
            </a:r>
          </a:p>
        </p:txBody>
      </p:sp>
      <p:sp>
        <p:nvSpPr>
          <p:cNvPr id="56" name="TextBox 55"/>
          <p:cNvSpPr txBox="1"/>
          <p:nvPr/>
        </p:nvSpPr>
        <p:spPr>
          <a:xfrm>
            <a:off x="9144000" y="4425696"/>
            <a:ext cx="2084831"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原文所定义指标</a:t>
            </a:r>
          </a:p>
        </p:txBody>
      </p:sp>
      <p:sp>
        <p:nvSpPr>
          <p:cNvPr id="57" name="TextBox 56"/>
          <p:cNvSpPr txBox="1"/>
          <p:nvPr/>
        </p:nvSpPr>
        <p:spPr>
          <a:xfrm>
            <a:off x="6583680" y="5001768"/>
            <a:ext cx="4681728" cy="566928"/>
          </a:xfrm>
          <a:prstGeom prst="rect">
            <a:avLst/>
          </a:prstGeom>
          <a:noFill/>
          <a:effectLst/>
        </p:spPr>
        <p:txBody>
          <a:bodyPr wrap="square" lIns="22860" rIns="22860" tIns="0" bIns="0">
            <a:spAutoFit/>
          </a:bodyPr>
          <a:lstStyle/>
          <a:p>
            <a:pPr>
              <a:spcAft>
                <a:spcPts val="600"/>
              </a:spcAft>
              <a:defRPr sz="1350" b="1">
                <a:solidFill>
                  <a:srgbClr val="063584"/>
                </a:solidFill>
                <a:latin typeface="Microsoft YaHei"/>
              </a:defRPr>
            </a:pPr>
            <a:r>
              <a:t>前处理：正文 PVC 100 ℃、2 h。</a:t>
            </a:r>
          </a:p>
          <a:p>
            <a:pPr>
              <a:spcAft>
                <a:spcPts val="600"/>
              </a:spcAft>
              <a:defRPr sz="1350" b="1">
                <a:solidFill>
                  <a:srgbClr val="063584"/>
                </a:solidFill>
                <a:latin typeface="Microsoft YaHei"/>
              </a:defRPr>
            </a:pPr>
            <a:r>
              <a:t>GPC 曲线位于未取得的 SI；不是 EAQ/DCE。</a:t>
            </a:r>
          </a:p>
        </p:txBody>
      </p:sp>
      <p:sp>
        <p:nvSpPr>
          <p:cNvPr id="58" name="Rectangle 57"/>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Chevron 58"/>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文献启发</a:t>
            </a:r>
          </a:p>
        </p:txBody>
      </p:sp>
      <p:sp>
        <p:nvSpPr>
          <p:cNvPr id="61" name="TextBox 60"/>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可迁移的是“物种—氯—链长—产物”证据组合，而非完整照搬另一体系机理。</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科学问题：区分光敏组分、含氯介质与 PVC 自身的贡献</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核心不是预设 Cl· 唯一主导，而是判定活性来源及其与碳链变化的关联</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Xu et al., Nat. Rev. Methods Primers 2023, 3, 44. Huang &amp; Wang, J. Polym. Sci. 2024, 62, 969–997. Chen et al., Environ. Sci. Ecotechnol. 2024, 22, 100449.</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7</a:t>
            </a:r>
          </a:p>
        </p:txBody>
      </p:sp>
      <p:sp>
        <p:nvSpPr>
          <p:cNvPr id="7" name="Rounded Rectangle 6"/>
          <p:cNvSpPr/>
          <p:nvPr/>
        </p:nvSpPr>
        <p:spPr>
          <a:xfrm>
            <a:off x="438912" y="1417320"/>
            <a:ext cx="7406640" cy="2743200"/>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7351775"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7114031"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三类参与者与可独立检验的作用</a:t>
            </a:r>
          </a:p>
        </p:txBody>
      </p:sp>
      <p:sp>
        <p:nvSpPr>
          <p:cNvPr id="10" name="TextBox 9"/>
          <p:cNvSpPr txBox="1"/>
          <p:nvPr/>
        </p:nvSpPr>
        <p:spPr>
          <a:xfrm>
            <a:off x="658368" y="1975104"/>
            <a:ext cx="2075688" cy="320040"/>
          </a:xfrm>
          <a:prstGeom prst="rect">
            <a:avLst/>
          </a:prstGeom>
          <a:noFill/>
          <a:effectLst/>
        </p:spPr>
        <p:txBody>
          <a:bodyPr wrap="square" lIns="22860" rIns="22860" tIns="0" bIns="0">
            <a:spAutoFit/>
          </a:bodyPr>
          <a:lstStyle/>
          <a:p>
            <a:pPr>
              <a:spcAft>
                <a:spcPts val="600"/>
              </a:spcAft>
              <a:defRPr sz="1800" b="1">
                <a:solidFill>
                  <a:srgbClr val="063584"/>
                </a:solidFill>
                <a:latin typeface="Microsoft YaHei"/>
              </a:defRPr>
            </a:pPr>
            <a:r>
              <a:t>EAQ 激发态</a:t>
            </a:r>
          </a:p>
        </p:txBody>
      </p:sp>
      <p:sp>
        <p:nvSpPr>
          <p:cNvPr id="11" name="TextBox 10"/>
          <p:cNvSpPr txBox="1"/>
          <p:nvPr/>
        </p:nvSpPr>
        <p:spPr>
          <a:xfrm>
            <a:off x="658368" y="2532888"/>
            <a:ext cx="2075688" cy="566928"/>
          </a:xfrm>
          <a:prstGeom prst="rect">
            <a:avLst/>
          </a:prstGeom>
          <a:noFill/>
          <a:effectLst/>
        </p:spPr>
        <p:txBody>
          <a:bodyPr wrap="square" lIns="22860" rIns="22860" tIns="0" bIns="0">
            <a:spAutoFit/>
          </a:bodyPr>
          <a:lstStyle/>
          <a:p>
            <a:pPr>
              <a:spcAft>
                <a:spcPts val="600"/>
              </a:spcAft>
              <a:defRPr sz="1500" b="0">
                <a:solidFill>
                  <a:srgbClr val="111111"/>
                </a:solidFill>
                <a:latin typeface="Microsoft YaHei"/>
              </a:defRPr>
            </a:pPr>
            <a:r>
              <a:t>HAT / ET / 氧相关过程</a:t>
            </a:r>
          </a:p>
        </p:txBody>
      </p:sp>
      <p:sp>
        <p:nvSpPr>
          <p:cNvPr id="12" name="TextBox 11"/>
          <p:cNvSpPr txBox="1"/>
          <p:nvPr/>
        </p:nvSpPr>
        <p:spPr>
          <a:xfrm>
            <a:off x="658368" y="3328416"/>
            <a:ext cx="2075688" cy="384048"/>
          </a:xfrm>
          <a:prstGeom prst="rect">
            <a:avLst/>
          </a:prstGeom>
          <a:noFill/>
          <a:effectLst/>
        </p:spPr>
        <p:txBody>
          <a:bodyPr wrap="square" lIns="22860" rIns="22860" tIns="0" bIns="0">
            <a:spAutoFit/>
          </a:bodyPr>
          <a:lstStyle/>
          <a:p>
            <a:pPr>
              <a:spcAft>
                <a:spcPts val="600"/>
              </a:spcAft>
              <a:defRPr sz="1400" b="1">
                <a:solidFill>
                  <a:srgbClr val="C00000"/>
                </a:solidFill>
                <a:latin typeface="Microsoft YaHei"/>
              </a:defRPr>
            </a:pPr>
            <a:r>
              <a:t>吸光与稳定性对照</a:t>
            </a:r>
          </a:p>
        </p:txBody>
      </p:sp>
      <p:sp>
        <p:nvSpPr>
          <p:cNvPr id="13" name="TextBox 12"/>
          <p:cNvSpPr txBox="1"/>
          <p:nvPr/>
        </p:nvSpPr>
        <p:spPr>
          <a:xfrm>
            <a:off x="2990087" y="1975104"/>
            <a:ext cx="2075688" cy="320040"/>
          </a:xfrm>
          <a:prstGeom prst="rect">
            <a:avLst/>
          </a:prstGeom>
          <a:noFill/>
          <a:effectLst/>
        </p:spPr>
        <p:txBody>
          <a:bodyPr wrap="square" lIns="22860" rIns="22860" tIns="0" bIns="0">
            <a:spAutoFit/>
          </a:bodyPr>
          <a:lstStyle/>
          <a:p>
            <a:pPr>
              <a:spcAft>
                <a:spcPts val="600"/>
              </a:spcAft>
              <a:defRPr sz="1800" b="1">
                <a:solidFill>
                  <a:srgbClr val="063584"/>
                </a:solidFill>
                <a:latin typeface="Microsoft YaHei"/>
              </a:defRPr>
            </a:pPr>
            <a:r>
              <a:t>DCE 介质</a:t>
            </a:r>
          </a:p>
        </p:txBody>
      </p:sp>
      <p:sp>
        <p:nvSpPr>
          <p:cNvPr id="14" name="TextBox 13"/>
          <p:cNvSpPr txBox="1"/>
          <p:nvPr/>
        </p:nvSpPr>
        <p:spPr>
          <a:xfrm>
            <a:off x="2990087" y="2532888"/>
            <a:ext cx="2075688" cy="566928"/>
          </a:xfrm>
          <a:prstGeom prst="rect">
            <a:avLst/>
          </a:prstGeom>
          <a:noFill/>
          <a:effectLst/>
        </p:spPr>
        <p:txBody>
          <a:bodyPr wrap="square" lIns="22860" rIns="22860" tIns="0" bIns="0">
            <a:spAutoFit/>
          </a:bodyPr>
          <a:lstStyle/>
          <a:p>
            <a:pPr>
              <a:spcAft>
                <a:spcPts val="600"/>
              </a:spcAft>
              <a:defRPr sz="1500" b="0">
                <a:solidFill>
                  <a:srgbClr val="111111"/>
                </a:solidFill>
                <a:latin typeface="Microsoft YaHei"/>
              </a:defRPr>
            </a:pPr>
            <a:r>
              <a:t>竞争供氢 / 背景转化</a:t>
            </a:r>
          </a:p>
        </p:txBody>
      </p:sp>
      <p:sp>
        <p:nvSpPr>
          <p:cNvPr id="15" name="TextBox 14"/>
          <p:cNvSpPr txBox="1"/>
          <p:nvPr/>
        </p:nvSpPr>
        <p:spPr>
          <a:xfrm>
            <a:off x="2990087" y="3328416"/>
            <a:ext cx="2075688" cy="384048"/>
          </a:xfrm>
          <a:prstGeom prst="rect">
            <a:avLst/>
          </a:prstGeom>
          <a:noFill/>
          <a:effectLst/>
        </p:spPr>
        <p:txBody>
          <a:bodyPr wrap="square" lIns="22860" rIns="22860" tIns="0" bIns="0">
            <a:spAutoFit/>
          </a:bodyPr>
          <a:lstStyle/>
          <a:p>
            <a:pPr>
              <a:spcAft>
                <a:spcPts val="600"/>
              </a:spcAft>
              <a:defRPr sz="1400" b="1">
                <a:solidFill>
                  <a:srgbClr val="C00000"/>
                </a:solidFill>
                <a:latin typeface="Microsoft YaHei"/>
              </a:defRPr>
            </a:pPr>
            <a:r>
              <a:t>无底物溶剂空白</a:t>
            </a:r>
          </a:p>
        </p:txBody>
      </p:sp>
      <p:sp>
        <p:nvSpPr>
          <p:cNvPr id="16" name="TextBox 15"/>
          <p:cNvSpPr txBox="1"/>
          <p:nvPr/>
        </p:nvSpPr>
        <p:spPr>
          <a:xfrm>
            <a:off x="5321807" y="1975104"/>
            <a:ext cx="2075688" cy="320040"/>
          </a:xfrm>
          <a:prstGeom prst="rect">
            <a:avLst/>
          </a:prstGeom>
          <a:noFill/>
          <a:effectLst/>
        </p:spPr>
        <p:txBody>
          <a:bodyPr wrap="square" lIns="22860" rIns="22860" tIns="0" bIns="0">
            <a:spAutoFit/>
          </a:bodyPr>
          <a:lstStyle/>
          <a:p>
            <a:pPr>
              <a:spcAft>
                <a:spcPts val="600"/>
              </a:spcAft>
              <a:defRPr sz="1800" b="1">
                <a:solidFill>
                  <a:srgbClr val="063584"/>
                </a:solidFill>
                <a:latin typeface="Microsoft YaHei"/>
              </a:defRPr>
            </a:pPr>
            <a:r>
              <a:t>PVC 含氯位点</a:t>
            </a:r>
          </a:p>
        </p:txBody>
      </p:sp>
      <p:sp>
        <p:nvSpPr>
          <p:cNvPr id="17" name="TextBox 16"/>
          <p:cNvSpPr txBox="1"/>
          <p:nvPr/>
        </p:nvSpPr>
        <p:spPr>
          <a:xfrm>
            <a:off x="5321807" y="2532888"/>
            <a:ext cx="2075688" cy="566928"/>
          </a:xfrm>
          <a:prstGeom prst="rect">
            <a:avLst/>
          </a:prstGeom>
          <a:noFill/>
          <a:effectLst/>
        </p:spPr>
        <p:txBody>
          <a:bodyPr wrap="square" lIns="22860" rIns="22860" tIns="0" bIns="0">
            <a:spAutoFit/>
          </a:bodyPr>
          <a:lstStyle/>
          <a:p>
            <a:pPr>
              <a:spcAft>
                <a:spcPts val="600"/>
              </a:spcAft>
              <a:defRPr sz="1500" b="0">
                <a:solidFill>
                  <a:srgbClr val="111111"/>
                </a:solidFill>
                <a:latin typeface="Microsoft YaHei"/>
              </a:defRPr>
            </a:pPr>
            <a:r>
              <a:t>脱氯 / 氧化 / 交联 / 裂解</a:t>
            </a:r>
          </a:p>
        </p:txBody>
      </p:sp>
      <p:sp>
        <p:nvSpPr>
          <p:cNvPr id="18" name="TextBox 17"/>
          <p:cNvSpPr txBox="1"/>
          <p:nvPr/>
        </p:nvSpPr>
        <p:spPr>
          <a:xfrm>
            <a:off x="5321807" y="3328416"/>
            <a:ext cx="2075688" cy="384048"/>
          </a:xfrm>
          <a:prstGeom prst="rect">
            <a:avLst/>
          </a:prstGeom>
          <a:noFill/>
          <a:effectLst/>
        </p:spPr>
        <p:txBody>
          <a:bodyPr wrap="square" lIns="22860" rIns="22860" tIns="0" bIns="0">
            <a:spAutoFit/>
          </a:bodyPr>
          <a:lstStyle/>
          <a:p>
            <a:pPr>
              <a:spcAft>
                <a:spcPts val="600"/>
              </a:spcAft>
              <a:defRPr sz="1400" b="1">
                <a:solidFill>
                  <a:srgbClr val="C00000"/>
                </a:solidFill>
                <a:latin typeface="Microsoft YaHei"/>
              </a:defRPr>
            </a:pPr>
            <a:r>
              <a:t>氯平衡与链长证据</a:t>
            </a:r>
          </a:p>
        </p:txBody>
      </p:sp>
      <p:sp>
        <p:nvSpPr>
          <p:cNvPr id="19" name="Rounded Rectangle 18"/>
          <p:cNvSpPr/>
          <p:nvPr/>
        </p:nvSpPr>
        <p:spPr>
          <a:xfrm>
            <a:off x="8055864" y="1417320"/>
            <a:ext cx="3584448" cy="274320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ounded Rectangle 19"/>
          <p:cNvSpPr/>
          <p:nvPr/>
        </p:nvSpPr>
        <p:spPr>
          <a:xfrm>
            <a:off x="8083296" y="1444752"/>
            <a:ext cx="3529584"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202168" y="1495044"/>
            <a:ext cx="3291839"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必须区分的化学命题</a:t>
            </a:r>
          </a:p>
        </p:txBody>
      </p:sp>
      <p:sp>
        <p:nvSpPr>
          <p:cNvPr id="22" name="TextBox 21"/>
          <p:cNvSpPr txBox="1"/>
          <p:nvPr/>
        </p:nvSpPr>
        <p:spPr>
          <a:xfrm>
            <a:off x="8266175" y="1965960"/>
            <a:ext cx="3154680" cy="1700784"/>
          </a:xfrm>
          <a:prstGeom prst="rect">
            <a:avLst/>
          </a:prstGeom>
          <a:noFill/>
          <a:effectLst/>
        </p:spPr>
        <p:txBody>
          <a:bodyPr wrap="square" lIns="22860" rIns="22860" tIns="0" bIns="0">
            <a:spAutoFit/>
          </a:bodyPr>
          <a:lstStyle/>
          <a:p>
            <a:pPr>
              <a:spcAft>
                <a:spcPts val="600"/>
              </a:spcAft>
              <a:defRPr sz="1800" b="1">
                <a:solidFill>
                  <a:srgbClr val="063584"/>
                </a:solidFill>
                <a:latin typeface="Microsoft YaHei"/>
              </a:defRPr>
            </a:pPr>
            <a:r>
              <a:t>脱氯 ≠ 游离 Cl·</a:t>
            </a:r>
          </a:p>
          <a:p>
            <a:pPr>
              <a:spcAft>
                <a:spcPts val="600"/>
              </a:spcAft>
              <a:defRPr sz="1800" b="1">
                <a:solidFill>
                  <a:srgbClr val="063584"/>
                </a:solidFill>
                <a:latin typeface="Microsoft YaHei"/>
              </a:defRPr>
            </a:pPr>
            <a:r>
              <a:t>C–Cl 变化 ≠ C–C 断裂</a:t>
            </a:r>
          </a:p>
          <a:p>
            <a:pPr>
              <a:spcAft>
                <a:spcPts val="600"/>
              </a:spcAft>
              <a:defRPr sz="1800" b="1">
                <a:solidFill>
                  <a:srgbClr val="063584"/>
                </a:solidFill>
                <a:latin typeface="Microsoft YaHei"/>
              </a:defRPr>
            </a:pPr>
            <a:r>
              <a:t>含氧结构 ≠ 分子量下降</a:t>
            </a:r>
          </a:p>
          <a:p>
            <a:pPr>
              <a:spcAft>
                <a:spcPts val="600"/>
              </a:spcAft>
              <a:defRPr sz="1800" b="1">
                <a:solidFill>
                  <a:srgbClr val="063584"/>
                </a:solidFill>
                <a:latin typeface="Microsoft YaHei"/>
              </a:defRPr>
            </a:pPr>
            <a:r>
              <a:t>模型转化 ≠ PVC 降解</a:t>
            </a:r>
          </a:p>
        </p:txBody>
      </p:sp>
      <p:sp>
        <p:nvSpPr>
          <p:cNvPr id="23" name="Rounded Rectangle 22"/>
          <p:cNvSpPr/>
          <p:nvPr/>
        </p:nvSpPr>
        <p:spPr>
          <a:xfrm>
            <a:off x="438912" y="4361688"/>
            <a:ext cx="11201400" cy="1380744"/>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ounded Rectangle 23"/>
          <p:cNvSpPr/>
          <p:nvPr/>
        </p:nvSpPr>
        <p:spPr>
          <a:xfrm>
            <a:off x="466344" y="4389120"/>
            <a:ext cx="1114653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585216" y="4439412"/>
            <a:ext cx="1090879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模型的价值与边界</a:t>
            </a:r>
          </a:p>
        </p:txBody>
      </p:sp>
      <p:sp>
        <p:nvSpPr>
          <p:cNvPr id="26" name="TextBox 25"/>
          <p:cNvSpPr txBox="1"/>
          <p:nvPr/>
        </p:nvSpPr>
        <p:spPr>
          <a:xfrm>
            <a:off x="749808" y="4937760"/>
            <a:ext cx="4764024" cy="411480"/>
          </a:xfrm>
          <a:prstGeom prst="rect">
            <a:avLst/>
          </a:prstGeom>
          <a:noFill/>
          <a:effectLst/>
        </p:spPr>
        <p:txBody>
          <a:bodyPr wrap="square" lIns="22860" rIns="22860" tIns="0" bIns="0">
            <a:spAutoFit/>
          </a:bodyPr>
          <a:lstStyle/>
          <a:p>
            <a:pPr>
              <a:spcAft>
                <a:spcPts val="600"/>
              </a:spcAft>
              <a:defRPr sz="1700" b="1">
                <a:solidFill>
                  <a:srgbClr val="111111"/>
                </a:solidFill>
                <a:latin typeface="Microsoft YaHei"/>
              </a:defRPr>
            </a:pPr>
            <a:r>
              <a:t>2-氯戊烷：局部 C–Cl / C–H，产物易解析</a:t>
            </a:r>
          </a:p>
        </p:txBody>
      </p:sp>
      <p:sp>
        <p:nvSpPr>
          <p:cNvPr id="27" name="TextBox 26"/>
          <p:cNvSpPr txBox="1"/>
          <p:nvPr/>
        </p:nvSpPr>
        <p:spPr>
          <a:xfrm>
            <a:off x="5870448" y="4937760"/>
            <a:ext cx="5394960" cy="411480"/>
          </a:xfrm>
          <a:prstGeom prst="rect">
            <a:avLst/>
          </a:prstGeom>
          <a:noFill/>
          <a:effectLst/>
        </p:spPr>
        <p:txBody>
          <a:bodyPr wrap="square" lIns="22860" rIns="22860" tIns="0" bIns="0">
            <a:spAutoFit/>
          </a:bodyPr>
          <a:lstStyle/>
          <a:p>
            <a:pPr>
              <a:spcAft>
                <a:spcPts val="600"/>
              </a:spcAft>
              <a:defRPr sz="1700" b="1">
                <a:solidFill>
                  <a:srgbClr val="111111"/>
                </a:solidFill>
                <a:latin typeface="Microsoft YaHei"/>
              </a:defRPr>
            </a:pPr>
            <a:r>
              <a:t>PVC：连续位点、缺陷、溶胀与 O₂ 扩散</a:t>
            </a:r>
          </a:p>
        </p:txBody>
      </p:sp>
      <p:sp>
        <p:nvSpPr>
          <p:cNvPr id="28" name="Rectangle 27"/>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Chevron 28"/>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31" name="TextBox 30"/>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用简单模型拆解局部化学，再以聚合物的独立测量检验主链变化。</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研究策略：以可解析的局部反应逐级连接到 PVC 转化</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每一级增加结构复杂度，并保留相同的产物与物料判据</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Huang &amp; Wang, J. Polym. Sci. 2024, 62, 969–997.</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8</a:t>
            </a:r>
          </a:p>
        </p:txBody>
      </p:sp>
      <p:sp>
        <p:nvSpPr>
          <p:cNvPr id="7" name="Rounded Rectangle 6"/>
          <p:cNvSpPr/>
          <p:nvPr/>
        </p:nvSpPr>
        <p:spPr>
          <a:xfrm>
            <a:off x="438912" y="1499616"/>
            <a:ext cx="2606040" cy="285292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527048"/>
            <a:ext cx="255117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577339"/>
            <a:ext cx="231343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EAQ 光化学体系</a:t>
            </a:r>
          </a:p>
        </p:txBody>
      </p:sp>
      <p:sp>
        <p:nvSpPr>
          <p:cNvPr id="10" name="Oval 9"/>
          <p:cNvSpPr/>
          <p:nvPr/>
        </p:nvSpPr>
        <p:spPr>
          <a:xfrm>
            <a:off x="603503" y="2121408"/>
            <a:ext cx="310896" cy="31089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08075" y="2130551"/>
            <a:ext cx="301752" cy="301752"/>
          </a:xfrm>
          <a:prstGeom prst="rect">
            <a:avLst/>
          </a:prstGeom>
          <a:noFill/>
          <a:effectLst/>
        </p:spPr>
        <p:txBody>
          <a:bodyPr wrap="square" lIns="22860" rIns="22860" tIns="0" bIns="0">
            <a:spAutoFit/>
          </a:bodyPr>
          <a:lstStyle/>
          <a:p>
            <a:pPr algn="ctr">
              <a:spcAft>
                <a:spcPts val="600"/>
              </a:spcAft>
              <a:defRPr sz="1500" b="1">
                <a:solidFill>
                  <a:srgbClr val="FFFFFF"/>
                </a:solidFill>
                <a:latin typeface="Microsoft YaHei"/>
              </a:defRPr>
            </a:pPr>
            <a:r>
              <a:t>1</a:t>
            </a:r>
          </a:p>
        </p:txBody>
      </p:sp>
      <p:sp>
        <p:nvSpPr>
          <p:cNvPr id="12" name="TextBox 11"/>
          <p:cNvSpPr txBox="1"/>
          <p:nvPr/>
        </p:nvSpPr>
        <p:spPr>
          <a:xfrm>
            <a:off x="1033271" y="2148840"/>
            <a:ext cx="1828800" cy="658368"/>
          </a:xfrm>
          <a:prstGeom prst="rect">
            <a:avLst/>
          </a:prstGeom>
          <a:noFill/>
          <a:effectLst/>
        </p:spPr>
        <p:txBody>
          <a:bodyPr wrap="square" lIns="22860" rIns="22860" tIns="0" bIns="0">
            <a:spAutoFit/>
          </a:bodyPr>
          <a:lstStyle/>
          <a:p>
            <a:pPr>
              <a:spcAft>
                <a:spcPts val="600"/>
              </a:spcAft>
              <a:defRPr sz="1600" b="1">
                <a:solidFill>
                  <a:srgbClr val="111111"/>
                </a:solidFill>
                <a:latin typeface="Microsoft YaHei"/>
              </a:defRPr>
            </a:pPr>
            <a:r>
              <a:t>吸光、光敏增益与稳定性</a:t>
            </a:r>
          </a:p>
        </p:txBody>
      </p:sp>
      <p:sp>
        <p:nvSpPr>
          <p:cNvPr id="13" name="TextBox 12"/>
          <p:cNvSpPr txBox="1"/>
          <p:nvPr/>
        </p:nvSpPr>
        <p:spPr>
          <a:xfrm>
            <a:off x="603503" y="3246120"/>
            <a:ext cx="2276856" cy="310896"/>
          </a:xfrm>
          <a:prstGeom prst="rect">
            <a:avLst/>
          </a:prstGeom>
          <a:noFill/>
          <a:effectLst/>
        </p:spPr>
        <p:txBody>
          <a:bodyPr wrap="square" lIns="22860" rIns="22860" tIns="0" bIns="0">
            <a:spAutoFit/>
          </a:bodyPr>
          <a:lstStyle/>
          <a:p>
            <a:pPr algn="ctr">
              <a:spcAft>
                <a:spcPts val="600"/>
              </a:spcAft>
              <a:defRPr sz="1200" b="0">
                <a:solidFill>
                  <a:srgbClr val="566273"/>
                </a:solidFill>
                <a:latin typeface="Microsoft YaHei"/>
              </a:defRPr>
            </a:pPr>
            <a:r>
              <a:t>阶段输出</a:t>
            </a:r>
          </a:p>
        </p:txBody>
      </p:sp>
      <p:sp>
        <p:nvSpPr>
          <p:cNvPr id="14" name="TextBox 13"/>
          <p:cNvSpPr txBox="1"/>
          <p:nvPr/>
        </p:nvSpPr>
        <p:spPr>
          <a:xfrm>
            <a:off x="603503" y="3703320"/>
            <a:ext cx="2276856" cy="402336"/>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有效启动条件</a:t>
            </a:r>
          </a:p>
        </p:txBody>
      </p:sp>
      <p:cxnSp>
        <p:nvCxnSpPr>
          <p:cNvPr id="15" name="Connector 14"/>
          <p:cNvCxnSpPr/>
          <p:nvPr/>
        </p:nvCxnSpPr>
        <p:spPr>
          <a:xfrm>
            <a:off x="3063240" y="2834640"/>
            <a:ext cx="173736" cy="0"/>
          </a:xfrm>
          <a:prstGeom prst="line">
            <a:avLst/>
          </a:prstGeom>
          <a:ln w="1905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6" name="Rounded Rectangle 15"/>
          <p:cNvSpPr/>
          <p:nvPr/>
        </p:nvSpPr>
        <p:spPr>
          <a:xfrm>
            <a:off x="3264408" y="1499616"/>
            <a:ext cx="2606040" cy="285292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3291839" y="1527048"/>
            <a:ext cx="255117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3410711" y="1577339"/>
            <a:ext cx="231343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氯代烷烃模型</a:t>
            </a:r>
          </a:p>
        </p:txBody>
      </p:sp>
      <p:sp>
        <p:nvSpPr>
          <p:cNvPr id="19" name="Oval 18"/>
          <p:cNvSpPr/>
          <p:nvPr/>
        </p:nvSpPr>
        <p:spPr>
          <a:xfrm>
            <a:off x="3429000" y="2121408"/>
            <a:ext cx="310896" cy="31089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3433572" y="2130551"/>
            <a:ext cx="301752" cy="301752"/>
          </a:xfrm>
          <a:prstGeom prst="rect">
            <a:avLst/>
          </a:prstGeom>
          <a:noFill/>
          <a:effectLst/>
        </p:spPr>
        <p:txBody>
          <a:bodyPr wrap="square" lIns="22860" rIns="22860" tIns="0" bIns="0">
            <a:spAutoFit/>
          </a:bodyPr>
          <a:lstStyle/>
          <a:p>
            <a:pPr algn="ctr">
              <a:spcAft>
                <a:spcPts val="600"/>
              </a:spcAft>
              <a:defRPr sz="1500" b="1">
                <a:solidFill>
                  <a:srgbClr val="FFFFFF"/>
                </a:solidFill>
                <a:latin typeface="Microsoft YaHei"/>
              </a:defRPr>
            </a:pPr>
            <a:r>
              <a:t>2</a:t>
            </a:r>
          </a:p>
        </p:txBody>
      </p:sp>
      <p:sp>
        <p:nvSpPr>
          <p:cNvPr id="21" name="TextBox 20"/>
          <p:cNvSpPr txBox="1"/>
          <p:nvPr/>
        </p:nvSpPr>
        <p:spPr>
          <a:xfrm>
            <a:off x="3858768" y="2148840"/>
            <a:ext cx="1828800" cy="658368"/>
          </a:xfrm>
          <a:prstGeom prst="rect">
            <a:avLst/>
          </a:prstGeom>
          <a:noFill/>
          <a:effectLst/>
        </p:spPr>
        <p:txBody>
          <a:bodyPr wrap="square" lIns="22860" rIns="22860" tIns="0" bIns="0">
            <a:spAutoFit/>
          </a:bodyPr>
          <a:lstStyle/>
          <a:p>
            <a:pPr>
              <a:spcAft>
                <a:spcPts val="600"/>
              </a:spcAft>
              <a:defRPr sz="1600" b="1">
                <a:solidFill>
                  <a:srgbClr val="111111"/>
                </a:solidFill>
                <a:latin typeface="Microsoft YaHei"/>
              </a:defRPr>
            </a:pPr>
            <a:r>
              <a:t>局部 C–Cl / C–H 反应</a:t>
            </a:r>
          </a:p>
        </p:txBody>
      </p:sp>
      <p:sp>
        <p:nvSpPr>
          <p:cNvPr id="22" name="TextBox 21"/>
          <p:cNvSpPr txBox="1"/>
          <p:nvPr/>
        </p:nvSpPr>
        <p:spPr>
          <a:xfrm>
            <a:off x="3429000" y="3246120"/>
            <a:ext cx="2276856" cy="310896"/>
          </a:xfrm>
          <a:prstGeom prst="rect">
            <a:avLst/>
          </a:prstGeom>
          <a:noFill/>
          <a:effectLst/>
        </p:spPr>
        <p:txBody>
          <a:bodyPr wrap="square" lIns="22860" rIns="22860" tIns="0" bIns="0">
            <a:spAutoFit/>
          </a:bodyPr>
          <a:lstStyle/>
          <a:p>
            <a:pPr algn="ctr">
              <a:spcAft>
                <a:spcPts val="600"/>
              </a:spcAft>
              <a:defRPr sz="1200" b="0">
                <a:solidFill>
                  <a:srgbClr val="566273"/>
                </a:solidFill>
                <a:latin typeface="Microsoft YaHei"/>
              </a:defRPr>
            </a:pPr>
            <a:r>
              <a:t>阶段输出</a:t>
            </a:r>
          </a:p>
        </p:txBody>
      </p:sp>
      <p:sp>
        <p:nvSpPr>
          <p:cNvPr id="23" name="TextBox 22"/>
          <p:cNvSpPr txBox="1"/>
          <p:nvPr/>
        </p:nvSpPr>
        <p:spPr>
          <a:xfrm>
            <a:off x="3429000" y="3703320"/>
            <a:ext cx="2276856" cy="402336"/>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产物确证与定量</a:t>
            </a:r>
          </a:p>
        </p:txBody>
      </p:sp>
      <p:cxnSp>
        <p:nvCxnSpPr>
          <p:cNvPr id="24" name="Connector 23"/>
          <p:cNvCxnSpPr/>
          <p:nvPr/>
        </p:nvCxnSpPr>
        <p:spPr>
          <a:xfrm>
            <a:off x="5888736" y="2834640"/>
            <a:ext cx="173736" cy="0"/>
          </a:xfrm>
          <a:prstGeom prst="line">
            <a:avLst/>
          </a:prstGeom>
          <a:ln w="1905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5" name="Rounded Rectangle 24"/>
          <p:cNvSpPr/>
          <p:nvPr/>
        </p:nvSpPr>
        <p:spPr>
          <a:xfrm>
            <a:off x="6089904" y="1499616"/>
            <a:ext cx="2606040" cy="285292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ounded Rectangle 25"/>
          <p:cNvSpPr/>
          <p:nvPr/>
        </p:nvSpPr>
        <p:spPr>
          <a:xfrm>
            <a:off x="6117336" y="1527048"/>
            <a:ext cx="255117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236208" y="1577339"/>
            <a:ext cx="231343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复杂含氯底物</a:t>
            </a:r>
          </a:p>
        </p:txBody>
      </p:sp>
      <p:sp>
        <p:nvSpPr>
          <p:cNvPr id="28" name="Oval 27"/>
          <p:cNvSpPr/>
          <p:nvPr/>
        </p:nvSpPr>
        <p:spPr>
          <a:xfrm>
            <a:off x="6254496" y="2121408"/>
            <a:ext cx="310896" cy="31089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259068" y="2130551"/>
            <a:ext cx="301752" cy="301752"/>
          </a:xfrm>
          <a:prstGeom prst="rect">
            <a:avLst/>
          </a:prstGeom>
          <a:noFill/>
          <a:effectLst/>
        </p:spPr>
        <p:txBody>
          <a:bodyPr wrap="square" lIns="22860" rIns="22860" tIns="0" bIns="0">
            <a:spAutoFit/>
          </a:bodyPr>
          <a:lstStyle/>
          <a:p>
            <a:pPr algn="ctr">
              <a:spcAft>
                <a:spcPts val="600"/>
              </a:spcAft>
              <a:defRPr sz="1500" b="1">
                <a:solidFill>
                  <a:srgbClr val="FFFFFF"/>
                </a:solidFill>
                <a:latin typeface="Microsoft YaHei"/>
              </a:defRPr>
            </a:pPr>
            <a:r>
              <a:t>3</a:t>
            </a:r>
          </a:p>
        </p:txBody>
      </p:sp>
      <p:sp>
        <p:nvSpPr>
          <p:cNvPr id="30" name="TextBox 29"/>
          <p:cNvSpPr txBox="1"/>
          <p:nvPr/>
        </p:nvSpPr>
        <p:spPr>
          <a:xfrm>
            <a:off x="6684264" y="2148840"/>
            <a:ext cx="1828800" cy="658368"/>
          </a:xfrm>
          <a:prstGeom prst="rect">
            <a:avLst/>
          </a:prstGeom>
          <a:noFill/>
          <a:effectLst/>
        </p:spPr>
        <p:txBody>
          <a:bodyPr wrap="square" lIns="22860" rIns="22860" tIns="0" bIns="0">
            <a:spAutoFit/>
          </a:bodyPr>
          <a:lstStyle/>
          <a:p>
            <a:pPr>
              <a:spcAft>
                <a:spcPts val="600"/>
              </a:spcAft>
              <a:defRPr sz="1600" b="1">
                <a:solidFill>
                  <a:srgbClr val="111111"/>
                </a:solidFill>
                <a:latin typeface="Microsoft YaHei"/>
              </a:defRPr>
            </a:pPr>
            <a:r>
              <a:t>氯代石蜡等连续位点</a:t>
            </a:r>
          </a:p>
        </p:txBody>
      </p:sp>
      <p:sp>
        <p:nvSpPr>
          <p:cNvPr id="31" name="TextBox 30"/>
          <p:cNvSpPr txBox="1"/>
          <p:nvPr/>
        </p:nvSpPr>
        <p:spPr>
          <a:xfrm>
            <a:off x="6254496" y="3246120"/>
            <a:ext cx="2276856" cy="310896"/>
          </a:xfrm>
          <a:prstGeom prst="rect">
            <a:avLst/>
          </a:prstGeom>
          <a:noFill/>
          <a:effectLst/>
        </p:spPr>
        <p:txBody>
          <a:bodyPr wrap="square" lIns="22860" rIns="22860" tIns="0" bIns="0">
            <a:spAutoFit/>
          </a:bodyPr>
          <a:lstStyle/>
          <a:p>
            <a:pPr algn="ctr">
              <a:spcAft>
                <a:spcPts val="600"/>
              </a:spcAft>
              <a:defRPr sz="1200" b="0">
                <a:solidFill>
                  <a:srgbClr val="566273"/>
                </a:solidFill>
                <a:latin typeface="Microsoft YaHei"/>
              </a:defRPr>
            </a:pPr>
            <a:r>
              <a:t>阶段输出</a:t>
            </a:r>
          </a:p>
        </p:txBody>
      </p:sp>
      <p:sp>
        <p:nvSpPr>
          <p:cNvPr id="32" name="TextBox 31"/>
          <p:cNvSpPr txBox="1"/>
          <p:nvPr/>
        </p:nvSpPr>
        <p:spPr>
          <a:xfrm>
            <a:off x="6254496" y="3703320"/>
            <a:ext cx="2276856" cy="402336"/>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竞争反应与迁移范围</a:t>
            </a:r>
          </a:p>
        </p:txBody>
      </p:sp>
      <p:cxnSp>
        <p:nvCxnSpPr>
          <p:cNvPr id="33" name="Connector 32"/>
          <p:cNvCxnSpPr/>
          <p:nvPr/>
        </p:nvCxnSpPr>
        <p:spPr>
          <a:xfrm>
            <a:off x="8714232" y="2834640"/>
            <a:ext cx="173736" cy="0"/>
          </a:xfrm>
          <a:prstGeom prst="line">
            <a:avLst/>
          </a:prstGeom>
          <a:ln w="1905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34" name="Rounded Rectangle 33"/>
          <p:cNvSpPr/>
          <p:nvPr/>
        </p:nvSpPr>
        <p:spPr>
          <a:xfrm>
            <a:off x="8915400" y="1499616"/>
            <a:ext cx="2606040" cy="285292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ounded Rectangle 34"/>
          <p:cNvSpPr/>
          <p:nvPr/>
        </p:nvSpPr>
        <p:spPr>
          <a:xfrm>
            <a:off x="8942832" y="1527048"/>
            <a:ext cx="255117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9061704" y="1577339"/>
            <a:ext cx="231343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PVC 聚合物</a:t>
            </a:r>
          </a:p>
        </p:txBody>
      </p:sp>
      <p:sp>
        <p:nvSpPr>
          <p:cNvPr id="37" name="Oval 36"/>
          <p:cNvSpPr/>
          <p:nvPr/>
        </p:nvSpPr>
        <p:spPr>
          <a:xfrm>
            <a:off x="9079992" y="2121408"/>
            <a:ext cx="310896" cy="31089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9084564" y="2130551"/>
            <a:ext cx="301752" cy="301752"/>
          </a:xfrm>
          <a:prstGeom prst="rect">
            <a:avLst/>
          </a:prstGeom>
          <a:noFill/>
          <a:effectLst/>
        </p:spPr>
        <p:txBody>
          <a:bodyPr wrap="square" lIns="22860" rIns="22860" tIns="0" bIns="0">
            <a:spAutoFit/>
          </a:bodyPr>
          <a:lstStyle/>
          <a:p>
            <a:pPr algn="ctr">
              <a:spcAft>
                <a:spcPts val="600"/>
              </a:spcAft>
              <a:defRPr sz="1500" b="1">
                <a:solidFill>
                  <a:srgbClr val="FFFFFF"/>
                </a:solidFill>
                <a:latin typeface="Microsoft YaHei"/>
              </a:defRPr>
            </a:pPr>
            <a:r>
              <a:t>4</a:t>
            </a:r>
          </a:p>
        </p:txBody>
      </p:sp>
      <p:sp>
        <p:nvSpPr>
          <p:cNvPr id="39" name="TextBox 38"/>
          <p:cNvSpPr txBox="1"/>
          <p:nvPr/>
        </p:nvSpPr>
        <p:spPr>
          <a:xfrm>
            <a:off x="9509760" y="2148840"/>
            <a:ext cx="1828800" cy="658368"/>
          </a:xfrm>
          <a:prstGeom prst="rect">
            <a:avLst/>
          </a:prstGeom>
          <a:noFill/>
          <a:effectLst/>
        </p:spPr>
        <p:txBody>
          <a:bodyPr wrap="square" lIns="22860" rIns="22860" tIns="0" bIns="0">
            <a:spAutoFit/>
          </a:bodyPr>
          <a:lstStyle/>
          <a:p>
            <a:pPr>
              <a:spcAft>
                <a:spcPts val="600"/>
              </a:spcAft>
              <a:defRPr sz="1600" b="1">
                <a:solidFill>
                  <a:srgbClr val="111111"/>
                </a:solidFill>
                <a:latin typeface="Microsoft YaHei"/>
              </a:defRPr>
            </a:pPr>
            <a:r>
              <a:t>结构、相态与传质</a:t>
            </a:r>
          </a:p>
        </p:txBody>
      </p:sp>
      <p:sp>
        <p:nvSpPr>
          <p:cNvPr id="40" name="TextBox 39"/>
          <p:cNvSpPr txBox="1"/>
          <p:nvPr/>
        </p:nvSpPr>
        <p:spPr>
          <a:xfrm>
            <a:off x="9079992" y="3246120"/>
            <a:ext cx="2276856" cy="310896"/>
          </a:xfrm>
          <a:prstGeom prst="rect">
            <a:avLst/>
          </a:prstGeom>
          <a:noFill/>
          <a:effectLst/>
        </p:spPr>
        <p:txBody>
          <a:bodyPr wrap="square" lIns="22860" rIns="22860" tIns="0" bIns="0">
            <a:spAutoFit/>
          </a:bodyPr>
          <a:lstStyle/>
          <a:p>
            <a:pPr algn="ctr">
              <a:spcAft>
                <a:spcPts val="600"/>
              </a:spcAft>
              <a:defRPr sz="1200" b="0">
                <a:solidFill>
                  <a:srgbClr val="566273"/>
                </a:solidFill>
                <a:latin typeface="Microsoft YaHei"/>
              </a:defRPr>
            </a:pPr>
            <a:r>
              <a:t>阶段输出</a:t>
            </a:r>
          </a:p>
        </p:txBody>
      </p:sp>
      <p:sp>
        <p:nvSpPr>
          <p:cNvPr id="41" name="TextBox 40"/>
          <p:cNvSpPr txBox="1"/>
          <p:nvPr/>
        </p:nvSpPr>
        <p:spPr>
          <a:xfrm>
            <a:off x="9079992" y="3703320"/>
            <a:ext cx="2276856" cy="402336"/>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氯与链长联合结果</a:t>
            </a:r>
          </a:p>
        </p:txBody>
      </p:sp>
      <p:sp>
        <p:nvSpPr>
          <p:cNvPr id="42" name="Rounded Rectangle 41"/>
          <p:cNvSpPr/>
          <p:nvPr/>
        </p:nvSpPr>
        <p:spPr>
          <a:xfrm>
            <a:off x="438912" y="4553712"/>
            <a:ext cx="11201400" cy="1197864"/>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Rounded Rectangle 42"/>
          <p:cNvSpPr/>
          <p:nvPr/>
        </p:nvSpPr>
        <p:spPr>
          <a:xfrm>
            <a:off x="466344" y="4581144"/>
            <a:ext cx="1114653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85216" y="4631436"/>
            <a:ext cx="1090879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贯穿所有底物的分析主线</a:t>
            </a:r>
          </a:p>
        </p:txBody>
      </p:sp>
      <p:sp>
        <p:nvSpPr>
          <p:cNvPr id="45" name="TextBox 44"/>
          <p:cNvSpPr txBox="1"/>
          <p:nvPr/>
        </p:nvSpPr>
        <p:spPr>
          <a:xfrm>
            <a:off x="713232" y="5129784"/>
            <a:ext cx="2496312" cy="365760"/>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真实产物与回收率</a:t>
            </a:r>
          </a:p>
        </p:txBody>
      </p:sp>
      <p:sp>
        <p:nvSpPr>
          <p:cNvPr id="46" name="TextBox 45"/>
          <p:cNvSpPr txBox="1"/>
          <p:nvPr/>
        </p:nvSpPr>
        <p:spPr>
          <a:xfrm>
            <a:off x="3456432" y="5129784"/>
            <a:ext cx="2496312" cy="365760"/>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可重复的定量</a:t>
            </a:r>
          </a:p>
        </p:txBody>
      </p:sp>
      <p:sp>
        <p:nvSpPr>
          <p:cNvPr id="47" name="TextBox 46"/>
          <p:cNvSpPr txBox="1"/>
          <p:nvPr/>
        </p:nvSpPr>
        <p:spPr>
          <a:xfrm>
            <a:off x="6199632" y="5129784"/>
            <a:ext cx="2496312" cy="365760"/>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自由基与氧的作用</a:t>
            </a:r>
          </a:p>
        </p:txBody>
      </p:sp>
      <p:sp>
        <p:nvSpPr>
          <p:cNvPr id="48" name="TextBox 47"/>
          <p:cNvSpPr txBox="1"/>
          <p:nvPr/>
        </p:nvSpPr>
        <p:spPr>
          <a:xfrm>
            <a:off x="8942832" y="5129784"/>
            <a:ext cx="2496312" cy="365760"/>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氯去向与链长变化</a:t>
            </a:r>
          </a:p>
        </p:txBody>
      </p:sp>
      <p:sp>
        <p:nvSpPr>
          <p:cNvPr id="49" name="Rectangle 48"/>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Chevron 49"/>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52" name="TextBox 51"/>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先把模型结果讲清楚，再推进 PVC；不以更高表观转化率替代分析可靠性。</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预想机理：AQ 攫氢再生与 PVC 自由基氧化耦合</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实线：一般文献过程；虚线：本体系合理推测；“?”：关键证据缺口。R· 表示碳中心自由基。</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Gardette et al., Macromolecules 1989, 22, 2576–2581. Chen et al., Environ. Sci. Ecotechnol. 2024, 22, 100449. Su et al., Angew. Chem. Int. Ed. 2026, e5578835.</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9</a:t>
            </a:r>
          </a:p>
        </p:txBody>
      </p:sp>
      <p:sp>
        <p:nvSpPr>
          <p:cNvPr id="7" name="Rounded Rectangle 6"/>
          <p:cNvSpPr/>
          <p:nvPr/>
        </p:nvSpPr>
        <p:spPr>
          <a:xfrm>
            <a:off x="438912" y="1417320"/>
            <a:ext cx="3136392"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3081528"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2843784"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AQ 攫氢—再氧化小循环</a:t>
            </a:r>
          </a:p>
        </p:txBody>
      </p:sp>
      <p:sp>
        <p:nvSpPr>
          <p:cNvPr id="10" name="Rounded Rectangle 9"/>
          <p:cNvSpPr/>
          <p:nvPr/>
        </p:nvSpPr>
        <p:spPr>
          <a:xfrm>
            <a:off x="3767328" y="1417320"/>
            <a:ext cx="7872983"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ounded Rectangle 10"/>
          <p:cNvSpPr/>
          <p:nvPr/>
        </p:nvSpPr>
        <p:spPr>
          <a:xfrm>
            <a:off x="3794760" y="1444752"/>
            <a:ext cx="7818119"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3913632" y="1495044"/>
            <a:ext cx="7580375"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PVC 活化—氧化—潜在链裂解（工作假说）</a:t>
            </a:r>
          </a:p>
        </p:txBody>
      </p:sp>
      <p:sp>
        <p:nvSpPr>
          <p:cNvPr id="13" name="Freeform 12"/>
          <p:cNvSpPr/>
          <p:nvPr/>
        </p:nvSpPr>
        <p:spPr>
          <a:xfrm>
            <a:off x="2333080" y="2454544"/>
            <a:ext cx="482577" cy="574752"/>
          </a:xfrm>
          <a:custGeom>
            <a:avLst/>
            <a:gdLst/>
            <a:ahLst/>
            <a:cxnLst/>
            <a:rect l="l" t="t" r="r" b="b"/>
            <a:pathLst>
              <a:path w="482577" h="574752">
                <a:moveTo>
                  <a:pt x="0" y="0"/>
                </a:moveTo>
                <a:lnTo>
                  <a:pt x="16469" y="7477"/>
                </a:lnTo>
                <a:lnTo>
                  <a:pt x="32768" y="15279"/>
                </a:lnTo>
                <a:lnTo>
                  <a:pt x="48891" y="23404"/>
                </a:lnTo>
                <a:lnTo>
                  <a:pt x="64830" y="31849"/>
                </a:lnTo>
                <a:lnTo>
                  <a:pt x="80578" y="40609"/>
                </a:lnTo>
                <a:lnTo>
                  <a:pt x="96128" y="49681"/>
                </a:lnTo>
                <a:lnTo>
                  <a:pt x="111474" y="59061"/>
                </a:lnTo>
                <a:lnTo>
                  <a:pt x="126608" y="68744"/>
                </a:lnTo>
                <a:lnTo>
                  <a:pt x="141523" y="78726"/>
                </a:lnTo>
                <a:lnTo>
                  <a:pt x="156214" y="89004"/>
                </a:lnTo>
                <a:lnTo>
                  <a:pt x="170674" y="99571"/>
                </a:lnTo>
                <a:lnTo>
                  <a:pt x="184896" y="110424"/>
                </a:lnTo>
                <a:lnTo>
                  <a:pt x="198874" y="121558"/>
                </a:lnTo>
                <a:lnTo>
                  <a:pt x="212602" y="132968"/>
                </a:lnTo>
                <a:lnTo>
                  <a:pt x="226073" y="144649"/>
                </a:lnTo>
                <a:lnTo>
                  <a:pt x="239283" y="156595"/>
                </a:lnTo>
                <a:lnTo>
                  <a:pt x="252224" y="168802"/>
                </a:lnTo>
                <a:lnTo>
                  <a:pt x="264892" y="181264"/>
                </a:lnTo>
                <a:lnTo>
                  <a:pt x="277280" y="193976"/>
                </a:lnTo>
                <a:lnTo>
                  <a:pt x="289384" y="206931"/>
                </a:lnTo>
                <a:lnTo>
                  <a:pt x="301197" y="220125"/>
                </a:lnTo>
                <a:lnTo>
                  <a:pt x="312716" y="233551"/>
                </a:lnTo>
                <a:lnTo>
                  <a:pt x="323933" y="247203"/>
                </a:lnTo>
                <a:lnTo>
                  <a:pt x="334845" y="261076"/>
                </a:lnTo>
                <a:lnTo>
                  <a:pt x="345447" y="275163"/>
                </a:lnTo>
                <a:lnTo>
                  <a:pt x="355734" y="289458"/>
                </a:lnTo>
                <a:lnTo>
                  <a:pt x="365702" y="303955"/>
                </a:lnTo>
                <a:lnTo>
                  <a:pt x="375346" y="318647"/>
                </a:lnTo>
                <a:lnTo>
                  <a:pt x="384661" y="333528"/>
                </a:lnTo>
                <a:lnTo>
                  <a:pt x="393644" y="348591"/>
                </a:lnTo>
                <a:lnTo>
                  <a:pt x="402291" y="363829"/>
                </a:lnTo>
                <a:lnTo>
                  <a:pt x="410598" y="379237"/>
                </a:lnTo>
                <a:lnTo>
                  <a:pt x="418562" y="394806"/>
                </a:lnTo>
                <a:lnTo>
                  <a:pt x="426178" y="410531"/>
                </a:lnTo>
                <a:lnTo>
                  <a:pt x="433443" y="426404"/>
                </a:lnTo>
                <a:lnTo>
                  <a:pt x="440355" y="442418"/>
                </a:lnTo>
                <a:lnTo>
                  <a:pt x="446909" y="458566"/>
                </a:lnTo>
                <a:lnTo>
                  <a:pt x="453104" y="474841"/>
                </a:lnTo>
                <a:lnTo>
                  <a:pt x="458937" y="491236"/>
                </a:lnTo>
                <a:lnTo>
                  <a:pt x="464404" y="507744"/>
                </a:lnTo>
                <a:lnTo>
                  <a:pt x="469504" y="524357"/>
                </a:lnTo>
                <a:lnTo>
                  <a:pt x="474234" y="541067"/>
                </a:lnTo>
                <a:lnTo>
                  <a:pt x="478592" y="557868"/>
                </a:lnTo>
                <a:lnTo>
                  <a:pt x="482577" y="574752"/>
                </a:lnTo>
              </a:path>
            </a:pathLst>
          </a:custGeom>
          <a:noFill/>
          <a:ln w="20320">
            <a:solidFill>
              <a:srgbClr val="063584"/>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Freeform 13"/>
          <p:cNvSpPr/>
          <p:nvPr/>
        </p:nvSpPr>
        <p:spPr>
          <a:xfrm>
            <a:off x="2319283" y="3441010"/>
            <a:ext cx="477399" cy="511201"/>
          </a:xfrm>
          <a:custGeom>
            <a:avLst/>
            <a:gdLst/>
            <a:ahLst/>
            <a:cxnLst/>
            <a:rect l="l" t="t" r="r" b="b"/>
            <a:pathLst>
              <a:path w="477399" h="511201">
                <a:moveTo>
                  <a:pt x="477399" y="0"/>
                </a:moveTo>
                <a:lnTo>
                  <a:pt x="472306" y="15250"/>
                </a:lnTo>
                <a:lnTo>
                  <a:pt x="466901" y="30404"/>
                </a:lnTo>
                <a:lnTo>
                  <a:pt x="461186" y="45455"/>
                </a:lnTo>
                <a:lnTo>
                  <a:pt x="455164" y="60398"/>
                </a:lnTo>
                <a:lnTo>
                  <a:pt x="448836" y="75227"/>
                </a:lnTo>
                <a:lnTo>
                  <a:pt x="442205" y="89937"/>
                </a:lnTo>
                <a:lnTo>
                  <a:pt x="435274" y="104523"/>
                </a:lnTo>
                <a:lnTo>
                  <a:pt x="428044" y="118977"/>
                </a:lnTo>
                <a:lnTo>
                  <a:pt x="420520" y="133296"/>
                </a:lnTo>
                <a:lnTo>
                  <a:pt x="412703" y="147474"/>
                </a:lnTo>
                <a:lnTo>
                  <a:pt x="404596" y="161505"/>
                </a:lnTo>
                <a:lnTo>
                  <a:pt x="396204" y="175384"/>
                </a:lnTo>
                <a:lnTo>
                  <a:pt x="387528" y="189107"/>
                </a:lnTo>
                <a:lnTo>
                  <a:pt x="378572" y="202666"/>
                </a:lnTo>
                <a:lnTo>
                  <a:pt x="369340" y="216059"/>
                </a:lnTo>
                <a:lnTo>
                  <a:pt x="359835" y="229278"/>
                </a:lnTo>
                <a:lnTo>
                  <a:pt x="350060" y="242321"/>
                </a:lnTo>
                <a:lnTo>
                  <a:pt x="340020" y="255180"/>
                </a:lnTo>
                <a:lnTo>
                  <a:pt x="329718" y="267853"/>
                </a:lnTo>
                <a:lnTo>
                  <a:pt x="319158" y="280333"/>
                </a:lnTo>
                <a:lnTo>
                  <a:pt x="308344" y="292617"/>
                </a:lnTo>
                <a:lnTo>
                  <a:pt x="297279" y="304699"/>
                </a:lnTo>
                <a:lnTo>
                  <a:pt x="285969" y="316576"/>
                </a:lnTo>
                <a:lnTo>
                  <a:pt x="274418" y="328241"/>
                </a:lnTo>
                <a:lnTo>
                  <a:pt x="262629" y="339692"/>
                </a:lnTo>
                <a:lnTo>
                  <a:pt x="250608" y="350924"/>
                </a:lnTo>
                <a:lnTo>
                  <a:pt x="238358" y="361932"/>
                </a:lnTo>
                <a:lnTo>
                  <a:pt x="225885" y="372712"/>
                </a:lnTo>
                <a:lnTo>
                  <a:pt x="213194" y="383261"/>
                </a:lnTo>
                <a:lnTo>
                  <a:pt x="200288" y="393574"/>
                </a:lnTo>
                <a:lnTo>
                  <a:pt x="187173" y="403648"/>
                </a:lnTo>
                <a:lnTo>
                  <a:pt x="173854" y="413478"/>
                </a:lnTo>
                <a:lnTo>
                  <a:pt x="160335" y="423061"/>
                </a:lnTo>
                <a:lnTo>
                  <a:pt x="146623" y="432394"/>
                </a:lnTo>
                <a:lnTo>
                  <a:pt x="132722" y="441472"/>
                </a:lnTo>
                <a:lnTo>
                  <a:pt x="118637" y="450292"/>
                </a:lnTo>
                <a:lnTo>
                  <a:pt x="104374" y="458852"/>
                </a:lnTo>
                <a:lnTo>
                  <a:pt x="89938" y="467147"/>
                </a:lnTo>
                <a:lnTo>
                  <a:pt x="75334" y="475175"/>
                </a:lnTo>
                <a:lnTo>
                  <a:pt x="60569" y="482932"/>
                </a:lnTo>
                <a:lnTo>
                  <a:pt x="45647" y="490416"/>
                </a:lnTo>
                <a:lnTo>
                  <a:pt x="30575" y="497624"/>
                </a:lnTo>
                <a:lnTo>
                  <a:pt x="15357" y="504553"/>
                </a:lnTo>
                <a:lnTo>
                  <a:pt x="0" y="511201"/>
                </a:lnTo>
              </a:path>
            </a:pathLst>
          </a:custGeom>
          <a:noFill/>
          <a:ln w="20320">
            <a:solidFill>
              <a:srgbClr val="063584"/>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Freeform 14"/>
          <p:cNvSpPr/>
          <p:nvPr/>
        </p:nvSpPr>
        <p:spPr>
          <a:xfrm>
            <a:off x="1097304" y="2442861"/>
            <a:ext cx="529235" cy="1484169"/>
          </a:xfrm>
          <a:custGeom>
            <a:avLst/>
            <a:gdLst/>
            <a:ahLst/>
            <a:cxnLst/>
            <a:rect l="l" t="t" r="r" b="b"/>
            <a:pathLst>
              <a:path w="529235" h="1484169">
                <a:moveTo>
                  <a:pt x="460835" y="1484169"/>
                </a:moveTo>
                <a:lnTo>
                  <a:pt x="422139" y="1463457"/>
                </a:lnTo>
                <a:lnTo>
                  <a:pt x="384611" y="1440897"/>
                </a:lnTo>
                <a:lnTo>
                  <a:pt x="348351" y="1416547"/>
                </a:lnTo>
                <a:lnTo>
                  <a:pt x="313453" y="1390473"/>
                </a:lnTo>
                <a:lnTo>
                  <a:pt x="280008" y="1362742"/>
                </a:lnTo>
                <a:lnTo>
                  <a:pt x="248104" y="1333427"/>
                </a:lnTo>
                <a:lnTo>
                  <a:pt x="217824" y="1302604"/>
                </a:lnTo>
                <a:lnTo>
                  <a:pt x="189249" y="1270354"/>
                </a:lnTo>
                <a:lnTo>
                  <a:pt x="162452" y="1236762"/>
                </a:lnTo>
                <a:lnTo>
                  <a:pt x="137503" y="1201915"/>
                </a:lnTo>
                <a:lnTo>
                  <a:pt x="114469" y="1165905"/>
                </a:lnTo>
                <a:lnTo>
                  <a:pt x="93408" y="1128826"/>
                </a:lnTo>
                <a:lnTo>
                  <a:pt x="74378" y="1090775"/>
                </a:lnTo>
                <a:lnTo>
                  <a:pt x="57426" y="1051851"/>
                </a:lnTo>
                <a:lnTo>
                  <a:pt x="42598" y="1012158"/>
                </a:lnTo>
                <a:lnTo>
                  <a:pt x="29933" y="971797"/>
                </a:lnTo>
                <a:lnTo>
                  <a:pt x="19463" y="930876"/>
                </a:lnTo>
                <a:lnTo>
                  <a:pt x="11216" y="889501"/>
                </a:lnTo>
                <a:lnTo>
                  <a:pt x="5214" y="847781"/>
                </a:lnTo>
                <a:lnTo>
                  <a:pt x="1472" y="805824"/>
                </a:lnTo>
                <a:lnTo>
                  <a:pt x="0" y="763741"/>
                </a:lnTo>
                <a:lnTo>
                  <a:pt x="802" y="721641"/>
                </a:lnTo>
                <a:lnTo>
                  <a:pt x="3876" y="679636"/>
                </a:lnTo>
                <a:lnTo>
                  <a:pt x="9214" y="637835"/>
                </a:lnTo>
                <a:lnTo>
                  <a:pt x="16802" y="596347"/>
                </a:lnTo>
                <a:lnTo>
                  <a:pt x="26619" y="555281"/>
                </a:lnTo>
                <a:lnTo>
                  <a:pt x="38641" y="514744"/>
                </a:lnTo>
                <a:lnTo>
                  <a:pt x="52836" y="474843"/>
                </a:lnTo>
                <a:lnTo>
                  <a:pt x="69166" y="435682"/>
                </a:lnTo>
                <a:lnTo>
                  <a:pt x="87589" y="397363"/>
                </a:lnTo>
                <a:lnTo>
                  <a:pt x="108057" y="359988"/>
                </a:lnTo>
                <a:lnTo>
                  <a:pt x="130516" y="323653"/>
                </a:lnTo>
                <a:lnTo>
                  <a:pt x="154907" y="288454"/>
                </a:lnTo>
                <a:lnTo>
                  <a:pt x="181167" y="254483"/>
                </a:lnTo>
                <a:lnTo>
                  <a:pt x="209226" y="221829"/>
                </a:lnTo>
                <a:lnTo>
                  <a:pt x="239012" y="190577"/>
                </a:lnTo>
                <a:lnTo>
                  <a:pt x="270446" y="160809"/>
                </a:lnTo>
                <a:lnTo>
                  <a:pt x="303446" y="132604"/>
                </a:lnTo>
                <a:lnTo>
                  <a:pt x="337925" y="106034"/>
                </a:lnTo>
                <a:lnTo>
                  <a:pt x="373794" y="81170"/>
                </a:lnTo>
                <a:lnTo>
                  <a:pt x="410958" y="58076"/>
                </a:lnTo>
                <a:lnTo>
                  <a:pt x="449321" y="36814"/>
                </a:lnTo>
                <a:lnTo>
                  <a:pt x="488781" y="17438"/>
                </a:lnTo>
                <a:lnTo>
                  <a:pt x="529235" y="0"/>
                </a:lnTo>
              </a:path>
            </a:pathLst>
          </a:custGeom>
          <a:noFill/>
          <a:ln w="20320">
            <a:solidFill>
              <a:srgbClr val="063584"/>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1444752" y="2130552"/>
            <a:ext cx="1060704" cy="384048"/>
          </a:xfrm>
          <a:prstGeom prst="rect">
            <a:avLst/>
          </a:prstGeom>
          <a:noFill/>
          <a:effectLst/>
        </p:spPr>
        <p:txBody>
          <a:bodyPr wrap="square" lIns="22860" rIns="22860" tIns="0" bIns="0">
            <a:spAutoFit/>
          </a:bodyPr>
          <a:lstStyle/>
          <a:p>
            <a:pPr algn="ctr">
              <a:spcAft>
                <a:spcPts val="600"/>
              </a:spcAft>
              <a:defRPr sz="2500" b="1">
                <a:solidFill>
                  <a:srgbClr val="063584"/>
                </a:solidFill>
                <a:latin typeface="Microsoft YaHei"/>
              </a:defRPr>
            </a:pPr>
            <a:r>
              <a:t>AQ</a:t>
            </a:r>
          </a:p>
        </p:txBody>
      </p:sp>
      <p:sp>
        <p:nvSpPr>
          <p:cNvPr id="17" name="TextBox 16"/>
          <p:cNvSpPr txBox="1"/>
          <p:nvPr/>
        </p:nvSpPr>
        <p:spPr>
          <a:xfrm>
            <a:off x="2551176" y="3026664"/>
            <a:ext cx="914400" cy="393192"/>
          </a:xfrm>
          <a:prstGeom prst="rect">
            <a:avLst/>
          </a:prstGeom>
          <a:noFill/>
          <a:effectLst/>
        </p:spPr>
        <p:txBody>
          <a:bodyPr wrap="square" lIns="22860" rIns="22860" tIns="0" bIns="0">
            <a:spAutoFit/>
          </a:bodyPr>
          <a:lstStyle/>
          <a:p>
            <a:pPr>
              <a:spcAft>
                <a:spcPts val="600"/>
              </a:spcAft>
              <a:defRPr sz="2300" b="1">
                <a:solidFill>
                  <a:srgbClr val="063584"/>
                </a:solidFill>
                <a:latin typeface="Microsoft YaHei"/>
              </a:defRPr>
            </a:pPr>
            <a:r>
              <a:t>AQ*</a:t>
            </a:r>
          </a:p>
        </p:txBody>
      </p:sp>
      <p:sp>
        <p:nvSpPr>
          <p:cNvPr id="18" name="TextBox 17"/>
          <p:cNvSpPr txBox="1"/>
          <p:nvPr/>
        </p:nvSpPr>
        <p:spPr>
          <a:xfrm>
            <a:off x="941832" y="4069080"/>
            <a:ext cx="2194560" cy="393192"/>
          </a:xfrm>
          <a:prstGeom prst="rect">
            <a:avLst/>
          </a:prstGeom>
          <a:noFill/>
          <a:effectLst/>
        </p:spPr>
        <p:txBody>
          <a:bodyPr wrap="square" lIns="22860" rIns="22860" tIns="0" bIns="0">
            <a:spAutoFit/>
          </a:bodyPr>
          <a:lstStyle/>
          <a:p>
            <a:pPr algn="ctr">
              <a:spcAft>
                <a:spcPts val="600"/>
              </a:spcAft>
              <a:defRPr sz="1900" b="1">
                <a:solidFill>
                  <a:srgbClr val="063584"/>
                </a:solidFill>
                <a:latin typeface="Microsoft YaHei"/>
              </a:defRPr>
            </a:pPr>
            <a:r>
              <a:t>AQH· / AHQ</a:t>
            </a:r>
          </a:p>
        </p:txBody>
      </p:sp>
      <p:sp>
        <p:nvSpPr>
          <p:cNvPr id="19" name="TextBox 18"/>
          <p:cNvSpPr txBox="1"/>
          <p:nvPr/>
        </p:nvSpPr>
        <p:spPr>
          <a:xfrm>
            <a:off x="2633472" y="2542032"/>
            <a:ext cx="548640" cy="283464"/>
          </a:xfrm>
          <a:prstGeom prst="rect">
            <a:avLst/>
          </a:prstGeom>
          <a:noFill/>
          <a:effectLst/>
        </p:spPr>
        <p:txBody>
          <a:bodyPr wrap="square" lIns="22860" rIns="22860" tIns="0" bIns="0">
            <a:spAutoFit/>
          </a:bodyPr>
          <a:lstStyle/>
          <a:p>
            <a:pPr>
              <a:spcAft>
                <a:spcPts val="600"/>
              </a:spcAft>
              <a:defRPr sz="1800" b="1">
                <a:solidFill>
                  <a:srgbClr val="111111"/>
                </a:solidFill>
                <a:latin typeface="Microsoft YaHei"/>
              </a:defRPr>
            </a:pPr>
            <a:r>
              <a:t>hν</a:t>
            </a:r>
          </a:p>
        </p:txBody>
      </p:sp>
      <p:sp>
        <p:nvSpPr>
          <p:cNvPr id="20" name="TextBox 19"/>
          <p:cNvSpPr txBox="1"/>
          <p:nvPr/>
        </p:nvSpPr>
        <p:spPr>
          <a:xfrm>
            <a:off x="2770632" y="3694176"/>
            <a:ext cx="722376" cy="521207"/>
          </a:xfrm>
          <a:prstGeom prst="rect">
            <a:avLst/>
          </a:prstGeom>
          <a:noFill/>
          <a:effectLst/>
        </p:spPr>
        <p:txBody>
          <a:bodyPr wrap="square" lIns="22860" rIns="22860" tIns="0" bIns="0">
            <a:spAutoFit/>
          </a:bodyPr>
          <a:lstStyle/>
          <a:p>
            <a:pPr>
              <a:spcAft>
                <a:spcPts val="600"/>
              </a:spcAft>
              <a:defRPr sz="1100" b="0">
                <a:solidFill>
                  <a:srgbClr val="111111"/>
                </a:solidFill>
                <a:latin typeface="Microsoft YaHei"/>
              </a:defRPr>
            </a:pPr>
            <a:r>
              <a:t>R–H</a:t>
            </a:r>
          </a:p>
          <a:p>
            <a:pPr>
              <a:spcAft>
                <a:spcPts val="600"/>
              </a:spcAft>
              <a:defRPr sz="1100" b="0">
                <a:solidFill>
                  <a:srgbClr val="111111"/>
                </a:solidFill>
                <a:latin typeface="Microsoft YaHei"/>
              </a:defRPr>
            </a:pPr>
            <a:r>
              <a:t>HAT / ET</a:t>
            </a:r>
          </a:p>
        </p:txBody>
      </p:sp>
      <p:sp>
        <p:nvSpPr>
          <p:cNvPr id="21" name="TextBox 20"/>
          <p:cNvSpPr txBox="1"/>
          <p:nvPr/>
        </p:nvSpPr>
        <p:spPr>
          <a:xfrm>
            <a:off x="521207" y="2980944"/>
            <a:ext cx="502920" cy="292608"/>
          </a:xfrm>
          <a:prstGeom prst="rect">
            <a:avLst/>
          </a:prstGeom>
          <a:noFill/>
          <a:effectLst/>
        </p:spPr>
        <p:txBody>
          <a:bodyPr wrap="square" lIns="22860" rIns="22860" tIns="0" bIns="0">
            <a:spAutoFit/>
          </a:bodyPr>
          <a:lstStyle/>
          <a:p>
            <a:pPr>
              <a:spcAft>
                <a:spcPts val="600"/>
              </a:spcAft>
              <a:defRPr sz="1600" b="1">
                <a:solidFill>
                  <a:srgbClr val="111111"/>
                </a:solidFill>
                <a:latin typeface="Microsoft YaHei"/>
              </a:defRPr>
            </a:pPr>
            <a:r>
              <a:t>O₂</a:t>
            </a:r>
          </a:p>
        </p:txBody>
      </p:sp>
      <p:sp>
        <p:nvSpPr>
          <p:cNvPr id="22" name="TextBox 21"/>
          <p:cNvSpPr txBox="1"/>
          <p:nvPr/>
        </p:nvSpPr>
        <p:spPr>
          <a:xfrm>
            <a:off x="448056" y="3520440"/>
            <a:ext cx="658368" cy="502920"/>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再氧化</a:t>
            </a:r>
          </a:p>
          <a:p>
            <a:pPr>
              <a:spcAft>
                <a:spcPts val="600"/>
              </a:spcAft>
              <a:defRPr sz="1000" b="0">
                <a:solidFill>
                  <a:srgbClr val="566273"/>
                </a:solidFill>
                <a:latin typeface="Microsoft YaHei"/>
              </a:defRPr>
            </a:pPr>
            <a:r>
              <a:t>恢复 AQ</a:t>
            </a:r>
          </a:p>
        </p:txBody>
      </p:sp>
      <p:sp>
        <p:nvSpPr>
          <p:cNvPr id="23" name="TextBox 22"/>
          <p:cNvSpPr txBox="1"/>
          <p:nvPr/>
        </p:nvSpPr>
        <p:spPr>
          <a:xfrm>
            <a:off x="1362456" y="3017520"/>
            <a:ext cx="1143000" cy="594360"/>
          </a:xfrm>
          <a:prstGeom prst="rect">
            <a:avLst/>
          </a:prstGeom>
          <a:noFill/>
          <a:effectLst/>
        </p:spPr>
        <p:txBody>
          <a:bodyPr wrap="square" lIns="22860" rIns="22860" tIns="0" bIns="0">
            <a:spAutoFit/>
          </a:bodyPr>
          <a:lstStyle/>
          <a:p>
            <a:pPr algn="ctr">
              <a:spcAft>
                <a:spcPts val="600"/>
              </a:spcAft>
              <a:defRPr sz="1600" b="1">
                <a:solidFill>
                  <a:srgbClr val="111111"/>
                </a:solidFill>
                <a:latin typeface="Microsoft YaHei"/>
              </a:defRPr>
            </a:pPr>
            <a:r>
              <a:t>攫氢</a:t>
            </a:r>
          </a:p>
          <a:p>
            <a:pPr algn="ctr">
              <a:spcAft>
                <a:spcPts val="600"/>
              </a:spcAft>
              <a:defRPr sz="1600" b="1">
                <a:solidFill>
                  <a:srgbClr val="111111"/>
                </a:solidFill>
                <a:latin typeface="Microsoft YaHei"/>
              </a:defRPr>
            </a:pPr>
            <a:r>
              <a:t>再生</a:t>
            </a:r>
          </a:p>
        </p:txBody>
      </p:sp>
      <p:sp>
        <p:nvSpPr>
          <p:cNvPr id="24" name="TextBox 23"/>
          <p:cNvSpPr txBox="1"/>
          <p:nvPr/>
        </p:nvSpPr>
        <p:spPr>
          <a:xfrm>
            <a:off x="694944" y="4937760"/>
            <a:ext cx="2834640" cy="457200"/>
          </a:xfrm>
          <a:prstGeom prst="rect">
            <a:avLst/>
          </a:prstGeom>
          <a:noFill/>
          <a:effectLst/>
        </p:spPr>
        <p:txBody>
          <a:bodyPr wrap="square" lIns="22860" rIns="22860" tIns="0" bIns="0">
            <a:spAutoFit/>
          </a:bodyPr>
          <a:lstStyle/>
          <a:p>
            <a:pPr>
              <a:spcAft>
                <a:spcPts val="600"/>
              </a:spcAft>
              <a:defRPr sz="1100" b="0">
                <a:solidFill>
                  <a:srgbClr val="566273"/>
                </a:solidFill>
                <a:latin typeface="Microsoft YaHei"/>
              </a:defRPr>
            </a:pPr>
            <a:r>
              <a:t>AQ* + O₂ → ROS ?</a:t>
            </a:r>
          </a:p>
          <a:p>
            <a:pPr>
              <a:spcAft>
                <a:spcPts val="600"/>
              </a:spcAft>
              <a:defRPr sz="1100" b="0">
                <a:solidFill>
                  <a:srgbClr val="566273"/>
                </a:solidFill>
                <a:latin typeface="Microsoft YaHei"/>
              </a:defRPr>
            </a:pPr>
            <a:r>
              <a:t>AQ* + DCE / 模型 → 竞争转化 ?</a:t>
            </a:r>
          </a:p>
        </p:txBody>
      </p:sp>
      <p:sp>
        <p:nvSpPr>
          <p:cNvPr id="25" name="Freeform 24"/>
          <p:cNvSpPr/>
          <p:nvPr/>
        </p:nvSpPr>
        <p:spPr>
          <a:xfrm>
            <a:off x="4956048" y="1920240"/>
            <a:ext cx="5212080" cy="173736"/>
          </a:xfrm>
          <a:custGeom>
            <a:avLst/>
            <a:gdLst/>
            <a:ahLst/>
            <a:cxnLst/>
            <a:rect l="l" t="t" r="r" b="b"/>
            <a:pathLst>
              <a:path w="5212080" h="173736">
                <a:moveTo>
                  <a:pt x="0" y="0"/>
                </a:moveTo>
                <a:lnTo>
                  <a:pt x="521208" y="173736"/>
                </a:lnTo>
                <a:lnTo>
                  <a:pt x="1042416" y="0"/>
                </a:lnTo>
                <a:lnTo>
                  <a:pt x="1563624" y="173736"/>
                </a:lnTo>
                <a:lnTo>
                  <a:pt x="2084831" y="0"/>
                </a:lnTo>
                <a:lnTo>
                  <a:pt x="2606040" y="173736"/>
                </a:lnTo>
                <a:lnTo>
                  <a:pt x="3127248" y="0"/>
                </a:lnTo>
                <a:lnTo>
                  <a:pt x="3648456" y="173736"/>
                </a:lnTo>
                <a:lnTo>
                  <a:pt x="4169664" y="0"/>
                </a:lnTo>
                <a:lnTo>
                  <a:pt x="4690872" y="173736"/>
                </a:lnTo>
                <a:lnTo>
                  <a:pt x="5212080" y="0"/>
                </a:lnTo>
              </a:path>
            </a:pathLst>
          </a:custGeom>
          <a:noFill/>
          <a:ln w="2286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6" name="Connector 25"/>
          <p:cNvCxnSpPr/>
          <p:nvPr/>
        </p:nvCxnSpPr>
        <p:spPr>
          <a:xfrm>
            <a:off x="5477256" y="209397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7" name="TextBox 26"/>
          <p:cNvSpPr txBox="1"/>
          <p:nvPr/>
        </p:nvSpPr>
        <p:spPr>
          <a:xfrm>
            <a:off x="5349240" y="249631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28" name="Connector 27"/>
          <p:cNvCxnSpPr/>
          <p:nvPr/>
        </p:nvCxnSpPr>
        <p:spPr>
          <a:xfrm>
            <a:off x="6519672" y="209397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6391656" y="249631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30" name="Connector 29"/>
          <p:cNvCxnSpPr/>
          <p:nvPr/>
        </p:nvCxnSpPr>
        <p:spPr>
          <a:xfrm>
            <a:off x="7562088" y="209397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1" name="TextBox 30"/>
          <p:cNvSpPr txBox="1"/>
          <p:nvPr/>
        </p:nvSpPr>
        <p:spPr>
          <a:xfrm>
            <a:off x="7434071" y="249631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32" name="Connector 31"/>
          <p:cNvCxnSpPr/>
          <p:nvPr/>
        </p:nvCxnSpPr>
        <p:spPr>
          <a:xfrm>
            <a:off x="8604504" y="209397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3" name="TextBox 32"/>
          <p:cNvSpPr txBox="1"/>
          <p:nvPr/>
        </p:nvSpPr>
        <p:spPr>
          <a:xfrm>
            <a:off x="8476488" y="249631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34" name="Connector 33"/>
          <p:cNvCxnSpPr/>
          <p:nvPr/>
        </p:nvCxnSpPr>
        <p:spPr>
          <a:xfrm>
            <a:off x="9646920" y="209397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5" name="TextBox 34"/>
          <p:cNvSpPr txBox="1"/>
          <p:nvPr/>
        </p:nvSpPr>
        <p:spPr>
          <a:xfrm>
            <a:off x="9518904" y="249631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sp>
        <p:nvSpPr>
          <p:cNvPr id="36" name="TextBox 35"/>
          <p:cNvSpPr txBox="1"/>
          <p:nvPr/>
        </p:nvSpPr>
        <p:spPr>
          <a:xfrm>
            <a:off x="4709160" y="1892808"/>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37" name="TextBox 36"/>
          <p:cNvSpPr txBox="1"/>
          <p:nvPr/>
        </p:nvSpPr>
        <p:spPr>
          <a:xfrm>
            <a:off x="10213848" y="1892808"/>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38" name="TextBox 37"/>
          <p:cNvSpPr txBox="1"/>
          <p:nvPr/>
        </p:nvSpPr>
        <p:spPr>
          <a:xfrm>
            <a:off x="4453128" y="2935224"/>
            <a:ext cx="2286000" cy="301752"/>
          </a:xfrm>
          <a:prstGeom prst="rect">
            <a:avLst/>
          </a:prstGeom>
          <a:noFill/>
          <a:effectLst/>
        </p:spPr>
        <p:txBody>
          <a:bodyPr wrap="square" lIns="22860" rIns="22860" tIns="0" bIns="0">
            <a:spAutoFit/>
          </a:bodyPr>
          <a:lstStyle/>
          <a:p>
            <a:pPr>
              <a:spcAft>
                <a:spcPts val="600"/>
              </a:spcAft>
              <a:defRPr sz="1600" b="0">
                <a:solidFill>
                  <a:srgbClr val="063584"/>
                </a:solidFill>
                <a:latin typeface="Microsoft YaHei"/>
              </a:defRPr>
            </a:pPr>
            <a:r>
              <a:t>AQ* 攫氢 ?</a:t>
            </a:r>
          </a:p>
        </p:txBody>
      </p:sp>
      <p:sp>
        <p:nvSpPr>
          <p:cNvPr id="39" name="TextBox 38"/>
          <p:cNvSpPr txBox="1"/>
          <p:nvPr/>
        </p:nvSpPr>
        <p:spPr>
          <a:xfrm>
            <a:off x="9153144" y="2935224"/>
            <a:ext cx="2240280" cy="301752"/>
          </a:xfrm>
          <a:prstGeom prst="rect">
            <a:avLst/>
          </a:prstGeom>
          <a:noFill/>
          <a:effectLst/>
        </p:spPr>
        <p:txBody>
          <a:bodyPr wrap="square" lIns="22860" rIns="22860" tIns="0" bIns="0">
            <a:spAutoFit/>
          </a:bodyPr>
          <a:lstStyle/>
          <a:p>
            <a:pPr>
              <a:spcAft>
                <a:spcPts val="600"/>
              </a:spcAft>
              <a:defRPr sz="1600" b="0">
                <a:solidFill>
                  <a:srgbClr val="063584"/>
                </a:solidFill>
                <a:latin typeface="Microsoft YaHei"/>
              </a:defRPr>
            </a:pPr>
            <a:r>
              <a:t>C–Cl 活化 ?</a:t>
            </a:r>
          </a:p>
        </p:txBody>
      </p:sp>
      <p:cxnSp>
        <p:nvCxnSpPr>
          <p:cNvPr id="40" name="Connector 39"/>
          <p:cNvCxnSpPr/>
          <p:nvPr/>
        </p:nvCxnSpPr>
        <p:spPr>
          <a:xfrm flipH="1">
            <a:off x="5916168" y="2752344"/>
            <a:ext cx="484632" cy="521208"/>
          </a:xfrm>
          <a:prstGeom prst="line">
            <a:avLst/>
          </a:prstGeom>
          <a:ln w="17780">
            <a:solidFill>
              <a:srgbClr val="06358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41" name="Connector 40"/>
          <p:cNvCxnSpPr/>
          <p:nvPr/>
        </p:nvCxnSpPr>
        <p:spPr>
          <a:xfrm>
            <a:off x="9902952" y="2752344"/>
            <a:ext cx="484632" cy="521208"/>
          </a:xfrm>
          <a:prstGeom prst="line">
            <a:avLst/>
          </a:prstGeom>
          <a:ln w="17780">
            <a:solidFill>
              <a:srgbClr val="06358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sp>
        <p:nvSpPr>
          <p:cNvPr id="42" name="TextBox 41"/>
          <p:cNvSpPr txBox="1"/>
          <p:nvPr/>
        </p:nvSpPr>
        <p:spPr>
          <a:xfrm>
            <a:off x="5358384" y="3355848"/>
            <a:ext cx="1188720" cy="411480"/>
          </a:xfrm>
          <a:prstGeom prst="rect">
            <a:avLst/>
          </a:prstGeom>
          <a:noFill/>
          <a:effectLst/>
        </p:spPr>
        <p:txBody>
          <a:bodyPr wrap="square" lIns="22860" rIns="22860" tIns="0" bIns="0">
            <a:spAutoFit/>
          </a:bodyPr>
          <a:lstStyle/>
          <a:p>
            <a:pPr algn="ctr">
              <a:spcAft>
                <a:spcPts val="600"/>
              </a:spcAft>
              <a:defRPr sz="2900" b="1">
                <a:solidFill>
                  <a:srgbClr val="111111"/>
                </a:solidFill>
                <a:latin typeface="Microsoft YaHei"/>
              </a:defRPr>
            </a:pPr>
            <a:r>
              <a:t>R·</a:t>
            </a:r>
          </a:p>
        </p:txBody>
      </p:sp>
      <p:sp>
        <p:nvSpPr>
          <p:cNvPr id="43" name="TextBox 42"/>
          <p:cNvSpPr txBox="1"/>
          <p:nvPr/>
        </p:nvSpPr>
        <p:spPr>
          <a:xfrm>
            <a:off x="9976104" y="3355848"/>
            <a:ext cx="1371600" cy="411480"/>
          </a:xfrm>
          <a:prstGeom prst="rect">
            <a:avLst/>
          </a:prstGeom>
          <a:noFill/>
          <a:effectLst/>
        </p:spPr>
        <p:txBody>
          <a:bodyPr wrap="square" lIns="22860" rIns="22860" tIns="0" bIns="0">
            <a:spAutoFit/>
          </a:bodyPr>
          <a:lstStyle/>
          <a:p>
            <a:pPr algn="ctr">
              <a:spcAft>
                <a:spcPts val="600"/>
              </a:spcAft>
              <a:defRPr sz="2600" b="1">
                <a:solidFill>
                  <a:srgbClr val="C00000"/>
                </a:solidFill>
                <a:latin typeface="Microsoft YaHei"/>
              </a:defRPr>
            </a:pPr>
            <a:r>
              <a:t>Cl· ?</a:t>
            </a:r>
          </a:p>
        </p:txBody>
      </p:sp>
      <p:cxnSp>
        <p:nvCxnSpPr>
          <p:cNvPr id="44" name="Connector 43"/>
          <p:cNvCxnSpPr/>
          <p:nvPr/>
        </p:nvCxnSpPr>
        <p:spPr>
          <a:xfrm flipH="1">
            <a:off x="6830568" y="3584448"/>
            <a:ext cx="2688336" cy="0"/>
          </a:xfrm>
          <a:prstGeom prst="line">
            <a:avLst/>
          </a:prstGeom>
          <a:ln w="17780">
            <a:solidFill>
              <a:srgbClr val="C00000"/>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sp>
        <p:nvSpPr>
          <p:cNvPr id="45" name="TextBox 44"/>
          <p:cNvSpPr txBox="1"/>
          <p:nvPr/>
        </p:nvSpPr>
        <p:spPr>
          <a:xfrm>
            <a:off x="7406640" y="3200400"/>
            <a:ext cx="1508760" cy="274320"/>
          </a:xfrm>
          <a:prstGeom prst="rect">
            <a:avLst/>
          </a:prstGeom>
          <a:noFill/>
          <a:effectLst/>
        </p:spPr>
        <p:txBody>
          <a:bodyPr wrap="square" lIns="22860" rIns="22860" tIns="0" bIns="0">
            <a:spAutoFit/>
          </a:bodyPr>
          <a:lstStyle/>
          <a:p>
            <a:pPr algn="ctr">
              <a:spcAft>
                <a:spcPts val="600"/>
              </a:spcAft>
              <a:defRPr sz="1600" b="1">
                <a:solidFill>
                  <a:srgbClr val="C00000"/>
                </a:solidFill>
                <a:latin typeface="Microsoft YaHei"/>
              </a:defRPr>
            </a:pPr>
            <a:r>
              <a:t>HAT ?</a:t>
            </a:r>
          </a:p>
        </p:txBody>
      </p:sp>
      <p:sp>
        <p:nvSpPr>
          <p:cNvPr id="46" name="TextBox 45"/>
          <p:cNvSpPr txBox="1"/>
          <p:nvPr/>
        </p:nvSpPr>
        <p:spPr>
          <a:xfrm>
            <a:off x="6949440" y="3767328"/>
            <a:ext cx="2697480" cy="237744"/>
          </a:xfrm>
          <a:prstGeom prst="rect">
            <a:avLst/>
          </a:prstGeom>
          <a:noFill/>
          <a:effectLst/>
        </p:spPr>
        <p:txBody>
          <a:bodyPr wrap="square" lIns="22860" rIns="22860" tIns="0" bIns="0">
            <a:spAutoFit/>
          </a:bodyPr>
          <a:lstStyle/>
          <a:p>
            <a:pPr algn="ctr">
              <a:spcAft>
                <a:spcPts val="600"/>
              </a:spcAft>
              <a:defRPr sz="1100" b="0">
                <a:solidFill>
                  <a:srgbClr val="566273"/>
                </a:solidFill>
                <a:latin typeface="Microsoft YaHei"/>
              </a:defRPr>
            </a:pPr>
            <a:r>
              <a:t>Cl· + R–H → HCl + R·</a:t>
            </a:r>
          </a:p>
        </p:txBody>
      </p:sp>
      <p:cxnSp>
        <p:nvCxnSpPr>
          <p:cNvPr id="47" name="Connector 46"/>
          <p:cNvCxnSpPr/>
          <p:nvPr/>
        </p:nvCxnSpPr>
        <p:spPr>
          <a:xfrm>
            <a:off x="5925312" y="3886200"/>
            <a:ext cx="0" cy="301752"/>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48" name="TextBox 47"/>
          <p:cNvSpPr txBox="1"/>
          <p:nvPr/>
        </p:nvSpPr>
        <p:spPr>
          <a:xfrm>
            <a:off x="6190488" y="3941063"/>
            <a:ext cx="822960" cy="265176"/>
          </a:xfrm>
          <a:prstGeom prst="rect">
            <a:avLst/>
          </a:prstGeom>
          <a:noFill/>
          <a:effectLst/>
        </p:spPr>
        <p:txBody>
          <a:bodyPr wrap="square" lIns="22860" rIns="22860" tIns="0" bIns="0">
            <a:spAutoFit/>
          </a:bodyPr>
          <a:lstStyle/>
          <a:p>
            <a:pPr>
              <a:spcAft>
                <a:spcPts val="600"/>
              </a:spcAft>
              <a:defRPr sz="1400" b="0">
                <a:solidFill>
                  <a:srgbClr val="111111"/>
                </a:solidFill>
                <a:latin typeface="Microsoft YaHei"/>
              </a:defRPr>
            </a:pPr>
            <a:r>
              <a:t>+ O₂</a:t>
            </a:r>
          </a:p>
        </p:txBody>
      </p:sp>
      <p:sp>
        <p:nvSpPr>
          <p:cNvPr id="49" name="TextBox 48"/>
          <p:cNvSpPr txBox="1"/>
          <p:nvPr/>
        </p:nvSpPr>
        <p:spPr>
          <a:xfrm>
            <a:off x="5084064" y="4315968"/>
            <a:ext cx="1691640" cy="393192"/>
          </a:xfrm>
          <a:prstGeom prst="rect">
            <a:avLst/>
          </a:prstGeom>
          <a:noFill/>
          <a:effectLst/>
        </p:spPr>
        <p:txBody>
          <a:bodyPr wrap="square" lIns="22860" rIns="22860" tIns="0" bIns="0">
            <a:spAutoFit/>
          </a:bodyPr>
          <a:lstStyle/>
          <a:p>
            <a:pPr algn="ctr">
              <a:spcAft>
                <a:spcPts val="600"/>
              </a:spcAft>
              <a:defRPr sz="2300" b="1">
                <a:solidFill>
                  <a:srgbClr val="111111"/>
                </a:solidFill>
                <a:latin typeface="Microsoft YaHei"/>
              </a:defRPr>
            </a:pPr>
            <a:r>
              <a:t>ROO·</a:t>
            </a:r>
          </a:p>
        </p:txBody>
      </p:sp>
      <p:cxnSp>
        <p:nvCxnSpPr>
          <p:cNvPr id="50" name="Connector 49"/>
          <p:cNvCxnSpPr/>
          <p:nvPr/>
        </p:nvCxnSpPr>
        <p:spPr>
          <a:xfrm>
            <a:off x="6839712" y="4526280"/>
            <a:ext cx="429768" cy="0"/>
          </a:xfrm>
          <a:prstGeom prst="line">
            <a:avLst/>
          </a:prstGeom>
          <a:ln w="16510">
            <a:solidFill>
              <a:srgbClr val="06358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sp>
        <p:nvSpPr>
          <p:cNvPr id="51" name="TextBox 50"/>
          <p:cNvSpPr txBox="1"/>
          <p:nvPr/>
        </p:nvSpPr>
        <p:spPr>
          <a:xfrm>
            <a:off x="7351775" y="4315968"/>
            <a:ext cx="1828800" cy="393192"/>
          </a:xfrm>
          <a:prstGeom prst="rect">
            <a:avLst/>
          </a:prstGeom>
          <a:noFill/>
          <a:effectLst/>
        </p:spPr>
        <p:txBody>
          <a:bodyPr wrap="square" lIns="22860" rIns="22860" tIns="0" bIns="0">
            <a:spAutoFit/>
          </a:bodyPr>
          <a:lstStyle/>
          <a:p>
            <a:pPr algn="ctr">
              <a:spcAft>
                <a:spcPts val="600"/>
              </a:spcAft>
              <a:defRPr sz="2300" b="1">
                <a:solidFill>
                  <a:srgbClr val="111111"/>
                </a:solidFill>
                <a:latin typeface="Microsoft YaHei"/>
              </a:defRPr>
            </a:pPr>
            <a:r>
              <a:t>ROOH</a:t>
            </a:r>
          </a:p>
        </p:txBody>
      </p:sp>
      <p:cxnSp>
        <p:nvCxnSpPr>
          <p:cNvPr id="52" name="Connector 51"/>
          <p:cNvCxnSpPr/>
          <p:nvPr/>
        </p:nvCxnSpPr>
        <p:spPr>
          <a:xfrm>
            <a:off x="9226296" y="4526280"/>
            <a:ext cx="429768" cy="0"/>
          </a:xfrm>
          <a:prstGeom prst="line">
            <a:avLst/>
          </a:prstGeom>
          <a:ln w="16510">
            <a:solidFill>
              <a:srgbClr val="06358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sp>
        <p:nvSpPr>
          <p:cNvPr id="53" name="TextBox 52"/>
          <p:cNvSpPr txBox="1"/>
          <p:nvPr/>
        </p:nvSpPr>
        <p:spPr>
          <a:xfrm>
            <a:off x="9784080" y="4315968"/>
            <a:ext cx="1645920" cy="393192"/>
          </a:xfrm>
          <a:prstGeom prst="rect">
            <a:avLst/>
          </a:prstGeom>
          <a:noFill/>
          <a:effectLst/>
        </p:spPr>
        <p:txBody>
          <a:bodyPr wrap="square" lIns="22860" rIns="22860" tIns="0" bIns="0">
            <a:spAutoFit/>
          </a:bodyPr>
          <a:lstStyle/>
          <a:p>
            <a:pPr algn="ctr">
              <a:spcAft>
                <a:spcPts val="600"/>
              </a:spcAft>
              <a:defRPr sz="2300" b="1">
                <a:solidFill>
                  <a:srgbClr val="111111"/>
                </a:solidFill>
                <a:latin typeface="Microsoft YaHei"/>
              </a:defRPr>
            </a:pPr>
            <a:r>
              <a:t>RO·</a:t>
            </a:r>
          </a:p>
        </p:txBody>
      </p:sp>
      <p:sp>
        <p:nvSpPr>
          <p:cNvPr id="54" name="TextBox 53"/>
          <p:cNvSpPr txBox="1"/>
          <p:nvPr/>
        </p:nvSpPr>
        <p:spPr>
          <a:xfrm>
            <a:off x="9299448" y="4937760"/>
            <a:ext cx="1920240" cy="228600"/>
          </a:xfrm>
          <a:prstGeom prst="rect">
            <a:avLst/>
          </a:prstGeom>
          <a:noFill/>
          <a:effectLst/>
        </p:spPr>
        <p:txBody>
          <a:bodyPr wrap="square" lIns="22860" rIns="22860" tIns="0" bIns="0">
            <a:spAutoFit/>
          </a:bodyPr>
          <a:lstStyle/>
          <a:p>
            <a:pPr algn="ctr">
              <a:spcAft>
                <a:spcPts val="600"/>
              </a:spcAft>
              <a:defRPr sz="1200" b="1">
                <a:solidFill>
                  <a:srgbClr val="063584"/>
                </a:solidFill>
                <a:latin typeface="Microsoft YaHei"/>
              </a:defRPr>
            </a:pPr>
            <a:r>
              <a:t>后续 β-裂解 ?</a:t>
            </a:r>
          </a:p>
        </p:txBody>
      </p:sp>
      <p:sp>
        <p:nvSpPr>
          <p:cNvPr id="55" name="TextBox 54"/>
          <p:cNvSpPr txBox="1"/>
          <p:nvPr/>
        </p:nvSpPr>
        <p:spPr>
          <a:xfrm>
            <a:off x="4389120" y="5358384"/>
            <a:ext cx="7132320" cy="283464"/>
          </a:xfrm>
          <a:prstGeom prst="rect">
            <a:avLst/>
          </a:prstGeom>
          <a:noFill/>
          <a:effectLst/>
        </p:spPr>
        <p:txBody>
          <a:bodyPr wrap="square" lIns="22860" rIns="22860" tIns="0" bIns="0">
            <a:spAutoFit/>
          </a:bodyPr>
          <a:lstStyle/>
          <a:p>
            <a:pPr algn="ctr">
              <a:spcAft>
                <a:spcPts val="600"/>
              </a:spcAft>
              <a:defRPr sz="1600" b="1">
                <a:solidFill>
                  <a:srgbClr val="111111"/>
                </a:solidFill>
                <a:latin typeface="Microsoft YaHei"/>
              </a:defRPr>
            </a:pPr>
            <a:r>
              <a:t>R¹–CH(O·)–CH₂–R² → R¹–CHO + ·CH₂–R²</a:t>
            </a:r>
          </a:p>
        </p:txBody>
      </p:sp>
      <p:sp>
        <p:nvSpPr>
          <p:cNvPr id="56" name="Rectangle 55"/>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Chevron 56"/>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TextBox 57"/>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59" name="TextBox 58"/>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工作假说不等于已证实循环；需区分供氢体、ROS、含氯物种与链裂解的实际贡献。</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前期探索：2-氯戊烷实验先检验局部含氯位点的反应</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实际已开展：2-氯戊烷 / EAQ / DCE，365 nm，6 h，比较四种气氛；其余参数不擅自补全</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实验条件：用户原始 PPT，第8页；装置为可编辑示意，非照片。</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10</a:t>
            </a:r>
          </a:p>
        </p:txBody>
      </p:sp>
      <p:sp>
        <p:nvSpPr>
          <p:cNvPr id="7" name="Rounded Rectangle 6"/>
          <p:cNvSpPr/>
          <p:nvPr/>
        </p:nvSpPr>
        <p:spPr>
          <a:xfrm>
            <a:off x="438912" y="1417320"/>
            <a:ext cx="3950208"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3895344"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3657600"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底物、介质与反应装置</a:t>
            </a:r>
          </a:p>
        </p:txBody>
      </p:sp>
      <p:sp>
        <p:nvSpPr>
          <p:cNvPr id="10" name="TextBox 9"/>
          <p:cNvSpPr txBox="1"/>
          <p:nvPr/>
        </p:nvSpPr>
        <p:spPr>
          <a:xfrm>
            <a:off x="649224" y="1929384"/>
            <a:ext cx="3538728" cy="384048"/>
          </a:xfrm>
          <a:prstGeom prst="rect">
            <a:avLst/>
          </a:prstGeom>
          <a:noFill/>
          <a:effectLst/>
        </p:spPr>
        <p:txBody>
          <a:bodyPr wrap="square" lIns="22860" rIns="22860" tIns="0" bIns="0">
            <a:spAutoFit/>
          </a:bodyPr>
          <a:lstStyle/>
          <a:p>
            <a:pPr>
              <a:spcAft>
                <a:spcPts val="600"/>
              </a:spcAft>
              <a:defRPr sz="1900" b="1">
                <a:solidFill>
                  <a:srgbClr val="111111"/>
                </a:solidFill>
                <a:latin typeface="Microsoft YaHei"/>
              </a:defRPr>
            </a:pPr>
            <a:r>
              <a:t>CH₃–CH(Cl)–CH₂–CH₂–CH₃</a:t>
            </a:r>
          </a:p>
        </p:txBody>
      </p:sp>
      <p:sp>
        <p:nvSpPr>
          <p:cNvPr id="11" name="TextBox 10"/>
          <p:cNvSpPr txBox="1"/>
          <p:nvPr/>
        </p:nvSpPr>
        <p:spPr>
          <a:xfrm>
            <a:off x="649224" y="2551176"/>
            <a:ext cx="3538728" cy="301752"/>
          </a:xfrm>
          <a:prstGeom prst="rect">
            <a:avLst/>
          </a:prstGeom>
          <a:noFill/>
          <a:effectLst/>
        </p:spPr>
        <p:txBody>
          <a:bodyPr wrap="square" lIns="22860" rIns="22860" tIns="0" bIns="0">
            <a:spAutoFit/>
          </a:bodyPr>
          <a:lstStyle/>
          <a:p>
            <a:pPr>
              <a:spcAft>
                <a:spcPts val="600"/>
              </a:spcAft>
              <a:defRPr sz="1500" b="1">
                <a:solidFill>
                  <a:srgbClr val="063584"/>
                </a:solidFill>
                <a:latin typeface="Microsoft YaHei"/>
              </a:defRPr>
            </a:pPr>
            <a:r>
              <a:t>底物：2-氯戊烷</a:t>
            </a:r>
          </a:p>
        </p:txBody>
      </p:sp>
      <p:sp>
        <p:nvSpPr>
          <p:cNvPr id="12" name="TextBox 11"/>
          <p:cNvSpPr txBox="1"/>
          <p:nvPr/>
        </p:nvSpPr>
        <p:spPr>
          <a:xfrm>
            <a:off x="649224" y="2999232"/>
            <a:ext cx="3538728" cy="384048"/>
          </a:xfrm>
          <a:prstGeom prst="rect">
            <a:avLst/>
          </a:prstGeom>
          <a:noFill/>
          <a:effectLst/>
        </p:spPr>
        <p:txBody>
          <a:bodyPr wrap="square" lIns="22860" rIns="22860" tIns="0" bIns="0">
            <a:spAutoFit/>
          </a:bodyPr>
          <a:lstStyle/>
          <a:p>
            <a:pPr>
              <a:spcAft>
                <a:spcPts val="600"/>
              </a:spcAft>
              <a:defRPr sz="2300" b="1">
                <a:solidFill>
                  <a:srgbClr val="111111"/>
                </a:solidFill>
                <a:latin typeface="Microsoft YaHei"/>
              </a:defRPr>
            </a:pPr>
            <a:r>
              <a:t>Cl–CH₂–CH₂–Cl</a:t>
            </a:r>
          </a:p>
        </p:txBody>
      </p:sp>
      <p:sp>
        <p:nvSpPr>
          <p:cNvPr id="13" name="TextBox 12"/>
          <p:cNvSpPr txBox="1"/>
          <p:nvPr/>
        </p:nvSpPr>
        <p:spPr>
          <a:xfrm>
            <a:off x="649224" y="3529584"/>
            <a:ext cx="3538728" cy="301752"/>
          </a:xfrm>
          <a:prstGeom prst="rect">
            <a:avLst/>
          </a:prstGeom>
          <a:noFill/>
          <a:effectLst/>
        </p:spPr>
        <p:txBody>
          <a:bodyPr wrap="square" lIns="22860" rIns="22860" tIns="0" bIns="0">
            <a:spAutoFit/>
          </a:bodyPr>
          <a:lstStyle/>
          <a:p>
            <a:pPr>
              <a:spcAft>
                <a:spcPts val="600"/>
              </a:spcAft>
              <a:defRPr sz="1500" b="1">
                <a:solidFill>
                  <a:srgbClr val="063584"/>
                </a:solidFill>
                <a:latin typeface="Microsoft YaHei"/>
              </a:defRPr>
            </a:pPr>
            <a:r>
              <a:t>介质：1,2-二氯乙烷（DCE）</a:t>
            </a:r>
          </a:p>
        </p:txBody>
      </p:sp>
      <p:sp>
        <p:nvSpPr>
          <p:cNvPr id="14" name="Rectangle 13"/>
          <p:cNvSpPr/>
          <p:nvPr/>
        </p:nvSpPr>
        <p:spPr>
          <a:xfrm>
            <a:off x="941832" y="4133087"/>
            <a:ext cx="402336" cy="896112"/>
          </a:xfrm>
          <a:prstGeom prst="rect">
            <a:avLst/>
          </a:prstGeom>
          <a:solidFill>
            <a:srgbClr val="FFFFFF"/>
          </a:solidFill>
          <a:ln w="16510">
            <a:solidFill>
              <a:srgbClr val="8EA4C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941832" y="4599432"/>
            <a:ext cx="402336" cy="429768"/>
          </a:xfrm>
          <a:prstGeom prst="rect">
            <a:avLst/>
          </a:prstGeom>
          <a:solidFill>
            <a:srgbClr val="DCE7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914400" y="4032504"/>
            <a:ext cx="457200" cy="109728"/>
          </a:xfrm>
          <a:prstGeom prst="rect">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 name="Connector 16"/>
          <p:cNvCxnSpPr/>
          <p:nvPr/>
        </p:nvCxnSpPr>
        <p:spPr>
          <a:xfrm flipV="1">
            <a:off x="1143000" y="5138928"/>
            <a:ext cx="0" cy="310896"/>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8" name="Rectangle 17"/>
          <p:cNvSpPr/>
          <p:nvPr/>
        </p:nvSpPr>
        <p:spPr>
          <a:xfrm>
            <a:off x="1920240" y="4133087"/>
            <a:ext cx="402336" cy="896112"/>
          </a:xfrm>
          <a:prstGeom prst="rect">
            <a:avLst/>
          </a:prstGeom>
          <a:solidFill>
            <a:srgbClr val="FFFFFF"/>
          </a:solidFill>
          <a:ln w="16510">
            <a:solidFill>
              <a:srgbClr val="8EA4C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1920240" y="4599432"/>
            <a:ext cx="402336" cy="429768"/>
          </a:xfrm>
          <a:prstGeom prst="rect">
            <a:avLst/>
          </a:prstGeom>
          <a:solidFill>
            <a:srgbClr val="DCE7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1892808" y="4032504"/>
            <a:ext cx="457200" cy="109728"/>
          </a:xfrm>
          <a:prstGeom prst="rect">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1" name="Connector 20"/>
          <p:cNvCxnSpPr/>
          <p:nvPr/>
        </p:nvCxnSpPr>
        <p:spPr>
          <a:xfrm flipV="1">
            <a:off x="2121408" y="5138928"/>
            <a:ext cx="0" cy="310896"/>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2" name="Rectangle 21"/>
          <p:cNvSpPr/>
          <p:nvPr/>
        </p:nvSpPr>
        <p:spPr>
          <a:xfrm>
            <a:off x="2898648" y="4133087"/>
            <a:ext cx="402336" cy="896112"/>
          </a:xfrm>
          <a:prstGeom prst="rect">
            <a:avLst/>
          </a:prstGeom>
          <a:solidFill>
            <a:srgbClr val="FFFFFF"/>
          </a:solidFill>
          <a:ln w="16510">
            <a:solidFill>
              <a:srgbClr val="8EA4C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2898648" y="4599432"/>
            <a:ext cx="402336" cy="429768"/>
          </a:xfrm>
          <a:prstGeom prst="rect">
            <a:avLst/>
          </a:prstGeom>
          <a:solidFill>
            <a:srgbClr val="DCE7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ectangle 23"/>
          <p:cNvSpPr/>
          <p:nvPr/>
        </p:nvSpPr>
        <p:spPr>
          <a:xfrm>
            <a:off x="2871216" y="4032504"/>
            <a:ext cx="457200" cy="109728"/>
          </a:xfrm>
          <a:prstGeom prst="rect">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5" name="Connector 24"/>
          <p:cNvCxnSpPr/>
          <p:nvPr/>
        </p:nvCxnSpPr>
        <p:spPr>
          <a:xfrm flipV="1">
            <a:off x="3099816" y="5138928"/>
            <a:ext cx="0" cy="310896"/>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685800" y="5532120"/>
            <a:ext cx="3438144" cy="201168"/>
          </a:xfrm>
          <a:prstGeom prst="rect">
            <a:avLst/>
          </a:prstGeom>
          <a:noFill/>
          <a:effectLst/>
        </p:spPr>
        <p:txBody>
          <a:bodyPr wrap="square" lIns="22860" rIns="22860" tIns="0" bIns="0">
            <a:spAutoFit/>
          </a:bodyPr>
          <a:lstStyle/>
          <a:p>
            <a:pPr algn="ctr">
              <a:spcAft>
                <a:spcPts val="600"/>
              </a:spcAft>
              <a:defRPr sz="1200" b="0">
                <a:solidFill>
                  <a:srgbClr val="566273"/>
                </a:solidFill>
                <a:latin typeface="Microsoft YaHei"/>
              </a:defRPr>
            </a:pPr>
            <a:r>
              <a:t>光照 · 气氛控制 · 定时取样</a:t>
            </a:r>
          </a:p>
        </p:txBody>
      </p:sp>
      <p:sp>
        <p:nvSpPr>
          <p:cNvPr id="27" name="Rounded Rectangle 26"/>
          <p:cNvSpPr/>
          <p:nvPr/>
        </p:nvSpPr>
        <p:spPr>
          <a:xfrm>
            <a:off x="4599432" y="1417320"/>
            <a:ext cx="7040880" cy="335584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ounded Rectangle 27"/>
          <p:cNvSpPr/>
          <p:nvPr/>
        </p:nvSpPr>
        <p:spPr>
          <a:xfrm>
            <a:off x="4626864" y="1444752"/>
            <a:ext cx="698601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745736" y="1495044"/>
            <a:ext cx="674827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实际记录的实验条件</a:t>
            </a:r>
          </a:p>
        </p:txBody>
      </p:sp>
      <p:graphicFrame>
        <p:nvGraphicFramePr>
          <p:cNvPr id="30" name="Table 29"/>
          <p:cNvGraphicFramePr>
            <a:graphicFrameLocks noGrp="1"/>
          </p:cNvGraphicFramePr>
          <p:nvPr/>
        </p:nvGraphicFramePr>
        <p:xfrm>
          <a:off x="4736592" y="1947672"/>
          <a:ext cx="6766560" cy="2642616"/>
        </p:xfrm>
        <a:graphic>
          <a:graphicData uri="http://schemas.openxmlformats.org/drawingml/2006/table">
            <a:tbl>
              <a:tblPr firstRow="1" bandRow="1">
                <a:tableStyleId>{5C22544A-7EE6-4342-B048-85BDC9FD1C3A}</a:tableStyleId>
              </a:tblPr>
              <a:tblGrid>
                <a:gridCol w="1965960"/>
                <a:gridCol w="4800600"/>
              </a:tblGrid>
              <a:tr h="440436">
                <a:tc>
                  <a:txBody>
                    <a:bodyPr/>
                    <a:lstStyle/>
                    <a:p>
                      <a:pPr>
                        <a:defRPr sz="1500" b="1">
                          <a:solidFill>
                            <a:srgbClr val="FFFFFF"/>
                          </a:solidFill>
                          <a:latin typeface="Microsoft YaHei"/>
                        </a:defRPr>
                      </a:pPr>
                      <a:r>
                        <a:t>参数</a:t>
                      </a:r>
                    </a:p>
                  </a:txBody>
                  <a:tcPr marL="91440" marR="64008" marT="64008" marB="45720">
                    <a:solidFill>
                      <a:srgbClr val="063584"/>
                    </a:solidFill>
                  </a:tcPr>
                </a:tc>
                <a:tc>
                  <a:txBody>
                    <a:bodyPr/>
                    <a:lstStyle/>
                    <a:p>
                      <a:pPr>
                        <a:defRPr sz="1500" b="1">
                          <a:solidFill>
                            <a:srgbClr val="FFFFFF"/>
                          </a:solidFill>
                          <a:latin typeface="Microsoft YaHei"/>
                        </a:defRPr>
                      </a:pPr>
                      <a:r>
                        <a:t>已记录内容</a:t>
                      </a:r>
                    </a:p>
                  </a:txBody>
                  <a:tcPr marL="91440" marR="64008" marT="64008" marB="45720">
                    <a:solidFill>
                      <a:srgbClr val="063584"/>
                    </a:solidFill>
                  </a:tcPr>
                </a:tc>
              </a:tr>
              <a:tr h="440436">
                <a:tc>
                  <a:txBody>
                    <a:bodyPr/>
                    <a:lstStyle/>
                    <a:p>
                      <a:pPr>
                        <a:defRPr sz="1500" b="0">
                          <a:solidFill>
                            <a:srgbClr val="111111"/>
                          </a:solidFill>
                          <a:latin typeface="Microsoft YaHei"/>
                        </a:defRPr>
                      </a:pPr>
                      <a:r>
                        <a:t>底物用量</a:t>
                      </a:r>
                    </a:p>
                  </a:txBody>
                  <a:tcPr marL="91440" marR="64008" marT="64008" marB="45720">
                    <a:solidFill>
                      <a:srgbClr val="FFFFFF"/>
                    </a:solidFill>
                  </a:tcPr>
                </a:tc>
                <a:tc>
                  <a:txBody>
                    <a:bodyPr/>
                    <a:lstStyle/>
                    <a:p>
                      <a:pPr>
                        <a:defRPr sz="1500" b="0">
                          <a:solidFill>
                            <a:srgbClr val="111111"/>
                          </a:solidFill>
                          <a:latin typeface="Microsoft YaHei"/>
                        </a:defRPr>
                      </a:pPr>
                      <a:r>
                        <a:t>2-氯戊烷，0.5 mmol</a:t>
                      </a:r>
                    </a:p>
                  </a:txBody>
                  <a:tcPr marL="91440" marR="64008" marT="64008" marB="45720">
                    <a:solidFill>
                      <a:srgbClr val="FFFFFF"/>
                    </a:solidFill>
                  </a:tcPr>
                </a:tc>
              </a:tr>
              <a:tr h="440436">
                <a:tc>
                  <a:txBody>
                    <a:bodyPr/>
                    <a:lstStyle/>
                    <a:p>
                      <a:pPr>
                        <a:defRPr sz="1500" b="0">
                          <a:solidFill>
                            <a:srgbClr val="111111"/>
                          </a:solidFill>
                          <a:latin typeface="Microsoft YaHei"/>
                        </a:defRPr>
                      </a:pPr>
                      <a:r>
                        <a:t>光敏组分</a:t>
                      </a:r>
                    </a:p>
                  </a:txBody>
                  <a:tcPr marL="91440" marR="64008" marT="64008" marB="45720">
                    <a:solidFill>
                      <a:srgbClr val="EDF3FF"/>
                    </a:solidFill>
                  </a:tcPr>
                </a:tc>
                <a:tc>
                  <a:txBody>
                    <a:bodyPr/>
                    <a:lstStyle/>
                    <a:p>
                      <a:pPr>
                        <a:defRPr sz="1500" b="0">
                          <a:solidFill>
                            <a:srgbClr val="111111"/>
                          </a:solidFill>
                          <a:latin typeface="Microsoft YaHei"/>
                        </a:defRPr>
                      </a:pPr>
                      <a:r>
                        <a:t>乙基蒽醌，5 mg/mL</a:t>
                      </a:r>
                    </a:p>
                  </a:txBody>
                  <a:tcPr marL="91440" marR="64008" marT="64008" marB="45720">
                    <a:solidFill>
                      <a:srgbClr val="EDF3FF"/>
                    </a:solidFill>
                  </a:tcPr>
                </a:tc>
              </a:tr>
              <a:tr h="440436">
                <a:tc>
                  <a:txBody>
                    <a:bodyPr/>
                    <a:lstStyle/>
                    <a:p>
                      <a:pPr>
                        <a:defRPr sz="1500" b="0">
                          <a:solidFill>
                            <a:srgbClr val="111111"/>
                          </a:solidFill>
                          <a:latin typeface="Microsoft YaHei"/>
                        </a:defRPr>
                      </a:pPr>
                      <a:r>
                        <a:t>介质体积</a:t>
                      </a:r>
                    </a:p>
                  </a:txBody>
                  <a:tcPr marL="91440" marR="64008" marT="64008" marB="45720">
                    <a:solidFill>
                      <a:srgbClr val="FFFFFF"/>
                    </a:solidFill>
                  </a:tcPr>
                </a:tc>
                <a:tc>
                  <a:txBody>
                    <a:bodyPr/>
                    <a:lstStyle/>
                    <a:p>
                      <a:pPr>
                        <a:defRPr sz="1500" b="0">
                          <a:solidFill>
                            <a:srgbClr val="111111"/>
                          </a:solidFill>
                          <a:latin typeface="Microsoft YaHei"/>
                        </a:defRPr>
                      </a:pPr>
                      <a:r>
                        <a:t>DCE，4 mL</a:t>
                      </a:r>
                    </a:p>
                  </a:txBody>
                  <a:tcPr marL="91440" marR="64008" marT="64008" marB="45720">
                    <a:solidFill>
                      <a:srgbClr val="FFFFFF"/>
                    </a:solidFill>
                  </a:tcPr>
                </a:tc>
              </a:tr>
              <a:tr h="440436">
                <a:tc>
                  <a:txBody>
                    <a:bodyPr/>
                    <a:lstStyle/>
                    <a:p>
                      <a:pPr>
                        <a:defRPr sz="1500" b="0">
                          <a:solidFill>
                            <a:srgbClr val="111111"/>
                          </a:solidFill>
                          <a:latin typeface="Microsoft YaHei"/>
                        </a:defRPr>
                      </a:pPr>
                      <a:r>
                        <a:t>光源 / 时间</a:t>
                      </a:r>
                    </a:p>
                  </a:txBody>
                  <a:tcPr marL="91440" marR="64008" marT="64008" marB="45720">
                    <a:solidFill>
                      <a:srgbClr val="EDF3FF"/>
                    </a:solidFill>
                  </a:tcPr>
                </a:tc>
                <a:tc>
                  <a:txBody>
                    <a:bodyPr/>
                    <a:lstStyle/>
                    <a:p>
                      <a:pPr>
                        <a:defRPr sz="1500" b="0">
                          <a:solidFill>
                            <a:srgbClr val="111111"/>
                          </a:solidFill>
                          <a:latin typeface="Microsoft YaHei"/>
                        </a:defRPr>
                      </a:pPr>
                      <a:r>
                        <a:t>365 nm，6 h</a:t>
                      </a:r>
                    </a:p>
                  </a:txBody>
                  <a:tcPr marL="91440" marR="64008" marT="64008" marB="45720">
                    <a:solidFill>
                      <a:srgbClr val="EDF3FF"/>
                    </a:solidFill>
                  </a:tcPr>
                </a:tc>
              </a:tr>
              <a:tr h="440436">
                <a:tc>
                  <a:txBody>
                    <a:bodyPr/>
                    <a:lstStyle/>
                    <a:p>
                      <a:pPr>
                        <a:defRPr sz="1500" b="0">
                          <a:solidFill>
                            <a:srgbClr val="111111"/>
                          </a:solidFill>
                          <a:latin typeface="Microsoft YaHei"/>
                        </a:defRPr>
                      </a:pPr>
                      <a:r>
                        <a:t>气氛条件</a:t>
                      </a:r>
                    </a:p>
                  </a:txBody>
                  <a:tcPr marL="91440" marR="64008" marT="64008" marB="45720">
                    <a:solidFill>
                      <a:srgbClr val="FFFFFF"/>
                    </a:solidFill>
                  </a:tcPr>
                </a:tc>
                <a:tc>
                  <a:txBody>
                    <a:bodyPr/>
                    <a:lstStyle/>
                    <a:p>
                      <a:pPr>
                        <a:defRPr sz="1500" b="0">
                          <a:solidFill>
                            <a:srgbClr val="111111"/>
                          </a:solidFill>
                          <a:latin typeface="Microsoft YaHei"/>
                        </a:defRPr>
                      </a:pPr>
                      <a:r>
                        <a:t>O₂ / O₂ 鼓泡 / N₂ / 空气</a:t>
                      </a:r>
                    </a:p>
                  </a:txBody>
                  <a:tcPr marL="91440" marR="64008" marT="64008" marB="45720">
                    <a:solidFill>
                      <a:srgbClr val="FFFFFF"/>
                    </a:solidFill>
                  </a:tcPr>
                </a:tc>
              </a:tr>
            </a:tbl>
          </a:graphicData>
        </a:graphic>
      </p:graphicFrame>
      <p:sp>
        <p:nvSpPr>
          <p:cNvPr id="31" name="Rounded Rectangle 30"/>
          <p:cNvSpPr/>
          <p:nvPr/>
        </p:nvSpPr>
        <p:spPr>
          <a:xfrm>
            <a:off x="4599432" y="4974336"/>
            <a:ext cx="7040880" cy="77724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800600" y="5111496"/>
            <a:ext cx="6601968" cy="457200"/>
          </a:xfrm>
          <a:prstGeom prst="rect">
            <a:avLst/>
          </a:prstGeom>
          <a:noFill/>
          <a:effectLst/>
        </p:spPr>
        <p:txBody>
          <a:bodyPr wrap="square" lIns="22860" rIns="22860" tIns="0" bIns="0">
            <a:spAutoFit/>
          </a:bodyPr>
          <a:lstStyle/>
          <a:p>
            <a:pPr>
              <a:spcAft>
                <a:spcPts val="600"/>
              </a:spcAft>
              <a:defRPr sz="1400" b="1">
                <a:solidFill>
                  <a:srgbClr val="063584"/>
                </a:solidFill>
                <a:latin typeface="Microsoft YaHei"/>
              </a:defRPr>
            </a:pPr>
            <a:r>
              <a:t>光通量、实际温度、试剂身份及定量方法待核实；</a:t>
            </a:r>
          </a:p>
          <a:p>
            <a:pPr>
              <a:spcAft>
                <a:spcPts val="600"/>
              </a:spcAft>
              <a:defRPr sz="1400" b="1">
                <a:solidFill>
                  <a:srgbClr val="063584"/>
                </a:solidFill>
                <a:latin typeface="Microsoft YaHei"/>
              </a:defRPr>
            </a:pPr>
            <a:r>
              <a:t>常温常压是研究目标，不补写为已测量结果。</a:t>
            </a:r>
          </a:p>
        </p:txBody>
      </p:sp>
      <p:sp>
        <p:nvSpPr>
          <p:cNvPr id="33" name="Rectangle 32"/>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Chevron 33"/>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36" name="TextBox 35"/>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先保留真实条件与缺口，再判断所记录的转化率及产物信号。</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实验观察：已有转化记录，预期产物仍未得到可靠确认</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底物消耗、候选信号与目标产物收率属于不同证据层级，不相互替代</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数据：用户原始实验 PPT，第8页；候选结构与计算方法尚待复核。</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11</a:t>
            </a:r>
          </a:p>
        </p:txBody>
      </p:sp>
      <p:sp>
        <p:nvSpPr>
          <p:cNvPr id="7" name="Rounded Rectangle 6"/>
          <p:cNvSpPr/>
          <p:nvPr/>
        </p:nvSpPr>
        <p:spPr>
          <a:xfrm>
            <a:off x="438912" y="1417320"/>
            <a:ext cx="4727448" cy="3483864"/>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4672584"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4434840"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四种气氛下已记录的转化率 / %</a:t>
            </a:r>
          </a:p>
        </p:txBody>
      </p:sp>
      <p:graphicFrame>
        <p:nvGraphicFramePr>
          <p:cNvPr id="10" name="Chart 9"/>
          <p:cNvGraphicFramePr>
            <a:graphicFrameLocks noGrp="1"/>
          </p:cNvGraphicFramePr>
          <p:nvPr/>
        </p:nvGraphicFramePr>
        <p:xfrm>
          <a:off x="621792" y="1984248"/>
          <a:ext cx="4361688" cy="2670048"/>
        </p:xfrm>
        <a:graphic>
          <a:graphicData uri="http://schemas.openxmlformats.org/drawingml/2006/chart">
            <c:chart xmlns:c="http://schemas.openxmlformats.org/drawingml/2006/chart" r:id="rId2"/>
          </a:graphicData>
        </a:graphic>
      </p:graphicFrame>
      <p:sp>
        <p:nvSpPr>
          <p:cNvPr id="11" name="Rounded Rectangle 10"/>
          <p:cNvSpPr/>
          <p:nvPr/>
        </p:nvSpPr>
        <p:spPr>
          <a:xfrm>
            <a:off x="5376672" y="1417320"/>
            <a:ext cx="6263640" cy="3483864"/>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5404104" y="1444752"/>
            <a:ext cx="620877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5522976" y="1495044"/>
            <a:ext cx="597103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候选产物：原始定性记录</a:t>
            </a:r>
          </a:p>
        </p:txBody>
      </p:sp>
      <p:graphicFrame>
        <p:nvGraphicFramePr>
          <p:cNvPr id="14" name="Table 13"/>
          <p:cNvGraphicFramePr>
            <a:graphicFrameLocks noGrp="1"/>
          </p:cNvGraphicFramePr>
          <p:nvPr/>
        </p:nvGraphicFramePr>
        <p:xfrm>
          <a:off x="5504688" y="1947672"/>
          <a:ext cx="5998464" cy="2697480"/>
        </p:xfrm>
        <a:graphic>
          <a:graphicData uri="http://schemas.openxmlformats.org/drawingml/2006/table">
            <a:tbl>
              <a:tblPr firstRow="1" bandRow="1">
                <a:tableStyleId>{5C22544A-7EE6-4342-B048-85BDC9FD1C3A}</a:tableStyleId>
              </a:tblPr>
              <a:tblGrid>
                <a:gridCol w="2011680"/>
                <a:gridCol w="1188720"/>
                <a:gridCol w="1097280"/>
                <a:gridCol w="914400"/>
                <a:gridCol w="786384"/>
              </a:tblGrid>
              <a:tr h="385354">
                <a:tc>
                  <a:txBody>
                    <a:bodyPr/>
                    <a:lstStyle/>
                    <a:p>
                      <a:pPr>
                        <a:defRPr sz="1050" b="1">
                          <a:solidFill>
                            <a:srgbClr val="FFFFFF"/>
                          </a:solidFill>
                          <a:latin typeface="Microsoft YaHei"/>
                        </a:defRPr>
                      </a:pPr>
                      <a:r>
                        <a:t>条件</a:t>
                      </a:r>
                    </a:p>
                  </a:txBody>
                  <a:tcPr marL="91440" marR="64008" marT="64008" marB="45720">
                    <a:solidFill>
                      <a:srgbClr val="063584"/>
                    </a:solidFill>
                  </a:tcPr>
                </a:tc>
                <a:tc>
                  <a:txBody>
                    <a:bodyPr/>
                    <a:lstStyle/>
                    <a:p>
                      <a:pPr>
                        <a:defRPr sz="1050" b="1">
                          <a:solidFill>
                            <a:srgbClr val="FFFFFF"/>
                          </a:solidFill>
                          <a:latin typeface="Microsoft YaHei"/>
                        </a:defRPr>
                      </a:pPr>
                      <a:r>
                        <a:t>2,4-二氯戊烷</a:t>
                      </a:r>
                    </a:p>
                  </a:txBody>
                  <a:tcPr marL="91440" marR="64008" marT="64008" marB="45720">
                    <a:solidFill>
                      <a:srgbClr val="063584"/>
                    </a:solidFill>
                  </a:tcPr>
                </a:tc>
                <a:tc>
                  <a:txBody>
                    <a:bodyPr/>
                    <a:lstStyle/>
                    <a:p>
                      <a:pPr>
                        <a:defRPr sz="1050" b="1">
                          <a:solidFill>
                            <a:srgbClr val="FFFFFF"/>
                          </a:solidFill>
                          <a:latin typeface="Microsoft YaHei"/>
                        </a:defRPr>
                      </a:pPr>
                      <a:r>
                        <a:t>四氯丁烷类</a:t>
                      </a:r>
                    </a:p>
                  </a:txBody>
                  <a:tcPr marL="91440" marR="64008" marT="64008" marB="45720">
                    <a:solidFill>
                      <a:srgbClr val="063584"/>
                    </a:solidFill>
                  </a:tcPr>
                </a:tc>
                <a:tc>
                  <a:txBody>
                    <a:bodyPr/>
                    <a:lstStyle/>
                    <a:p>
                      <a:pPr>
                        <a:defRPr sz="1050" b="1">
                          <a:solidFill>
                            <a:srgbClr val="FFFFFF"/>
                          </a:solidFill>
                          <a:latin typeface="Microsoft YaHei"/>
                        </a:defRPr>
                      </a:pPr>
                      <a:r>
                        <a:t>氯乙酸</a:t>
                      </a:r>
                    </a:p>
                  </a:txBody>
                  <a:tcPr marL="91440" marR="64008" marT="64008" marB="45720">
                    <a:solidFill>
                      <a:srgbClr val="063584"/>
                    </a:solidFill>
                  </a:tcPr>
                </a:tc>
                <a:tc>
                  <a:txBody>
                    <a:bodyPr/>
                    <a:lstStyle/>
                    <a:p>
                      <a:pPr>
                        <a:defRPr sz="1050" b="1">
                          <a:solidFill>
                            <a:srgbClr val="FFFFFF"/>
                          </a:solidFill>
                          <a:latin typeface="Microsoft YaHei"/>
                        </a:defRPr>
                      </a:pPr>
                      <a:r>
                        <a:t>未知</a:t>
                      </a:r>
                    </a:p>
                  </a:txBody>
                  <a:tcPr marL="91440" marR="64008" marT="64008" marB="45720">
                    <a:solidFill>
                      <a:srgbClr val="063584"/>
                    </a:solidFill>
                  </a:tcPr>
                </a:tc>
              </a:tr>
              <a:tr h="385354">
                <a:tc>
                  <a:txBody>
                    <a:bodyPr/>
                    <a:lstStyle/>
                    <a:p>
                      <a:pPr>
                        <a:defRPr sz="1050" b="0">
                          <a:solidFill>
                            <a:srgbClr val="111111"/>
                          </a:solidFill>
                          <a:latin typeface="Microsoft YaHei"/>
                        </a:defRPr>
                      </a:pPr>
                      <a:r>
                        <a:t>O₂</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r>
              <a:tr h="385354">
                <a:tc>
                  <a:txBody>
                    <a:bodyPr/>
                    <a:lstStyle/>
                    <a:p>
                      <a:pPr>
                        <a:defRPr sz="1050" b="0">
                          <a:solidFill>
                            <a:srgbClr val="111111"/>
                          </a:solidFill>
                          <a:latin typeface="Microsoft YaHei"/>
                        </a:defRPr>
                      </a:pPr>
                      <a:r>
                        <a:t>O₂ 鼓泡</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r>
              <a:tr h="385354">
                <a:tc>
                  <a:txBody>
                    <a:bodyPr/>
                    <a:lstStyle/>
                    <a:p>
                      <a:pPr>
                        <a:defRPr sz="1050" b="0">
                          <a:solidFill>
                            <a:srgbClr val="111111"/>
                          </a:solidFill>
                          <a:latin typeface="Microsoft YaHei"/>
                        </a:defRPr>
                      </a:pPr>
                      <a:r>
                        <a:t>N₂</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c>
                  <a:txBody>
                    <a:bodyPr/>
                    <a:lstStyle/>
                    <a:p>
                      <a:pPr>
                        <a:defRPr sz="1050" b="0">
                          <a:solidFill>
                            <a:srgbClr val="111111"/>
                          </a:solidFill>
                          <a:latin typeface="Microsoft YaHei"/>
                        </a:defRPr>
                      </a:pPr>
                      <a:r>
                        <a:t>n.d.</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r>
              <a:tr h="385354">
                <a:tc>
                  <a:txBody>
                    <a:bodyPr/>
                    <a:lstStyle/>
                    <a:p>
                      <a:pPr>
                        <a:defRPr sz="1050" b="0">
                          <a:solidFill>
                            <a:srgbClr val="111111"/>
                          </a:solidFill>
                          <a:latin typeface="Microsoft YaHei"/>
                        </a:defRPr>
                      </a:pPr>
                      <a:r>
                        <a:t>空气</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c>
                  <a:txBody>
                    <a:bodyPr/>
                    <a:lstStyle/>
                    <a:p>
                      <a:pPr>
                        <a:defRPr sz="1050" b="0">
                          <a:solidFill>
                            <a:srgbClr val="111111"/>
                          </a:solidFill>
                          <a:latin typeface="Microsoft YaHei"/>
                        </a:defRPr>
                      </a:pPr>
                      <a:r>
                        <a:t>n.d.</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r>
              <a:tr h="385354">
                <a:tc>
                  <a:txBody>
                    <a:bodyPr/>
                    <a:lstStyle/>
                    <a:p>
                      <a:pPr>
                        <a:defRPr sz="1050" b="0">
                          <a:solidFill>
                            <a:srgbClr val="111111"/>
                          </a:solidFill>
                          <a:latin typeface="Microsoft YaHei"/>
                        </a:defRPr>
                      </a:pPr>
                      <a:r>
                        <a:t>乙腈 / 各气氛</a:t>
                      </a:r>
                    </a:p>
                  </a:txBody>
                  <a:tcPr marL="91440" marR="64008" marT="64008" marB="45720">
                    <a:solidFill>
                      <a:srgbClr val="FFFFFF"/>
                    </a:solidFill>
                  </a:tcPr>
                </a:tc>
                <a:tc>
                  <a:txBody>
                    <a:bodyPr/>
                    <a:lstStyle/>
                    <a:p>
                      <a:pPr>
                        <a:defRPr sz="1050" b="0">
                          <a:solidFill>
                            <a:srgbClr val="111111"/>
                          </a:solidFill>
                          <a:latin typeface="Microsoft YaHei"/>
                        </a:defRPr>
                      </a:pPr>
                      <a:r>
                        <a:t>n.d.</a:t>
                      </a:r>
                    </a:p>
                  </a:txBody>
                  <a:tcPr marL="91440" marR="64008" marT="64008" marB="45720">
                    <a:solidFill>
                      <a:srgbClr val="FFFFFF"/>
                    </a:solidFill>
                  </a:tcPr>
                </a:tc>
                <a:tc>
                  <a:txBody>
                    <a:bodyPr/>
                    <a:lstStyle/>
                    <a:p>
                      <a:pPr>
                        <a:defRPr sz="1050" b="0">
                          <a:solidFill>
                            <a:srgbClr val="111111"/>
                          </a:solidFill>
                          <a:latin typeface="Microsoft YaHei"/>
                        </a:defRPr>
                      </a:pPr>
                      <a:r>
                        <a:t>n.d.</a:t>
                      </a:r>
                    </a:p>
                  </a:txBody>
                  <a:tcPr marL="91440" marR="64008" marT="64008" marB="45720">
                    <a:solidFill>
                      <a:srgbClr val="FFFFFF"/>
                    </a:solidFill>
                  </a:tcPr>
                </a:tc>
                <a:tc>
                  <a:txBody>
                    <a:bodyPr/>
                    <a:lstStyle/>
                    <a:p>
                      <a:pPr>
                        <a:defRPr sz="1050" b="0">
                          <a:solidFill>
                            <a:srgbClr val="111111"/>
                          </a:solidFill>
                          <a:latin typeface="Microsoft YaHei"/>
                        </a:defRPr>
                      </a:pPr>
                      <a:r>
                        <a:t>n.d.</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r>
              <a:tr h="385356">
                <a:tc>
                  <a:txBody>
                    <a:bodyPr/>
                    <a:lstStyle/>
                    <a:p>
                      <a:pPr>
                        <a:defRPr sz="1050" b="0">
                          <a:solidFill>
                            <a:srgbClr val="111111"/>
                          </a:solidFill>
                          <a:latin typeface="Microsoft YaHei"/>
                        </a:defRPr>
                      </a:pPr>
                      <a:r>
                        <a:t>乙腈 / 2.5 mmol 2-CP</a:t>
                      </a:r>
                    </a:p>
                  </a:txBody>
                  <a:tcPr marL="91440" marR="64008" marT="64008" marB="45720">
                    <a:solidFill>
                      <a:srgbClr val="EDF3FF"/>
                    </a:solidFill>
                  </a:tcPr>
                </a:tc>
                <a:tc>
                  <a:txBody>
                    <a:bodyPr/>
                    <a:lstStyle/>
                    <a:p>
                      <a:pPr>
                        <a:defRPr sz="1050" b="0">
                          <a:solidFill>
                            <a:srgbClr val="111111"/>
                          </a:solidFill>
                          <a:latin typeface="Microsoft YaHei"/>
                        </a:defRPr>
                      </a:pPr>
                      <a:r>
                        <a:t>n.d.</a:t>
                      </a:r>
                    </a:p>
                  </a:txBody>
                  <a:tcPr marL="91440" marR="64008" marT="64008" marB="45720">
                    <a:solidFill>
                      <a:srgbClr val="EDF3FF"/>
                    </a:solidFill>
                  </a:tcPr>
                </a:tc>
                <a:tc>
                  <a:txBody>
                    <a:bodyPr/>
                    <a:lstStyle/>
                    <a:p>
                      <a:pPr>
                        <a:defRPr sz="1050" b="0">
                          <a:solidFill>
                            <a:srgbClr val="111111"/>
                          </a:solidFill>
                          <a:latin typeface="Microsoft YaHei"/>
                        </a:defRPr>
                      </a:pPr>
                      <a:r>
                        <a:t>n.d.</a:t>
                      </a:r>
                    </a:p>
                  </a:txBody>
                  <a:tcPr marL="91440" marR="64008" marT="64008" marB="45720">
                    <a:solidFill>
                      <a:srgbClr val="EDF3FF"/>
                    </a:solidFill>
                  </a:tcPr>
                </a:tc>
                <a:tc>
                  <a:txBody>
                    <a:bodyPr/>
                    <a:lstStyle/>
                    <a:p>
                      <a:pPr>
                        <a:defRPr sz="1050" b="0">
                          <a:solidFill>
                            <a:srgbClr val="111111"/>
                          </a:solidFill>
                          <a:latin typeface="Microsoft YaHei"/>
                        </a:defRPr>
                      </a:pPr>
                      <a:r>
                        <a:t>n.d.</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r>
            </a:tbl>
          </a:graphicData>
        </a:graphic>
      </p:graphicFrame>
      <p:sp>
        <p:nvSpPr>
          <p:cNvPr id="15" name="Rounded Rectangle 14"/>
          <p:cNvSpPr/>
          <p:nvPr/>
        </p:nvSpPr>
        <p:spPr>
          <a:xfrm>
            <a:off x="438912" y="5093208"/>
            <a:ext cx="11201400" cy="658368"/>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40080" y="5221224"/>
            <a:ext cx="5239512" cy="429768"/>
          </a:xfrm>
          <a:prstGeom prst="rect">
            <a:avLst/>
          </a:prstGeom>
          <a:noFill/>
          <a:effectLst/>
        </p:spPr>
        <p:txBody>
          <a:bodyPr wrap="square" lIns="22860" rIns="22860" tIns="0" bIns="0">
            <a:spAutoFit/>
          </a:bodyPr>
          <a:lstStyle/>
          <a:p>
            <a:pPr>
              <a:spcAft>
                <a:spcPts val="600"/>
              </a:spcAft>
              <a:defRPr sz="1350" b="1">
                <a:solidFill>
                  <a:srgbClr val="063584"/>
                </a:solidFill>
                <a:latin typeface="Microsoft YaHei"/>
              </a:defRPr>
            </a:pPr>
            <a:r>
              <a:t>定量缺口：计算式、内标、响应校准未提供。</a:t>
            </a:r>
          </a:p>
          <a:p>
            <a:pPr>
              <a:spcAft>
                <a:spcPts val="600"/>
              </a:spcAft>
              <a:defRPr sz="1350" b="1">
                <a:solidFill>
                  <a:srgbClr val="063584"/>
                </a:solidFill>
                <a:latin typeface="Microsoft YaHei"/>
              </a:defRPr>
            </a:pPr>
            <a:r>
              <a:t>无平行实验信息，不添加误差线。</a:t>
            </a:r>
          </a:p>
        </p:txBody>
      </p:sp>
      <p:sp>
        <p:nvSpPr>
          <p:cNvPr id="17" name="TextBox 16"/>
          <p:cNvSpPr txBox="1"/>
          <p:nvPr/>
        </p:nvSpPr>
        <p:spPr>
          <a:xfrm>
            <a:off x="5971032" y="5221224"/>
            <a:ext cx="5376672" cy="429768"/>
          </a:xfrm>
          <a:prstGeom prst="rect">
            <a:avLst/>
          </a:prstGeom>
          <a:noFill/>
          <a:effectLst/>
        </p:spPr>
        <p:txBody>
          <a:bodyPr wrap="square" lIns="22860" rIns="22860" tIns="0" bIns="0">
            <a:spAutoFit/>
          </a:bodyPr>
          <a:lstStyle/>
          <a:p>
            <a:pPr>
              <a:spcAft>
                <a:spcPts val="600"/>
              </a:spcAft>
              <a:defRPr sz="1350" b="1">
                <a:solidFill>
                  <a:srgbClr val="063584"/>
                </a:solidFill>
                <a:latin typeface="Microsoft YaHei"/>
              </a:defRPr>
            </a:pPr>
            <a:r>
              <a:t>定性缺口：候选峰归属待标准品确认。</a:t>
            </a:r>
          </a:p>
          <a:p>
            <a:pPr>
              <a:spcAft>
                <a:spcPts val="600"/>
              </a:spcAft>
              <a:defRPr sz="1350" b="1">
                <a:solidFill>
                  <a:srgbClr val="063584"/>
                </a:solidFill>
                <a:latin typeface="Microsoft YaHei"/>
              </a:defRPr>
            </a:pPr>
            <a:r>
              <a:t>保留 √、n.d. 与 /，不将其解释为收率。</a:t>
            </a:r>
          </a:p>
        </p:txBody>
      </p:sp>
      <p:sp>
        <p:nvSpPr>
          <p:cNvPr id="18" name="Rectangle 17"/>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Chevron 18"/>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21" name="TextBox 20"/>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当前优先任务是核对“消耗—产物—物料”的对应关系，而非直接优化转化率。</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问题分析：溶剂相关信号要求重新检查初始活化与分析归属</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观察：预期模型产物未明确确认；DCE 相关候选信号出现；乙腈中未见同类明确产物</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实验观察：用户补充说明与原始记录；下列解释均为待验证假说。</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12</a:t>
            </a:r>
          </a:p>
        </p:txBody>
      </p:sp>
      <p:sp>
        <p:nvSpPr>
          <p:cNvPr id="7" name="Rounded Rectangle 6"/>
          <p:cNvSpPr/>
          <p:nvPr/>
        </p:nvSpPr>
        <p:spPr>
          <a:xfrm>
            <a:off x="438912" y="1417320"/>
            <a:ext cx="3602736"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539496" y="1508760"/>
            <a:ext cx="3401568"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现象一：目标产物未确认</a:t>
            </a:r>
          </a:p>
        </p:txBody>
      </p:sp>
      <p:sp>
        <p:nvSpPr>
          <p:cNvPr id="9" name="TextBox 8"/>
          <p:cNvSpPr txBox="1"/>
          <p:nvPr/>
        </p:nvSpPr>
        <p:spPr>
          <a:xfrm>
            <a:off x="539496" y="1837944"/>
            <a:ext cx="3401568"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不能以底物消耗替代结构确证</a:t>
            </a:r>
          </a:p>
        </p:txBody>
      </p:sp>
      <p:sp>
        <p:nvSpPr>
          <p:cNvPr id="10" name="Rounded Rectangle 9"/>
          <p:cNvSpPr/>
          <p:nvPr/>
        </p:nvSpPr>
        <p:spPr>
          <a:xfrm>
            <a:off x="4242816" y="1417320"/>
            <a:ext cx="3602736"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4343400" y="1508760"/>
            <a:ext cx="3401568"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现象二：介质相关信号</a:t>
            </a:r>
          </a:p>
        </p:txBody>
      </p:sp>
      <p:sp>
        <p:nvSpPr>
          <p:cNvPr id="12" name="TextBox 11"/>
          <p:cNvSpPr txBox="1"/>
          <p:nvPr/>
        </p:nvSpPr>
        <p:spPr>
          <a:xfrm>
            <a:off x="4343400" y="1837944"/>
            <a:ext cx="3401568"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DCE 可能不是惰性背景</a:t>
            </a:r>
          </a:p>
        </p:txBody>
      </p:sp>
      <p:sp>
        <p:nvSpPr>
          <p:cNvPr id="13" name="Rounded Rectangle 12"/>
          <p:cNvSpPr/>
          <p:nvPr/>
        </p:nvSpPr>
        <p:spPr>
          <a:xfrm>
            <a:off x="8037575" y="1417320"/>
            <a:ext cx="3602736"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138159" y="1508760"/>
            <a:ext cx="3401568"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现象三：换介质后差异明显</a:t>
            </a:r>
          </a:p>
        </p:txBody>
      </p:sp>
      <p:sp>
        <p:nvSpPr>
          <p:cNvPr id="15" name="TextBox 14"/>
          <p:cNvSpPr txBox="1"/>
          <p:nvPr/>
        </p:nvSpPr>
        <p:spPr>
          <a:xfrm>
            <a:off x="8138159" y="1837944"/>
            <a:ext cx="3401568"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化学参与与物理性质需要分离</a:t>
            </a:r>
          </a:p>
        </p:txBody>
      </p:sp>
      <p:graphicFrame>
        <p:nvGraphicFramePr>
          <p:cNvPr id="16" name="Table 15"/>
          <p:cNvGraphicFramePr>
            <a:graphicFrameLocks noGrp="1"/>
          </p:cNvGraphicFramePr>
          <p:nvPr/>
        </p:nvGraphicFramePr>
        <p:xfrm>
          <a:off x="438912" y="2432304"/>
          <a:ext cx="11201400" cy="3319272"/>
        </p:xfrm>
        <a:graphic>
          <a:graphicData uri="http://schemas.openxmlformats.org/drawingml/2006/table">
            <a:tbl>
              <a:tblPr firstRow="1" bandRow="1">
                <a:tableStyleId>{5C22544A-7EE6-4342-B048-85BDC9FD1C3A}</a:tableStyleId>
              </a:tblPr>
              <a:tblGrid>
                <a:gridCol w="2697480"/>
                <a:gridCol w="3931920"/>
                <a:gridCol w="4572000"/>
              </a:tblGrid>
              <a:tr h="474181">
                <a:tc>
                  <a:txBody>
                    <a:bodyPr/>
                    <a:lstStyle/>
                    <a:p>
                      <a:pPr>
                        <a:defRPr sz="1400" b="1">
                          <a:solidFill>
                            <a:srgbClr val="FFFFFF"/>
                          </a:solidFill>
                          <a:latin typeface="Microsoft YaHei"/>
                        </a:defRPr>
                      </a:pPr>
                      <a:r>
                        <a:t>竞争解释</a:t>
                      </a:r>
                    </a:p>
                  </a:txBody>
                  <a:tcPr marL="91440" marR="64008" marT="64008" marB="45720">
                    <a:solidFill>
                      <a:srgbClr val="063584"/>
                    </a:solidFill>
                  </a:tcPr>
                </a:tc>
                <a:tc>
                  <a:txBody>
                    <a:bodyPr/>
                    <a:lstStyle/>
                    <a:p>
                      <a:pPr>
                        <a:defRPr sz="1400" b="1">
                          <a:solidFill>
                            <a:srgbClr val="FFFFFF"/>
                          </a:solidFill>
                          <a:latin typeface="Microsoft YaHei"/>
                        </a:defRPr>
                      </a:pPr>
                      <a:r>
                        <a:t>分析重点</a:t>
                      </a:r>
                    </a:p>
                  </a:txBody>
                  <a:tcPr marL="91440" marR="64008" marT="64008" marB="45720">
                    <a:solidFill>
                      <a:srgbClr val="063584"/>
                    </a:solidFill>
                  </a:tcPr>
                </a:tc>
                <a:tc>
                  <a:txBody>
                    <a:bodyPr/>
                    <a:lstStyle/>
                    <a:p>
                      <a:pPr>
                        <a:defRPr sz="1400" b="1">
                          <a:solidFill>
                            <a:srgbClr val="FFFFFF"/>
                          </a:solidFill>
                          <a:latin typeface="Microsoft YaHei"/>
                        </a:defRPr>
                      </a:pPr>
                      <a:r>
                        <a:t>区分实验</a:t>
                      </a:r>
                    </a:p>
                  </a:txBody>
                  <a:tcPr marL="91440" marR="64008" marT="64008" marB="45720">
                    <a:solidFill>
                      <a:srgbClr val="063584"/>
                    </a:solidFill>
                  </a:tcPr>
                </a:tc>
              </a:tr>
              <a:tr h="474181">
                <a:tc>
                  <a:txBody>
                    <a:bodyPr/>
                    <a:lstStyle/>
                    <a:p>
                      <a:pPr>
                        <a:defRPr sz="1400" b="0">
                          <a:solidFill>
                            <a:srgbClr val="111111"/>
                          </a:solidFill>
                          <a:latin typeface="Microsoft YaHei"/>
                        </a:defRPr>
                      </a:pPr>
                      <a:r>
                        <a:t>DCE 本身反应</a:t>
                      </a:r>
                    </a:p>
                  </a:txBody>
                  <a:tcPr marL="91440" marR="64008" marT="64008" marB="45720">
                    <a:solidFill>
                      <a:srgbClr val="FFFFFF"/>
                    </a:solidFill>
                  </a:tcPr>
                </a:tc>
                <a:tc>
                  <a:txBody>
                    <a:bodyPr/>
                    <a:lstStyle/>
                    <a:p>
                      <a:pPr>
                        <a:defRPr sz="1400" b="0">
                          <a:solidFill>
                            <a:srgbClr val="111111"/>
                          </a:solidFill>
                          <a:latin typeface="Microsoft YaHei"/>
                        </a:defRPr>
                      </a:pPr>
                      <a:r>
                        <a:t>介质可能产生背景 / 副产物</a:t>
                      </a:r>
                    </a:p>
                  </a:txBody>
                  <a:tcPr marL="91440" marR="64008" marT="64008" marB="45720">
                    <a:solidFill>
                      <a:srgbClr val="FFFFFF"/>
                    </a:solidFill>
                  </a:tcPr>
                </a:tc>
                <a:tc>
                  <a:txBody>
                    <a:bodyPr/>
                    <a:lstStyle/>
                    <a:p>
                      <a:pPr>
                        <a:defRPr sz="1400" b="0">
                          <a:solidFill>
                            <a:srgbClr val="111111"/>
                          </a:solidFill>
                          <a:latin typeface="Microsoft YaHei"/>
                        </a:defRPr>
                      </a:pPr>
                      <a:r>
                        <a:t>无底物 DCE + EAQ 光照空白</a:t>
                      </a:r>
                    </a:p>
                  </a:txBody>
                  <a:tcPr marL="91440" marR="64008" marT="64008" marB="45720">
                    <a:solidFill>
                      <a:srgbClr val="FFFFFF"/>
                    </a:solidFill>
                  </a:tcPr>
                </a:tc>
              </a:tr>
              <a:tr h="474181">
                <a:tc>
                  <a:txBody>
                    <a:bodyPr/>
                    <a:lstStyle/>
                    <a:p>
                      <a:pPr>
                        <a:defRPr sz="1400" b="0">
                          <a:solidFill>
                            <a:srgbClr val="111111"/>
                          </a:solidFill>
                          <a:latin typeface="Microsoft YaHei"/>
                        </a:defRPr>
                      </a:pPr>
                      <a:r>
                        <a:t>EAQ* 与溶剂优先作用</a:t>
                      </a:r>
                    </a:p>
                  </a:txBody>
                  <a:tcPr marL="91440" marR="64008" marT="64008" marB="45720">
                    <a:solidFill>
                      <a:srgbClr val="EDF3FF"/>
                    </a:solidFill>
                  </a:tcPr>
                </a:tc>
                <a:tc>
                  <a:txBody>
                    <a:bodyPr/>
                    <a:lstStyle/>
                    <a:p>
                      <a:pPr>
                        <a:defRPr sz="1400" b="0">
                          <a:solidFill>
                            <a:srgbClr val="111111"/>
                          </a:solidFill>
                          <a:latin typeface="Microsoft YaHei"/>
                        </a:defRPr>
                      </a:pPr>
                      <a:r>
                        <a:t>浓度与激发态相互作用竞争</a:t>
                      </a:r>
                    </a:p>
                  </a:txBody>
                  <a:tcPr marL="91440" marR="64008" marT="64008" marB="45720">
                    <a:solidFill>
                      <a:srgbClr val="EDF3FF"/>
                    </a:solidFill>
                  </a:tcPr>
                </a:tc>
                <a:tc>
                  <a:txBody>
                    <a:bodyPr/>
                    <a:lstStyle/>
                    <a:p>
                      <a:pPr>
                        <a:defRPr sz="1400" b="0">
                          <a:solidFill>
                            <a:srgbClr val="111111"/>
                          </a:solidFill>
                          <a:latin typeface="Microsoft YaHei"/>
                        </a:defRPr>
                      </a:pPr>
                      <a:r>
                        <a:t>吸收 / 必要时瞬态测量；配对介质</a:t>
                      </a:r>
                    </a:p>
                  </a:txBody>
                  <a:tcPr marL="91440" marR="64008" marT="64008" marB="45720">
                    <a:solidFill>
                      <a:srgbClr val="EDF3FF"/>
                    </a:solidFill>
                  </a:tcPr>
                </a:tc>
              </a:tr>
              <a:tr h="474181">
                <a:tc>
                  <a:txBody>
                    <a:bodyPr/>
                    <a:lstStyle/>
                    <a:p>
                      <a:pPr>
                        <a:defRPr sz="1400" b="0">
                          <a:solidFill>
                            <a:srgbClr val="111111"/>
                          </a:solidFill>
                          <a:latin typeface="Microsoft YaHei"/>
                        </a:defRPr>
                      </a:pPr>
                      <a:r>
                        <a:t>模型初始活化不足</a:t>
                      </a:r>
                    </a:p>
                  </a:txBody>
                  <a:tcPr marL="91440" marR="64008" marT="64008" marB="45720">
                    <a:solidFill>
                      <a:srgbClr val="FFFFFF"/>
                    </a:solidFill>
                  </a:tcPr>
                </a:tc>
                <a:tc>
                  <a:txBody>
                    <a:bodyPr/>
                    <a:lstStyle/>
                    <a:p>
                      <a:pPr>
                        <a:defRPr sz="1400" b="0">
                          <a:solidFill>
                            <a:srgbClr val="111111"/>
                          </a:solidFill>
                          <a:latin typeface="Microsoft YaHei"/>
                        </a:defRPr>
                      </a:pPr>
                      <a:r>
                        <a:t>底物未有效进入预想路径</a:t>
                      </a:r>
                    </a:p>
                  </a:txBody>
                  <a:tcPr marL="91440" marR="64008" marT="64008" marB="45720">
                    <a:solidFill>
                      <a:srgbClr val="FFFFFF"/>
                    </a:solidFill>
                  </a:tcPr>
                </a:tc>
                <a:tc>
                  <a:txBody>
                    <a:bodyPr/>
                    <a:lstStyle/>
                    <a:p>
                      <a:pPr>
                        <a:defRPr sz="1400" b="0">
                          <a:solidFill>
                            <a:srgbClr val="111111"/>
                          </a:solidFill>
                          <a:latin typeface="Microsoft YaHei"/>
                        </a:defRPr>
                      </a:pPr>
                      <a:r>
                        <a:t>底物回收、浓度与时间曲线</a:t>
                      </a:r>
                    </a:p>
                  </a:txBody>
                  <a:tcPr marL="91440" marR="64008" marT="64008" marB="45720">
                    <a:solidFill>
                      <a:srgbClr val="FFFFFF"/>
                    </a:solidFill>
                  </a:tcPr>
                </a:tc>
              </a:tr>
              <a:tr h="474181">
                <a:tc>
                  <a:txBody>
                    <a:bodyPr/>
                    <a:lstStyle/>
                    <a:p>
                      <a:pPr>
                        <a:defRPr sz="1400" b="0">
                          <a:solidFill>
                            <a:srgbClr val="111111"/>
                          </a:solidFill>
                          <a:latin typeface="Microsoft YaHei"/>
                        </a:defRPr>
                      </a:pPr>
                      <a:r>
                        <a:t>产物未被当前方法识别</a:t>
                      </a:r>
                    </a:p>
                  </a:txBody>
                  <a:tcPr marL="91440" marR="64008" marT="64008" marB="45720">
                    <a:solidFill>
                      <a:srgbClr val="EDF3FF"/>
                    </a:solidFill>
                  </a:tcPr>
                </a:tc>
                <a:tc>
                  <a:txBody>
                    <a:bodyPr/>
                    <a:lstStyle/>
                    <a:p>
                      <a:pPr>
                        <a:defRPr sz="1400" b="0">
                          <a:solidFill>
                            <a:srgbClr val="111111"/>
                          </a:solidFill>
                          <a:latin typeface="Microsoft YaHei"/>
                        </a:defRPr>
                      </a:pPr>
                      <a:r>
                        <a:t>挥发性、极性或不稳定组分漏检</a:t>
                      </a:r>
                    </a:p>
                  </a:txBody>
                  <a:tcPr marL="91440" marR="64008" marT="64008" marB="45720">
                    <a:solidFill>
                      <a:srgbClr val="EDF3FF"/>
                    </a:solidFill>
                  </a:tcPr>
                </a:tc>
                <a:tc>
                  <a:txBody>
                    <a:bodyPr/>
                    <a:lstStyle/>
                    <a:p>
                      <a:pPr>
                        <a:defRPr sz="1400" b="0">
                          <a:solidFill>
                            <a:srgbClr val="111111"/>
                          </a:solidFill>
                          <a:latin typeface="Microsoft YaHei"/>
                        </a:defRPr>
                      </a:pPr>
                      <a:r>
                        <a:t>标准品、检测窗口与加标回收</a:t>
                      </a:r>
                    </a:p>
                  </a:txBody>
                  <a:tcPr marL="91440" marR="64008" marT="64008" marB="45720">
                    <a:solidFill>
                      <a:srgbClr val="EDF3FF"/>
                    </a:solidFill>
                  </a:tcPr>
                </a:tc>
              </a:tr>
              <a:tr h="474181">
                <a:tc>
                  <a:txBody>
                    <a:bodyPr/>
                    <a:lstStyle/>
                    <a:p>
                      <a:pPr>
                        <a:defRPr sz="1400" b="0">
                          <a:solidFill>
                            <a:srgbClr val="111111"/>
                          </a:solidFill>
                          <a:latin typeface="Microsoft YaHei"/>
                        </a:defRPr>
                      </a:pPr>
                      <a:r>
                        <a:t>氧气改变路径</a:t>
                      </a:r>
                    </a:p>
                  </a:txBody>
                  <a:tcPr marL="91440" marR="64008" marT="64008" marB="45720">
                    <a:solidFill>
                      <a:srgbClr val="FFFFFF"/>
                    </a:solidFill>
                  </a:tcPr>
                </a:tc>
                <a:tc>
                  <a:txBody>
                    <a:bodyPr/>
                    <a:lstStyle/>
                    <a:p>
                      <a:pPr>
                        <a:defRPr sz="1400" b="0">
                          <a:solidFill>
                            <a:srgbClr val="111111"/>
                          </a:solidFill>
                          <a:latin typeface="Microsoft YaHei"/>
                        </a:defRPr>
                      </a:pPr>
                      <a:r>
                        <a:t>氧参与、猝灭或传质影响结果</a:t>
                      </a:r>
                    </a:p>
                  </a:txBody>
                  <a:tcPr marL="91440" marR="64008" marT="64008" marB="45720">
                    <a:solidFill>
                      <a:srgbClr val="FFFFFF"/>
                    </a:solidFill>
                  </a:tcPr>
                </a:tc>
                <a:tc>
                  <a:txBody>
                    <a:bodyPr/>
                    <a:lstStyle/>
                    <a:p>
                      <a:pPr>
                        <a:defRPr sz="1400" b="0">
                          <a:solidFill>
                            <a:srgbClr val="111111"/>
                          </a:solidFill>
                          <a:latin typeface="Microsoft YaHei"/>
                        </a:defRPr>
                      </a:pPr>
                      <a:r>
                        <a:t>O₂ / N₂ 配对与氧化产物分析</a:t>
                      </a:r>
                    </a:p>
                  </a:txBody>
                  <a:tcPr marL="91440" marR="64008" marT="64008" marB="45720">
                    <a:solidFill>
                      <a:srgbClr val="FFFFFF"/>
                    </a:solidFill>
                  </a:tcPr>
                </a:tc>
              </a:tr>
              <a:tr h="474186">
                <a:tc>
                  <a:txBody>
                    <a:bodyPr/>
                    <a:lstStyle/>
                    <a:p>
                      <a:pPr>
                        <a:defRPr sz="1400" b="0">
                          <a:solidFill>
                            <a:srgbClr val="111111"/>
                          </a:solidFill>
                          <a:latin typeface="Microsoft YaHei"/>
                        </a:defRPr>
                      </a:pPr>
                      <a:r>
                        <a:t>转化率仍需方法学复核</a:t>
                      </a:r>
                    </a:p>
                  </a:txBody>
                  <a:tcPr marL="91440" marR="64008" marT="64008" marB="45720">
                    <a:solidFill>
                      <a:srgbClr val="EDF3FF"/>
                    </a:solidFill>
                  </a:tcPr>
                </a:tc>
                <a:tc>
                  <a:txBody>
                    <a:bodyPr/>
                    <a:lstStyle/>
                    <a:p>
                      <a:pPr>
                        <a:defRPr sz="1400" b="0">
                          <a:solidFill>
                            <a:srgbClr val="111111"/>
                          </a:solidFill>
                          <a:latin typeface="Microsoft YaHei"/>
                        </a:defRPr>
                      </a:pPr>
                      <a:r>
                        <a:t>峰重叠、响应因子或内标偏差</a:t>
                      </a:r>
                    </a:p>
                  </a:txBody>
                  <a:tcPr marL="91440" marR="64008" marT="64008" marB="45720">
                    <a:solidFill>
                      <a:srgbClr val="EDF3FF"/>
                    </a:solidFill>
                  </a:tcPr>
                </a:tc>
                <a:tc>
                  <a:txBody>
                    <a:bodyPr/>
                    <a:lstStyle/>
                    <a:p>
                      <a:pPr>
                        <a:defRPr sz="1400" b="0">
                          <a:solidFill>
                            <a:srgbClr val="111111"/>
                          </a:solidFill>
                          <a:latin typeface="Microsoft YaHei"/>
                        </a:defRPr>
                      </a:pPr>
                      <a:r>
                        <a:t>重审原始色谱与校准曲线</a:t>
                      </a:r>
                    </a:p>
                  </a:txBody>
                  <a:tcPr marL="91440" marR="64008" marT="64008" marB="45720">
                    <a:solidFill>
                      <a:srgbClr val="EDF3FF"/>
                    </a:solidFill>
                  </a:tcPr>
                </a:tc>
              </a:tr>
            </a:tbl>
          </a:graphicData>
        </a:graphic>
      </p:graphicFrame>
      <p:sp>
        <p:nvSpPr>
          <p:cNvPr id="17" name="Rectangle 16"/>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Chevron 17"/>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20" name="TextBox 19"/>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六种解释允许并存，先用空白与分析验证缩小范围，再决定反应条件优化。</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机理修正：将介质竞争纳入与目标底物并行的反应网络</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保留 AQ 激发与氧相关反应的合理入口，暂不指定单一供氢体或唯一活性物种</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Chen et al., Environ. Sci. Ecotechnol. 2024, 22, 100449. Su et al., Angew. Chem. Int. Ed. 2026, e5578835.；本课题支路均待验证。</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13</a:t>
            </a:r>
          </a:p>
        </p:txBody>
      </p:sp>
      <p:sp>
        <p:nvSpPr>
          <p:cNvPr id="7" name="Rounded Rectangle 6"/>
          <p:cNvSpPr/>
          <p:nvPr/>
        </p:nvSpPr>
        <p:spPr>
          <a:xfrm>
            <a:off x="438912" y="1417320"/>
            <a:ext cx="11201400" cy="93268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1114653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1090879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共同入口</a:t>
            </a:r>
          </a:p>
        </p:txBody>
      </p:sp>
      <p:sp>
        <p:nvSpPr>
          <p:cNvPr id="10" name="TextBox 9"/>
          <p:cNvSpPr txBox="1"/>
          <p:nvPr/>
        </p:nvSpPr>
        <p:spPr>
          <a:xfrm>
            <a:off x="795528" y="1911095"/>
            <a:ext cx="3794760" cy="292608"/>
          </a:xfrm>
          <a:prstGeom prst="rect">
            <a:avLst/>
          </a:prstGeom>
          <a:noFill/>
          <a:effectLst/>
        </p:spPr>
        <p:txBody>
          <a:bodyPr wrap="square" lIns="22860" rIns="22860" tIns="0" bIns="0">
            <a:spAutoFit/>
          </a:bodyPr>
          <a:lstStyle/>
          <a:p>
            <a:pPr>
              <a:spcAft>
                <a:spcPts val="600"/>
              </a:spcAft>
              <a:defRPr sz="2200" b="1">
                <a:solidFill>
                  <a:srgbClr val="063584"/>
                </a:solidFill>
                <a:latin typeface="Microsoft YaHei"/>
              </a:defRPr>
            </a:pPr>
            <a:r>
              <a:t>EAQ ─hν / ISC→ ³EAQ*</a:t>
            </a:r>
          </a:p>
        </p:txBody>
      </p:sp>
      <p:sp>
        <p:nvSpPr>
          <p:cNvPr id="11" name="TextBox 10"/>
          <p:cNvSpPr txBox="1"/>
          <p:nvPr/>
        </p:nvSpPr>
        <p:spPr>
          <a:xfrm>
            <a:off x="5148072" y="1911095"/>
            <a:ext cx="5897880" cy="292608"/>
          </a:xfrm>
          <a:prstGeom prst="rect">
            <a:avLst/>
          </a:prstGeom>
          <a:noFill/>
          <a:effectLst/>
        </p:spPr>
        <p:txBody>
          <a:bodyPr wrap="square" lIns="22860" rIns="22860" tIns="0" bIns="0">
            <a:spAutoFit/>
          </a:bodyPr>
          <a:lstStyle/>
          <a:p>
            <a:pPr>
              <a:spcAft>
                <a:spcPts val="600"/>
              </a:spcAft>
              <a:defRPr sz="1700" b="1">
                <a:solidFill>
                  <a:srgbClr val="111111"/>
                </a:solidFill>
                <a:latin typeface="Microsoft YaHei"/>
              </a:defRPr>
            </a:pPr>
            <a:r>
              <a:t>分流取决于吸光、浓度、反应性与氧条件</a:t>
            </a:r>
          </a:p>
        </p:txBody>
      </p:sp>
      <p:cxnSp>
        <p:nvCxnSpPr>
          <p:cNvPr id="12" name="Connector 11"/>
          <p:cNvCxnSpPr/>
          <p:nvPr/>
        </p:nvCxnSpPr>
        <p:spPr>
          <a:xfrm>
            <a:off x="2057400" y="2560320"/>
            <a:ext cx="0" cy="329184"/>
          </a:xfrm>
          <a:prstGeom prst="line">
            <a:avLst/>
          </a:prstGeom>
          <a:ln w="17780">
            <a:solidFill>
              <a:srgbClr val="06358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3" name="Connector 12"/>
          <p:cNvCxnSpPr/>
          <p:nvPr/>
        </p:nvCxnSpPr>
        <p:spPr>
          <a:xfrm>
            <a:off x="6071616" y="2560320"/>
            <a:ext cx="0" cy="329184"/>
          </a:xfrm>
          <a:prstGeom prst="line">
            <a:avLst/>
          </a:prstGeom>
          <a:ln w="17780">
            <a:solidFill>
              <a:srgbClr val="06358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a:off x="10040112" y="2560320"/>
            <a:ext cx="0" cy="329184"/>
          </a:xfrm>
          <a:prstGeom prst="line">
            <a:avLst/>
          </a:prstGeom>
          <a:ln w="17780">
            <a:solidFill>
              <a:srgbClr val="06358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sp>
        <p:nvSpPr>
          <p:cNvPr id="15" name="Rounded Rectangle 14"/>
          <p:cNvSpPr/>
          <p:nvPr/>
        </p:nvSpPr>
        <p:spPr>
          <a:xfrm>
            <a:off x="438912" y="3072384"/>
            <a:ext cx="3602736" cy="2679192"/>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ounded Rectangle 15"/>
          <p:cNvSpPr/>
          <p:nvPr/>
        </p:nvSpPr>
        <p:spPr>
          <a:xfrm>
            <a:off x="466344" y="3099815"/>
            <a:ext cx="354787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585216" y="3150108"/>
            <a:ext cx="331012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目标底物支路</a:t>
            </a:r>
          </a:p>
        </p:txBody>
      </p:sp>
      <p:sp>
        <p:nvSpPr>
          <p:cNvPr id="18" name="TextBox 17"/>
          <p:cNvSpPr txBox="1"/>
          <p:nvPr/>
        </p:nvSpPr>
        <p:spPr>
          <a:xfrm>
            <a:off x="612647" y="3675887"/>
            <a:ext cx="3255264" cy="429768"/>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模型 / PVC → R·</a:t>
            </a:r>
          </a:p>
        </p:txBody>
      </p:sp>
      <p:sp>
        <p:nvSpPr>
          <p:cNvPr id="19" name="TextBox 18"/>
          <p:cNvSpPr txBox="1"/>
          <p:nvPr/>
        </p:nvSpPr>
        <p:spPr>
          <a:xfrm>
            <a:off x="612647" y="4425696"/>
            <a:ext cx="3255264" cy="557784"/>
          </a:xfrm>
          <a:prstGeom prst="rect">
            <a:avLst/>
          </a:prstGeom>
          <a:noFill/>
          <a:effectLst/>
        </p:spPr>
        <p:txBody>
          <a:bodyPr wrap="square" lIns="22860" rIns="22860" tIns="0" bIns="0">
            <a:spAutoFit/>
          </a:bodyPr>
          <a:lstStyle/>
          <a:p>
            <a:pPr algn="ctr">
              <a:spcAft>
                <a:spcPts val="600"/>
              </a:spcAft>
              <a:defRPr sz="1600" b="1">
                <a:solidFill>
                  <a:srgbClr val="111111"/>
                </a:solidFill>
                <a:latin typeface="Microsoft YaHei"/>
              </a:defRPr>
            </a:pPr>
            <a:r>
              <a:t>R· + O₂ → ROO· → 含氧结构</a:t>
            </a:r>
          </a:p>
        </p:txBody>
      </p:sp>
      <p:sp>
        <p:nvSpPr>
          <p:cNvPr id="20" name="TextBox 19"/>
          <p:cNvSpPr txBox="1"/>
          <p:nvPr/>
        </p:nvSpPr>
        <p:spPr>
          <a:xfrm>
            <a:off x="612647" y="5266944"/>
            <a:ext cx="3255264" cy="310896"/>
          </a:xfrm>
          <a:prstGeom prst="rect">
            <a:avLst/>
          </a:prstGeom>
          <a:noFill/>
          <a:effectLst/>
        </p:spPr>
        <p:txBody>
          <a:bodyPr wrap="square" lIns="22860" rIns="22860" tIns="0" bIns="0">
            <a:spAutoFit/>
          </a:bodyPr>
          <a:lstStyle/>
          <a:p>
            <a:pPr algn="ctr">
              <a:spcAft>
                <a:spcPts val="600"/>
              </a:spcAft>
              <a:defRPr sz="1170" b="0">
                <a:solidFill>
                  <a:srgbClr val="566273"/>
                </a:solidFill>
                <a:latin typeface="Microsoft YaHei"/>
              </a:defRPr>
            </a:pPr>
            <a:r>
              <a:t>依据：一般反应性；本体系待证</a:t>
            </a:r>
          </a:p>
        </p:txBody>
      </p:sp>
      <p:sp>
        <p:nvSpPr>
          <p:cNvPr id="21" name="Rounded Rectangle 20"/>
          <p:cNvSpPr/>
          <p:nvPr/>
        </p:nvSpPr>
        <p:spPr>
          <a:xfrm>
            <a:off x="4233672" y="3072384"/>
            <a:ext cx="3602736" cy="2679192"/>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ounded Rectangle 21"/>
          <p:cNvSpPr/>
          <p:nvPr/>
        </p:nvSpPr>
        <p:spPr>
          <a:xfrm>
            <a:off x="4261104" y="3099815"/>
            <a:ext cx="354787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379976" y="3150108"/>
            <a:ext cx="331012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介质竞争支路</a:t>
            </a:r>
          </a:p>
        </p:txBody>
      </p:sp>
      <p:sp>
        <p:nvSpPr>
          <p:cNvPr id="24" name="TextBox 23"/>
          <p:cNvSpPr txBox="1"/>
          <p:nvPr/>
        </p:nvSpPr>
        <p:spPr>
          <a:xfrm>
            <a:off x="4407408" y="3675887"/>
            <a:ext cx="3255264" cy="429768"/>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DCE → 介质衍生物种</a:t>
            </a:r>
          </a:p>
        </p:txBody>
      </p:sp>
      <p:sp>
        <p:nvSpPr>
          <p:cNvPr id="25" name="TextBox 24"/>
          <p:cNvSpPr txBox="1"/>
          <p:nvPr/>
        </p:nvSpPr>
        <p:spPr>
          <a:xfrm>
            <a:off x="4407408" y="4425696"/>
            <a:ext cx="3255264" cy="557784"/>
          </a:xfrm>
          <a:prstGeom prst="rect">
            <a:avLst/>
          </a:prstGeom>
          <a:noFill/>
          <a:effectLst/>
        </p:spPr>
        <p:txBody>
          <a:bodyPr wrap="square" lIns="22860" rIns="22860" tIns="0" bIns="0">
            <a:spAutoFit/>
          </a:bodyPr>
          <a:lstStyle/>
          <a:p>
            <a:pPr algn="ctr">
              <a:spcAft>
                <a:spcPts val="600"/>
              </a:spcAft>
              <a:defRPr sz="1600" b="1">
                <a:solidFill>
                  <a:srgbClr val="111111"/>
                </a:solidFill>
                <a:latin typeface="Microsoft YaHei"/>
              </a:defRPr>
            </a:pPr>
            <a:r>
              <a:t>候选副产物 / 光敏组分消耗</a:t>
            </a:r>
          </a:p>
        </p:txBody>
      </p:sp>
      <p:sp>
        <p:nvSpPr>
          <p:cNvPr id="26" name="TextBox 25"/>
          <p:cNvSpPr txBox="1"/>
          <p:nvPr/>
        </p:nvSpPr>
        <p:spPr>
          <a:xfrm>
            <a:off x="4407408" y="5266944"/>
            <a:ext cx="3255264" cy="310896"/>
          </a:xfrm>
          <a:prstGeom prst="rect">
            <a:avLst/>
          </a:prstGeom>
          <a:noFill/>
          <a:effectLst/>
        </p:spPr>
        <p:txBody>
          <a:bodyPr wrap="square" lIns="22860" rIns="22860" tIns="0" bIns="0">
            <a:spAutoFit/>
          </a:bodyPr>
          <a:lstStyle/>
          <a:p>
            <a:pPr algn="ctr">
              <a:spcAft>
                <a:spcPts val="600"/>
              </a:spcAft>
              <a:defRPr sz="1170" b="0">
                <a:solidFill>
                  <a:srgbClr val="566273"/>
                </a:solidFill>
                <a:latin typeface="Microsoft YaHei"/>
              </a:defRPr>
            </a:pPr>
            <a:r>
              <a:t>依据：已有候选信号；来源待证</a:t>
            </a:r>
          </a:p>
        </p:txBody>
      </p:sp>
      <p:sp>
        <p:nvSpPr>
          <p:cNvPr id="27" name="Rounded Rectangle 26"/>
          <p:cNvSpPr/>
          <p:nvPr/>
        </p:nvSpPr>
        <p:spPr>
          <a:xfrm>
            <a:off x="8028432" y="3072384"/>
            <a:ext cx="3602736" cy="2679192"/>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ounded Rectangle 27"/>
          <p:cNvSpPr/>
          <p:nvPr/>
        </p:nvSpPr>
        <p:spPr>
          <a:xfrm>
            <a:off x="8055864" y="3099815"/>
            <a:ext cx="354787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8174736" y="3150108"/>
            <a:ext cx="331012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氧与含氯物种支路</a:t>
            </a:r>
          </a:p>
        </p:txBody>
      </p:sp>
      <p:sp>
        <p:nvSpPr>
          <p:cNvPr id="30" name="TextBox 29"/>
          <p:cNvSpPr txBox="1"/>
          <p:nvPr/>
        </p:nvSpPr>
        <p:spPr>
          <a:xfrm>
            <a:off x="8202168" y="3675887"/>
            <a:ext cx="3255264" cy="429768"/>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ROS / Cl· 的候选参与</a:t>
            </a:r>
          </a:p>
        </p:txBody>
      </p:sp>
      <p:sp>
        <p:nvSpPr>
          <p:cNvPr id="31" name="TextBox 30"/>
          <p:cNvSpPr txBox="1"/>
          <p:nvPr/>
        </p:nvSpPr>
        <p:spPr>
          <a:xfrm>
            <a:off x="8202168" y="4425696"/>
            <a:ext cx="3255264" cy="557784"/>
          </a:xfrm>
          <a:prstGeom prst="rect">
            <a:avLst/>
          </a:prstGeom>
          <a:noFill/>
          <a:effectLst/>
        </p:spPr>
        <p:txBody>
          <a:bodyPr wrap="square" lIns="22860" rIns="22860" tIns="0" bIns="0">
            <a:spAutoFit/>
          </a:bodyPr>
          <a:lstStyle/>
          <a:p>
            <a:pPr algn="ctr">
              <a:spcAft>
                <a:spcPts val="600"/>
              </a:spcAft>
              <a:defRPr sz="1600" b="1">
                <a:solidFill>
                  <a:srgbClr val="111111"/>
                </a:solidFill>
                <a:latin typeface="Microsoft YaHei"/>
              </a:defRPr>
            </a:pPr>
            <a:r>
              <a:t>影响启动、HAT 与后续路径</a:t>
            </a:r>
          </a:p>
        </p:txBody>
      </p:sp>
      <p:sp>
        <p:nvSpPr>
          <p:cNvPr id="32" name="TextBox 31"/>
          <p:cNvSpPr txBox="1"/>
          <p:nvPr/>
        </p:nvSpPr>
        <p:spPr>
          <a:xfrm>
            <a:off x="8202168" y="5266944"/>
            <a:ext cx="3255264" cy="310896"/>
          </a:xfrm>
          <a:prstGeom prst="rect">
            <a:avLst/>
          </a:prstGeom>
          <a:noFill/>
          <a:effectLst/>
        </p:spPr>
        <p:txBody>
          <a:bodyPr wrap="square" lIns="22860" rIns="22860" tIns="0" bIns="0">
            <a:spAutoFit/>
          </a:bodyPr>
          <a:lstStyle/>
          <a:p>
            <a:pPr algn="ctr">
              <a:spcAft>
                <a:spcPts val="600"/>
              </a:spcAft>
              <a:defRPr sz="1170" b="0">
                <a:solidFill>
                  <a:srgbClr val="566273"/>
                </a:solidFill>
                <a:latin typeface="Microsoft YaHei"/>
              </a:defRPr>
            </a:pPr>
            <a:r>
              <a:t>依据：相关文献；本体系待证</a:t>
            </a:r>
          </a:p>
        </p:txBody>
      </p:sp>
      <p:sp>
        <p:nvSpPr>
          <p:cNvPr id="33" name="Rectangle 32"/>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Chevron 33"/>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36" name="TextBox 35"/>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修正的是竞争路径与证据等级，不将任何候选支路包装成已经成立的催化循环。</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第一轮实验先拆分光、EAQ、介质和氧的作用</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所有组采用统一内标、校准、时间与温度记录；一次只改变一个主要因素</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14</a:t>
            </a:r>
          </a:p>
        </p:txBody>
      </p:sp>
      <p:sp>
        <p:nvSpPr>
          <p:cNvPr id="7" name="Rounded Rectangle 6"/>
          <p:cNvSpPr/>
          <p:nvPr/>
        </p:nvSpPr>
        <p:spPr>
          <a:xfrm>
            <a:off x="438912" y="1417320"/>
            <a:ext cx="5477256" cy="2066543"/>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542239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518464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光照 / 暗反应</a:t>
            </a:r>
          </a:p>
        </p:txBody>
      </p:sp>
      <p:sp>
        <p:nvSpPr>
          <p:cNvPr id="10" name="Oval 9"/>
          <p:cNvSpPr/>
          <p:nvPr/>
        </p:nvSpPr>
        <p:spPr>
          <a:xfrm>
            <a:off x="621792" y="197510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26364" y="1984248"/>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1</a:t>
            </a:r>
          </a:p>
        </p:txBody>
      </p:sp>
      <p:sp>
        <p:nvSpPr>
          <p:cNvPr id="12" name="TextBox 11"/>
          <p:cNvSpPr txBox="1"/>
          <p:nvPr/>
        </p:nvSpPr>
        <p:spPr>
          <a:xfrm>
            <a:off x="1005840" y="1984248"/>
            <a:ext cx="4599432" cy="347472"/>
          </a:xfrm>
          <a:prstGeom prst="rect">
            <a:avLst/>
          </a:prstGeom>
          <a:noFill/>
          <a:effectLst/>
        </p:spPr>
        <p:txBody>
          <a:bodyPr wrap="square" lIns="22860" rIns="22860" tIns="0" bIns="0">
            <a:spAutoFit/>
          </a:bodyPr>
          <a:lstStyle/>
          <a:p>
            <a:pPr>
              <a:spcAft>
                <a:spcPts val="600"/>
              </a:spcAft>
              <a:defRPr sz="1900" b="1">
                <a:solidFill>
                  <a:srgbClr val="063584"/>
                </a:solidFill>
                <a:latin typeface="Microsoft YaHei"/>
              </a:defRPr>
            </a:pPr>
            <a:r>
              <a:t>识别光驱动贡献</a:t>
            </a:r>
          </a:p>
        </p:txBody>
      </p:sp>
      <p:sp>
        <p:nvSpPr>
          <p:cNvPr id="13" name="TextBox 12"/>
          <p:cNvSpPr txBox="1"/>
          <p:nvPr/>
        </p:nvSpPr>
        <p:spPr>
          <a:xfrm>
            <a:off x="640080" y="2523744"/>
            <a:ext cx="5074920" cy="33832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同温、同取样；记录有效光通量</a:t>
            </a:r>
          </a:p>
        </p:txBody>
      </p:sp>
      <p:sp>
        <p:nvSpPr>
          <p:cNvPr id="14" name="TextBox 13"/>
          <p:cNvSpPr txBox="1"/>
          <p:nvPr/>
        </p:nvSpPr>
        <p:spPr>
          <a:xfrm>
            <a:off x="640080" y="2999232"/>
            <a:ext cx="5074920" cy="292608"/>
          </a:xfrm>
          <a:prstGeom prst="rect">
            <a:avLst/>
          </a:prstGeom>
          <a:noFill/>
          <a:effectLst/>
        </p:spPr>
        <p:txBody>
          <a:bodyPr wrap="square" lIns="22860" rIns="22860" tIns="0" bIns="0">
            <a:spAutoFit/>
          </a:bodyPr>
          <a:lstStyle/>
          <a:p>
            <a:pPr>
              <a:spcAft>
                <a:spcPts val="600"/>
              </a:spcAft>
              <a:defRPr sz="1400" b="1">
                <a:solidFill>
                  <a:srgbClr val="C00000"/>
                </a:solidFill>
                <a:latin typeface="Microsoft YaHei"/>
              </a:defRPr>
            </a:pPr>
            <a:r>
              <a:t>观察：底物回收与产物净生成</a:t>
            </a:r>
          </a:p>
        </p:txBody>
      </p:sp>
      <p:sp>
        <p:nvSpPr>
          <p:cNvPr id="15" name="Rounded Rectangle 14"/>
          <p:cNvSpPr/>
          <p:nvPr/>
        </p:nvSpPr>
        <p:spPr>
          <a:xfrm>
            <a:off x="6163056" y="1417320"/>
            <a:ext cx="5477256" cy="2066543"/>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ounded Rectangle 15"/>
          <p:cNvSpPr/>
          <p:nvPr/>
        </p:nvSpPr>
        <p:spPr>
          <a:xfrm>
            <a:off x="6190488" y="1444752"/>
            <a:ext cx="542239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309360" y="1495044"/>
            <a:ext cx="518464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有 / 无 EAQ；AQ / EAQ</a:t>
            </a:r>
          </a:p>
        </p:txBody>
      </p:sp>
      <p:sp>
        <p:nvSpPr>
          <p:cNvPr id="18" name="Oval 17"/>
          <p:cNvSpPr/>
          <p:nvPr/>
        </p:nvSpPr>
        <p:spPr>
          <a:xfrm>
            <a:off x="6345936" y="197510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350508" y="1984248"/>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2</a:t>
            </a:r>
          </a:p>
        </p:txBody>
      </p:sp>
      <p:sp>
        <p:nvSpPr>
          <p:cNvPr id="20" name="TextBox 19"/>
          <p:cNvSpPr txBox="1"/>
          <p:nvPr/>
        </p:nvSpPr>
        <p:spPr>
          <a:xfrm>
            <a:off x="6729984" y="1984248"/>
            <a:ext cx="4599432" cy="347472"/>
          </a:xfrm>
          <a:prstGeom prst="rect">
            <a:avLst/>
          </a:prstGeom>
          <a:noFill/>
          <a:effectLst/>
        </p:spPr>
        <p:txBody>
          <a:bodyPr wrap="square" lIns="22860" rIns="22860" tIns="0" bIns="0">
            <a:spAutoFit/>
          </a:bodyPr>
          <a:lstStyle/>
          <a:p>
            <a:pPr>
              <a:spcAft>
                <a:spcPts val="600"/>
              </a:spcAft>
              <a:defRPr sz="1900" b="1">
                <a:solidFill>
                  <a:srgbClr val="063584"/>
                </a:solidFill>
                <a:latin typeface="Microsoft YaHei"/>
              </a:defRPr>
            </a:pPr>
            <a:r>
              <a:t>量化光敏增益与取代基影响</a:t>
            </a:r>
          </a:p>
        </p:txBody>
      </p:sp>
      <p:sp>
        <p:nvSpPr>
          <p:cNvPr id="21" name="TextBox 20"/>
          <p:cNvSpPr txBox="1"/>
          <p:nvPr/>
        </p:nvSpPr>
        <p:spPr>
          <a:xfrm>
            <a:off x="6364224" y="2523744"/>
            <a:ext cx="5074920" cy="33832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匹配吸收；检查光敏剂稳定性</a:t>
            </a:r>
          </a:p>
        </p:txBody>
      </p:sp>
      <p:sp>
        <p:nvSpPr>
          <p:cNvPr id="22" name="TextBox 21"/>
          <p:cNvSpPr txBox="1"/>
          <p:nvPr/>
        </p:nvSpPr>
        <p:spPr>
          <a:xfrm>
            <a:off x="6364224" y="2999232"/>
            <a:ext cx="5074920" cy="292608"/>
          </a:xfrm>
          <a:prstGeom prst="rect">
            <a:avLst/>
          </a:prstGeom>
          <a:noFill/>
          <a:effectLst/>
        </p:spPr>
        <p:txBody>
          <a:bodyPr wrap="square" lIns="22860" rIns="22860" tIns="0" bIns="0">
            <a:spAutoFit/>
          </a:bodyPr>
          <a:lstStyle/>
          <a:p>
            <a:pPr>
              <a:spcAft>
                <a:spcPts val="600"/>
              </a:spcAft>
              <a:defRPr sz="1400" b="1">
                <a:solidFill>
                  <a:srgbClr val="C00000"/>
                </a:solidFill>
                <a:latin typeface="Microsoft YaHei"/>
              </a:defRPr>
            </a:pPr>
            <a:r>
              <a:t>观察：相对空白的净变化</a:t>
            </a:r>
          </a:p>
        </p:txBody>
      </p:sp>
      <p:sp>
        <p:nvSpPr>
          <p:cNvPr id="23" name="Rounded Rectangle 22"/>
          <p:cNvSpPr/>
          <p:nvPr/>
        </p:nvSpPr>
        <p:spPr>
          <a:xfrm>
            <a:off x="438912" y="3685032"/>
            <a:ext cx="5477256" cy="2066543"/>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ounded Rectangle 23"/>
          <p:cNvSpPr/>
          <p:nvPr/>
        </p:nvSpPr>
        <p:spPr>
          <a:xfrm>
            <a:off x="466344" y="3712464"/>
            <a:ext cx="542239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585216" y="3762756"/>
            <a:ext cx="518464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DCE / 非氯配对介质</a:t>
            </a:r>
          </a:p>
        </p:txBody>
      </p:sp>
      <p:sp>
        <p:nvSpPr>
          <p:cNvPr id="26" name="Oval 25"/>
          <p:cNvSpPr/>
          <p:nvPr/>
        </p:nvSpPr>
        <p:spPr>
          <a:xfrm>
            <a:off x="621792" y="4242816"/>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26364" y="4251960"/>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3</a:t>
            </a:r>
          </a:p>
        </p:txBody>
      </p:sp>
      <p:sp>
        <p:nvSpPr>
          <p:cNvPr id="28" name="TextBox 27"/>
          <p:cNvSpPr txBox="1"/>
          <p:nvPr/>
        </p:nvSpPr>
        <p:spPr>
          <a:xfrm>
            <a:off x="1005840" y="4251960"/>
            <a:ext cx="4599432" cy="347472"/>
          </a:xfrm>
          <a:prstGeom prst="rect">
            <a:avLst/>
          </a:prstGeom>
          <a:noFill/>
          <a:effectLst/>
        </p:spPr>
        <p:txBody>
          <a:bodyPr wrap="square" lIns="22860" rIns="22860" tIns="0" bIns="0">
            <a:spAutoFit/>
          </a:bodyPr>
          <a:lstStyle/>
          <a:p>
            <a:pPr>
              <a:spcAft>
                <a:spcPts val="600"/>
              </a:spcAft>
              <a:defRPr sz="1900" b="1">
                <a:solidFill>
                  <a:srgbClr val="063584"/>
                </a:solidFill>
                <a:latin typeface="Microsoft YaHei"/>
              </a:defRPr>
            </a:pPr>
            <a:r>
              <a:t>区分介质反应与物理效应</a:t>
            </a:r>
          </a:p>
        </p:txBody>
      </p:sp>
      <p:sp>
        <p:nvSpPr>
          <p:cNvPr id="29" name="TextBox 28"/>
          <p:cNvSpPr txBox="1"/>
          <p:nvPr/>
        </p:nvSpPr>
        <p:spPr>
          <a:xfrm>
            <a:off x="640080" y="4791456"/>
            <a:ext cx="5074920" cy="33832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控制溶解性、浓度与吸光</a:t>
            </a:r>
          </a:p>
        </p:txBody>
      </p:sp>
      <p:sp>
        <p:nvSpPr>
          <p:cNvPr id="30" name="TextBox 29"/>
          <p:cNvSpPr txBox="1"/>
          <p:nvPr/>
        </p:nvSpPr>
        <p:spPr>
          <a:xfrm>
            <a:off x="640080" y="5266944"/>
            <a:ext cx="5074920" cy="292608"/>
          </a:xfrm>
          <a:prstGeom prst="rect">
            <a:avLst/>
          </a:prstGeom>
          <a:noFill/>
          <a:effectLst/>
        </p:spPr>
        <p:txBody>
          <a:bodyPr wrap="square" lIns="22860" rIns="22860" tIns="0" bIns="0">
            <a:spAutoFit/>
          </a:bodyPr>
          <a:lstStyle/>
          <a:p>
            <a:pPr>
              <a:spcAft>
                <a:spcPts val="600"/>
              </a:spcAft>
              <a:defRPr sz="1400" b="1">
                <a:solidFill>
                  <a:srgbClr val="C00000"/>
                </a:solidFill>
                <a:latin typeface="Microsoft YaHei"/>
              </a:defRPr>
            </a:pPr>
            <a:r>
              <a:t>观察：相同候选产物的来源</a:t>
            </a:r>
          </a:p>
        </p:txBody>
      </p:sp>
      <p:sp>
        <p:nvSpPr>
          <p:cNvPr id="31" name="Rounded Rectangle 30"/>
          <p:cNvSpPr/>
          <p:nvPr/>
        </p:nvSpPr>
        <p:spPr>
          <a:xfrm>
            <a:off x="6163056" y="3685032"/>
            <a:ext cx="5477256" cy="2066543"/>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6190488" y="3712464"/>
            <a:ext cx="542239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6309360" y="3762756"/>
            <a:ext cx="518464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O₂ / N₂ / 空气</a:t>
            </a:r>
          </a:p>
        </p:txBody>
      </p:sp>
      <p:sp>
        <p:nvSpPr>
          <p:cNvPr id="34" name="Oval 33"/>
          <p:cNvSpPr/>
          <p:nvPr/>
        </p:nvSpPr>
        <p:spPr>
          <a:xfrm>
            <a:off x="6345936" y="4242816"/>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6350508" y="4251960"/>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4</a:t>
            </a:r>
          </a:p>
        </p:txBody>
      </p:sp>
      <p:sp>
        <p:nvSpPr>
          <p:cNvPr id="36" name="TextBox 35"/>
          <p:cNvSpPr txBox="1"/>
          <p:nvPr/>
        </p:nvSpPr>
        <p:spPr>
          <a:xfrm>
            <a:off x="6729984" y="4251960"/>
            <a:ext cx="4599432" cy="347472"/>
          </a:xfrm>
          <a:prstGeom prst="rect">
            <a:avLst/>
          </a:prstGeom>
          <a:noFill/>
          <a:effectLst/>
        </p:spPr>
        <p:txBody>
          <a:bodyPr wrap="square" lIns="22860" rIns="22860" tIns="0" bIns="0">
            <a:spAutoFit/>
          </a:bodyPr>
          <a:lstStyle/>
          <a:p>
            <a:pPr>
              <a:spcAft>
                <a:spcPts val="600"/>
              </a:spcAft>
              <a:defRPr sz="1900" b="1">
                <a:solidFill>
                  <a:srgbClr val="063584"/>
                </a:solidFill>
                <a:latin typeface="Microsoft YaHei"/>
              </a:defRPr>
            </a:pPr>
            <a:r>
              <a:t>分离氧作用与供气传质影响</a:t>
            </a:r>
          </a:p>
        </p:txBody>
      </p:sp>
      <p:sp>
        <p:nvSpPr>
          <p:cNvPr id="37" name="TextBox 36"/>
          <p:cNvSpPr txBox="1"/>
          <p:nvPr/>
        </p:nvSpPr>
        <p:spPr>
          <a:xfrm>
            <a:off x="6364224" y="4791456"/>
            <a:ext cx="5074920" cy="33832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残余氧、供气方式与搅拌一致</a:t>
            </a:r>
          </a:p>
        </p:txBody>
      </p:sp>
      <p:sp>
        <p:nvSpPr>
          <p:cNvPr id="38" name="TextBox 37"/>
          <p:cNvSpPr txBox="1"/>
          <p:nvPr/>
        </p:nvSpPr>
        <p:spPr>
          <a:xfrm>
            <a:off x="6364224" y="5266944"/>
            <a:ext cx="5074920" cy="292608"/>
          </a:xfrm>
          <a:prstGeom prst="rect">
            <a:avLst/>
          </a:prstGeom>
          <a:noFill/>
          <a:effectLst/>
        </p:spPr>
        <p:txBody>
          <a:bodyPr wrap="square" lIns="22860" rIns="22860" tIns="0" bIns="0">
            <a:spAutoFit/>
          </a:bodyPr>
          <a:lstStyle/>
          <a:p>
            <a:pPr>
              <a:spcAft>
                <a:spcPts val="600"/>
              </a:spcAft>
              <a:defRPr sz="1400" b="1">
                <a:solidFill>
                  <a:srgbClr val="C00000"/>
                </a:solidFill>
                <a:latin typeface="Microsoft YaHei"/>
              </a:defRPr>
            </a:pPr>
            <a:r>
              <a:t>观察：速率与产物分布变化</a:t>
            </a:r>
          </a:p>
        </p:txBody>
      </p:sp>
      <p:sp>
        <p:nvSpPr>
          <p:cNvPr id="39" name="Rectangle 38"/>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Chevron 39"/>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42" name="TextBox 41"/>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确认必要条件与介质背景后，再对特定自由基与再生路径作机制归属。</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第二轮实验以物种、氯与链长证据交叉约束机制</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不以单一捕获剂抑制或一条阳性信号作为完整机理证明</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Gardette et al., Macromolecules 1989, 22, 2576–2581. Qin et al., Appl. Catal. B: Environ. 2024, 341, 123355. Su et al., Angew. Chem. Int. Ed. 2026, e5578835.</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15</a:t>
            </a:r>
          </a:p>
        </p:txBody>
      </p:sp>
      <p:sp>
        <p:nvSpPr>
          <p:cNvPr id="7" name="Rounded Rectangle 6"/>
          <p:cNvSpPr/>
          <p:nvPr/>
        </p:nvSpPr>
        <p:spPr>
          <a:xfrm>
            <a:off x="438912" y="1417320"/>
            <a:ext cx="3602736" cy="340156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354787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331012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自由基 / ROS</a:t>
            </a:r>
          </a:p>
        </p:txBody>
      </p:sp>
      <p:sp>
        <p:nvSpPr>
          <p:cNvPr id="10" name="TextBox 9"/>
          <p:cNvSpPr txBox="1"/>
          <p:nvPr/>
        </p:nvSpPr>
        <p:spPr>
          <a:xfrm>
            <a:off x="603503" y="2020824"/>
            <a:ext cx="3273552" cy="640080"/>
          </a:xfrm>
          <a:prstGeom prst="rect">
            <a:avLst/>
          </a:prstGeom>
          <a:noFill/>
          <a:effectLst/>
        </p:spPr>
        <p:txBody>
          <a:bodyPr wrap="square" lIns="22860" rIns="22860" tIns="0" bIns="0">
            <a:spAutoFit/>
          </a:bodyPr>
          <a:lstStyle/>
          <a:p>
            <a:pPr algn="ctr">
              <a:spcAft>
                <a:spcPts val="600"/>
              </a:spcAft>
              <a:defRPr sz="1800" b="1">
                <a:solidFill>
                  <a:srgbClr val="111111"/>
                </a:solidFill>
                <a:latin typeface="Microsoft YaHei"/>
              </a:defRPr>
            </a:pPr>
            <a:r>
              <a:t>R· + 捕获剂 → 加合物</a:t>
            </a:r>
          </a:p>
        </p:txBody>
      </p:sp>
      <p:cxnSp>
        <p:nvCxnSpPr>
          <p:cNvPr id="11" name="Connector 10"/>
          <p:cNvCxnSpPr/>
          <p:nvPr/>
        </p:nvCxnSpPr>
        <p:spPr>
          <a:xfrm>
            <a:off x="2240280" y="2807208"/>
            <a:ext cx="0" cy="27432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03503" y="3264408"/>
            <a:ext cx="3273552" cy="393192"/>
          </a:xfrm>
          <a:prstGeom prst="rect">
            <a:avLst/>
          </a:prstGeom>
          <a:noFill/>
          <a:effectLst/>
        </p:spPr>
        <p:txBody>
          <a:bodyPr wrap="square" lIns="22860" rIns="22860" tIns="0" bIns="0">
            <a:spAutoFit/>
          </a:bodyPr>
          <a:lstStyle/>
          <a:p>
            <a:pPr algn="ctr">
              <a:spcAft>
                <a:spcPts val="600"/>
              </a:spcAft>
              <a:defRPr sz="1900" b="1">
                <a:solidFill>
                  <a:srgbClr val="063584"/>
                </a:solidFill>
                <a:latin typeface="Microsoft YaHei"/>
              </a:defRPr>
            </a:pPr>
            <a:r>
              <a:t>EPR + 化学捕获</a:t>
            </a:r>
          </a:p>
        </p:txBody>
      </p:sp>
      <p:sp>
        <p:nvSpPr>
          <p:cNvPr id="13" name="TextBox 12"/>
          <p:cNvSpPr txBox="1"/>
          <p:nvPr/>
        </p:nvSpPr>
        <p:spPr>
          <a:xfrm>
            <a:off x="603503" y="3913632"/>
            <a:ext cx="3273552" cy="603504"/>
          </a:xfrm>
          <a:prstGeom prst="rect">
            <a:avLst/>
          </a:prstGeom>
          <a:noFill/>
          <a:effectLst/>
        </p:spPr>
        <p:txBody>
          <a:bodyPr wrap="square" lIns="22860" rIns="22860" tIns="0" bIns="0">
            <a:spAutoFit/>
          </a:bodyPr>
          <a:lstStyle/>
          <a:p>
            <a:pPr algn="ctr">
              <a:spcAft>
                <a:spcPts val="600"/>
              </a:spcAft>
              <a:defRPr sz="1400" b="0">
                <a:solidFill>
                  <a:srgbClr val="566273"/>
                </a:solidFill>
                <a:latin typeface="Microsoft YaHei"/>
              </a:defRPr>
            </a:pPr>
            <a:r>
              <a:t>探针空白、模拟与选择性</a:t>
            </a:r>
          </a:p>
          <a:p>
            <a:pPr algn="ctr">
              <a:spcAft>
                <a:spcPts val="600"/>
              </a:spcAft>
              <a:defRPr sz="1400" b="0">
                <a:solidFill>
                  <a:srgbClr val="566273"/>
                </a:solidFill>
                <a:latin typeface="Microsoft YaHei"/>
              </a:defRPr>
            </a:pPr>
            <a:r>
              <a:t>区分 Cl·、R· 和氧相关物种</a:t>
            </a:r>
          </a:p>
        </p:txBody>
      </p:sp>
      <p:sp>
        <p:nvSpPr>
          <p:cNvPr id="14" name="Rounded Rectangle 13"/>
          <p:cNvSpPr/>
          <p:nvPr/>
        </p:nvSpPr>
        <p:spPr>
          <a:xfrm>
            <a:off x="4233672" y="1417320"/>
            <a:ext cx="3602736" cy="340156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ounded Rectangle 14"/>
          <p:cNvSpPr/>
          <p:nvPr/>
        </p:nvSpPr>
        <p:spPr>
          <a:xfrm>
            <a:off x="4261104" y="1444752"/>
            <a:ext cx="354787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379976" y="1495044"/>
            <a:ext cx="331012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氯的去向</a:t>
            </a:r>
          </a:p>
        </p:txBody>
      </p:sp>
      <p:sp>
        <p:nvSpPr>
          <p:cNvPr id="17" name="TextBox 16"/>
          <p:cNvSpPr txBox="1"/>
          <p:nvPr/>
        </p:nvSpPr>
        <p:spPr>
          <a:xfrm>
            <a:off x="4398264" y="2020824"/>
            <a:ext cx="3273552" cy="640080"/>
          </a:xfrm>
          <a:prstGeom prst="rect">
            <a:avLst/>
          </a:prstGeom>
          <a:noFill/>
          <a:effectLst/>
        </p:spPr>
        <p:txBody>
          <a:bodyPr wrap="square" lIns="22860" rIns="22860" tIns="0" bIns="0">
            <a:spAutoFit/>
          </a:bodyPr>
          <a:lstStyle/>
          <a:p>
            <a:pPr algn="ctr">
              <a:spcAft>
                <a:spcPts val="600"/>
              </a:spcAft>
              <a:defRPr sz="1800" b="1">
                <a:solidFill>
                  <a:srgbClr val="111111"/>
                </a:solidFill>
                <a:latin typeface="Microsoft YaHei"/>
              </a:defRPr>
            </a:pPr>
            <a:r>
              <a:t>C–Cl → 含氯产物 / Cl⁻</a:t>
            </a:r>
          </a:p>
        </p:txBody>
      </p:sp>
      <p:cxnSp>
        <p:nvCxnSpPr>
          <p:cNvPr id="18" name="Connector 17"/>
          <p:cNvCxnSpPr/>
          <p:nvPr/>
        </p:nvCxnSpPr>
        <p:spPr>
          <a:xfrm>
            <a:off x="6035040" y="2807208"/>
            <a:ext cx="0" cy="27432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4398264" y="3264408"/>
            <a:ext cx="3273552" cy="393192"/>
          </a:xfrm>
          <a:prstGeom prst="rect">
            <a:avLst/>
          </a:prstGeom>
          <a:noFill/>
          <a:effectLst/>
        </p:spPr>
        <p:txBody>
          <a:bodyPr wrap="square" lIns="22860" rIns="22860" tIns="0" bIns="0">
            <a:spAutoFit/>
          </a:bodyPr>
          <a:lstStyle/>
          <a:p>
            <a:pPr algn="ctr">
              <a:spcAft>
                <a:spcPts val="600"/>
              </a:spcAft>
              <a:defRPr sz="1900" b="1">
                <a:solidFill>
                  <a:srgbClr val="063584"/>
                </a:solidFill>
                <a:latin typeface="Microsoft YaHei"/>
              </a:defRPr>
            </a:pPr>
            <a:r>
              <a:t>Cl⁻ + 总氯 / 有机氯</a:t>
            </a:r>
          </a:p>
        </p:txBody>
      </p:sp>
      <p:sp>
        <p:nvSpPr>
          <p:cNvPr id="20" name="TextBox 19"/>
          <p:cNvSpPr txBox="1"/>
          <p:nvPr/>
        </p:nvSpPr>
        <p:spPr>
          <a:xfrm>
            <a:off x="4398264" y="3913632"/>
            <a:ext cx="3273552" cy="603504"/>
          </a:xfrm>
          <a:prstGeom prst="rect">
            <a:avLst/>
          </a:prstGeom>
          <a:noFill/>
          <a:effectLst/>
        </p:spPr>
        <p:txBody>
          <a:bodyPr wrap="square" lIns="22860" rIns="22860" tIns="0" bIns="0">
            <a:spAutoFit/>
          </a:bodyPr>
          <a:lstStyle/>
          <a:p>
            <a:pPr algn="ctr">
              <a:spcAft>
                <a:spcPts val="600"/>
              </a:spcAft>
              <a:defRPr sz="1400" b="0">
                <a:solidFill>
                  <a:srgbClr val="566273"/>
                </a:solidFill>
                <a:latin typeface="Microsoft YaHei"/>
              </a:defRPr>
            </a:pPr>
            <a:r>
              <a:t>覆盖固、液、气相回收</a:t>
            </a:r>
          </a:p>
          <a:p>
            <a:pPr algn="ctr">
              <a:spcAft>
                <a:spcPts val="600"/>
              </a:spcAft>
              <a:defRPr sz="1400" b="0">
                <a:solidFill>
                  <a:srgbClr val="566273"/>
                </a:solidFill>
                <a:latin typeface="Microsoft YaHei"/>
              </a:defRPr>
            </a:pPr>
            <a:r>
              <a:t>Cl⁻ 释放不直接证明 Cl·</a:t>
            </a:r>
          </a:p>
        </p:txBody>
      </p:sp>
      <p:sp>
        <p:nvSpPr>
          <p:cNvPr id="21" name="Rounded Rectangle 20"/>
          <p:cNvSpPr/>
          <p:nvPr/>
        </p:nvSpPr>
        <p:spPr>
          <a:xfrm>
            <a:off x="8028432" y="1417320"/>
            <a:ext cx="3602736" cy="340156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ounded Rectangle 21"/>
          <p:cNvSpPr/>
          <p:nvPr/>
        </p:nvSpPr>
        <p:spPr>
          <a:xfrm>
            <a:off x="8055864" y="1444752"/>
            <a:ext cx="354787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174736" y="1495044"/>
            <a:ext cx="331012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聚合物链变化</a:t>
            </a:r>
          </a:p>
        </p:txBody>
      </p:sp>
      <p:sp>
        <p:nvSpPr>
          <p:cNvPr id="24" name="TextBox 23"/>
          <p:cNvSpPr txBox="1"/>
          <p:nvPr/>
        </p:nvSpPr>
        <p:spPr>
          <a:xfrm>
            <a:off x="8193024" y="2020824"/>
            <a:ext cx="3273552" cy="640080"/>
          </a:xfrm>
          <a:prstGeom prst="rect">
            <a:avLst/>
          </a:prstGeom>
          <a:noFill/>
          <a:effectLst/>
        </p:spPr>
        <p:txBody>
          <a:bodyPr wrap="square" lIns="22860" rIns="22860" tIns="0" bIns="0">
            <a:spAutoFit/>
          </a:bodyPr>
          <a:lstStyle/>
          <a:p>
            <a:pPr algn="ctr">
              <a:spcAft>
                <a:spcPts val="600"/>
              </a:spcAft>
              <a:defRPr sz="1800" b="1">
                <a:solidFill>
                  <a:srgbClr val="111111"/>
                </a:solidFill>
                <a:latin typeface="Microsoft YaHei"/>
              </a:defRPr>
            </a:pPr>
            <a:r>
              <a:t>长链 → 低聚物 / 凝胶</a:t>
            </a:r>
          </a:p>
        </p:txBody>
      </p:sp>
      <p:cxnSp>
        <p:nvCxnSpPr>
          <p:cNvPr id="25" name="Connector 24"/>
          <p:cNvCxnSpPr/>
          <p:nvPr/>
        </p:nvCxnSpPr>
        <p:spPr>
          <a:xfrm>
            <a:off x="9829800" y="2807208"/>
            <a:ext cx="0" cy="27432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8193024" y="3264408"/>
            <a:ext cx="3273552" cy="393192"/>
          </a:xfrm>
          <a:prstGeom prst="rect">
            <a:avLst/>
          </a:prstGeom>
          <a:noFill/>
          <a:effectLst/>
        </p:spPr>
        <p:txBody>
          <a:bodyPr wrap="square" lIns="22860" rIns="22860" tIns="0" bIns="0">
            <a:spAutoFit/>
          </a:bodyPr>
          <a:lstStyle/>
          <a:p>
            <a:pPr algn="ctr">
              <a:spcAft>
                <a:spcPts val="600"/>
              </a:spcAft>
              <a:defRPr sz="1900" b="1">
                <a:solidFill>
                  <a:srgbClr val="063584"/>
                </a:solidFill>
                <a:latin typeface="Microsoft YaHei"/>
              </a:defRPr>
            </a:pPr>
            <a:r>
              <a:t>SEC/GPC + 凝胶分数</a:t>
            </a:r>
          </a:p>
        </p:txBody>
      </p:sp>
      <p:sp>
        <p:nvSpPr>
          <p:cNvPr id="27" name="TextBox 26"/>
          <p:cNvSpPr txBox="1"/>
          <p:nvPr/>
        </p:nvSpPr>
        <p:spPr>
          <a:xfrm>
            <a:off x="8193024" y="3913632"/>
            <a:ext cx="3273552" cy="603504"/>
          </a:xfrm>
          <a:prstGeom prst="rect">
            <a:avLst/>
          </a:prstGeom>
          <a:noFill/>
          <a:effectLst/>
        </p:spPr>
        <p:txBody>
          <a:bodyPr wrap="square" lIns="22860" rIns="22860" tIns="0" bIns="0">
            <a:spAutoFit/>
          </a:bodyPr>
          <a:lstStyle/>
          <a:p>
            <a:pPr algn="ctr">
              <a:spcAft>
                <a:spcPts val="600"/>
              </a:spcAft>
              <a:defRPr sz="1400" b="0">
                <a:solidFill>
                  <a:srgbClr val="566273"/>
                </a:solidFill>
                <a:latin typeface="Microsoft YaHei"/>
              </a:defRPr>
            </a:pPr>
            <a:r>
              <a:t>兼顾可溶与不溶组分</a:t>
            </a:r>
          </a:p>
          <a:p>
            <a:pPr algn="ctr">
              <a:spcAft>
                <a:spcPts val="600"/>
              </a:spcAft>
              <a:defRPr sz="1400" b="0">
                <a:solidFill>
                  <a:srgbClr val="566273"/>
                </a:solidFill>
                <a:latin typeface="Microsoft YaHei"/>
              </a:defRPr>
            </a:pPr>
            <a:r>
              <a:t>官能团变化不替代链长证据</a:t>
            </a:r>
          </a:p>
        </p:txBody>
      </p:sp>
      <p:sp>
        <p:nvSpPr>
          <p:cNvPr id="28" name="Rounded Rectangle 27"/>
          <p:cNvSpPr/>
          <p:nvPr/>
        </p:nvSpPr>
        <p:spPr>
          <a:xfrm>
            <a:off x="438912" y="5020056"/>
            <a:ext cx="11201400"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58368" y="5184648"/>
            <a:ext cx="10744200" cy="393192"/>
          </a:xfrm>
          <a:prstGeom prst="rect">
            <a:avLst/>
          </a:prstGeom>
          <a:noFill/>
          <a:effectLst/>
        </p:spPr>
        <p:txBody>
          <a:bodyPr wrap="square" lIns="22860" rIns="22860" tIns="0" bIns="0">
            <a:spAutoFit/>
          </a:bodyPr>
          <a:lstStyle/>
          <a:p>
            <a:pPr>
              <a:spcAft>
                <a:spcPts val="600"/>
              </a:spcAft>
              <a:defRPr sz="1500" b="1">
                <a:solidFill>
                  <a:srgbClr val="063584"/>
                </a:solidFill>
                <a:latin typeface="Microsoft YaHei"/>
              </a:defRPr>
            </a:pPr>
            <a:r>
              <a:t>共同闭环：GC-MS / 标准品 / NMR 确认产物与定量；跟踪 EAQ 组分以检验稳定性与再生。</a:t>
            </a:r>
          </a:p>
        </p:txBody>
      </p:sp>
      <p:sp>
        <p:nvSpPr>
          <p:cNvPr id="30" name="Rectangle 29"/>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Chevron 30"/>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33" name="TextBox 32"/>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物种识别、物料去向、链长与产物相互约束，才能支持 PVC 主链断裂的机制解释。</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下一步实验按分析确认、底物扩展和机制检验逐级推进</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以阶段输出作为推进判据；先完成最有区分度的实验，避免堆叠缺少归属的阳性结果</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16</a:t>
            </a:r>
          </a:p>
        </p:txBody>
      </p:sp>
      <p:cxnSp>
        <p:nvCxnSpPr>
          <p:cNvPr id="7" name="Connector 6"/>
          <p:cNvCxnSpPr/>
          <p:nvPr/>
        </p:nvCxnSpPr>
        <p:spPr>
          <a:xfrm>
            <a:off x="896112" y="1901952"/>
            <a:ext cx="10232136" cy="0"/>
          </a:xfrm>
          <a:prstGeom prst="line">
            <a:avLst/>
          </a:prstGeom>
          <a:ln w="254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8" name="Oval 7"/>
          <p:cNvSpPr/>
          <p:nvPr/>
        </p:nvSpPr>
        <p:spPr>
          <a:xfrm>
            <a:off x="1298448" y="1737360"/>
            <a:ext cx="329184" cy="329184"/>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303019" y="1746504"/>
            <a:ext cx="320040" cy="320040"/>
          </a:xfrm>
          <a:prstGeom prst="rect">
            <a:avLst/>
          </a:prstGeom>
          <a:noFill/>
          <a:effectLst/>
        </p:spPr>
        <p:txBody>
          <a:bodyPr wrap="square" lIns="22860" rIns="22860" tIns="0" bIns="0">
            <a:spAutoFit/>
          </a:bodyPr>
          <a:lstStyle/>
          <a:p>
            <a:pPr algn="ctr">
              <a:spcAft>
                <a:spcPts val="600"/>
              </a:spcAft>
              <a:defRPr sz="1600" b="1">
                <a:solidFill>
                  <a:srgbClr val="FFFFFF"/>
                </a:solidFill>
                <a:latin typeface="Microsoft YaHei"/>
              </a:defRPr>
            </a:pPr>
            <a:r>
              <a:t>1</a:t>
            </a:r>
          </a:p>
        </p:txBody>
      </p:sp>
      <p:sp>
        <p:nvSpPr>
          <p:cNvPr id="10" name="TextBox 9"/>
          <p:cNvSpPr txBox="1"/>
          <p:nvPr/>
        </p:nvSpPr>
        <p:spPr>
          <a:xfrm>
            <a:off x="484632" y="2414016"/>
            <a:ext cx="2084831" cy="356616"/>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确认分析</a:t>
            </a:r>
          </a:p>
        </p:txBody>
      </p:sp>
      <p:sp>
        <p:nvSpPr>
          <p:cNvPr id="11" name="TextBox 10"/>
          <p:cNvSpPr txBox="1"/>
          <p:nvPr/>
        </p:nvSpPr>
        <p:spPr>
          <a:xfrm>
            <a:off x="484632" y="3081528"/>
            <a:ext cx="2084831" cy="758952"/>
          </a:xfrm>
          <a:prstGeom prst="rect">
            <a:avLst/>
          </a:prstGeom>
          <a:noFill/>
          <a:effectLst/>
        </p:spPr>
        <p:txBody>
          <a:bodyPr wrap="square" lIns="22860" rIns="22860" tIns="0" bIns="0">
            <a:spAutoFit/>
          </a:bodyPr>
          <a:lstStyle/>
          <a:p>
            <a:pPr algn="ctr">
              <a:spcAft>
                <a:spcPts val="600"/>
              </a:spcAft>
              <a:defRPr sz="1600" b="0">
                <a:solidFill>
                  <a:srgbClr val="111111"/>
                </a:solidFill>
                <a:latin typeface="Microsoft YaHei"/>
              </a:defRPr>
            </a:pPr>
            <a:r>
              <a:t>原始色谱、峰归属</a:t>
            </a:r>
          </a:p>
          <a:p>
            <a:pPr algn="ctr">
              <a:spcAft>
                <a:spcPts val="600"/>
              </a:spcAft>
              <a:defRPr sz="1600" b="0">
                <a:solidFill>
                  <a:srgbClr val="111111"/>
                </a:solidFill>
                <a:latin typeface="Microsoft YaHei"/>
              </a:defRPr>
            </a:pPr>
            <a:r>
              <a:t>内标、校准、回收率</a:t>
            </a:r>
          </a:p>
        </p:txBody>
      </p:sp>
      <p:cxnSp>
        <p:nvCxnSpPr>
          <p:cNvPr id="12" name="Connector 11"/>
          <p:cNvCxnSpPr/>
          <p:nvPr/>
        </p:nvCxnSpPr>
        <p:spPr>
          <a:xfrm>
            <a:off x="640080" y="4178808"/>
            <a:ext cx="1737360" cy="0"/>
          </a:xfrm>
          <a:prstGeom prst="line">
            <a:avLst/>
          </a:prstGeom>
          <a:ln w="12700">
            <a:solidFill>
              <a:srgbClr val="C9D5E8"/>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484632" y="4517136"/>
            <a:ext cx="2084831" cy="704088"/>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产物与底物消耗可对应</a:t>
            </a:r>
          </a:p>
        </p:txBody>
      </p:sp>
      <p:sp>
        <p:nvSpPr>
          <p:cNvPr id="14" name="Oval 13"/>
          <p:cNvSpPr/>
          <p:nvPr/>
        </p:nvSpPr>
        <p:spPr>
          <a:xfrm>
            <a:off x="3575303" y="1737360"/>
            <a:ext cx="329184" cy="329184"/>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3579876" y="1746504"/>
            <a:ext cx="320040" cy="320040"/>
          </a:xfrm>
          <a:prstGeom prst="rect">
            <a:avLst/>
          </a:prstGeom>
          <a:noFill/>
          <a:effectLst/>
        </p:spPr>
        <p:txBody>
          <a:bodyPr wrap="square" lIns="22860" rIns="22860" tIns="0" bIns="0">
            <a:spAutoFit/>
          </a:bodyPr>
          <a:lstStyle/>
          <a:p>
            <a:pPr algn="ctr">
              <a:spcAft>
                <a:spcPts val="600"/>
              </a:spcAft>
              <a:defRPr sz="1600" b="1">
                <a:solidFill>
                  <a:srgbClr val="FFFFFF"/>
                </a:solidFill>
                <a:latin typeface="Microsoft YaHei"/>
              </a:defRPr>
            </a:pPr>
            <a:r>
              <a:t>2</a:t>
            </a:r>
          </a:p>
        </p:txBody>
      </p:sp>
      <p:sp>
        <p:nvSpPr>
          <p:cNvPr id="16" name="TextBox 15"/>
          <p:cNvSpPr txBox="1"/>
          <p:nvPr/>
        </p:nvSpPr>
        <p:spPr>
          <a:xfrm>
            <a:off x="2761488" y="2414016"/>
            <a:ext cx="2084831" cy="356616"/>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优化模型</a:t>
            </a:r>
          </a:p>
        </p:txBody>
      </p:sp>
      <p:sp>
        <p:nvSpPr>
          <p:cNvPr id="17" name="TextBox 16"/>
          <p:cNvSpPr txBox="1"/>
          <p:nvPr/>
        </p:nvSpPr>
        <p:spPr>
          <a:xfrm>
            <a:off x="2761488" y="3081528"/>
            <a:ext cx="2084831" cy="758952"/>
          </a:xfrm>
          <a:prstGeom prst="rect">
            <a:avLst/>
          </a:prstGeom>
          <a:noFill/>
          <a:effectLst/>
        </p:spPr>
        <p:txBody>
          <a:bodyPr wrap="square" lIns="22860" rIns="22860" tIns="0" bIns="0">
            <a:spAutoFit/>
          </a:bodyPr>
          <a:lstStyle/>
          <a:p>
            <a:pPr algn="ctr">
              <a:spcAft>
                <a:spcPts val="600"/>
              </a:spcAft>
              <a:defRPr sz="1600" b="0">
                <a:solidFill>
                  <a:srgbClr val="111111"/>
                </a:solidFill>
                <a:latin typeface="Microsoft YaHei"/>
              </a:defRPr>
            </a:pPr>
            <a:r>
              <a:t>2-氯己烷等模型</a:t>
            </a:r>
          </a:p>
          <a:p>
            <a:pPr algn="ctr">
              <a:spcAft>
                <a:spcPts val="600"/>
              </a:spcAft>
              <a:defRPr sz="1600" b="0">
                <a:solidFill>
                  <a:srgbClr val="111111"/>
                </a:solidFill>
                <a:latin typeface="Microsoft YaHei"/>
              </a:defRPr>
            </a:pPr>
            <a:r>
              <a:t>介质、波长与气氛</a:t>
            </a:r>
          </a:p>
        </p:txBody>
      </p:sp>
      <p:cxnSp>
        <p:nvCxnSpPr>
          <p:cNvPr id="18" name="Connector 17"/>
          <p:cNvCxnSpPr/>
          <p:nvPr/>
        </p:nvCxnSpPr>
        <p:spPr>
          <a:xfrm>
            <a:off x="2916936" y="4178808"/>
            <a:ext cx="1737360" cy="0"/>
          </a:xfrm>
          <a:prstGeom prst="line">
            <a:avLst/>
          </a:prstGeom>
          <a:ln w="12700">
            <a:solidFill>
              <a:srgbClr val="C9D5E8"/>
            </a:solidFill>
          </a:ln>
          <a:effectLst/>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2761488" y="4517136"/>
            <a:ext cx="2084831" cy="704088"/>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可重复的局部反应</a:t>
            </a:r>
          </a:p>
        </p:txBody>
      </p:sp>
      <p:sp>
        <p:nvSpPr>
          <p:cNvPr id="20" name="Oval 19"/>
          <p:cNvSpPr/>
          <p:nvPr/>
        </p:nvSpPr>
        <p:spPr>
          <a:xfrm>
            <a:off x="5852160" y="1737360"/>
            <a:ext cx="329184" cy="329184"/>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856732" y="1746504"/>
            <a:ext cx="320040" cy="320040"/>
          </a:xfrm>
          <a:prstGeom prst="rect">
            <a:avLst/>
          </a:prstGeom>
          <a:noFill/>
          <a:effectLst/>
        </p:spPr>
        <p:txBody>
          <a:bodyPr wrap="square" lIns="22860" rIns="22860" tIns="0" bIns="0">
            <a:spAutoFit/>
          </a:bodyPr>
          <a:lstStyle/>
          <a:p>
            <a:pPr algn="ctr">
              <a:spcAft>
                <a:spcPts val="600"/>
              </a:spcAft>
              <a:defRPr sz="1600" b="1">
                <a:solidFill>
                  <a:srgbClr val="FFFFFF"/>
                </a:solidFill>
                <a:latin typeface="Microsoft YaHei"/>
              </a:defRPr>
            </a:pPr>
            <a:r>
              <a:t>3</a:t>
            </a:r>
          </a:p>
        </p:txBody>
      </p:sp>
      <p:sp>
        <p:nvSpPr>
          <p:cNvPr id="22" name="TextBox 21"/>
          <p:cNvSpPr txBox="1"/>
          <p:nvPr/>
        </p:nvSpPr>
        <p:spPr>
          <a:xfrm>
            <a:off x="5038344" y="2414016"/>
            <a:ext cx="2084831" cy="356616"/>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扩展底物</a:t>
            </a:r>
          </a:p>
        </p:txBody>
      </p:sp>
      <p:sp>
        <p:nvSpPr>
          <p:cNvPr id="23" name="TextBox 22"/>
          <p:cNvSpPr txBox="1"/>
          <p:nvPr/>
        </p:nvSpPr>
        <p:spPr>
          <a:xfrm>
            <a:off x="5038344" y="3081528"/>
            <a:ext cx="2084831" cy="758952"/>
          </a:xfrm>
          <a:prstGeom prst="rect">
            <a:avLst/>
          </a:prstGeom>
          <a:noFill/>
          <a:effectLst/>
        </p:spPr>
        <p:txBody>
          <a:bodyPr wrap="square" lIns="22860" rIns="22860" tIns="0" bIns="0">
            <a:spAutoFit/>
          </a:bodyPr>
          <a:lstStyle/>
          <a:p>
            <a:pPr algn="ctr">
              <a:spcAft>
                <a:spcPts val="600"/>
              </a:spcAft>
              <a:defRPr sz="1600" b="0">
                <a:solidFill>
                  <a:srgbClr val="111111"/>
                </a:solidFill>
                <a:latin typeface="Microsoft YaHei"/>
              </a:defRPr>
            </a:pPr>
            <a:r>
              <a:t>氯代石蜡等</a:t>
            </a:r>
          </a:p>
          <a:p>
            <a:pPr algn="ctr">
              <a:spcAft>
                <a:spcPts val="600"/>
              </a:spcAft>
              <a:defRPr sz="1600" b="0">
                <a:solidFill>
                  <a:srgbClr val="111111"/>
                </a:solidFill>
                <a:latin typeface="Microsoft YaHei"/>
              </a:defRPr>
            </a:pPr>
            <a:r>
              <a:t>连续含氯位点</a:t>
            </a:r>
          </a:p>
        </p:txBody>
      </p:sp>
      <p:cxnSp>
        <p:nvCxnSpPr>
          <p:cNvPr id="24" name="Connector 23"/>
          <p:cNvCxnSpPr/>
          <p:nvPr/>
        </p:nvCxnSpPr>
        <p:spPr>
          <a:xfrm>
            <a:off x="5193792" y="4178808"/>
            <a:ext cx="1737360" cy="0"/>
          </a:xfrm>
          <a:prstGeom prst="line">
            <a:avLst/>
          </a:prstGeom>
          <a:ln w="12700">
            <a:solidFill>
              <a:srgbClr val="C9D5E8"/>
            </a:solidFill>
          </a:ln>
          <a:effectLst/>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5038344" y="4517136"/>
            <a:ext cx="2084831" cy="704088"/>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模型结论的适用范围</a:t>
            </a:r>
          </a:p>
        </p:txBody>
      </p:sp>
      <p:sp>
        <p:nvSpPr>
          <p:cNvPr id="26" name="Oval 25"/>
          <p:cNvSpPr/>
          <p:nvPr/>
        </p:nvSpPr>
        <p:spPr>
          <a:xfrm>
            <a:off x="8129016" y="1737360"/>
            <a:ext cx="329184" cy="329184"/>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8133588" y="1746504"/>
            <a:ext cx="320040" cy="320040"/>
          </a:xfrm>
          <a:prstGeom prst="rect">
            <a:avLst/>
          </a:prstGeom>
          <a:noFill/>
          <a:effectLst/>
        </p:spPr>
        <p:txBody>
          <a:bodyPr wrap="square" lIns="22860" rIns="22860" tIns="0" bIns="0">
            <a:spAutoFit/>
          </a:bodyPr>
          <a:lstStyle/>
          <a:p>
            <a:pPr algn="ctr">
              <a:spcAft>
                <a:spcPts val="600"/>
              </a:spcAft>
              <a:defRPr sz="1600" b="1">
                <a:solidFill>
                  <a:srgbClr val="FFFFFF"/>
                </a:solidFill>
                <a:latin typeface="Microsoft YaHei"/>
              </a:defRPr>
            </a:pPr>
            <a:r>
              <a:t>4</a:t>
            </a:r>
          </a:p>
        </p:txBody>
      </p:sp>
      <p:sp>
        <p:nvSpPr>
          <p:cNvPr id="28" name="TextBox 27"/>
          <p:cNvSpPr txBox="1"/>
          <p:nvPr/>
        </p:nvSpPr>
        <p:spPr>
          <a:xfrm>
            <a:off x="7315200" y="2414016"/>
            <a:ext cx="2084831" cy="356616"/>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进入 PVC</a:t>
            </a:r>
          </a:p>
        </p:txBody>
      </p:sp>
      <p:sp>
        <p:nvSpPr>
          <p:cNvPr id="29" name="TextBox 28"/>
          <p:cNvSpPr txBox="1"/>
          <p:nvPr/>
        </p:nvSpPr>
        <p:spPr>
          <a:xfrm>
            <a:off x="7315200" y="3081528"/>
            <a:ext cx="2084831" cy="758952"/>
          </a:xfrm>
          <a:prstGeom prst="rect">
            <a:avLst/>
          </a:prstGeom>
          <a:noFill/>
          <a:effectLst/>
        </p:spPr>
        <p:txBody>
          <a:bodyPr wrap="square" lIns="22860" rIns="22860" tIns="0" bIns="0">
            <a:spAutoFit/>
          </a:bodyPr>
          <a:lstStyle/>
          <a:p>
            <a:pPr algn="ctr">
              <a:spcAft>
                <a:spcPts val="600"/>
              </a:spcAft>
              <a:defRPr sz="1600" b="0">
                <a:solidFill>
                  <a:srgbClr val="111111"/>
                </a:solidFill>
                <a:latin typeface="Microsoft YaHei"/>
              </a:defRPr>
            </a:pPr>
            <a:r>
              <a:t>氯平衡、SEC/GPC</a:t>
            </a:r>
          </a:p>
          <a:p>
            <a:pPr algn="ctr">
              <a:spcAft>
                <a:spcPts val="600"/>
              </a:spcAft>
              <a:defRPr sz="1600" b="0">
                <a:solidFill>
                  <a:srgbClr val="111111"/>
                </a:solidFill>
                <a:latin typeface="Microsoft YaHei"/>
              </a:defRPr>
            </a:pPr>
            <a:r>
              <a:t>凝胶与产物分析</a:t>
            </a:r>
          </a:p>
        </p:txBody>
      </p:sp>
      <p:cxnSp>
        <p:nvCxnSpPr>
          <p:cNvPr id="30" name="Connector 29"/>
          <p:cNvCxnSpPr/>
          <p:nvPr/>
        </p:nvCxnSpPr>
        <p:spPr>
          <a:xfrm>
            <a:off x="7470648" y="4178808"/>
            <a:ext cx="1737360" cy="0"/>
          </a:xfrm>
          <a:prstGeom prst="line">
            <a:avLst/>
          </a:prstGeom>
          <a:ln w="12700">
            <a:solidFill>
              <a:srgbClr val="C9D5E8"/>
            </a:solidFill>
          </a:ln>
          <a:effectLst/>
        </p:spPr>
        <p:style>
          <a:lnRef idx="2">
            <a:schemeClr val="accent1"/>
          </a:lnRef>
          <a:fillRef idx="0">
            <a:schemeClr val="accent1"/>
          </a:fillRef>
          <a:effectRef idx="0">
            <a:schemeClr val="accent1"/>
          </a:effectRef>
          <a:fontRef idx="minor">
            <a:schemeClr val="tx1"/>
          </a:fontRef>
        </p:style>
      </p:cxnSp>
      <p:sp>
        <p:nvSpPr>
          <p:cNvPr id="31" name="TextBox 30"/>
          <p:cNvSpPr txBox="1"/>
          <p:nvPr/>
        </p:nvSpPr>
        <p:spPr>
          <a:xfrm>
            <a:off x="7315200" y="4517136"/>
            <a:ext cx="2084831" cy="704088"/>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独立判断主链变化</a:t>
            </a:r>
          </a:p>
        </p:txBody>
      </p:sp>
      <p:sp>
        <p:nvSpPr>
          <p:cNvPr id="32" name="Oval 31"/>
          <p:cNvSpPr/>
          <p:nvPr/>
        </p:nvSpPr>
        <p:spPr>
          <a:xfrm>
            <a:off x="10405872" y="1737360"/>
            <a:ext cx="329184" cy="329184"/>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10410444" y="1746504"/>
            <a:ext cx="320040" cy="320040"/>
          </a:xfrm>
          <a:prstGeom prst="rect">
            <a:avLst/>
          </a:prstGeom>
          <a:noFill/>
          <a:effectLst/>
        </p:spPr>
        <p:txBody>
          <a:bodyPr wrap="square" lIns="22860" rIns="22860" tIns="0" bIns="0">
            <a:spAutoFit/>
          </a:bodyPr>
          <a:lstStyle/>
          <a:p>
            <a:pPr algn="ctr">
              <a:spcAft>
                <a:spcPts val="600"/>
              </a:spcAft>
              <a:defRPr sz="1600" b="1">
                <a:solidFill>
                  <a:srgbClr val="FFFFFF"/>
                </a:solidFill>
                <a:latin typeface="Microsoft YaHei"/>
              </a:defRPr>
            </a:pPr>
            <a:r>
              <a:t>5</a:t>
            </a:r>
          </a:p>
        </p:txBody>
      </p:sp>
      <p:sp>
        <p:nvSpPr>
          <p:cNvPr id="34" name="TextBox 33"/>
          <p:cNvSpPr txBox="1"/>
          <p:nvPr/>
        </p:nvSpPr>
        <p:spPr>
          <a:xfrm>
            <a:off x="9592056" y="2414016"/>
            <a:ext cx="2084831" cy="356616"/>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完善机制</a:t>
            </a:r>
          </a:p>
        </p:txBody>
      </p:sp>
      <p:sp>
        <p:nvSpPr>
          <p:cNvPr id="35" name="TextBox 34"/>
          <p:cNvSpPr txBox="1"/>
          <p:nvPr/>
        </p:nvSpPr>
        <p:spPr>
          <a:xfrm>
            <a:off x="9592056" y="3081528"/>
            <a:ext cx="2084831" cy="758952"/>
          </a:xfrm>
          <a:prstGeom prst="rect">
            <a:avLst/>
          </a:prstGeom>
          <a:noFill/>
          <a:effectLst/>
        </p:spPr>
        <p:txBody>
          <a:bodyPr wrap="square" lIns="22860" rIns="22860" tIns="0" bIns="0">
            <a:spAutoFit/>
          </a:bodyPr>
          <a:lstStyle/>
          <a:p>
            <a:pPr algn="ctr">
              <a:spcAft>
                <a:spcPts val="600"/>
              </a:spcAft>
              <a:defRPr sz="1600" b="0">
                <a:solidFill>
                  <a:srgbClr val="111111"/>
                </a:solidFill>
                <a:latin typeface="Microsoft YaHei"/>
              </a:defRPr>
            </a:pPr>
            <a:r>
              <a:t>EPR、稳定性</a:t>
            </a:r>
          </a:p>
          <a:p>
            <a:pPr algn="ctr">
              <a:spcAft>
                <a:spcPts val="600"/>
              </a:spcAft>
              <a:defRPr sz="1600" b="0">
                <a:solidFill>
                  <a:srgbClr val="111111"/>
                </a:solidFill>
                <a:latin typeface="Microsoft YaHei"/>
              </a:defRPr>
            </a:pPr>
            <a:r>
              <a:t>必要时激发态测量</a:t>
            </a:r>
          </a:p>
        </p:txBody>
      </p:sp>
      <p:cxnSp>
        <p:nvCxnSpPr>
          <p:cNvPr id="36" name="Connector 35"/>
          <p:cNvCxnSpPr/>
          <p:nvPr/>
        </p:nvCxnSpPr>
        <p:spPr>
          <a:xfrm>
            <a:off x="9747504" y="4178808"/>
            <a:ext cx="1737360" cy="0"/>
          </a:xfrm>
          <a:prstGeom prst="line">
            <a:avLst/>
          </a:prstGeom>
          <a:ln w="12700">
            <a:solidFill>
              <a:srgbClr val="C9D5E8"/>
            </a:solidFill>
          </a:ln>
          <a:effectLst/>
        </p:spPr>
        <p:style>
          <a:lnRef idx="2">
            <a:schemeClr val="accent1"/>
          </a:lnRef>
          <a:fillRef idx="0">
            <a:schemeClr val="accent1"/>
          </a:fillRef>
          <a:effectRef idx="0">
            <a:schemeClr val="accent1"/>
          </a:effectRef>
          <a:fontRef idx="minor">
            <a:schemeClr val="tx1"/>
          </a:fontRef>
        </p:style>
      </p:cxnSp>
      <p:sp>
        <p:nvSpPr>
          <p:cNvPr id="37" name="TextBox 36"/>
          <p:cNvSpPr txBox="1"/>
          <p:nvPr/>
        </p:nvSpPr>
        <p:spPr>
          <a:xfrm>
            <a:off x="9592056" y="4517136"/>
            <a:ext cx="2084831" cy="704088"/>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支持或否定候选路径</a:t>
            </a:r>
          </a:p>
        </p:txBody>
      </p:sp>
      <p:sp>
        <p:nvSpPr>
          <p:cNvPr id="38" name="Rounded Rectangle 37"/>
          <p:cNvSpPr/>
          <p:nvPr/>
        </p:nvSpPr>
        <p:spPr>
          <a:xfrm>
            <a:off x="438912" y="5349240"/>
            <a:ext cx="11201400" cy="402336"/>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658368" y="5431536"/>
            <a:ext cx="10744200" cy="228600"/>
          </a:xfrm>
          <a:prstGeom prst="rect">
            <a:avLst/>
          </a:prstGeom>
          <a:noFill/>
          <a:effectLst/>
        </p:spPr>
        <p:txBody>
          <a:bodyPr wrap="square" lIns="22860" rIns="22860" tIns="0" bIns="0">
            <a:spAutoFit/>
          </a:bodyPr>
          <a:lstStyle/>
          <a:p>
            <a:pPr>
              <a:spcAft>
                <a:spcPts val="600"/>
              </a:spcAft>
              <a:defRPr sz="1450" b="1">
                <a:solidFill>
                  <a:srgbClr val="C00000"/>
                </a:solidFill>
                <a:latin typeface="Microsoft YaHei"/>
              </a:defRPr>
            </a:pPr>
            <a:r>
              <a:t>当前优先：无底物 DCE 空白 + 标准品与加标回收 + 转化率计算复核。</a:t>
            </a:r>
          </a:p>
        </p:txBody>
      </p:sp>
      <p:sp>
        <p:nvSpPr>
          <p:cNvPr id="40" name="Rectangle 39"/>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Chevron 40"/>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43" name="TextBox 42"/>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先让现有模型结果可信、可重复，再增加底物复杂度与机制解析深度。</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优先实验：空白与加标回收可先分离三类竞争解释</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沿用现有分析方法，在相同光照、气氛与取样条件下比较；先建立信号来源判据</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17</a:t>
            </a:r>
          </a:p>
        </p:txBody>
      </p:sp>
      <p:sp>
        <p:nvSpPr>
          <p:cNvPr id="7" name="Rounded Rectangle 6"/>
          <p:cNvSpPr/>
          <p:nvPr/>
        </p:nvSpPr>
        <p:spPr>
          <a:xfrm>
            <a:off x="438912" y="1417320"/>
            <a:ext cx="5084064"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5029200"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4791456"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最小实验组合与记录项</a:t>
            </a:r>
          </a:p>
        </p:txBody>
      </p:sp>
      <p:graphicFrame>
        <p:nvGraphicFramePr>
          <p:cNvPr id="10" name="Table 9"/>
          <p:cNvGraphicFramePr>
            <a:graphicFrameLocks noGrp="1"/>
          </p:cNvGraphicFramePr>
          <p:nvPr/>
        </p:nvGraphicFramePr>
        <p:xfrm>
          <a:off x="594360" y="1965960"/>
          <a:ext cx="4773168" cy="2395728"/>
        </p:xfrm>
        <a:graphic>
          <a:graphicData uri="http://schemas.openxmlformats.org/drawingml/2006/table">
            <a:tbl>
              <a:tblPr firstRow="1" bandRow="1">
                <a:tableStyleId>{5C22544A-7EE6-4342-B048-85BDC9FD1C3A}</a:tableStyleId>
              </a:tblPr>
              <a:tblGrid>
                <a:gridCol w="2642616"/>
                <a:gridCol w="2130552"/>
              </a:tblGrid>
              <a:tr h="479145">
                <a:tc>
                  <a:txBody>
                    <a:bodyPr/>
                    <a:lstStyle/>
                    <a:p>
                      <a:pPr>
                        <a:defRPr sz="1350" b="1">
                          <a:solidFill>
                            <a:srgbClr val="FFFFFF"/>
                          </a:solidFill>
                          <a:latin typeface="Microsoft YaHei"/>
                        </a:defRPr>
                      </a:pPr>
                      <a:r>
                        <a:t>实验组</a:t>
                      </a:r>
                    </a:p>
                  </a:txBody>
                  <a:tcPr marL="91440" marR="64008" marT="64008" marB="45720">
                    <a:solidFill>
                      <a:srgbClr val="063584"/>
                    </a:solidFill>
                  </a:tcPr>
                </a:tc>
                <a:tc>
                  <a:txBody>
                    <a:bodyPr/>
                    <a:lstStyle/>
                    <a:p>
                      <a:pPr>
                        <a:defRPr sz="1350" b="1">
                          <a:solidFill>
                            <a:srgbClr val="FFFFFF"/>
                          </a:solidFill>
                          <a:latin typeface="Microsoft YaHei"/>
                        </a:defRPr>
                      </a:pPr>
                      <a:r>
                        <a:t>用途</a:t>
                      </a:r>
                    </a:p>
                  </a:txBody>
                  <a:tcPr marL="91440" marR="64008" marT="64008" marB="45720">
                    <a:solidFill>
                      <a:srgbClr val="063584"/>
                    </a:solidFill>
                  </a:tcPr>
                </a:tc>
              </a:tr>
              <a:tr h="479145">
                <a:tc>
                  <a:txBody>
                    <a:bodyPr/>
                    <a:lstStyle/>
                    <a:p>
                      <a:pPr>
                        <a:defRPr sz="1350" b="0">
                          <a:solidFill>
                            <a:srgbClr val="111111"/>
                          </a:solidFill>
                          <a:latin typeface="Microsoft YaHei"/>
                        </a:defRPr>
                      </a:pPr>
                      <a:r>
                        <a:t>完整反应体系</a:t>
                      </a:r>
                    </a:p>
                  </a:txBody>
                  <a:tcPr marL="91440" marR="64008" marT="64008" marB="45720">
                    <a:solidFill>
                      <a:srgbClr val="FFFFFF"/>
                    </a:solidFill>
                  </a:tcPr>
                </a:tc>
                <a:tc>
                  <a:txBody>
                    <a:bodyPr/>
                    <a:lstStyle/>
                    <a:p>
                      <a:pPr>
                        <a:defRPr sz="1350" b="0">
                          <a:solidFill>
                            <a:srgbClr val="111111"/>
                          </a:solidFill>
                          <a:latin typeface="Microsoft YaHei"/>
                        </a:defRPr>
                      </a:pPr>
                      <a:r>
                        <a:t>记录模型消耗与候选信号</a:t>
                      </a:r>
                    </a:p>
                  </a:txBody>
                  <a:tcPr marL="91440" marR="64008" marT="64008" marB="45720">
                    <a:solidFill>
                      <a:srgbClr val="FFFFFF"/>
                    </a:solidFill>
                  </a:tcPr>
                </a:tc>
              </a:tr>
              <a:tr h="479145">
                <a:tc>
                  <a:txBody>
                    <a:bodyPr/>
                    <a:lstStyle/>
                    <a:p>
                      <a:pPr>
                        <a:defRPr sz="1350" b="0">
                          <a:solidFill>
                            <a:srgbClr val="111111"/>
                          </a:solidFill>
                          <a:latin typeface="Microsoft YaHei"/>
                        </a:defRPr>
                      </a:pPr>
                      <a:r>
                        <a:t>无底物：DCE + EAQ + 光</a:t>
                      </a:r>
                    </a:p>
                  </a:txBody>
                  <a:tcPr marL="91440" marR="64008" marT="64008" marB="45720">
                    <a:solidFill>
                      <a:srgbClr val="EDF3FF"/>
                    </a:solidFill>
                  </a:tcPr>
                </a:tc>
                <a:tc>
                  <a:txBody>
                    <a:bodyPr/>
                    <a:lstStyle/>
                    <a:p>
                      <a:pPr>
                        <a:defRPr sz="1350" b="0">
                          <a:solidFill>
                            <a:srgbClr val="111111"/>
                          </a:solidFill>
                          <a:latin typeface="Microsoft YaHei"/>
                        </a:defRPr>
                      </a:pPr>
                      <a:r>
                        <a:t>检查介质背景产物</a:t>
                      </a:r>
                    </a:p>
                  </a:txBody>
                  <a:tcPr marL="91440" marR="64008" marT="64008" marB="45720">
                    <a:solidFill>
                      <a:srgbClr val="EDF3FF"/>
                    </a:solidFill>
                  </a:tcPr>
                </a:tc>
              </a:tr>
              <a:tr h="479145">
                <a:tc>
                  <a:txBody>
                    <a:bodyPr/>
                    <a:lstStyle/>
                    <a:p>
                      <a:pPr>
                        <a:defRPr sz="1350" b="0">
                          <a:solidFill>
                            <a:srgbClr val="111111"/>
                          </a:solidFill>
                          <a:latin typeface="Microsoft YaHei"/>
                        </a:defRPr>
                      </a:pPr>
                      <a:r>
                        <a:t>无 EAQ：底物 + DCE + 光</a:t>
                      </a:r>
                    </a:p>
                  </a:txBody>
                  <a:tcPr marL="91440" marR="64008" marT="64008" marB="45720">
                    <a:solidFill>
                      <a:srgbClr val="FFFFFF"/>
                    </a:solidFill>
                  </a:tcPr>
                </a:tc>
                <a:tc>
                  <a:txBody>
                    <a:bodyPr/>
                    <a:lstStyle/>
                    <a:p>
                      <a:pPr>
                        <a:defRPr sz="1350" b="0">
                          <a:solidFill>
                            <a:srgbClr val="111111"/>
                          </a:solidFill>
                          <a:latin typeface="Microsoft YaHei"/>
                        </a:defRPr>
                      </a:pPr>
                      <a:r>
                        <a:t>检查背景光反应</a:t>
                      </a:r>
                    </a:p>
                  </a:txBody>
                  <a:tcPr marL="91440" marR="64008" marT="64008" marB="45720">
                    <a:solidFill>
                      <a:srgbClr val="FFFFFF"/>
                    </a:solidFill>
                  </a:tcPr>
                </a:tc>
              </a:tr>
              <a:tr h="479148">
                <a:tc>
                  <a:txBody>
                    <a:bodyPr/>
                    <a:lstStyle/>
                    <a:p>
                      <a:pPr>
                        <a:defRPr sz="1350" b="0">
                          <a:solidFill>
                            <a:srgbClr val="111111"/>
                          </a:solidFill>
                          <a:latin typeface="Microsoft YaHei"/>
                        </a:defRPr>
                      </a:pPr>
                      <a:r>
                        <a:t>未反应样品加标 / 回收</a:t>
                      </a:r>
                    </a:p>
                  </a:txBody>
                  <a:tcPr marL="91440" marR="64008" marT="64008" marB="45720">
                    <a:solidFill>
                      <a:srgbClr val="EDF3FF"/>
                    </a:solidFill>
                  </a:tcPr>
                </a:tc>
                <a:tc>
                  <a:txBody>
                    <a:bodyPr/>
                    <a:lstStyle/>
                    <a:p>
                      <a:pPr>
                        <a:defRPr sz="1350" b="0">
                          <a:solidFill>
                            <a:srgbClr val="111111"/>
                          </a:solidFill>
                          <a:latin typeface="Microsoft YaHei"/>
                        </a:defRPr>
                      </a:pPr>
                      <a:r>
                        <a:t>检查响应、回收率与漏检</a:t>
                      </a:r>
                    </a:p>
                  </a:txBody>
                  <a:tcPr marL="91440" marR="64008" marT="64008" marB="45720">
                    <a:solidFill>
                      <a:srgbClr val="EDF3FF"/>
                    </a:solidFill>
                  </a:tcPr>
                </a:tc>
              </a:tr>
            </a:tbl>
          </a:graphicData>
        </a:graphic>
      </p:graphicFrame>
      <p:sp>
        <p:nvSpPr>
          <p:cNvPr id="11" name="TextBox 10"/>
          <p:cNvSpPr txBox="1"/>
          <p:nvPr/>
        </p:nvSpPr>
        <p:spPr>
          <a:xfrm>
            <a:off x="713232" y="4663440"/>
            <a:ext cx="4507992" cy="749808"/>
          </a:xfrm>
          <a:prstGeom prst="rect">
            <a:avLst/>
          </a:prstGeom>
          <a:noFill/>
          <a:effectLst/>
        </p:spPr>
        <p:txBody>
          <a:bodyPr wrap="square" lIns="22860" rIns="22860" tIns="0" bIns="0">
            <a:spAutoFit/>
          </a:bodyPr>
          <a:lstStyle/>
          <a:p>
            <a:pPr>
              <a:spcAft>
                <a:spcPts val="600"/>
              </a:spcAft>
              <a:defRPr sz="1500" b="1">
                <a:solidFill>
                  <a:srgbClr val="063584"/>
                </a:solidFill>
                <a:latin typeface="Microsoft YaHei"/>
              </a:defRPr>
            </a:pPr>
            <a:r>
              <a:t>共同记录：原始色谱、保留时间、内标、</a:t>
            </a:r>
          </a:p>
          <a:p>
            <a:pPr>
              <a:spcAft>
                <a:spcPts val="600"/>
              </a:spcAft>
              <a:defRPr sz="1500" b="1">
                <a:solidFill>
                  <a:srgbClr val="063584"/>
                </a:solidFill>
                <a:latin typeface="Microsoft YaHei"/>
              </a:defRPr>
            </a:pPr>
            <a:r>
              <a:t>响应校准、回收率与质量去向。</a:t>
            </a:r>
          </a:p>
        </p:txBody>
      </p:sp>
      <p:sp>
        <p:nvSpPr>
          <p:cNvPr id="12" name="Rounded Rectangle 11"/>
          <p:cNvSpPr/>
          <p:nvPr/>
        </p:nvSpPr>
        <p:spPr>
          <a:xfrm>
            <a:off x="5733288" y="1417320"/>
            <a:ext cx="5907024"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ounded Rectangle 12"/>
          <p:cNvSpPr/>
          <p:nvPr/>
        </p:nvSpPr>
        <p:spPr>
          <a:xfrm>
            <a:off x="5760720" y="1444752"/>
            <a:ext cx="5852160"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5879592" y="1495044"/>
            <a:ext cx="5614416"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结果—解释—后续动作</a:t>
            </a:r>
          </a:p>
        </p:txBody>
      </p:sp>
      <p:sp>
        <p:nvSpPr>
          <p:cNvPr id="15" name="Oval 14"/>
          <p:cNvSpPr/>
          <p:nvPr/>
        </p:nvSpPr>
        <p:spPr>
          <a:xfrm>
            <a:off x="5961888" y="1965960"/>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966459" y="1975103"/>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1</a:t>
            </a:r>
          </a:p>
        </p:txBody>
      </p:sp>
      <p:sp>
        <p:nvSpPr>
          <p:cNvPr id="17" name="TextBox 16"/>
          <p:cNvSpPr txBox="1"/>
          <p:nvPr/>
        </p:nvSpPr>
        <p:spPr>
          <a:xfrm>
            <a:off x="6345936" y="1965960"/>
            <a:ext cx="5001768" cy="356616"/>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空白出现同类候选物</a:t>
            </a:r>
          </a:p>
        </p:txBody>
      </p:sp>
      <p:sp>
        <p:nvSpPr>
          <p:cNvPr id="18" name="TextBox 17"/>
          <p:cNvSpPr txBox="1"/>
          <p:nvPr/>
        </p:nvSpPr>
        <p:spPr>
          <a:xfrm>
            <a:off x="6345936" y="2395728"/>
            <a:ext cx="5001768" cy="292608"/>
          </a:xfrm>
          <a:prstGeom prst="rect">
            <a:avLst/>
          </a:prstGeom>
          <a:noFill/>
          <a:effectLst/>
        </p:spPr>
        <p:txBody>
          <a:bodyPr wrap="square" lIns="22860" rIns="22860" tIns="0" bIns="0">
            <a:spAutoFit/>
          </a:bodyPr>
          <a:lstStyle/>
          <a:p>
            <a:pPr>
              <a:spcAft>
                <a:spcPts val="600"/>
              </a:spcAft>
              <a:defRPr sz="1450" b="1">
                <a:solidFill>
                  <a:srgbClr val="111111"/>
                </a:solidFill>
                <a:latin typeface="Microsoft YaHei"/>
              </a:defRPr>
            </a:pPr>
            <a:r>
              <a:t>优先支持介质来源</a:t>
            </a:r>
          </a:p>
        </p:txBody>
      </p:sp>
      <p:sp>
        <p:nvSpPr>
          <p:cNvPr id="19" name="TextBox 18"/>
          <p:cNvSpPr txBox="1"/>
          <p:nvPr/>
        </p:nvSpPr>
        <p:spPr>
          <a:xfrm>
            <a:off x="6345936" y="2779776"/>
            <a:ext cx="5001768" cy="237744"/>
          </a:xfrm>
          <a:prstGeom prst="rect">
            <a:avLst/>
          </a:prstGeom>
          <a:noFill/>
          <a:effectLst/>
        </p:spPr>
        <p:txBody>
          <a:bodyPr wrap="square" lIns="22860" rIns="22860" tIns="0" bIns="0">
            <a:spAutoFit/>
          </a:bodyPr>
          <a:lstStyle/>
          <a:p>
            <a:pPr>
              <a:spcAft>
                <a:spcPts val="600"/>
              </a:spcAft>
              <a:defRPr sz="1350" b="0">
                <a:solidFill>
                  <a:srgbClr val="C00000"/>
                </a:solidFill>
                <a:latin typeface="Microsoft YaHei"/>
              </a:defRPr>
            </a:pPr>
            <a:r>
              <a:t>先做结构确证与背景扣除</a:t>
            </a:r>
          </a:p>
        </p:txBody>
      </p:sp>
      <p:sp>
        <p:nvSpPr>
          <p:cNvPr id="20" name="Oval 19"/>
          <p:cNvSpPr/>
          <p:nvPr/>
        </p:nvSpPr>
        <p:spPr>
          <a:xfrm>
            <a:off x="5961888" y="3099815"/>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966459" y="3108959"/>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2</a:t>
            </a:r>
          </a:p>
        </p:txBody>
      </p:sp>
      <p:sp>
        <p:nvSpPr>
          <p:cNvPr id="22" name="TextBox 21"/>
          <p:cNvSpPr txBox="1"/>
          <p:nvPr/>
        </p:nvSpPr>
        <p:spPr>
          <a:xfrm>
            <a:off x="6345936" y="3099815"/>
            <a:ext cx="5001768" cy="356616"/>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加标回收或校准异常</a:t>
            </a:r>
          </a:p>
        </p:txBody>
      </p:sp>
      <p:sp>
        <p:nvSpPr>
          <p:cNvPr id="23" name="TextBox 22"/>
          <p:cNvSpPr txBox="1"/>
          <p:nvPr/>
        </p:nvSpPr>
        <p:spPr>
          <a:xfrm>
            <a:off x="6345936" y="3529583"/>
            <a:ext cx="5001768" cy="292608"/>
          </a:xfrm>
          <a:prstGeom prst="rect">
            <a:avLst/>
          </a:prstGeom>
          <a:noFill/>
          <a:effectLst/>
        </p:spPr>
        <p:txBody>
          <a:bodyPr wrap="square" lIns="22860" rIns="22860" tIns="0" bIns="0">
            <a:spAutoFit/>
          </a:bodyPr>
          <a:lstStyle/>
          <a:p>
            <a:pPr>
              <a:spcAft>
                <a:spcPts val="600"/>
              </a:spcAft>
              <a:defRPr sz="1450" b="1">
                <a:solidFill>
                  <a:srgbClr val="111111"/>
                </a:solidFill>
                <a:latin typeface="Microsoft YaHei"/>
              </a:defRPr>
            </a:pPr>
            <a:r>
              <a:t>优先排查分析方法</a:t>
            </a:r>
          </a:p>
        </p:txBody>
      </p:sp>
      <p:sp>
        <p:nvSpPr>
          <p:cNvPr id="24" name="TextBox 23"/>
          <p:cNvSpPr txBox="1"/>
          <p:nvPr/>
        </p:nvSpPr>
        <p:spPr>
          <a:xfrm>
            <a:off x="6345936" y="3913631"/>
            <a:ext cx="5001768" cy="237744"/>
          </a:xfrm>
          <a:prstGeom prst="rect">
            <a:avLst/>
          </a:prstGeom>
          <a:noFill/>
          <a:effectLst/>
        </p:spPr>
        <p:txBody>
          <a:bodyPr wrap="square" lIns="22860" rIns="22860" tIns="0" bIns="0">
            <a:spAutoFit/>
          </a:bodyPr>
          <a:lstStyle/>
          <a:p>
            <a:pPr>
              <a:spcAft>
                <a:spcPts val="600"/>
              </a:spcAft>
              <a:defRPr sz="1350" b="0">
                <a:solidFill>
                  <a:srgbClr val="C00000"/>
                </a:solidFill>
                <a:latin typeface="Microsoft YaHei"/>
              </a:defRPr>
            </a:pPr>
            <a:r>
              <a:t>修正方法后再比较转化率</a:t>
            </a:r>
          </a:p>
        </p:txBody>
      </p:sp>
      <p:sp>
        <p:nvSpPr>
          <p:cNvPr id="25" name="Oval 24"/>
          <p:cNvSpPr/>
          <p:nvPr/>
        </p:nvSpPr>
        <p:spPr>
          <a:xfrm>
            <a:off x="5961888" y="4233672"/>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966459" y="4242816"/>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3</a:t>
            </a:r>
          </a:p>
        </p:txBody>
      </p:sp>
      <p:sp>
        <p:nvSpPr>
          <p:cNvPr id="27" name="TextBox 26"/>
          <p:cNvSpPr txBox="1"/>
          <p:nvPr/>
        </p:nvSpPr>
        <p:spPr>
          <a:xfrm>
            <a:off x="6345936" y="4233672"/>
            <a:ext cx="5001768" cy="356616"/>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底物消耗与产物可对应</a:t>
            </a:r>
          </a:p>
        </p:txBody>
      </p:sp>
      <p:sp>
        <p:nvSpPr>
          <p:cNvPr id="28" name="TextBox 27"/>
          <p:cNvSpPr txBox="1"/>
          <p:nvPr/>
        </p:nvSpPr>
        <p:spPr>
          <a:xfrm>
            <a:off x="6345936" y="4663440"/>
            <a:ext cx="5001768" cy="292608"/>
          </a:xfrm>
          <a:prstGeom prst="rect">
            <a:avLst/>
          </a:prstGeom>
          <a:noFill/>
          <a:effectLst/>
        </p:spPr>
        <p:txBody>
          <a:bodyPr wrap="square" lIns="22860" rIns="22860" tIns="0" bIns="0">
            <a:spAutoFit/>
          </a:bodyPr>
          <a:lstStyle/>
          <a:p>
            <a:pPr>
              <a:spcAft>
                <a:spcPts val="600"/>
              </a:spcAft>
              <a:defRPr sz="1450" b="1">
                <a:solidFill>
                  <a:srgbClr val="111111"/>
                </a:solidFill>
                <a:latin typeface="Microsoft YaHei"/>
              </a:defRPr>
            </a:pPr>
            <a:r>
              <a:t>支持真实模型转化</a:t>
            </a:r>
          </a:p>
        </p:txBody>
      </p:sp>
      <p:sp>
        <p:nvSpPr>
          <p:cNvPr id="29" name="TextBox 28"/>
          <p:cNvSpPr txBox="1"/>
          <p:nvPr/>
        </p:nvSpPr>
        <p:spPr>
          <a:xfrm>
            <a:off x="6345936" y="5047488"/>
            <a:ext cx="5001768" cy="237744"/>
          </a:xfrm>
          <a:prstGeom prst="rect">
            <a:avLst/>
          </a:prstGeom>
          <a:noFill/>
          <a:effectLst/>
        </p:spPr>
        <p:txBody>
          <a:bodyPr wrap="square" lIns="22860" rIns="22860" tIns="0" bIns="0">
            <a:spAutoFit/>
          </a:bodyPr>
          <a:lstStyle/>
          <a:p>
            <a:pPr>
              <a:spcAft>
                <a:spcPts val="600"/>
              </a:spcAft>
              <a:defRPr sz="1350" b="0">
                <a:solidFill>
                  <a:srgbClr val="C00000"/>
                </a:solidFill>
                <a:latin typeface="Microsoft YaHei"/>
              </a:defRPr>
            </a:pPr>
            <a:r>
              <a:t>再进入物种、选择性与条件优化</a:t>
            </a:r>
          </a:p>
        </p:txBody>
      </p:sp>
      <p:sp>
        <p:nvSpPr>
          <p:cNvPr id="30" name="Rectangle 29"/>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Chevron 30"/>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近期重点</a:t>
            </a:r>
          </a:p>
        </p:txBody>
      </p:sp>
      <p:sp>
        <p:nvSpPr>
          <p:cNvPr id="33" name="TextBox 32"/>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这组实验先缩小解释空间，结果本身仍不能单独鉴定 Cl· 或证明 PVC 断链。</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总结：以模型异常修正假说，以独立证据验证 PVC 转化</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研究依据、实际观察和后续证据明确分层，避免将探索阶段包装成已建立的降解体系</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18</a:t>
            </a:r>
          </a:p>
        </p:txBody>
      </p:sp>
      <p:sp>
        <p:nvSpPr>
          <p:cNvPr id="7" name="Rounded Rectangle 6"/>
          <p:cNvSpPr/>
          <p:nvPr/>
        </p:nvSpPr>
        <p:spPr>
          <a:xfrm>
            <a:off x="438912" y="1417320"/>
            <a:ext cx="3712463"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3657599"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3419855"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已经具备的研究依据</a:t>
            </a:r>
          </a:p>
        </p:txBody>
      </p:sp>
      <p:sp>
        <p:nvSpPr>
          <p:cNvPr id="10" name="Oval 9"/>
          <p:cNvSpPr/>
          <p:nvPr/>
        </p:nvSpPr>
        <p:spPr>
          <a:xfrm>
            <a:off x="676656" y="1993392"/>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81228" y="2002536"/>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1</a:t>
            </a:r>
          </a:p>
        </p:txBody>
      </p:sp>
      <p:sp>
        <p:nvSpPr>
          <p:cNvPr id="12" name="TextBox 11"/>
          <p:cNvSpPr txBox="1"/>
          <p:nvPr/>
        </p:nvSpPr>
        <p:spPr>
          <a:xfrm>
            <a:off x="1024128" y="1993392"/>
            <a:ext cx="2907792"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自由基过程可参与老化</a:t>
            </a:r>
          </a:p>
        </p:txBody>
      </p:sp>
      <p:sp>
        <p:nvSpPr>
          <p:cNvPr id="13" name="TextBox 12"/>
          <p:cNvSpPr txBox="1"/>
          <p:nvPr/>
        </p:nvSpPr>
        <p:spPr>
          <a:xfrm>
            <a:off x="1024128" y="2359152"/>
            <a:ext cx="2907792"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早期光氧化研究提供</a:t>
            </a:r>
          </a:p>
          <a:p>
            <a:pPr>
              <a:spcAft>
                <a:spcPts val="600"/>
              </a:spcAft>
              <a:defRPr sz="1450" b="0">
                <a:solidFill>
                  <a:srgbClr val="111111"/>
                </a:solidFill>
                <a:latin typeface="Microsoft YaHei"/>
              </a:defRPr>
            </a:pPr>
            <a:r>
              <a:t>活化与氧化链反应入口。</a:t>
            </a:r>
          </a:p>
        </p:txBody>
      </p:sp>
      <p:sp>
        <p:nvSpPr>
          <p:cNvPr id="14" name="Oval 13"/>
          <p:cNvSpPr/>
          <p:nvPr/>
        </p:nvSpPr>
        <p:spPr>
          <a:xfrm>
            <a:off x="676656" y="3236976"/>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81228" y="3246120"/>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2</a:t>
            </a:r>
          </a:p>
        </p:txBody>
      </p:sp>
      <p:sp>
        <p:nvSpPr>
          <p:cNvPr id="16" name="TextBox 15"/>
          <p:cNvSpPr txBox="1"/>
          <p:nvPr/>
        </p:nvSpPr>
        <p:spPr>
          <a:xfrm>
            <a:off x="1024128" y="3236976"/>
            <a:ext cx="2907792"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AQ 与介质具有可研究性</a:t>
            </a:r>
          </a:p>
        </p:txBody>
      </p:sp>
      <p:sp>
        <p:nvSpPr>
          <p:cNvPr id="17" name="TextBox 16"/>
          <p:cNvSpPr txBox="1"/>
          <p:nvPr/>
        </p:nvSpPr>
        <p:spPr>
          <a:xfrm>
            <a:off x="1024128" y="3602736"/>
            <a:ext cx="2907792"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AQ 光化学与聚合物文献</a:t>
            </a:r>
          </a:p>
          <a:p>
            <a:pPr>
              <a:spcAft>
                <a:spcPts val="600"/>
              </a:spcAft>
              <a:defRPr sz="1450" b="0">
                <a:solidFill>
                  <a:srgbClr val="111111"/>
                </a:solidFill>
                <a:latin typeface="Microsoft YaHei"/>
              </a:defRPr>
            </a:pPr>
            <a:r>
              <a:t>支持提出候选机制。</a:t>
            </a:r>
          </a:p>
        </p:txBody>
      </p:sp>
      <p:sp>
        <p:nvSpPr>
          <p:cNvPr id="18" name="Oval 17"/>
          <p:cNvSpPr/>
          <p:nvPr/>
        </p:nvSpPr>
        <p:spPr>
          <a:xfrm>
            <a:off x="676656" y="448970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81228" y="4498848"/>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3</a:t>
            </a:r>
          </a:p>
        </p:txBody>
      </p:sp>
      <p:sp>
        <p:nvSpPr>
          <p:cNvPr id="20" name="TextBox 19"/>
          <p:cNvSpPr txBox="1"/>
          <p:nvPr/>
        </p:nvSpPr>
        <p:spPr>
          <a:xfrm>
            <a:off x="1024128" y="4489704"/>
            <a:ext cx="2907792"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现有结果需要重新关联</a:t>
            </a:r>
          </a:p>
        </p:txBody>
      </p:sp>
      <p:sp>
        <p:nvSpPr>
          <p:cNvPr id="21" name="TextBox 20"/>
          <p:cNvSpPr txBox="1"/>
          <p:nvPr/>
        </p:nvSpPr>
        <p:spPr>
          <a:xfrm>
            <a:off x="1024128" y="4855464"/>
            <a:ext cx="2907792"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转化记录存在，但目标</a:t>
            </a:r>
          </a:p>
          <a:p>
            <a:pPr>
              <a:spcAft>
                <a:spcPts val="600"/>
              </a:spcAft>
              <a:defRPr sz="1450" b="0">
                <a:solidFill>
                  <a:srgbClr val="111111"/>
                </a:solidFill>
                <a:latin typeface="Microsoft YaHei"/>
              </a:defRPr>
            </a:pPr>
            <a:r>
              <a:t>产物和信号来源未明确。</a:t>
            </a:r>
          </a:p>
        </p:txBody>
      </p:sp>
      <p:sp>
        <p:nvSpPr>
          <p:cNvPr id="22" name="Rounded Rectangle 21"/>
          <p:cNvSpPr/>
          <p:nvPr/>
        </p:nvSpPr>
        <p:spPr>
          <a:xfrm>
            <a:off x="4361688" y="1417320"/>
            <a:ext cx="3337560"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ounded Rectangle 22"/>
          <p:cNvSpPr/>
          <p:nvPr/>
        </p:nvSpPr>
        <p:spPr>
          <a:xfrm>
            <a:off x="4389120" y="1444752"/>
            <a:ext cx="328269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507992" y="1495044"/>
            <a:ext cx="304495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由预想走向修正</a:t>
            </a:r>
          </a:p>
        </p:txBody>
      </p:sp>
      <p:sp>
        <p:nvSpPr>
          <p:cNvPr id="25" name="TextBox 24"/>
          <p:cNvSpPr txBox="1"/>
          <p:nvPr/>
        </p:nvSpPr>
        <p:spPr>
          <a:xfrm>
            <a:off x="4572000" y="1993392"/>
            <a:ext cx="2916936" cy="411480"/>
          </a:xfrm>
          <a:prstGeom prst="rect">
            <a:avLst/>
          </a:prstGeom>
          <a:noFill/>
          <a:effectLst/>
        </p:spPr>
        <p:txBody>
          <a:bodyPr wrap="square" lIns="22860" rIns="22860" tIns="0" bIns="0">
            <a:spAutoFit/>
          </a:bodyPr>
          <a:lstStyle/>
          <a:p>
            <a:pPr algn="ctr">
              <a:spcAft>
                <a:spcPts val="600"/>
              </a:spcAft>
              <a:defRPr sz="1700" b="1">
                <a:solidFill>
                  <a:srgbClr val="063584"/>
                </a:solidFill>
                <a:latin typeface="Microsoft YaHei"/>
              </a:defRPr>
            </a:pPr>
            <a:r>
              <a:t>AQ 启动的候选网络</a:t>
            </a:r>
          </a:p>
        </p:txBody>
      </p:sp>
      <p:cxnSp>
        <p:nvCxnSpPr>
          <p:cNvPr id="26" name="Connector 25"/>
          <p:cNvCxnSpPr/>
          <p:nvPr/>
        </p:nvCxnSpPr>
        <p:spPr>
          <a:xfrm>
            <a:off x="6025896" y="2478024"/>
            <a:ext cx="0" cy="246888"/>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7" name="TextBox 26"/>
          <p:cNvSpPr txBox="1"/>
          <p:nvPr/>
        </p:nvSpPr>
        <p:spPr>
          <a:xfrm>
            <a:off x="4572000" y="2834640"/>
            <a:ext cx="2916936" cy="411480"/>
          </a:xfrm>
          <a:prstGeom prst="rect">
            <a:avLst/>
          </a:prstGeom>
          <a:noFill/>
          <a:effectLst/>
        </p:spPr>
        <p:txBody>
          <a:bodyPr wrap="square" lIns="22860" rIns="22860" tIns="0" bIns="0">
            <a:spAutoFit/>
          </a:bodyPr>
          <a:lstStyle/>
          <a:p>
            <a:pPr algn="ctr">
              <a:spcAft>
                <a:spcPts val="600"/>
              </a:spcAft>
              <a:defRPr sz="1700" b="1">
                <a:solidFill>
                  <a:srgbClr val="111111"/>
                </a:solidFill>
                <a:latin typeface="Microsoft YaHei"/>
              </a:defRPr>
            </a:pPr>
            <a:r>
              <a:t>实验出现介质相关信号</a:t>
            </a:r>
          </a:p>
        </p:txBody>
      </p:sp>
      <p:cxnSp>
        <p:nvCxnSpPr>
          <p:cNvPr id="28" name="Connector 27"/>
          <p:cNvCxnSpPr/>
          <p:nvPr/>
        </p:nvCxnSpPr>
        <p:spPr>
          <a:xfrm>
            <a:off x="6025896" y="3319272"/>
            <a:ext cx="0" cy="246888"/>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4572000" y="3675888"/>
            <a:ext cx="2916936" cy="411480"/>
          </a:xfrm>
          <a:prstGeom prst="rect">
            <a:avLst/>
          </a:prstGeom>
          <a:noFill/>
          <a:effectLst/>
        </p:spPr>
        <p:txBody>
          <a:bodyPr wrap="square" lIns="22860" rIns="22860" tIns="0" bIns="0">
            <a:spAutoFit/>
          </a:bodyPr>
          <a:lstStyle/>
          <a:p>
            <a:pPr algn="ctr">
              <a:spcAft>
                <a:spcPts val="600"/>
              </a:spcAft>
              <a:defRPr sz="1700" b="1">
                <a:solidFill>
                  <a:srgbClr val="111111"/>
                </a:solidFill>
                <a:latin typeface="Microsoft YaHei"/>
              </a:defRPr>
            </a:pPr>
            <a:r>
              <a:t>加入竞争路径与分析缺口</a:t>
            </a:r>
          </a:p>
        </p:txBody>
      </p:sp>
      <p:cxnSp>
        <p:nvCxnSpPr>
          <p:cNvPr id="30" name="Connector 29"/>
          <p:cNvCxnSpPr/>
          <p:nvPr/>
        </p:nvCxnSpPr>
        <p:spPr>
          <a:xfrm>
            <a:off x="6025896" y="4160520"/>
            <a:ext cx="0" cy="246888"/>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31" name="TextBox 30"/>
          <p:cNvSpPr txBox="1"/>
          <p:nvPr/>
        </p:nvSpPr>
        <p:spPr>
          <a:xfrm>
            <a:off x="4572000" y="4517136"/>
            <a:ext cx="2916936" cy="411480"/>
          </a:xfrm>
          <a:prstGeom prst="rect">
            <a:avLst/>
          </a:prstGeom>
          <a:noFill/>
          <a:effectLst/>
        </p:spPr>
        <p:txBody>
          <a:bodyPr wrap="square" lIns="22860" rIns="22860" tIns="0" bIns="0">
            <a:spAutoFit/>
          </a:bodyPr>
          <a:lstStyle/>
          <a:p>
            <a:pPr algn="ctr">
              <a:spcAft>
                <a:spcPts val="600"/>
              </a:spcAft>
              <a:defRPr sz="1700" b="1">
                <a:solidFill>
                  <a:srgbClr val="063584"/>
                </a:solidFill>
                <a:latin typeface="Microsoft YaHei"/>
              </a:defRPr>
            </a:pPr>
            <a:r>
              <a:t>以对照筛选真实路径</a:t>
            </a:r>
          </a:p>
        </p:txBody>
      </p:sp>
      <p:sp>
        <p:nvSpPr>
          <p:cNvPr id="32" name="Rounded Rectangle 31"/>
          <p:cNvSpPr/>
          <p:nvPr/>
        </p:nvSpPr>
        <p:spPr>
          <a:xfrm>
            <a:off x="7909560" y="1417320"/>
            <a:ext cx="3730752"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ounded Rectangle 32"/>
          <p:cNvSpPr/>
          <p:nvPr/>
        </p:nvSpPr>
        <p:spPr>
          <a:xfrm>
            <a:off x="7936992" y="1444752"/>
            <a:ext cx="3675888"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8055864" y="1495044"/>
            <a:ext cx="3438144"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下一阶段的关键交付</a:t>
            </a:r>
          </a:p>
        </p:txBody>
      </p:sp>
      <p:sp>
        <p:nvSpPr>
          <p:cNvPr id="35" name="Oval 34"/>
          <p:cNvSpPr/>
          <p:nvPr/>
        </p:nvSpPr>
        <p:spPr>
          <a:xfrm>
            <a:off x="8147304" y="1993392"/>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8151876" y="2002536"/>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1</a:t>
            </a:r>
          </a:p>
        </p:txBody>
      </p:sp>
      <p:sp>
        <p:nvSpPr>
          <p:cNvPr id="37" name="TextBox 36"/>
          <p:cNvSpPr txBox="1"/>
          <p:nvPr/>
        </p:nvSpPr>
        <p:spPr>
          <a:xfrm>
            <a:off x="8494776" y="1993392"/>
            <a:ext cx="2916936"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可靠模型反应</a:t>
            </a:r>
          </a:p>
        </p:txBody>
      </p:sp>
      <p:sp>
        <p:nvSpPr>
          <p:cNvPr id="38" name="TextBox 37"/>
          <p:cNvSpPr txBox="1"/>
          <p:nvPr/>
        </p:nvSpPr>
        <p:spPr>
          <a:xfrm>
            <a:off x="8494776" y="2359152"/>
            <a:ext cx="2916936"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标准品、定量、溶剂空白</a:t>
            </a:r>
          </a:p>
          <a:p>
            <a:pPr>
              <a:spcAft>
                <a:spcPts val="600"/>
              </a:spcAft>
              <a:defRPr sz="1450" b="0">
                <a:solidFill>
                  <a:srgbClr val="111111"/>
                </a:solidFill>
                <a:latin typeface="Microsoft YaHei"/>
              </a:defRPr>
            </a:pPr>
            <a:r>
              <a:t>与可重复的产物对应。</a:t>
            </a:r>
          </a:p>
        </p:txBody>
      </p:sp>
      <p:sp>
        <p:nvSpPr>
          <p:cNvPr id="39" name="Oval 38"/>
          <p:cNvSpPr/>
          <p:nvPr/>
        </p:nvSpPr>
        <p:spPr>
          <a:xfrm>
            <a:off x="8147304" y="330098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8151876" y="3310127"/>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2</a:t>
            </a:r>
          </a:p>
        </p:txBody>
      </p:sp>
      <p:sp>
        <p:nvSpPr>
          <p:cNvPr id="41" name="TextBox 40"/>
          <p:cNvSpPr txBox="1"/>
          <p:nvPr/>
        </p:nvSpPr>
        <p:spPr>
          <a:xfrm>
            <a:off x="8494776" y="3300984"/>
            <a:ext cx="2916936"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PVC 主链变化证据</a:t>
            </a:r>
          </a:p>
        </p:txBody>
      </p:sp>
      <p:sp>
        <p:nvSpPr>
          <p:cNvPr id="42" name="TextBox 41"/>
          <p:cNvSpPr txBox="1"/>
          <p:nvPr/>
        </p:nvSpPr>
        <p:spPr>
          <a:xfrm>
            <a:off x="8494776" y="3666744"/>
            <a:ext cx="2916936"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氯平衡 + 链长 + 凝胶</a:t>
            </a:r>
          </a:p>
          <a:p>
            <a:pPr>
              <a:spcAft>
                <a:spcPts val="600"/>
              </a:spcAft>
              <a:defRPr sz="1450" b="0">
                <a:solidFill>
                  <a:srgbClr val="111111"/>
                </a:solidFill>
                <a:latin typeface="Microsoft YaHei"/>
              </a:defRPr>
            </a:pPr>
            <a:r>
              <a:t>与产物组成联合测量。</a:t>
            </a:r>
          </a:p>
        </p:txBody>
      </p:sp>
      <p:sp>
        <p:nvSpPr>
          <p:cNvPr id="43" name="Oval 42"/>
          <p:cNvSpPr/>
          <p:nvPr/>
        </p:nvSpPr>
        <p:spPr>
          <a:xfrm>
            <a:off x="8147304" y="4617720"/>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8151876" y="4626864"/>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3</a:t>
            </a:r>
          </a:p>
        </p:txBody>
      </p:sp>
      <p:sp>
        <p:nvSpPr>
          <p:cNvPr id="45" name="TextBox 44"/>
          <p:cNvSpPr txBox="1"/>
          <p:nvPr/>
        </p:nvSpPr>
        <p:spPr>
          <a:xfrm>
            <a:off x="8494776" y="4617720"/>
            <a:ext cx="2916936"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可证伪的机制解释</a:t>
            </a:r>
          </a:p>
        </p:txBody>
      </p:sp>
      <p:sp>
        <p:nvSpPr>
          <p:cNvPr id="46" name="TextBox 45"/>
          <p:cNvSpPr txBox="1"/>
          <p:nvPr/>
        </p:nvSpPr>
        <p:spPr>
          <a:xfrm>
            <a:off x="8494776" y="4983480"/>
            <a:ext cx="2916936"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不预设唯一自由基，</a:t>
            </a:r>
          </a:p>
          <a:p>
            <a:pPr>
              <a:spcAft>
                <a:spcPts val="600"/>
              </a:spcAft>
              <a:defRPr sz="1450" b="0">
                <a:solidFill>
                  <a:srgbClr val="111111"/>
                </a:solidFill>
                <a:latin typeface="Microsoft YaHei"/>
              </a:defRPr>
            </a:pPr>
            <a:r>
              <a:t>允许关键支路被否定。</a:t>
            </a:r>
          </a:p>
        </p:txBody>
      </p:sp>
      <p:sp>
        <p:nvSpPr>
          <p:cNvPr id="47" name="Rectangle 46"/>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Chevron 47"/>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50" name="TextBox 49"/>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研究目标保持不变：探索有机光敏体系；研究结论必须随证据逐步建立。</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参考文献：按实际支持的论点使用，并保留核验边界</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六篇上传全文已查阅；AQ 原始研究线索仅二次引用；在线检索与 DOI 解析受网络 403 限制</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19</a:t>
            </a:r>
          </a:p>
        </p:txBody>
      </p:sp>
      <p:sp>
        <p:nvSpPr>
          <p:cNvPr id="7" name="Oval 6"/>
          <p:cNvSpPr/>
          <p:nvPr/>
        </p:nvSpPr>
        <p:spPr>
          <a:xfrm>
            <a:off x="475488" y="1481328"/>
            <a:ext cx="219456" cy="21945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80060" y="1490472"/>
            <a:ext cx="210311" cy="210311"/>
          </a:xfrm>
          <a:prstGeom prst="rect">
            <a:avLst/>
          </a:prstGeom>
          <a:noFill/>
          <a:effectLst/>
        </p:spPr>
        <p:txBody>
          <a:bodyPr wrap="square" lIns="22860" rIns="22860" tIns="0" bIns="0">
            <a:spAutoFit/>
          </a:bodyPr>
          <a:lstStyle/>
          <a:p>
            <a:pPr algn="ctr">
              <a:spcAft>
                <a:spcPts val="600"/>
              </a:spcAft>
              <a:defRPr sz="1000" b="1">
                <a:solidFill>
                  <a:srgbClr val="FFFFFF"/>
                </a:solidFill>
                <a:latin typeface="Microsoft YaHei"/>
              </a:defRPr>
            </a:pPr>
            <a:r>
              <a:t>1</a:t>
            </a:r>
          </a:p>
        </p:txBody>
      </p:sp>
      <p:sp>
        <p:nvSpPr>
          <p:cNvPr id="9" name="TextBox 8"/>
          <p:cNvSpPr txBox="1"/>
          <p:nvPr/>
        </p:nvSpPr>
        <p:spPr>
          <a:xfrm>
            <a:off x="832104" y="1453896"/>
            <a:ext cx="10561320" cy="17373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Xu, S.; Han, Z.; Yuan, K.; et al. Nat. Rev. Methods Primers 2023, 3, 44.</a:t>
            </a:r>
          </a:p>
        </p:txBody>
      </p:sp>
      <p:sp>
        <p:nvSpPr>
          <p:cNvPr id="10" name="TextBox 9"/>
          <p:cNvSpPr txBox="1"/>
          <p:nvPr/>
        </p:nvSpPr>
        <p:spPr>
          <a:xfrm>
            <a:off x="832104" y="1655064"/>
            <a:ext cx="10579608" cy="210312"/>
          </a:xfrm>
          <a:prstGeom prst="rect">
            <a:avLst/>
          </a:prstGeom>
          <a:noFill/>
          <a:effectLst/>
        </p:spPr>
        <p:txBody>
          <a:bodyPr wrap="square" lIns="22860" rIns="22860" tIns="0" bIns="0">
            <a:spAutoFit/>
          </a:bodyPr>
          <a:lstStyle/>
          <a:p>
            <a:pPr>
              <a:spcAft>
                <a:spcPts val="600"/>
              </a:spcAft>
              <a:defRPr sz="1030" b="1">
                <a:solidFill>
                  <a:srgbClr val="111111"/>
                </a:solidFill>
                <a:latin typeface="Microsoft YaHei"/>
              </a:defRPr>
            </a:pPr>
            <a:r>
              <a:t>Upcycling chlorinated waste plastics.</a:t>
            </a:r>
          </a:p>
        </p:txBody>
      </p:sp>
      <p:sp>
        <p:nvSpPr>
          <p:cNvPr id="11" name="TextBox 10"/>
          <p:cNvSpPr txBox="1"/>
          <p:nvPr/>
        </p:nvSpPr>
        <p:spPr>
          <a:xfrm>
            <a:off x="832104" y="1874520"/>
            <a:ext cx="5029200" cy="164592"/>
          </a:xfrm>
          <a:prstGeom prst="rect">
            <a:avLst/>
          </a:prstGeom>
          <a:noFill/>
          <a:effectLst/>
        </p:spPr>
        <p:txBody>
          <a:bodyPr wrap="square" lIns="22860" rIns="22860" tIns="0" bIns="0">
            <a:spAutoFit/>
          </a:bodyPr>
          <a:lstStyle/>
          <a:p>
            <a:pPr>
              <a:spcAft>
                <a:spcPts val="600"/>
              </a:spcAft>
              <a:defRPr sz="930" b="0">
                <a:solidFill>
                  <a:srgbClr val="063584"/>
                </a:solidFill>
                <a:latin typeface="Microsoft YaHei"/>
              </a:defRPr>
            </a:pPr>
            <a:r>
              <a:rPr>
                <a:hlinkClick r:id="rId2"/>
              </a:rPr>
              <a:t>https://doi.org/10.1038/s43586-023-00227-w</a:t>
            </a:r>
          </a:p>
        </p:txBody>
      </p:sp>
      <p:sp>
        <p:nvSpPr>
          <p:cNvPr id="12" name="TextBox 11"/>
          <p:cNvSpPr txBox="1"/>
          <p:nvPr/>
        </p:nvSpPr>
        <p:spPr>
          <a:xfrm>
            <a:off x="6702552" y="1874520"/>
            <a:ext cx="4709160" cy="164592"/>
          </a:xfrm>
          <a:prstGeom prst="rect">
            <a:avLst/>
          </a:prstGeom>
          <a:noFill/>
          <a:effectLst/>
        </p:spPr>
        <p:txBody>
          <a:bodyPr wrap="square" lIns="22860" rIns="22860" tIns="0" bIns="0">
            <a:spAutoFit/>
          </a:bodyPr>
          <a:lstStyle/>
          <a:p>
            <a:pPr>
              <a:spcAft>
                <a:spcPts val="600"/>
              </a:spcAft>
              <a:defRPr sz="930" b="0">
                <a:solidFill>
                  <a:srgbClr val="566273"/>
                </a:solidFill>
                <a:latin typeface="Microsoft YaHei"/>
              </a:defRPr>
            </a:pPr>
            <a:r>
              <a:t>PVC 氯管理与升级利用</a:t>
            </a:r>
          </a:p>
        </p:txBody>
      </p:sp>
      <p:sp>
        <p:nvSpPr>
          <p:cNvPr id="13" name="Oval 12"/>
          <p:cNvSpPr/>
          <p:nvPr/>
        </p:nvSpPr>
        <p:spPr>
          <a:xfrm>
            <a:off x="475488" y="2075688"/>
            <a:ext cx="219456" cy="21945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80060" y="2084831"/>
            <a:ext cx="210311" cy="210311"/>
          </a:xfrm>
          <a:prstGeom prst="rect">
            <a:avLst/>
          </a:prstGeom>
          <a:noFill/>
          <a:effectLst/>
        </p:spPr>
        <p:txBody>
          <a:bodyPr wrap="square" lIns="22860" rIns="22860" tIns="0" bIns="0">
            <a:spAutoFit/>
          </a:bodyPr>
          <a:lstStyle/>
          <a:p>
            <a:pPr algn="ctr">
              <a:spcAft>
                <a:spcPts val="600"/>
              </a:spcAft>
              <a:defRPr sz="1000" b="1">
                <a:solidFill>
                  <a:srgbClr val="FFFFFF"/>
                </a:solidFill>
                <a:latin typeface="Microsoft YaHei"/>
              </a:defRPr>
            </a:pPr>
            <a:r>
              <a:t>2</a:t>
            </a:r>
          </a:p>
        </p:txBody>
      </p:sp>
      <p:sp>
        <p:nvSpPr>
          <p:cNvPr id="15" name="TextBox 14"/>
          <p:cNvSpPr txBox="1"/>
          <p:nvPr/>
        </p:nvSpPr>
        <p:spPr>
          <a:xfrm>
            <a:off x="832104" y="2048256"/>
            <a:ext cx="10561320" cy="17373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Gardette, J.-L.; Gaumet, S.; Lemaire, J. Macromolecules 1989, 22, 2576–2581.</a:t>
            </a:r>
          </a:p>
        </p:txBody>
      </p:sp>
      <p:sp>
        <p:nvSpPr>
          <p:cNvPr id="16" name="TextBox 15"/>
          <p:cNvSpPr txBox="1"/>
          <p:nvPr/>
        </p:nvSpPr>
        <p:spPr>
          <a:xfrm>
            <a:off x="832104" y="2249424"/>
            <a:ext cx="10579608" cy="210312"/>
          </a:xfrm>
          <a:prstGeom prst="rect">
            <a:avLst/>
          </a:prstGeom>
          <a:noFill/>
          <a:effectLst/>
        </p:spPr>
        <p:txBody>
          <a:bodyPr wrap="square" lIns="22860" rIns="22860" tIns="0" bIns="0">
            <a:spAutoFit/>
          </a:bodyPr>
          <a:lstStyle/>
          <a:p>
            <a:pPr>
              <a:spcAft>
                <a:spcPts val="600"/>
              </a:spcAft>
              <a:defRPr sz="1030" b="1">
                <a:solidFill>
                  <a:srgbClr val="111111"/>
                </a:solidFill>
                <a:latin typeface="Microsoft YaHei"/>
              </a:defRPr>
            </a:pPr>
            <a:r>
              <a:t>Photooxidation of poly(vinyl chloride). 1. A reexamination of the mechanism.</a:t>
            </a:r>
          </a:p>
        </p:txBody>
      </p:sp>
      <p:sp>
        <p:nvSpPr>
          <p:cNvPr id="17" name="TextBox 16"/>
          <p:cNvSpPr txBox="1"/>
          <p:nvPr/>
        </p:nvSpPr>
        <p:spPr>
          <a:xfrm>
            <a:off x="832104" y="2468880"/>
            <a:ext cx="5029200" cy="164592"/>
          </a:xfrm>
          <a:prstGeom prst="rect">
            <a:avLst/>
          </a:prstGeom>
          <a:noFill/>
          <a:effectLst/>
        </p:spPr>
        <p:txBody>
          <a:bodyPr wrap="square" lIns="22860" rIns="22860" tIns="0" bIns="0">
            <a:spAutoFit/>
          </a:bodyPr>
          <a:lstStyle/>
          <a:p>
            <a:pPr>
              <a:spcAft>
                <a:spcPts val="600"/>
              </a:spcAft>
              <a:defRPr sz="930" b="0">
                <a:solidFill>
                  <a:srgbClr val="063584"/>
                </a:solidFill>
                <a:latin typeface="Microsoft YaHei"/>
              </a:defRPr>
            </a:pPr>
            <a:r>
              <a:rPr>
                <a:hlinkClick r:id="rId3"/>
              </a:rPr>
              <a:t>https://doi.org/10.1021/ma00196a005</a:t>
            </a:r>
          </a:p>
        </p:txBody>
      </p:sp>
      <p:sp>
        <p:nvSpPr>
          <p:cNvPr id="18" name="TextBox 17"/>
          <p:cNvSpPr txBox="1"/>
          <p:nvPr/>
        </p:nvSpPr>
        <p:spPr>
          <a:xfrm>
            <a:off x="6702552" y="2468880"/>
            <a:ext cx="4709160" cy="164592"/>
          </a:xfrm>
          <a:prstGeom prst="rect">
            <a:avLst/>
          </a:prstGeom>
          <a:noFill/>
          <a:effectLst/>
        </p:spPr>
        <p:txBody>
          <a:bodyPr wrap="square" lIns="22860" rIns="22860" tIns="0" bIns="0">
            <a:spAutoFit/>
          </a:bodyPr>
          <a:lstStyle/>
          <a:p>
            <a:pPr>
              <a:spcAft>
                <a:spcPts val="600"/>
              </a:spcAft>
              <a:defRPr sz="930" b="0">
                <a:solidFill>
                  <a:srgbClr val="566273"/>
                </a:solidFill>
                <a:latin typeface="Microsoft YaHei"/>
              </a:defRPr>
            </a:pPr>
            <a:r>
              <a:t>光氧化产物与机制讨论</a:t>
            </a:r>
          </a:p>
        </p:txBody>
      </p:sp>
      <p:sp>
        <p:nvSpPr>
          <p:cNvPr id="19" name="Oval 18"/>
          <p:cNvSpPr/>
          <p:nvPr/>
        </p:nvSpPr>
        <p:spPr>
          <a:xfrm>
            <a:off x="475488" y="2670048"/>
            <a:ext cx="219456" cy="21945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80060" y="2679191"/>
            <a:ext cx="210311" cy="210311"/>
          </a:xfrm>
          <a:prstGeom prst="rect">
            <a:avLst/>
          </a:prstGeom>
          <a:noFill/>
          <a:effectLst/>
        </p:spPr>
        <p:txBody>
          <a:bodyPr wrap="square" lIns="22860" rIns="22860" tIns="0" bIns="0">
            <a:spAutoFit/>
          </a:bodyPr>
          <a:lstStyle/>
          <a:p>
            <a:pPr algn="ctr">
              <a:spcAft>
                <a:spcPts val="600"/>
              </a:spcAft>
              <a:defRPr sz="1000" b="1">
                <a:solidFill>
                  <a:srgbClr val="FFFFFF"/>
                </a:solidFill>
                <a:latin typeface="Microsoft YaHei"/>
              </a:defRPr>
            </a:pPr>
            <a:r>
              <a:t>3</a:t>
            </a:r>
          </a:p>
        </p:txBody>
      </p:sp>
      <p:sp>
        <p:nvSpPr>
          <p:cNvPr id="21" name="TextBox 20"/>
          <p:cNvSpPr txBox="1"/>
          <p:nvPr/>
        </p:nvSpPr>
        <p:spPr>
          <a:xfrm>
            <a:off x="832104" y="2642616"/>
            <a:ext cx="10561320" cy="17373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Huang, Z.; Wang, H. J. Polym. Sci. 2024, 62, 969–997.</a:t>
            </a:r>
          </a:p>
        </p:txBody>
      </p:sp>
      <p:sp>
        <p:nvSpPr>
          <p:cNvPr id="22" name="TextBox 21"/>
          <p:cNvSpPr txBox="1"/>
          <p:nvPr/>
        </p:nvSpPr>
        <p:spPr>
          <a:xfrm>
            <a:off x="832104" y="2843784"/>
            <a:ext cx="10579608" cy="210312"/>
          </a:xfrm>
          <a:prstGeom prst="rect">
            <a:avLst/>
          </a:prstGeom>
          <a:noFill/>
          <a:effectLst/>
        </p:spPr>
        <p:txBody>
          <a:bodyPr wrap="square" lIns="22860" rIns="22860" tIns="0" bIns="0">
            <a:spAutoFit/>
          </a:bodyPr>
          <a:lstStyle/>
          <a:p>
            <a:pPr>
              <a:spcAft>
                <a:spcPts val="600"/>
              </a:spcAft>
              <a:defRPr sz="1030" b="1">
                <a:solidFill>
                  <a:srgbClr val="111111"/>
                </a:solidFill>
                <a:latin typeface="Microsoft YaHei"/>
              </a:defRPr>
            </a:pPr>
            <a:r>
              <a:t>A review on photochemical effects of common plastics and their related applications.</a:t>
            </a:r>
          </a:p>
        </p:txBody>
      </p:sp>
      <p:sp>
        <p:nvSpPr>
          <p:cNvPr id="23" name="TextBox 22"/>
          <p:cNvSpPr txBox="1"/>
          <p:nvPr/>
        </p:nvSpPr>
        <p:spPr>
          <a:xfrm>
            <a:off x="832104" y="3063240"/>
            <a:ext cx="5029200" cy="164592"/>
          </a:xfrm>
          <a:prstGeom prst="rect">
            <a:avLst/>
          </a:prstGeom>
          <a:noFill/>
          <a:effectLst/>
        </p:spPr>
        <p:txBody>
          <a:bodyPr wrap="square" lIns="22860" rIns="22860" tIns="0" bIns="0">
            <a:spAutoFit/>
          </a:bodyPr>
          <a:lstStyle/>
          <a:p>
            <a:pPr>
              <a:spcAft>
                <a:spcPts val="600"/>
              </a:spcAft>
              <a:defRPr sz="930" b="0">
                <a:solidFill>
                  <a:srgbClr val="063584"/>
                </a:solidFill>
                <a:latin typeface="Microsoft YaHei"/>
              </a:defRPr>
            </a:pPr>
            <a:r>
              <a:rPr>
                <a:hlinkClick r:id="rId4"/>
              </a:rPr>
              <a:t>https://doi.org/10.1002/pol.20230322</a:t>
            </a:r>
          </a:p>
        </p:txBody>
      </p:sp>
      <p:sp>
        <p:nvSpPr>
          <p:cNvPr id="24" name="TextBox 23"/>
          <p:cNvSpPr txBox="1"/>
          <p:nvPr/>
        </p:nvSpPr>
        <p:spPr>
          <a:xfrm>
            <a:off x="6702552" y="3063240"/>
            <a:ext cx="4709160" cy="164592"/>
          </a:xfrm>
          <a:prstGeom prst="rect">
            <a:avLst/>
          </a:prstGeom>
          <a:noFill/>
          <a:effectLst/>
        </p:spPr>
        <p:txBody>
          <a:bodyPr wrap="square" lIns="22860" rIns="22860" tIns="0" bIns="0">
            <a:spAutoFit/>
          </a:bodyPr>
          <a:lstStyle/>
          <a:p>
            <a:pPr>
              <a:spcAft>
                <a:spcPts val="600"/>
              </a:spcAft>
              <a:defRPr sz="930" b="0">
                <a:solidFill>
                  <a:srgbClr val="566273"/>
                </a:solidFill>
                <a:latin typeface="Microsoft YaHei"/>
              </a:defRPr>
            </a:pPr>
            <a:r>
              <a:t>聚合物吸光、结构与相态</a:t>
            </a:r>
          </a:p>
        </p:txBody>
      </p:sp>
      <p:sp>
        <p:nvSpPr>
          <p:cNvPr id="25" name="Oval 24"/>
          <p:cNvSpPr/>
          <p:nvPr/>
        </p:nvSpPr>
        <p:spPr>
          <a:xfrm>
            <a:off x="475488" y="3264408"/>
            <a:ext cx="219456" cy="21945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80060" y="3273551"/>
            <a:ext cx="210311" cy="210311"/>
          </a:xfrm>
          <a:prstGeom prst="rect">
            <a:avLst/>
          </a:prstGeom>
          <a:noFill/>
          <a:effectLst/>
        </p:spPr>
        <p:txBody>
          <a:bodyPr wrap="square" lIns="22860" rIns="22860" tIns="0" bIns="0">
            <a:spAutoFit/>
          </a:bodyPr>
          <a:lstStyle/>
          <a:p>
            <a:pPr algn="ctr">
              <a:spcAft>
                <a:spcPts val="600"/>
              </a:spcAft>
              <a:defRPr sz="1000" b="1">
                <a:solidFill>
                  <a:srgbClr val="FFFFFF"/>
                </a:solidFill>
                <a:latin typeface="Microsoft YaHei"/>
              </a:defRPr>
            </a:pPr>
            <a:r>
              <a:t>4</a:t>
            </a:r>
          </a:p>
        </p:txBody>
      </p:sp>
      <p:sp>
        <p:nvSpPr>
          <p:cNvPr id="27" name="TextBox 26"/>
          <p:cNvSpPr txBox="1"/>
          <p:nvPr/>
        </p:nvSpPr>
        <p:spPr>
          <a:xfrm>
            <a:off x="832104" y="3236976"/>
            <a:ext cx="10561320" cy="17373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Chen, C.-X.; Yang, S.-S.; Pang, J.-W.; et al. Environ. Sci. Ecotechnol. 2024, 22, 100449.</a:t>
            </a:r>
          </a:p>
        </p:txBody>
      </p:sp>
      <p:sp>
        <p:nvSpPr>
          <p:cNvPr id="28" name="TextBox 27"/>
          <p:cNvSpPr txBox="1"/>
          <p:nvPr/>
        </p:nvSpPr>
        <p:spPr>
          <a:xfrm>
            <a:off x="832104" y="3438144"/>
            <a:ext cx="10579608" cy="210312"/>
          </a:xfrm>
          <a:prstGeom prst="rect">
            <a:avLst/>
          </a:prstGeom>
          <a:noFill/>
          <a:effectLst/>
        </p:spPr>
        <p:txBody>
          <a:bodyPr wrap="square" lIns="22860" rIns="22860" tIns="0" bIns="0">
            <a:spAutoFit/>
          </a:bodyPr>
          <a:lstStyle/>
          <a:p>
            <a:pPr>
              <a:spcAft>
                <a:spcPts val="600"/>
              </a:spcAft>
              <a:defRPr sz="1030" b="1">
                <a:solidFill>
                  <a:srgbClr val="111111"/>
                </a:solidFill>
                <a:latin typeface="Microsoft YaHei"/>
              </a:defRPr>
            </a:pPr>
            <a:r>
              <a:t>Anthraquinones-based photocatalysis: A comprehensive review.</a:t>
            </a:r>
          </a:p>
        </p:txBody>
      </p:sp>
      <p:sp>
        <p:nvSpPr>
          <p:cNvPr id="29" name="TextBox 28"/>
          <p:cNvSpPr txBox="1"/>
          <p:nvPr/>
        </p:nvSpPr>
        <p:spPr>
          <a:xfrm>
            <a:off x="832104" y="3657600"/>
            <a:ext cx="5029200" cy="164592"/>
          </a:xfrm>
          <a:prstGeom prst="rect">
            <a:avLst/>
          </a:prstGeom>
          <a:noFill/>
          <a:effectLst/>
        </p:spPr>
        <p:txBody>
          <a:bodyPr wrap="square" lIns="22860" rIns="22860" tIns="0" bIns="0">
            <a:spAutoFit/>
          </a:bodyPr>
          <a:lstStyle/>
          <a:p>
            <a:pPr>
              <a:spcAft>
                <a:spcPts val="600"/>
              </a:spcAft>
              <a:defRPr sz="930" b="0">
                <a:solidFill>
                  <a:srgbClr val="063584"/>
                </a:solidFill>
                <a:latin typeface="Microsoft YaHei"/>
              </a:defRPr>
            </a:pPr>
            <a:r>
              <a:rPr>
                <a:hlinkClick r:id="rId5"/>
              </a:rPr>
              <a:t>https://doi.org/10.1016/j.ese.2024.100449</a:t>
            </a:r>
          </a:p>
        </p:txBody>
      </p:sp>
      <p:sp>
        <p:nvSpPr>
          <p:cNvPr id="30" name="TextBox 29"/>
          <p:cNvSpPr txBox="1"/>
          <p:nvPr/>
        </p:nvSpPr>
        <p:spPr>
          <a:xfrm>
            <a:off x="6702552" y="3657600"/>
            <a:ext cx="4709160" cy="164592"/>
          </a:xfrm>
          <a:prstGeom prst="rect">
            <a:avLst/>
          </a:prstGeom>
          <a:noFill/>
          <a:effectLst/>
        </p:spPr>
        <p:txBody>
          <a:bodyPr wrap="square" lIns="22860" rIns="22860" tIns="0" bIns="0">
            <a:spAutoFit/>
          </a:bodyPr>
          <a:lstStyle/>
          <a:p>
            <a:pPr>
              <a:spcAft>
                <a:spcPts val="600"/>
              </a:spcAft>
              <a:defRPr sz="930" b="0">
                <a:solidFill>
                  <a:srgbClr val="566273"/>
                </a:solidFill>
                <a:latin typeface="Microsoft YaHei"/>
              </a:defRPr>
            </a:pPr>
            <a:r>
              <a:t>AQ 激发态与氧相关过程</a:t>
            </a:r>
          </a:p>
        </p:txBody>
      </p:sp>
      <p:sp>
        <p:nvSpPr>
          <p:cNvPr id="31" name="Oval 30"/>
          <p:cNvSpPr/>
          <p:nvPr/>
        </p:nvSpPr>
        <p:spPr>
          <a:xfrm>
            <a:off x="475488" y="3858768"/>
            <a:ext cx="219456" cy="21945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80060" y="3867912"/>
            <a:ext cx="210311" cy="210311"/>
          </a:xfrm>
          <a:prstGeom prst="rect">
            <a:avLst/>
          </a:prstGeom>
          <a:noFill/>
          <a:effectLst/>
        </p:spPr>
        <p:txBody>
          <a:bodyPr wrap="square" lIns="22860" rIns="22860" tIns="0" bIns="0">
            <a:spAutoFit/>
          </a:bodyPr>
          <a:lstStyle/>
          <a:p>
            <a:pPr algn="ctr">
              <a:spcAft>
                <a:spcPts val="600"/>
              </a:spcAft>
              <a:defRPr sz="1000" b="1">
                <a:solidFill>
                  <a:srgbClr val="FFFFFF"/>
                </a:solidFill>
                <a:latin typeface="Microsoft YaHei"/>
              </a:defRPr>
            </a:pPr>
            <a:r>
              <a:t>5</a:t>
            </a:r>
          </a:p>
        </p:txBody>
      </p:sp>
      <p:sp>
        <p:nvSpPr>
          <p:cNvPr id="33" name="TextBox 32"/>
          <p:cNvSpPr txBox="1"/>
          <p:nvPr/>
        </p:nvSpPr>
        <p:spPr>
          <a:xfrm>
            <a:off x="832104" y="3831336"/>
            <a:ext cx="10561320" cy="17373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Qin, J.; Dou, Y.; Zhou, J.; et al. Appl. Catal. B: Environ. 2024, 341, 123355.</a:t>
            </a:r>
          </a:p>
        </p:txBody>
      </p:sp>
      <p:sp>
        <p:nvSpPr>
          <p:cNvPr id="34" name="TextBox 33"/>
          <p:cNvSpPr txBox="1"/>
          <p:nvPr/>
        </p:nvSpPr>
        <p:spPr>
          <a:xfrm>
            <a:off x="832104" y="4032504"/>
            <a:ext cx="10579608" cy="210312"/>
          </a:xfrm>
          <a:prstGeom prst="rect">
            <a:avLst/>
          </a:prstGeom>
          <a:noFill/>
          <a:effectLst/>
        </p:spPr>
        <p:txBody>
          <a:bodyPr wrap="square" lIns="22860" rIns="22860" tIns="0" bIns="0">
            <a:spAutoFit/>
          </a:bodyPr>
          <a:lstStyle/>
          <a:p>
            <a:pPr>
              <a:spcAft>
                <a:spcPts val="600"/>
              </a:spcAft>
              <a:defRPr sz="1030" b="1">
                <a:solidFill>
                  <a:srgbClr val="111111"/>
                </a:solidFill>
                <a:latin typeface="Microsoft YaHei"/>
              </a:defRPr>
            </a:pPr>
            <a:r>
              <a:t>Encapsulation of carbon-nanodots into metal-organic frameworks for boosting photocatalytic upcycling of polyvinyl chloride plastic.</a:t>
            </a:r>
          </a:p>
        </p:txBody>
      </p:sp>
      <p:sp>
        <p:nvSpPr>
          <p:cNvPr id="35" name="TextBox 34"/>
          <p:cNvSpPr txBox="1"/>
          <p:nvPr/>
        </p:nvSpPr>
        <p:spPr>
          <a:xfrm>
            <a:off x="832104" y="4251960"/>
            <a:ext cx="5029200" cy="164592"/>
          </a:xfrm>
          <a:prstGeom prst="rect">
            <a:avLst/>
          </a:prstGeom>
          <a:noFill/>
          <a:effectLst/>
        </p:spPr>
        <p:txBody>
          <a:bodyPr wrap="square" lIns="22860" rIns="22860" tIns="0" bIns="0">
            <a:spAutoFit/>
          </a:bodyPr>
          <a:lstStyle/>
          <a:p>
            <a:pPr>
              <a:spcAft>
                <a:spcPts val="600"/>
              </a:spcAft>
              <a:defRPr sz="930" b="0">
                <a:solidFill>
                  <a:srgbClr val="063584"/>
                </a:solidFill>
                <a:latin typeface="Microsoft YaHei"/>
              </a:defRPr>
            </a:pPr>
            <a:r>
              <a:rPr>
                <a:hlinkClick r:id="rId6"/>
              </a:rPr>
              <a:t>https://doi.org/10.1016/j.apcatb.2023.123355</a:t>
            </a:r>
          </a:p>
        </p:txBody>
      </p:sp>
      <p:sp>
        <p:nvSpPr>
          <p:cNvPr id="36" name="TextBox 35"/>
          <p:cNvSpPr txBox="1"/>
          <p:nvPr/>
        </p:nvSpPr>
        <p:spPr>
          <a:xfrm>
            <a:off x="6702552" y="4251960"/>
            <a:ext cx="4709160" cy="164592"/>
          </a:xfrm>
          <a:prstGeom prst="rect">
            <a:avLst/>
          </a:prstGeom>
          <a:noFill/>
          <a:effectLst/>
        </p:spPr>
        <p:txBody>
          <a:bodyPr wrap="square" lIns="22860" rIns="22860" tIns="0" bIns="0">
            <a:spAutoFit/>
          </a:bodyPr>
          <a:lstStyle/>
          <a:p>
            <a:pPr>
              <a:spcAft>
                <a:spcPts val="600"/>
              </a:spcAft>
              <a:defRPr sz="930" b="0">
                <a:solidFill>
                  <a:srgbClr val="566273"/>
                </a:solidFill>
                <a:latin typeface="Microsoft YaHei"/>
              </a:defRPr>
            </a:pPr>
            <a:r>
              <a:t>PVC 联合证据与条件差异</a:t>
            </a:r>
          </a:p>
        </p:txBody>
      </p:sp>
      <p:sp>
        <p:nvSpPr>
          <p:cNvPr id="37" name="Oval 36"/>
          <p:cNvSpPr/>
          <p:nvPr/>
        </p:nvSpPr>
        <p:spPr>
          <a:xfrm>
            <a:off x="475488" y="4453128"/>
            <a:ext cx="219456" cy="21945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80060" y="4462272"/>
            <a:ext cx="210311" cy="210311"/>
          </a:xfrm>
          <a:prstGeom prst="rect">
            <a:avLst/>
          </a:prstGeom>
          <a:noFill/>
          <a:effectLst/>
        </p:spPr>
        <p:txBody>
          <a:bodyPr wrap="square" lIns="22860" rIns="22860" tIns="0" bIns="0">
            <a:spAutoFit/>
          </a:bodyPr>
          <a:lstStyle/>
          <a:p>
            <a:pPr algn="ctr">
              <a:spcAft>
                <a:spcPts val="600"/>
              </a:spcAft>
              <a:defRPr sz="1000" b="1">
                <a:solidFill>
                  <a:srgbClr val="FFFFFF"/>
                </a:solidFill>
                <a:latin typeface="Microsoft YaHei"/>
              </a:defRPr>
            </a:pPr>
            <a:r>
              <a:t>6</a:t>
            </a:r>
          </a:p>
        </p:txBody>
      </p:sp>
      <p:sp>
        <p:nvSpPr>
          <p:cNvPr id="39" name="TextBox 38"/>
          <p:cNvSpPr txBox="1"/>
          <p:nvPr/>
        </p:nvSpPr>
        <p:spPr>
          <a:xfrm>
            <a:off x="832104" y="4425696"/>
            <a:ext cx="10561320" cy="17373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Su, K.; Gao, T.; Liu, H.; et al. Angew. Chem. Int. Ed. 2026, e5578835.</a:t>
            </a:r>
          </a:p>
        </p:txBody>
      </p:sp>
      <p:sp>
        <p:nvSpPr>
          <p:cNvPr id="40" name="TextBox 39"/>
          <p:cNvSpPr txBox="1"/>
          <p:nvPr/>
        </p:nvSpPr>
        <p:spPr>
          <a:xfrm>
            <a:off x="832104" y="4626864"/>
            <a:ext cx="10579608" cy="210312"/>
          </a:xfrm>
          <a:prstGeom prst="rect">
            <a:avLst/>
          </a:prstGeom>
          <a:noFill/>
          <a:effectLst/>
        </p:spPr>
        <p:txBody>
          <a:bodyPr wrap="square" lIns="22860" rIns="22860" tIns="0" bIns="0">
            <a:spAutoFit/>
          </a:bodyPr>
          <a:lstStyle/>
          <a:p>
            <a:pPr>
              <a:spcAft>
                <a:spcPts val="600"/>
              </a:spcAft>
              <a:defRPr sz="1030" b="1">
                <a:solidFill>
                  <a:srgbClr val="111111"/>
                </a:solidFill>
                <a:latin typeface="Microsoft YaHei"/>
              </a:defRPr>
            </a:pPr>
            <a:r>
              <a:t>Photocracking of Polystyrene into Aromatic Products in CH₂Cl₂.</a:t>
            </a:r>
          </a:p>
        </p:txBody>
      </p:sp>
      <p:sp>
        <p:nvSpPr>
          <p:cNvPr id="41" name="TextBox 40"/>
          <p:cNvSpPr txBox="1"/>
          <p:nvPr/>
        </p:nvSpPr>
        <p:spPr>
          <a:xfrm>
            <a:off x="832104" y="4846320"/>
            <a:ext cx="5029200" cy="164592"/>
          </a:xfrm>
          <a:prstGeom prst="rect">
            <a:avLst/>
          </a:prstGeom>
          <a:noFill/>
          <a:effectLst/>
        </p:spPr>
        <p:txBody>
          <a:bodyPr wrap="square" lIns="22860" rIns="22860" tIns="0" bIns="0">
            <a:spAutoFit/>
          </a:bodyPr>
          <a:lstStyle/>
          <a:p>
            <a:pPr>
              <a:spcAft>
                <a:spcPts val="600"/>
              </a:spcAft>
              <a:defRPr sz="930" b="0">
                <a:solidFill>
                  <a:srgbClr val="063584"/>
                </a:solidFill>
                <a:latin typeface="Microsoft YaHei"/>
              </a:defRPr>
            </a:pPr>
            <a:r>
              <a:rPr>
                <a:hlinkClick r:id="rId7"/>
              </a:rPr>
              <a:t>https://doi.org/10.1002/anie.5578835</a:t>
            </a:r>
          </a:p>
        </p:txBody>
      </p:sp>
      <p:sp>
        <p:nvSpPr>
          <p:cNvPr id="42" name="TextBox 41"/>
          <p:cNvSpPr txBox="1"/>
          <p:nvPr/>
        </p:nvSpPr>
        <p:spPr>
          <a:xfrm>
            <a:off x="6702552" y="4846320"/>
            <a:ext cx="4709160" cy="164592"/>
          </a:xfrm>
          <a:prstGeom prst="rect">
            <a:avLst/>
          </a:prstGeom>
          <a:noFill/>
          <a:effectLst/>
        </p:spPr>
        <p:txBody>
          <a:bodyPr wrap="square" lIns="22860" rIns="22860" tIns="0" bIns="0">
            <a:spAutoFit/>
          </a:bodyPr>
          <a:lstStyle/>
          <a:p>
            <a:pPr>
              <a:spcAft>
                <a:spcPts val="600"/>
              </a:spcAft>
              <a:defRPr sz="930" b="0">
                <a:solidFill>
                  <a:srgbClr val="566273"/>
                </a:solidFill>
                <a:latin typeface="Microsoft YaHei"/>
              </a:defRPr>
            </a:pPr>
            <a:r>
              <a:t>介质、Cl· 与链长证据</a:t>
            </a:r>
          </a:p>
        </p:txBody>
      </p:sp>
      <p:sp>
        <p:nvSpPr>
          <p:cNvPr id="43" name="Oval 42"/>
          <p:cNvSpPr/>
          <p:nvPr/>
        </p:nvSpPr>
        <p:spPr>
          <a:xfrm>
            <a:off x="475488" y="5047488"/>
            <a:ext cx="219456" cy="21945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480060" y="5056632"/>
            <a:ext cx="210311" cy="210311"/>
          </a:xfrm>
          <a:prstGeom prst="rect">
            <a:avLst/>
          </a:prstGeom>
          <a:noFill/>
          <a:effectLst/>
        </p:spPr>
        <p:txBody>
          <a:bodyPr wrap="square" lIns="22860" rIns="22860" tIns="0" bIns="0">
            <a:spAutoFit/>
          </a:bodyPr>
          <a:lstStyle/>
          <a:p>
            <a:pPr algn="ctr">
              <a:spcAft>
                <a:spcPts val="600"/>
              </a:spcAft>
              <a:defRPr sz="1000" b="1">
                <a:solidFill>
                  <a:srgbClr val="FFFFFF"/>
                </a:solidFill>
                <a:latin typeface="Microsoft YaHei"/>
              </a:defRPr>
            </a:pPr>
            <a:r>
              <a:t>7</a:t>
            </a:r>
          </a:p>
        </p:txBody>
      </p:sp>
      <p:sp>
        <p:nvSpPr>
          <p:cNvPr id="45" name="TextBox 44"/>
          <p:cNvSpPr txBox="1"/>
          <p:nvPr/>
        </p:nvSpPr>
        <p:spPr>
          <a:xfrm>
            <a:off x="832104" y="5020056"/>
            <a:ext cx="10561320" cy="17373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Ren, M. G.; Mao, M.; Duan, X. Y.; Song, Q. H. J. Photochem. Photobiol. A: Chem. 2011, 217, 164–168.</a:t>
            </a:r>
          </a:p>
        </p:txBody>
      </p:sp>
      <p:sp>
        <p:nvSpPr>
          <p:cNvPr id="46" name="TextBox 45"/>
          <p:cNvSpPr txBox="1"/>
          <p:nvPr/>
        </p:nvSpPr>
        <p:spPr>
          <a:xfrm>
            <a:off x="832104" y="5221224"/>
            <a:ext cx="10579608" cy="210312"/>
          </a:xfrm>
          <a:prstGeom prst="rect">
            <a:avLst/>
          </a:prstGeom>
          <a:noFill/>
          <a:effectLst/>
        </p:spPr>
        <p:txBody>
          <a:bodyPr wrap="square" lIns="22860" rIns="22860" tIns="0" bIns="0">
            <a:spAutoFit/>
          </a:bodyPr>
          <a:lstStyle/>
          <a:p>
            <a:pPr>
              <a:spcAft>
                <a:spcPts val="600"/>
              </a:spcAft>
              <a:defRPr sz="1030" b="1">
                <a:solidFill>
                  <a:srgbClr val="111111"/>
                </a:solidFill>
                <a:latin typeface="Microsoft YaHei"/>
              </a:defRPr>
            </a:pPr>
            <a:r>
              <a:t>Hydrogen peroxide synthesis by direct photoreduction of 2-ethylanthraquinone in aerated solutions.</a:t>
            </a:r>
          </a:p>
        </p:txBody>
      </p:sp>
      <p:sp>
        <p:nvSpPr>
          <p:cNvPr id="47" name="TextBox 46"/>
          <p:cNvSpPr txBox="1"/>
          <p:nvPr/>
        </p:nvSpPr>
        <p:spPr>
          <a:xfrm>
            <a:off x="832104" y="5440680"/>
            <a:ext cx="10515600" cy="164592"/>
          </a:xfrm>
          <a:prstGeom prst="rect">
            <a:avLst/>
          </a:prstGeom>
          <a:noFill/>
          <a:effectLst/>
        </p:spPr>
        <p:txBody>
          <a:bodyPr wrap="square" lIns="22860" rIns="22860" tIns="0" bIns="0">
            <a:spAutoFit/>
          </a:bodyPr>
          <a:lstStyle/>
          <a:p>
            <a:pPr>
              <a:spcAft>
                <a:spcPts val="600"/>
              </a:spcAft>
              <a:defRPr sz="930" b="0">
                <a:solidFill>
                  <a:srgbClr val="566273"/>
                </a:solidFill>
                <a:latin typeface="Microsoft YaHei"/>
              </a:defRPr>
            </a:pPr>
            <a:r>
              <a:t>据 Chen 综述 Ref.98；原文 / DOI 未取得；不补写未核实 DOI。</a:t>
            </a:r>
          </a:p>
        </p:txBody>
      </p:sp>
      <p:sp>
        <p:nvSpPr>
          <p:cNvPr id="48" name="Rectangle 47"/>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Chevron 48"/>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51" name="TextBox 50"/>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文献支持提出机制，不替代本体系的物种检测、物料平衡和主链变化证据。</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感谢聆听，敬请各位老师批评指正</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p>
        </p:txBody>
      </p:sp>
      <p:sp>
        <p:nvSpPr>
          <p:cNvPr id="5" name="TextBox 4"/>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20</a:t>
            </a:r>
          </a:p>
        </p:txBody>
      </p:sp>
      <p:sp>
        <p:nvSpPr>
          <p:cNvPr id="6" name="Rounded Rectangle 5"/>
          <p:cNvSpPr/>
          <p:nvPr/>
        </p:nvSpPr>
        <p:spPr>
          <a:xfrm>
            <a:off x="438912" y="1234440"/>
            <a:ext cx="11201400" cy="449884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1005840" y="1783080"/>
            <a:ext cx="10058400" cy="594360"/>
          </a:xfrm>
          <a:prstGeom prst="rect">
            <a:avLst/>
          </a:prstGeom>
          <a:noFill/>
          <a:effectLst/>
        </p:spPr>
        <p:txBody>
          <a:bodyPr wrap="square" lIns="22860" rIns="22860" tIns="0" bIns="0">
            <a:spAutoFit/>
          </a:bodyPr>
          <a:lstStyle/>
          <a:p>
            <a:pPr algn="ctr">
              <a:spcAft>
                <a:spcPts val="600"/>
              </a:spcAft>
              <a:defRPr sz="3800" b="1">
                <a:solidFill>
                  <a:srgbClr val="063584"/>
                </a:solidFill>
                <a:latin typeface="Microsoft YaHei"/>
              </a:defRPr>
            </a:pPr>
            <a:r>
              <a:t>THANK YOU</a:t>
            </a:r>
          </a:p>
        </p:txBody>
      </p:sp>
      <p:sp>
        <p:nvSpPr>
          <p:cNvPr id="8" name="Freeform 7"/>
          <p:cNvSpPr/>
          <p:nvPr/>
        </p:nvSpPr>
        <p:spPr>
          <a:xfrm>
            <a:off x="2761488" y="3008376"/>
            <a:ext cx="6675120" cy="219456"/>
          </a:xfrm>
          <a:custGeom>
            <a:avLst/>
            <a:gdLst/>
            <a:ahLst/>
            <a:cxnLst/>
            <a:rect l="l" t="t" r="r" b="b"/>
            <a:pathLst>
              <a:path w="6675120" h="219456">
                <a:moveTo>
                  <a:pt x="0" y="0"/>
                </a:moveTo>
                <a:lnTo>
                  <a:pt x="667512" y="219456"/>
                </a:lnTo>
                <a:lnTo>
                  <a:pt x="1335024" y="0"/>
                </a:lnTo>
                <a:lnTo>
                  <a:pt x="2002536" y="219456"/>
                </a:lnTo>
                <a:lnTo>
                  <a:pt x="2670048" y="0"/>
                </a:lnTo>
                <a:lnTo>
                  <a:pt x="3337560" y="219456"/>
                </a:lnTo>
                <a:lnTo>
                  <a:pt x="4005072" y="0"/>
                </a:lnTo>
                <a:lnTo>
                  <a:pt x="4672583" y="219456"/>
                </a:lnTo>
                <a:lnTo>
                  <a:pt x="5340095" y="0"/>
                </a:lnTo>
                <a:lnTo>
                  <a:pt x="6007608" y="219456"/>
                </a:lnTo>
                <a:lnTo>
                  <a:pt x="6675120" y="0"/>
                </a:lnTo>
              </a:path>
            </a:pathLst>
          </a:custGeom>
          <a:noFill/>
          <a:ln w="2286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3429000" y="3227832"/>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3300984" y="3630168"/>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11" name="Connector 10"/>
          <p:cNvCxnSpPr/>
          <p:nvPr/>
        </p:nvCxnSpPr>
        <p:spPr>
          <a:xfrm>
            <a:off x="4764024" y="3227832"/>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4636008" y="3630168"/>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13" name="Connector 12"/>
          <p:cNvCxnSpPr/>
          <p:nvPr/>
        </p:nvCxnSpPr>
        <p:spPr>
          <a:xfrm>
            <a:off x="6099048" y="3227832"/>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5971032" y="3630168"/>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15" name="Connector 14"/>
          <p:cNvCxnSpPr/>
          <p:nvPr/>
        </p:nvCxnSpPr>
        <p:spPr>
          <a:xfrm>
            <a:off x="7434071" y="3227832"/>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7306055" y="3630168"/>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17" name="Connector 16"/>
          <p:cNvCxnSpPr/>
          <p:nvPr/>
        </p:nvCxnSpPr>
        <p:spPr>
          <a:xfrm>
            <a:off x="8769096" y="3227832"/>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8641080" y="3630168"/>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sp>
        <p:nvSpPr>
          <p:cNvPr id="19" name="TextBox 18"/>
          <p:cNvSpPr txBox="1"/>
          <p:nvPr/>
        </p:nvSpPr>
        <p:spPr>
          <a:xfrm>
            <a:off x="2514600" y="2980944"/>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20" name="TextBox 19"/>
          <p:cNvSpPr txBox="1"/>
          <p:nvPr/>
        </p:nvSpPr>
        <p:spPr>
          <a:xfrm>
            <a:off x="9482328" y="2980944"/>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21" name="TextBox 20"/>
          <p:cNvSpPr txBox="1"/>
          <p:nvPr/>
        </p:nvSpPr>
        <p:spPr>
          <a:xfrm>
            <a:off x="1024128" y="4700016"/>
            <a:ext cx="10040112" cy="393192"/>
          </a:xfrm>
          <a:prstGeom prst="rect">
            <a:avLst/>
          </a:prstGeom>
          <a:noFill/>
          <a:effectLst/>
        </p:spPr>
        <p:txBody>
          <a:bodyPr wrap="square" lIns="22860" rIns="22860" tIns="0" bIns="0">
            <a:spAutoFit/>
          </a:bodyPr>
          <a:lstStyle/>
          <a:p>
            <a:pPr algn="ctr">
              <a:spcAft>
                <a:spcPts val="600"/>
              </a:spcAft>
              <a:defRPr sz="2100" b="1">
                <a:solidFill>
                  <a:srgbClr val="063584"/>
                </a:solidFill>
                <a:latin typeface="Microsoft YaHei"/>
              </a:defRPr>
            </a:pPr>
            <a:r>
              <a:t>佟可心  ·  北京工业大学</a:t>
            </a:r>
          </a:p>
        </p:txBody>
      </p:sp>
      <p:sp>
        <p:nvSpPr>
          <p:cNvPr id="22" name="Rectangle 21"/>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Chevron 22"/>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讨论</a:t>
            </a:r>
          </a:p>
        </p:txBody>
      </p:sp>
      <p:sp>
        <p:nvSpPr>
          <p:cNvPr id="25" name="TextBox 24"/>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期待对实验优先级、分析方法及机理证据提出建议。</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