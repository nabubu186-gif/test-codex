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转化率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O₂</c:v>
                </c:pt>
                <c:pt idx="1">
                  <c:v>O₂ 鼓泡</c:v>
                </c:pt>
                <c:pt idx="2">
                  <c:v>N₂</c:v>
                </c:pt>
                <c:pt idx="3">
                  <c:v>空气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</c:v>
                </c:pt>
                <c:pt idx="1">
                  <c:v>82.8</c:v>
                </c:pt>
                <c:pt idx="2">
                  <c:v>73.8</c:v>
                </c:pt>
                <c:pt idx="3">
                  <c:v>76.6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本次汇报以乙基蒽醌参与的PVC光化学转化为主题。先介绍研究依据，再报告模型分子结果，最后提出自由基反应网络与验证计划。本课题仍处于探索阶段，不将模型底物消耗直接等同于PVC有效降解。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汇报分为四个层次。背景明确氯和碳的双重目标；文献提供一般路径与证据方法；模型实验报告实际记录；机制部分把每个待验证步骤对应到独立测量。已删除用户明确弃用的红外数据。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PVC既包含需要管理的氯元素，也包含可被转化利用的碳骨架。氯离子释放、含氧结构生成、聚合物链长下降对应不同层面的变化。必须分开建立测量指标，再判断它们之间的联系。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左侧三式为类别示意，不是已确认的本体系反应。取代或消除可以使含氯结构改变而不释放游离氯自由基；即便存在均裂，也需独立证明该过程与整体反应相关。主链断裂最终需要聚合物层面的测量。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本页不再展示红外曲线或数值。Gardette研究提供的核心启发是使用结构分析与化学处理共同约束产物归属。右侧为一般氧化过程概括，并非直接从文献移植得到的EAQ/DCE体系机理。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表示一般AQ类的光激发、供氢体参与和氧再氧化过程。AQH自由基与AHQ对应不同还原层级，图中并列是简写，不表示二者已在本实验中同时检出。乙基蒽醌的实际中间体和供氢体尚待确认，不展开完整蒽醌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文标准体系无需外加光催化剂，作者结合自旋捕获、GPC及产物分析研究PS光裂解。捕获信号的归属和反应路径是作者报告；本课题不将其直接等同于EAQ/DCE中的结果。PS骨架和PVC不同，CH2Cl2和DCE的反应性也需分别测量。原始文献曲线不作伪造的可编辑数据重绘，改为原生证据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Qin文献结合氯释放、自由基研究及聚合物和产物分析。其水相催化剂、光源与预处理均与本课题不同。本页保留方法启发，不展示无法取得补充信息的GPC原曲线，也不虚构可编辑实验数据。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原始模型实验使用2-氯戊烷，后续计划可扩展2-氯己烷。模型先拆解局部化学，再增加底物复杂度；聚合物阶段需要单独考虑溶胀、氧扩散和交联。不能以模型结果替代PVC分子量证据。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装置为可编辑示意，不是原实验照片。条件按用户原始记录保留：2-氯戊烷0.5毫摩尔、EAQ5毫克每毫升、DCE4毫升、365纳米照射6小时，比较四种气氛。光通量、温度与重复实验信息尚需补充。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组转化率分别为87.6、82.8、73.8和76.6，来自用户原记录，不添加误差线。表格保留六行及原有符号。二氯戊烷、四氯丁烷、氯乙酸均为候选记录，不表示已用标准品确证。内标、校准和物料平衡未提供，不据此推导PVC降解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本页把现象、解释和验证按顺序连接。DCE参与反应是需要检验的解释，而非已确认结论。乙腈体系差异也可能与溶解性、吸光和检测窗口有关。先完成无底物空白及标准品确认，再决定条件优化方向。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承接模型实验的竞争解释，再引出下一页聚合物工作假说。小分子可以帮助识别局部反应，但无法代表聚合物链上的连续位点、缺陷与传质条件。聚合物阶段同时分析可溶部分、凝胶及产物，避免把相态变化当作主链断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按照用户提供的独立机制图片重建，所有内容为可编辑对象，删除全部问号。AQ激发态攫氢后由氧参与再氧化为一般文献过程，其在本体系中的具体中间体与供氢体待确认。右侧PVC占主要区域：候选攫氢与C–Cl活化为虚线，表示未证实；Cl自由基支路如成立，可攫氢生成R自由基和HCl。R自由基与氧结合形成ROO自由基，后续ROOH与RO自由基的生成和烷氧自由基β裂解均需本体系证据。底部为连接式示意，不代表已确认产物。AQH自由基和AHQ为不同还原层级，并列标注不表示同时检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本轮以最小对照集合排除竞争解释。无底物DCE空白用于判断背景产物；光暗、有无EAQ用于评价光敏增益；介质与气氛对比同时控制物理性质。供气和残余氧需要记录，避免把传质差异解释为单纯化学差异。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EPR与捕获剂需要排除分析干扰和选择性局限。氯平衡覆盖不同相，SEC/GPC结合凝胶与回收率，避免只测可溶组分造成偏差。结构确证和定量分别完成。若要支持AQ再生，还应跟踪组分变化与试剂稳定性。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后续先回到现有模型的分析可靠性，再推进体系优化。2-氯己烷属于后续模型计划，与原始2-氯戊烷实验区分。复杂底物与PVC阶段单独评价相态和传质，机制实验根据可重复结果逐步展开。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三点：研究依据来自文献的一般过程；前期数据提供模型反应线索而非PVC有效降解结论；下一步按溶剂空白、产物确认、自由基与聚合物测量建立证据。用户已明确弃用红外数据，本汇报已完全删除该数据及相关结论。主要文献完整DOI列于随附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蒽醌参与的 PVC 光化学转化与降解机制探索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课题组工作汇报  ·  从模型分子实验到聚合物降解的证据链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1051560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1111"/>
                </a:solidFill>
                <a:latin typeface="Microsoft YaHei"/>
              </a:defRPr>
            </a:pPr>
            <a:r>
              <a:t>以模型反应识别活性过程，以聚合物证据验证主链变化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438144"/>
            <a:ext cx="44805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105656"/>
            <a:ext cx="4206240" cy="31089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66273"/>
                </a:solidFill>
                <a:latin typeface="Microsoft YaHei"/>
              </a:defRPr>
            </a:pPr>
            <a:r>
              <a:t>PVC：含氯聚合物主链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3154680"/>
            <a:ext cx="2514600" cy="138988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3154680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34455" y="3223260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光化学体系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776472"/>
            <a:ext cx="2148840" cy="6675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365 nm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乙基蒽醌 / O₂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154680"/>
            <a:ext cx="2514600" cy="138988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3154680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3223260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转化目标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776472"/>
            <a:ext cx="2148840" cy="6675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脱氯 · 氧化</a:t>
            </a:r>
          </a:p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碳骨架变化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3840480"/>
            <a:ext cx="301752" cy="0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928616"/>
            <a:ext cx="103327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11111"/>
                </a:solidFill>
                <a:latin typeface="Microsoft YaHei"/>
              </a:defRPr>
            </a:pPr>
            <a:r>
              <a:t>报告人：佟可心    指导教师：孙再成 教授 / 李鹏飞 博士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9824"/>
            <a:ext cx="98755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2026 年 10 月 17 日    北京工业大学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研究定位：解析模型反应与介质竞争，建立 PVC 光化学转化的机制证据。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汇报主线：从文献依据到实验验证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背景界定研究目标，实验提出工作假说，对照与分析形成证据闭环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87168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555748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13" name="Freeform 12"/>
          <p:cNvSpPr/>
          <p:nvPr/>
        </p:nvSpPr>
        <p:spPr>
          <a:xfrm>
            <a:off x="1024128" y="3401568"/>
            <a:ext cx="1572768" cy="155448"/>
          </a:xfrm>
          <a:custGeom>
            <a:avLst/>
            <a:gdLst/>
            <a:ahLst/>
            <a:cxnLst/>
            <a:rect l="l" t="t" r="r" b="b"/>
            <a:pathLst>
              <a:path w="1572768" h="155448">
                <a:moveTo>
                  <a:pt x="0" y="0"/>
                </a:moveTo>
                <a:lnTo>
                  <a:pt x="393192" y="155448"/>
                </a:lnTo>
                <a:lnTo>
                  <a:pt x="786384" y="0"/>
                </a:lnTo>
                <a:lnTo>
                  <a:pt x="1179576" y="155448"/>
                </a:lnTo>
                <a:lnTo>
                  <a:pt x="1572768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55701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89304" y="395935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03704" y="3557016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75688" y="3959352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7413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5" y="337413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970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PVC 含氯结构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8406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氯管理与碳骨架转化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64408" y="3749039"/>
            <a:ext cx="192024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38728" y="2487168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2555748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文献依据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438144"/>
            <a:ext cx="214884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1111"/>
                </a:solidFill>
                <a:latin typeface="Microsoft YaHei"/>
              </a:defRPr>
            </a:pPr>
            <a:r>
              <a:t>R· → ROO·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0168" y="448970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光氧化与含氯介质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508406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提取可借鉴的证据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17336" y="3749039"/>
            <a:ext cx="192024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391656" y="2487168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555748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前期探索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3429000"/>
            <a:ext cx="2194560" cy="5120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转化率 + 产物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48970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模型反应与产物记录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508406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区分底物转化与介质反应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70264" y="3749039"/>
            <a:ext cx="192024" cy="0"/>
          </a:xfrm>
          <a:prstGeom prst="line">
            <a:avLst/>
          </a:prstGeom>
          <a:ln w="1905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244584" y="2487168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555748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机制验证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7463" y="3429000"/>
            <a:ext cx="2194560" cy="5120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EPR / Cl / SEC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448970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反应网络与关键对照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5084064"/>
            <a:ext cx="2331720" cy="4846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建立物种、氯与链长证据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逻辑顺序：研究目标 → 文献启发 → 实验现象 → 竞争解释 → 机制验证。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PVC 回收需要协同管理氯与碳骨架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含氯结构决定了反应评价必须同时覆盖元素去向与聚合物链长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Xu et al., Nat. Rev. Methods Primers 2023, 3, 44.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4864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52303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 的含氯主链与主要转化方向</a:t>
            </a:r>
          </a:p>
        </p:txBody>
      </p:sp>
      <p:sp>
        <p:nvSpPr>
          <p:cNvPr id="13" name="Freeform 12"/>
          <p:cNvSpPr/>
          <p:nvPr/>
        </p:nvSpPr>
        <p:spPr>
          <a:xfrm>
            <a:off x="1188720" y="3246120"/>
            <a:ext cx="4242816" cy="210312"/>
          </a:xfrm>
          <a:custGeom>
            <a:avLst/>
            <a:gdLst/>
            <a:ahLst/>
            <a:cxnLst/>
            <a:rect l="l" t="t" r="r" b="b"/>
            <a:pathLst>
              <a:path w="4242816" h="210312">
                <a:moveTo>
                  <a:pt x="0" y="0"/>
                </a:moveTo>
                <a:lnTo>
                  <a:pt x="530352" y="210312"/>
                </a:lnTo>
                <a:lnTo>
                  <a:pt x="1060704" y="0"/>
                </a:lnTo>
                <a:lnTo>
                  <a:pt x="1591056" y="210312"/>
                </a:lnTo>
                <a:lnTo>
                  <a:pt x="2121408" y="0"/>
                </a:lnTo>
                <a:lnTo>
                  <a:pt x="2651760" y="210312"/>
                </a:lnTo>
                <a:lnTo>
                  <a:pt x="3182111" y="0"/>
                </a:lnTo>
                <a:lnTo>
                  <a:pt x="3712463" y="210312"/>
                </a:lnTo>
                <a:lnTo>
                  <a:pt x="4242816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719072" y="3456432"/>
            <a:ext cx="0" cy="365759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91055" y="385876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9776" y="3456432"/>
            <a:ext cx="0" cy="365759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51760" y="385876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3456432"/>
            <a:ext cx="0" cy="365759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12464" y="385876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1183" y="3456432"/>
            <a:ext cx="0" cy="365759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73168" y="3858768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21868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3218688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16552"/>
            <a:ext cx="4983480" cy="42062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脱氯 · 官能化 · 氧化 · 交联 · 主链断裂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4983480" cy="4572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各过程可以竞争发生，需要分别评价。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2423160"/>
            <a:ext cx="4846320" cy="135331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2423160"/>
            <a:ext cx="48463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2491740"/>
            <a:ext cx="45902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044952"/>
            <a:ext cx="4480559" cy="6309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11111"/>
                </a:solidFill>
                <a:latin typeface="Microsoft YaHei"/>
              </a:defRPr>
            </a:pPr>
            <a:r>
              <a:t>Cl⁻ / HCl / 残余有机氯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087368"/>
            <a:ext cx="4846320" cy="135331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9400" y="4087368"/>
            <a:ext cx="48463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7416" y="4155948"/>
            <a:ext cx="45902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碳的去向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709159"/>
            <a:ext cx="4480559" cy="63093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长链保留 / 低聚物 / 小分子产物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研究目标：在可控光照条件下，将含氯结构转化与碳骨架利用联系起来。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脱氯、自由基生成与主链断裂需要分层验证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C–Cl 键转化存在不同反应路径，游离 Cl· 并非所有脱氯过程的共同产物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Xu et al., Nat. Rev. Methods Primers 2023, 3, 44.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4864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52303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三类含氯结构转化示意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90672"/>
            <a:ext cx="123444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亲核取代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090672"/>
            <a:ext cx="379476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R–Cl + Nu⁻ → R–Nu + Cl⁻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95344"/>
            <a:ext cx="123444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均裂路径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895344"/>
            <a:ext cx="379476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R–Cl → R· + Cl·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0016"/>
            <a:ext cx="123444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脱氯化氢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700016"/>
            <a:ext cx="3794760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–CH₂–CHCl– → –CH=CH– + HCl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423160"/>
            <a:ext cx="48463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491740"/>
            <a:ext cx="45902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三个独立的证据层次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3035808"/>
            <a:ext cx="4846320" cy="66751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209544"/>
            <a:ext cx="1536192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C–Cl 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209544"/>
            <a:ext cx="2788920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氯形态与回收率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877056"/>
            <a:ext cx="4846320" cy="66751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050792"/>
            <a:ext cx="1536192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活性物种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4050792"/>
            <a:ext cx="2788920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自由基捕获与交叉验证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718304"/>
            <a:ext cx="4846320" cy="66751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892040"/>
            <a:ext cx="1536192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C–C 断裂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892040"/>
            <a:ext cx="2788920" cy="3291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分子量、凝胶分数与产物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先明确反应类型，再建立活性物种与主链变化之间的证据联系。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PVC 光氧化文献支持自由基参与的反应网络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Gardette 的结构归属结合多种分析与化学处理，体现了交叉验证的重要性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Gardette et al., Macromolecules 1989, 22, 2576–2581.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0292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47731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可借鉴的文献证据逻辑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132588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结构分析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081528"/>
            <a:ext cx="309067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区分重叠的含氧产物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58768"/>
            <a:ext cx="132588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化学处理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858768"/>
            <a:ext cx="309067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利用反应前后变化检验归属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36008"/>
            <a:ext cx="132588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反应关联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636008"/>
            <a:ext cx="309067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联系自由基氧化与产物形成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423160"/>
            <a:ext cx="53035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491740"/>
            <a:ext cx="50474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文献提出的一般氧化路径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8232" y="3063240"/>
            <a:ext cx="4800600" cy="53949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172968"/>
            <a:ext cx="46177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R· + O₂ → ROO·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3639312"/>
            <a:ext cx="0" cy="155448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28232" y="3840480"/>
            <a:ext cx="4800600" cy="53949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950208"/>
            <a:ext cx="46177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ROO· → ROOH → RO·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4416552"/>
            <a:ext cx="0" cy="155448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28232" y="4617720"/>
            <a:ext cx="4800600" cy="53949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727448"/>
            <a:ext cx="461772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111111"/>
                </a:solidFill>
                <a:latin typeface="Microsoft YaHei"/>
              </a:defRPr>
            </a:pPr>
            <a:r>
              <a:t>含氧产物生成与可能的链裂解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文献支持自由基氧化路径，本体系的 Cl· 作用与链裂解仍需独立验证。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乙基蒽醌作为光敏候选，为反应提供激发态入口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蒽醌介绍保留选择理由与候选循环，实际作用以本体系对照实验为依据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Chen et al., Environ. Sci. Ecotechnol. 2024, 22, 100449.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3035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50474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AQ 类光敏过程的概念循环</a:t>
            </a:r>
          </a:p>
        </p:txBody>
      </p:sp>
      <p:sp>
        <p:nvSpPr>
          <p:cNvPr id="13" name="Freeform 12"/>
          <p:cNvSpPr/>
          <p:nvPr/>
        </p:nvSpPr>
        <p:spPr>
          <a:xfrm>
            <a:off x="3524908" y="3194294"/>
            <a:ext cx="781727" cy="735494"/>
          </a:xfrm>
          <a:custGeom>
            <a:avLst/>
            <a:gdLst/>
            <a:ahLst/>
            <a:cxnLst/>
            <a:rect l="l" t="t" r="r" b="b"/>
            <a:pathLst>
              <a:path w="781727" h="735494">
                <a:moveTo>
                  <a:pt x="0" y="0"/>
                </a:moveTo>
                <a:lnTo>
                  <a:pt x="27078" y="8070"/>
                </a:lnTo>
                <a:lnTo>
                  <a:pt x="53906" y="16647"/>
                </a:lnTo>
                <a:lnTo>
                  <a:pt x="80467" y="25725"/>
                </a:lnTo>
                <a:lnTo>
                  <a:pt x="106747" y="35300"/>
                </a:lnTo>
                <a:lnTo>
                  <a:pt x="132732" y="45365"/>
                </a:lnTo>
                <a:lnTo>
                  <a:pt x="158405" y="55916"/>
                </a:lnTo>
                <a:lnTo>
                  <a:pt x="183753" y="66947"/>
                </a:lnTo>
                <a:lnTo>
                  <a:pt x="208761" y="78450"/>
                </a:lnTo>
                <a:lnTo>
                  <a:pt x="233416" y="90421"/>
                </a:lnTo>
                <a:lnTo>
                  <a:pt x="257702" y="102851"/>
                </a:lnTo>
                <a:lnTo>
                  <a:pt x="281608" y="115733"/>
                </a:lnTo>
                <a:lnTo>
                  <a:pt x="305118" y="129061"/>
                </a:lnTo>
                <a:lnTo>
                  <a:pt x="328219" y="142828"/>
                </a:lnTo>
                <a:lnTo>
                  <a:pt x="350899" y="157024"/>
                </a:lnTo>
                <a:lnTo>
                  <a:pt x="373145" y="171642"/>
                </a:lnTo>
                <a:lnTo>
                  <a:pt x="394944" y="186674"/>
                </a:lnTo>
                <a:lnTo>
                  <a:pt x="416283" y="202112"/>
                </a:lnTo>
                <a:lnTo>
                  <a:pt x="437152" y="217946"/>
                </a:lnTo>
                <a:lnTo>
                  <a:pt x="457537" y="234167"/>
                </a:lnTo>
                <a:lnTo>
                  <a:pt x="477427" y="250767"/>
                </a:lnTo>
                <a:lnTo>
                  <a:pt x="496811" y="267736"/>
                </a:lnTo>
                <a:lnTo>
                  <a:pt x="515678" y="285064"/>
                </a:lnTo>
                <a:lnTo>
                  <a:pt x="534017" y="302742"/>
                </a:lnTo>
                <a:lnTo>
                  <a:pt x="551819" y="320760"/>
                </a:lnTo>
                <a:lnTo>
                  <a:pt x="569072" y="339106"/>
                </a:lnTo>
                <a:lnTo>
                  <a:pt x="585767" y="357772"/>
                </a:lnTo>
                <a:lnTo>
                  <a:pt x="601895" y="376746"/>
                </a:lnTo>
                <a:lnTo>
                  <a:pt x="617447" y="396018"/>
                </a:lnTo>
                <a:lnTo>
                  <a:pt x="632413" y="415576"/>
                </a:lnTo>
                <a:lnTo>
                  <a:pt x="646785" y="435410"/>
                </a:lnTo>
                <a:lnTo>
                  <a:pt x="660556" y="455509"/>
                </a:lnTo>
                <a:lnTo>
                  <a:pt x="673716" y="475860"/>
                </a:lnTo>
                <a:lnTo>
                  <a:pt x="686260" y="496453"/>
                </a:lnTo>
                <a:lnTo>
                  <a:pt x="698179" y="517276"/>
                </a:lnTo>
                <a:lnTo>
                  <a:pt x="709467" y="538317"/>
                </a:lnTo>
                <a:lnTo>
                  <a:pt x="720117" y="559564"/>
                </a:lnTo>
                <a:lnTo>
                  <a:pt x="730124" y="581005"/>
                </a:lnTo>
                <a:lnTo>
                  <a:pt x="739482" y="602628"/>
                </a:lnTo>
                <a:lnTo>
                  <a:pt x="748186" y="624421"/>
                </a:lnTo>
                <a:lnTo>
                  <a:pt x="756230" y="646371"/>
                </a:lnTo>
                <a:lnTo>
                  <a:pt x="763610" y="668466"/>
                </a:lnTo>
                <a:lnTo>
                  <a:pt x="770322" y="690693"/>
                </a:lnTo>
                <a:lnTo>
                  <a:pt x="776363" y="713040"/>
                </a:lnTo>
                <a:lnTo>
                  <a:pt x="781727" y="735494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3484771" y="4424892"/>
            <a:ext cx="766998" cy="584748"/>
          </a:xfrm>
          <a:custGeom>
            <a:avLst/>
            <a:gdLst/>
            <a:ahLst/>
            <a:cxnLst/>
            <a:rect l="l" t="t" r="r" b="b"/>
            <a:pathLst>
              <a:path w="766998" h="584748">
                <a:moveTo>
                  <a:pt x="766998" y="0"/>
                </a:moveTo>
                <a:lnTo>
                  <a:pt x="758175" y="18538"/>
                </a:lnTo>
                <a:lnTo>
                  <a:pt x="748871" y="36929"/>
                </a:lnTo>
                <a:lnTo>
                  <a:pt x="739088" y="55165"/>
                </a:lnTo>
                <a:lnTo>
                  <a:pt x="728831" y="73237"/>
                </a:lnTo>
                <a:lnTo>
                  <a:pt x="718103" y="91139"/>
                </a:lnTo>
                <a:lnTo>
                  <a:pt x="706910" y="108862"/>
                </a:lnTo>
                <a:lnTo>
                  <a:pt x="695257" y="126399"/>
                </a:lnTo>
                <a:lnTo>
                  <a:pt x="683148" y="143742"/>
                </a:lnTo>
                <a:lnTo>
                  <a:pt x="670589" y="160885"/>
                </a:lnTo>
                <a:lnTo>
                  <a:pt x="657584" y="177819"/>
                </a:lnTo>
                <a:lnTo>
                  <a:pt x="644139" y="194538"/>
                </a:lnTo>
                <a:lnTo>
                  <a:pt x="630261" y="211035"/>
                </a:lnTo>
                <a:lnTo>
                  <a:pt x="615955" y="227302"/>
                </a:lnTo>
                <a:lnTo>
                  <a:pt x="601226" y="243333"/>
                </a:lnTo>
                <a:lnTo>
                  <a:pt x="586082" y="259120"/>
                </a:lnTo>
                <a:lnTo>
                  <a:pt x="570529" y="274658"/>
                </a:lnTo>
                <a:lnTo>
                  <a:pt x="554573" y="289939"/>
                </a:lnTo>
                <a:lnTo>
                  <a:pt x="538222" y="304957"/>
                </a:lnTo>
                <a:lnTo>
                  <a:pt x="521481" y="319705"/>
                </a:lnTo>
                <a:lnTo>
                  <a:pt x="504359" y="334178"/>
                </a:lnTo>
                <a:lnTo>
                  <a:pt x="486862" y="348369"/>
                </a:lnTo>
                <a:lnTo>
                  <a:pt x="468999" y="362272"/>
                </a:lnTo>
                <a:lnTo>
                  <a:pt x="450776" y="375881"/>
                </a:lnTo>
                <a:lnTo>
                  <a:pt x="432201" y="389191"/>
                </a:lnTo>
                <a:lnTo>
                  <a:pt x="413282" y="402195"/>
                </a:lnTo>
                <a:lnTo>
                  <a:pt x="394028" y="414888"/>
                </a:lnTo>
                <a:lnTo>
                  <a:pt x="374446" y="427266"/>
                </a:lnTo>
                <a:lnTo>
                  <a:pt x="354545" y="439321"/>
                </a:lnTo>
                <a:lnTo>
                  <a:pt x="334333" y="451050"/>
                </a:lnTo>
                <a:lnTo>
                  <a:pt x="313819" y="462448"/>
                </a:lnTo>
                <a:lnTo>
                  <a:pt x="293012" y="473509"/>
                </a:lnTo>
                <a:lnTo>
                  <a:pt x="271920" y="484229"/>
                </a:lnTo>
                <a:lnTo>
                  <a:pt x="250553" y="494603"/>
                </a:lnTo>
                <a:lnTo>
                  <a:pt x="228919" y="504627"/>
                </a:lnTo>
                <a:lnTo>
                  <a:pt x="207028" y="514297"/>
                </a:lnTo>
                <a:lnTo>
                  <a:pt x="184889" y="523608"/>
                </a:lnTo>
                <a:lnTo>
                  <a:pt x="162511" y="532556"/>
                </a:lnTo>
                <a:lnTo>
                  <a:pt x="139905" y="541139"/>
                </a:lnTo>
                <a:lnTo>
                  <a:pt x="117079" y="549351"/>
                </a:lnTo>
                <a:lnTo>
                  <a:pt x="94043" y="557190"/>
                </a:lnTo>
                <a:lnTo>
                  <a:pt x="70807" y="564653"/>
                </a:lnTo>
                <a:lnTo>
                  <a:pt x="47382" y="571735"/>
                </a:lnTo>
                <a:lnTo>
                  <a:pt x="23776" y="578434"/>
                </a:lnTo>
                <a:lnTo>
                  <a:pt x="0" y="584748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892867" y="3194294"/>
            <a:ext cx="800144" cy="1772382"/>
          </a:xfrm>
          <a:custGeom>
            <a:avLst/>
            <a:gdLst/>
            <a:ahLst/>
            <a:cxnLst/>
            <a:rect l="l" t="t" r="r" b="b"/>
            <a:pathLst>
              <a:path w="800144" h="1772382">
                <a:moveTo>
                  <a:pt x="702124" y="1772382"/>
                </a:moveTo>
                <a:lnTo>
                  <a:pt x="643866" y="1749416"/>
                </a:lnTo>
                <a:lnTo>
                  <a:pt x="587249" y="1724022"/>
                </a:lnTo>
                <a:lnTo>
                  <a:pt x="532434" y="1696271"/>
                </a:lnTo>
                <a:lnTo>
                  <a:pt x="479579" y="1666244"/>
                </a:lnTo>
                <a:lnTo>
                  <a:pt x="428836" y="1634027"/>
                </a:lnTo>
                <a:lnTo>
                  <a:pt x="380349" y="1599712"/>
                </a:lnTo>
                <a:lnTo>
                  <a:pt x="334259" y="1563397"/>
                </a:lnTo>
                <a:lnTo>
                  <a:pt x="290697" y="1525186"/>
                </a:lnTo>
                <a:lnTo>
                  <a:pt x="249788" y="1485190"/>
                </a:lnTo>
                <a:lnTo>
                  <a:pt x="211649" y="1443522"/>
                </a:lnTo>
                <a:lnTo>
                  <a:pt x="176390" y="1400302"/>
                </a:lnTo>
                <a:lnTo>
                  <a:pt x="144111" y="1355654"/>
                </a:lnTo>
                <a:lnTo>
                  <a:pt x="114906" y="1309707"/>
                </a:lnTo>
                <a:lnTo>
                  <a:pt x="88858" y="1262591"/>
                </a:lnTo>
                <a:lnTo>
                  <a:pt x="66041" y="1214442"/>
                </a:lnTo>
                <a:lnTo>
                  <a:pt x="46522" y="1165398"/>
                </a:lnTo>
                <a:lnTo>
                  <a:pt x="30355" y="1115599"/>
                </a:lnTo>
                <a:lnTo>
                  <a:pt x="17588" y="1065189"/>
                </a:lnTo>
                <a:lnTo>
                  <a:pt x="8257" y="1014311"/>
                </a:lnTo>
                <a:lnTo>
                  <a:pt x="2389" y="963112"/>
                </a:lnTo>
                <a:lnTo>
                  <a:pt x="0" y="911739"/>
                </a:lnTo>
                <a:lnTo>
                  <a:pt x="1098" y="860338"/>
                </a:lnTo>
                <a:lnTo>
                  <a:pt x="5679" y="809057"/>
                </a:lnTo>
                <a:lnTo>
                  <a:pt x="13730" y="758043"/>
                </a:lnTo>
                <a:lnTo>
                  <a:pt x="25228" y="707443"/>
                </a:lnTo>
                <a:lnTo>
                  <a:pt x="40141" y="657401"/>
                </a:lnTo>
                <a:lnTo>
                  <a:pt x="58424" y="608061"/>
                </a:lnTo>
                <a:lnTo>
                  <a:pt x="80027" y="559564"/>
                </a:lnTo>
                <a:lnTo>
                  <a:pt x="104886" y="512049"/>
                </a:lnTo>
                <a:lnTo>
                  <a:pt x="132931" y="465654"/>
                </a:lnTo>
                <a:lnTo>
                  <a:pt x="164082" y="420509"/>
                </a:lnTo>
                <a:lnTo>
                  <a:pt x="198249" y="376746"/>
                </a:lnTo>
                <a:lnTo>
                  <a:pt x="235333" y="334489"/>
                </a:lnTo>
                <a:lnTo>
                  <a:pt x="275230" y="293860"/>
                </a:lnTo>
                <a:lnTo>
                  <a:pt x="317823" y="254975"/>
                </a:lnTo>
                <a:lnTo>
                  <a:pt x="362992" y="217946"/>
                </a:lnTo>
                <a:lnTo>
                  <a:pt x="410607" y="182878"/>
                </a:lnTo>
                <a:lnTo>
                  <a:pt x="460531" y="149872"/>
                </a:lnTo>
                <a:lnTo>
                  <a:pt x="512621" y="119024"/>
                </a:lnTo>
                <a:lnTo>
                  <a:pt x="566728" y="90421"/>
                </a:lnTo>
                <a:lnTo>
                  <a:pt x="622697" y="64145"/>
                </a:lnTo>
                <a:lnTo>
                  <a:pt x="680367" y="40272"/>
                </a:lnTo>
                <a:lnTo>
                  <a:pt x="739572" y="18869"/>
                </a:lnTo>
                <a:lnTo>
                  <a:pt x="800144" y="0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843784"/>
            <a:ext cx="128016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203864"/>
                </a:solidFill>
                <a:latin typeface="Microsoft YaHei"/>
              </a:defRPr>
            </a:pPr>
            <a:r>
              <a:t>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3822191"/>
            <a:ext cx="105156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03864"/>
                </a:solidFill>
                <a:latin typeface="Microsoft YaHei"/>
              </a:defRPr>
            </a:pPr>
            <a:r>
              <a:t>AQ*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111496"/>
            <a:ext cx="224028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203864"/>
                </a:solidFill>
                <a:latin typeface="Microsoft YaHei"/>
              </a:defRPr>
            </a:pPr>
            <a:r>
              <a:t>AQH· / AHQ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3182112"/>
            <a:ext cx="64008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hν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599432"/>
            <a:ext cx="1115568" cy="53035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R–H</a:t>
            </a:r>
          </a:p>
          <a:p>
            <a:pPr>
              <a:spcAft>
                <a:spcPts val="6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3995928"/>
            <a:ext cx="914400" cy="6217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O₂</a:t>
            </a:r>
          </a:p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再氧化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23160"/>
            <a:ext cx="50749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491740"/>
            <a:ext cx="48188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选择理由与实验约束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108960"/>
            <a:ext cx="4663440" cy="3383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具有吸光能力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502152"/>
            <a:ext cx="466344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结合吸收光谱确认有效激发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913632"/>
            <a:ext cx="4663440" cy="3383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可发生转移过程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4306824"/>
            <a:ext cx="466344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候选过程包括攫氢与氧相关反应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718304"/>
            <a:ext cx="4663440" cy="3383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03864"/>
                </a:solidFill>
                <a:latin typeface="Microsoft YaHei"/>
              </a:defRPr>
            </a:pPr>
            <a:r>
              <a:t>设置必要对照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5111496"/>
            <a:ext cx="466344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11111"/>
                </a:solidFill>
                <a:latin typeface="Microsoft YaHei"/>
              </a:defRPr>
            </a:pPr>
            <a:r>
              <a:t>比较有无 EAQ、光暗与试剂稳定性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AQ 提供候选反应入口，光敏增益、供氢体与再生过程均由实验约束。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PS / CH₂Cl₂ 文献表明含氯介质可直接参与光反应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文献标准体系：PS 10 mg / CH₂Cl₂ 4 mL / 365 nm / 1 bar O₂ / 30 ± 5 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Su et al., Angew. Chem. Int. Ed. 2026, e5578835.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34924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5093207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作者报告的关键证据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935224"/>
          <a:ext cx="5349240" cy="253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840480"/>
              </a:tblGrid>
              <a:tr h="50657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证据类型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原文报告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50657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自由基信号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PBN 自旋捕获 EPR 及归属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657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链长变化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GPC 显示分子量明显降低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50657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反应对照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暗反应、Ar 与介质变化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5065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产物分析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芳香族产物的识别与定量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0" y="2423160"/>
            <a:ext cx="50749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491740"/>
            <a:ext cx="48188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对本课题的可迁移启发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63240"/>
            <a:ext cx="5074920" cy="5760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182112"/>
            <a:ext cx="473659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含氯介质参与活性物种生成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58768"/>
            <a:ext cx="5074920" cy="5760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977639"/>
            <a:ext cx="473659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介质空白与底物对照必须配套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54296"/>
            <a:ext cx="5074920" cy="57607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773168"/>
            <a:ext cx="4736592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PS / CH₂Cl₂ 与 PVC / DCE 分开论证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含氯溶剂不能默认惰性，应优先区分介质反应与目标底物的真实转化。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PVC 光催化先例提供氯、物种与链长的联合评价思路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Qin 研究为水相 CDs/Zr-MOF 体系，与本课题 EAQ / DCE 条件不同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Qin et al., Appl. Catal. B: Environ. 2024, 341, 123355.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96312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564892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氯释放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3456432" cy="207568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474720"/>
            <a:ext cx="3054096" cy="4754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Cl⁻ 测量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352544"/>
            <a:ext cx="3054096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追踪含氯结构变化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97096" y="4069080"/>
            <a:ext cx="182880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453128" y="2496312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564892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活性物种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3128" y="3063240"/>
            <a:ext cx="3456432" cy="207568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474720"/>
            <a:ext cx="3054096" cy="4754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ESR 与捕获对照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352544"/>
            <a:ext cx="3054096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约束自由基参与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64424" y="4069080"/>
            <a:ext cx="182880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220456" y="2496312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2564892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聚合物变化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063240"/>
            <a:ext cx="3456432" cy="207568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3474720"/>
            <a:ext cx="3054096" cy="4754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GPC 与产物分析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4352544"/>
            <a:ext cx="3054096" cy="5486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联合评价链长和产物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49824"/>
            <a:ext cx="1060704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原文另有 GPC 与 HPLC 报告；补充信息中的 GPC 原曲线尚未取得。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借鉴的是联合证据设计，不将另一催化体系的反应路径直接移用于本体系。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研究策略采用由局部反应到聚合物的逐级推进路线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模型分子提高产物解析能力，复杂底物与 PVC 检验局部反应的可迁移性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Huang &amp; Wang, J. Polym. Sci. 2024, 62, 969–997.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33472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02052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乙基蒽醌体系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82112"/>
            <a:ext cx="2514600" cy="199339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502152"/>
            <a:ext cx="2185416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光照、气氛与介质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526280"/>
            <a:ext cx="2185416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确认有效反应条件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4408" y="4096512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38728" y="2633472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702052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氯代烷烃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3182112"/>
            <a:ext cx="2514600" cy="199339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502152"/>
            <a:ext cx="2185416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识别局部 C–Cl / C–H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526280"/>
            <a:ext cx="2185416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建立产物定量方法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17336" y="4096512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91656" y="2633472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702052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氯代石蜡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3182112"/>
            <a:ext cx="2514600" cy="199339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502152"/>
            <a:ext cx="2185416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增加含氯位点复杂度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526280"/>
            <a:ext cx="2185416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评价竞争反应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70264" y="4096512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44584" y="2633472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702052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3182112"/>
            <a:ext cx="2514600" cy="199339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9176" y="3502152"/>
            <a:ext cx="2185416" cy="6400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加入聚集态与传质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4526280"/>
            <a:ext cx="2185416" cy="43891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验证主链与物料变化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推进判据保持一致：产物可确认、定量可重复、物料去向清楚。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前期实验以 2-氯戊烷考察光照体系的反应行为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先明确已开展的实验条件，再统一底物转化与候选产物的评价口径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4800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4544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反应装置示意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182112"/>
            <a:ext cx="4251960" cy="202082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72184" y="3410712"/>
            <a:ext cx="539496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72184" y="4078224"/>
            <a:ext cx="539496" cy="457200"/>
          </a:xfrm>
          <a:prstGeom prst="rect">
            <a:avLst/>
          </a:prstGeom>
          <a:solidFill>
            <a:srgbClr val="D3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9032" y="3310128"/>
            <a:ext cx="685800" cy="146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554480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37360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20240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679192" y="3410712"/>
            <a:ext cx="539496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79192" y="4078224"/>
            <a:ext cx="539496" cy="457200"/>
          </a:xfrm>
          <a:prstGeom prst="rect">
            <a:avLst/>
          </a:prstGeom>
          <a:solidFill>
            <a:srgbClr val="D3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310128"/>
            <a:ext cx="685800" cy="146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2761488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44368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27248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86200" y="3410712"/>
            <a:ext cx="539496" cy="1124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4078224"/>
            <a:ext cx="539496" cy="457200"/>
          </a:xfrm>
          <a:prstGeom prst="rect">
            <a:avLst/>
          </a:prstGeom>
          <a:solidFill>
            <a:srgbClr val="D3D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13048" y="3310128"/>
            <a:ext cx="685800" cy="146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3968496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151376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34256" y="4690872"/>
            <a:ext cx="0" cy="356616"/>
          </a:xfrm>
          <a:prstGeom prst="line">
            <a:avLst/>
          </a:prstGeom>
          <a:ln w="12700">
            <a:solidFill>
              <a:srgbClr val="426BB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34440" y="5404104"/>
            <a:ext cx="384048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203864"/>
                </a:solidFill>
                <a:latin typeface="Microsoft YaHei"/>
              </a:defRPr>
            </a:pPr>
            <a:r>
              <a:t>365 nm 光照 · 气氛控制 · 定时取样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2423160"/>
            <a:ext cx="557784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5896" y="2491740"/>
            <a:ext cx="5321807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已记录的基准条件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897880" y="2944368"/>
          <a:ext cx="55778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</a:tblGrid>
              <a:tr h="44500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实验记录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底物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2-氯戊烷，0.5 mmol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光敏组分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乙基蒽醌，5 mg/mL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介质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DCE，4 mL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光照 / 时间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365 nm，6 h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气氛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 / O₂ 鼓泡 / N₂ / 空气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现有实验构成条件筛查基础，后续以同一套定量方法完成可重复比较。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模型结果已有转化记录，产物归属与定量仍待完善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保留原始转化率与六组定性记录，不将底物消耗直接表述为脱氯率或降解率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461772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436168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已记录的底物转化率 / 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9808" y="2962656"/>
          <a:ext cx="4462272" cy="2487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5623560" y="2423160"/>
            <a:ext cx="585216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51576" y="2491740"/>
            <a:ext cx="559612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候选产物：原始定性记录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23560" y="2926080"/>
          <a:ext cx="5852160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24128"/>
                <a:gridCol w="1024128"/>
                <a:gridCol w="914400"/>
                <a:gridCol w="877824"/>
              </a:tblGrid>
              <a:tr h="3709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二氯戊烷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四氯丁烷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氯乙酸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未知</a:t>
                      </a:r>
                    </a:p>
                  </a:txBody>
                  <a:tcPr marL="91440" marR="64008" marT="64008" marB="45720">
                    <a:solidFill>
                      <a:srgbClr val="203864"/>
                    </a:solidFill>
                  </a:tcPr>
                </a:tc>
              </a:tr>
              <a:tr h="3709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O₂ 鼓泡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709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N₂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空气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√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  <a:tr h="3709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 / 各气氛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91440" marR="64008" marT="64008" marB="45720">
                    <a:solidFill>
                      <a:srgbClr val="FFFFFF"/>
                    </a:solidFill>
                  </a:tcPr>
                </a:tc>
              </a:tr>
              <a:tr h="37098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乙腈 / 2.5 mmol 2-CP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n.d.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marL="91440" marR="64008" marT="64008" marB="45720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04672" y="5577840"/>
            <a:ext cx="448056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未提供平行实验及校准信息；不添加误差线。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5577840"/>
            <a:ext cx="5669280" cy="21945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符号沿用原记录；候选结构与峰归属尚待标准品核对。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当前结论限于底物转化与候选信号，目标产物收率和物料平衡仍需建立。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当前结果需要优先区分底物转化与溶剂竞争反应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含氯介质自身反应、底物活化不足与分析归属局限构成三类竞争解释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28900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实验现象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45536"/>
            <a:ext cx="3456432" cy="225856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5643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56432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目标产物尚未明确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78224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记录中出现 DCE 相关候选物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700016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700016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乙腈条件未见同类明确产物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4178808"/>
            <a:ext cx="173736" cy="0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53128" y="2560320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628900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竞争解释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3128" y="3145536"/>
            <a:ext cx="3456432" cy="225856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456432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DCE 参与并生成背景产物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7822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78224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目标底物活化效率不足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700016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700016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检测窗口与峰归属存在局限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73568" y="4178808"/>
            <a:ext cx="173736" cy="0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20456" y="2560320"/>
            <a:ext cx="345643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2628900"/>
            <a:ext cx="320040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区分实验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3145536"/>
            <a:ext cx="3456432" cy="225856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345643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456432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无底物 DCE 光照空白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07822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4078224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标准品、内标与回收率检查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4700016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700016"/>
            <a:ext cx="2880360" cy="5577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Microsoft YaHei"/>
              </a:defRPr>
            </a:pPr>
            <a:r>
              <a:t>介质配对与吸收光谱对照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优先核实色谱信号来源，以溶剂空白和结构确证排除表观转化。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模型分子与 PVC 的差异来自连续结构和聚集态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模型用于解析局部反应，聚合物需要额外评价传质、竞争反应与链长变化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Huang &amp; Wang, J. Polym. Sci. 2024, 62, 969–997.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16636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491032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2-氯戊烷：局部反应模型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99816"/>
            <a:ext cx="4754880" cy="4754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CH₃–CH(Cl)–CH₂–CH₂–CH₃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22776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922776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局部 C–Cl / C–H 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48970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4489704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产物结构相对便于解析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05663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5056632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介质与吸光行为需要同步测量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23160"/>
            <a:ext cx="516636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491740"/>
            <a:ext cx="491032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PVC：连续位点与聚集态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99816"/>
            <a:ext cx="4663440" cy="47548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11111"/>
                </a:solidFill>
                <a:latin typeface="Microsoft YaHei"/>
              </a:defRPr>
            </a:pPr>
            <a:r>
              <a:t>[–CH₂–CH(Cl)–]ₙ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22776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22776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连续位点与结构缺陷共同存在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89704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489704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溶胀、界面与 O₂ 扩散影响反应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056632"/>
            <a:ext cx="146304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3864"/>
                </a:solidFill>
                <a:latin typeface="Microsoft YaHei"/>
              </a:defRPr>
            </a:pPr>
            <a: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56632"/>
            <a:ext cx="4434840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氧化、交联与主链断裂可能竞争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模型结论通过逐级底物扩展检验，PVC 转化由聚合物层面的测量独立确认。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工作假说：AQ 攫氢再生与 PVC 自由基氧化网络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实线表示一般文献过程；虚线表示本体系待验证步骤。R· 统一表示碳中心自由基。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Gardette et al., Macromolecules 1989, 22, 2576–2581. Chen et al., Environ. Sci. Ecotechnol. 2024, 22, 100449.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04872"/>
            <a:ext cx="251460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03864"/>
                </a:solidFill>
                <a:latin typeface="Microsoft YaHei"/>
              </a:defRPr>
            </a:pPr>
            <a:r>
              <a:t>AQ 小循环</a:t>
            </a:r>
          </a:p>
        </p:txBody>
      </p:sp>
      <p:sp>
        <p:nvSpPr>
          <p:cNvPr id="12" name="Freeform 11"/>
          <p:cNvSpPr/>
          <p:nvPr/>
        </p:nvSpPr>
        <p:spPr>
          <a:xfrm>
            <a:off x="2333080" y="3094624"/>
            <a:ext cx="482577" cy="574752"/>
          </a:xfrm>
          <a:custGeom>
            <a:avLst/>
            <a:gdLst/>
            <a:ahLst/>
            <a:cxnLst/>
            <a:rect l="l" t="t" r="r" b="b"/>
            <a:pathLst>
              <a:path w="482577" h="574752">
                <a:moveTo>
                  <a:pt x="0" y="0"/>
                </a:moveTo>
                <a:lnTo>
                  <a:pt x="16469" y="7477"/>
                </a:lnTo>
                <a:lnTo>
                  <a:pt x="32768" y="15279"/>
                </a:lnTo>
                <a:lnTo>
                  <a:pt x="48891" y="23404"/>
                </a:lnTo>
                <a:lnTo>
                  <a:pt x="64830" y="31849"/>
                </a:lnTo>
                <a:lnTo>
                  <a:pt x="80578" y="40609"/>
                </a:lnTo>
                <a:lnTo>
                  <a:pt x="96128" y="49681"/>
                </a:lnTo>
                <a:lnTo>
                  <a:pt x="111474" y="59061"/>
                </a:lnTo>
                <a:lnTo>
                  <a:pt x="126608" y="68744"/>
                </a:lnTo>
                <a:lnTo>
                  <a:pt x="141523" y="78726"/>
                </a:lnTo>
                <a:lnTo>
                  <a:pt x="156214" y="89004"/>
                </a:lnTo>
                <a:lnTo>
                  <a:pt x="170674" y="99571"/>
                </a:lnTo>
                <a:lnTo>
                  <a:pt x="184896" y="110424"/>
                </a:lnTo>
                <a:lnTo>
                  <a:pt x="198874" y="121558"/>
                </a:lnTo>
                <a:lnTo>
                  <a:pt x="212602" y="132968"/>
                </a:lnTo>
                <a:lnTo>
                  <a:pt x="226073" y="144649"/>
                </a:lnTo>
                <a:lnTo>
                  <a:pt x="239283" y="156595"/>
                </a:lnTo>
                <a:lnTo>
                  <a:pt x="252224" y="168802"/>
                </a:lnTo>
                <a:lnTo>
                  <a:pt x="264892" y="181264"/>
                </a:lnTo>
                <a:lnTo>
                  <a:pt x="277280" y="193976"/>
                </a:lnTo>
                <a:lnTo>
                  <a:pt x="289384" y="206931"/>
                </a:lnTo>
                <a:lnTo>
                  <a:pt x="301197" y="220125"/>
                </a:lnTo>
                <a:lnTo>
                  <a:pt x="312716" y="233551"/>
                </a:lnTo>
                <a:lnTo>
                  <a:pt x="323933" y="247203"/>
                </a:lnTo>
                <a:lnTo>
                  <a:pt x="334845" y="261076"/>
                </a:lnTo>
                <a:lnTo>
                  <a:pt x="345447" y="275163"/>
                </a:lnTo>
                <a:lnTo>
                  <a:pt x="355734" y="289458"/>
                </a:lnTo>
                <a:lnTo>
                  <a:pt x="365702" y="303955"/>
                </a:lnTo>
                <a:lnTo>
                  <a:pt x="375346" y="318647"/>
                </a:lnTo>
                <a:lnTo>
                  <a:pt x="384661" y="333528"/>
                </a:lnTo>
                <a:lnTo>
                  <a:pt x="393644" y="348591"/>
                </a:lnTo>
                <a:lnTo>
                  <a:pt x="402291" y="363829"/>
                </a:lnTo>
                <a:lnTo>
                  <a:pt x="410598" y="379237"/>
                </a:lnTo>
                <a:lnTo>
                  <a:pt x="418562" y="394806"/>
                </a:lnTo>
                <a:lnTo>
                  <a:pt x="426178" y="410531"/>
                </a:lnTo>
                <a:lnTo>
                  <a:pt x="433443" y="426404"/>
                </a:lnTo>
                <a:lnTo>
                  <a:pt x="440355" y="442418"/>
                </a:lnTo>
                <a:lnTo>
                  <a:pt x="446909" y="458566"/>
                </a:lnTo>
                <a:lnTo>
                  <a:pt x="453104" y="474841"/>
                </a:lnTo>
                <a:lnTo>
                  <a:pt x="458937" y="491236"/>
                </a:lnTo>
                <a:lnTo>
                  <a:pt x="464404" y="507744"/>
                </a:lnTo>
                <a:lnTo>
                  <a:pt x="469504" y="524357"/>
                </a:lnTo>
                <a:lnTo>
                  <a:pt x="474234" y="541067"/>
                </a:lnTo>
                <a:lnTo>
                  <a:pt x="478592" y="557868"/>
                </a:lnTo>
                <a:lnTo>
                  <a:pt x="482577" y="574752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319283" y="4081090"/>
            <a:ext cx="477399" cy="511201"/>
          </a:xfrm>
          <a:custGeom>
            <a:avLst/>
            <a:gdLst/>
            <a:ahLst/>
            <a:cxnLst/>
            <a:rect l="l" t="t" r="r" b="b"/>
            <a:pathLst>
              <a:path w="477399" h="511201">
                <a:moveTo>
                  <a:pt x="477399" y="0"/>
                </a:moveTo>
                <a:lnTo>
                  <a:pt x="472306" y="15250"/>
                </a:lnTo>
                <a:lnTo>
                  <a:pt x="466901" y="30404"/>
                </a:lnTo>
                <a:lnTo>
                  <a:pt x="461186" y="45455"/>
                </a:lnTo>
                <a:lnTo>
                  <a:pt x="455164" y="60398"/>
                </a:lnTo>
                <a:lnTo>
                  <a:pt x="448836" y="75227"/>
                </a:lnTo>
                <a:lnTo>
                  <a:pt x="442205" y="89937"/>
                </a:lnTo>
                <a:lnTo>
                  <a:pt x="435274" y="104523"/>
                </a:lnTo>
                <a:lnTo>
                  <a:pt x="428044" y="118977"/>
                </a:lnTo>
                <a:lnTo>
                  <a:pt x="420520" y="133296"/>
                </a:lnTo>
                <a:lnTo>
                  <a:pt x="412703" y="147474"/>
                </a:lnTo>
                <a:lnTo>
                  <a:pt x="404596" y="161505"/>
                </a:lnTo>
                <a:lnTo>
                  <a:pt x="396204" y="175384"/>
                </a:lnTo>
                <a:lnTo>
                  <a:pt x="387528" y="189107"/>
                </a:lnTo>
                <a:lnTo>
                  <a:pt x="378572" y="202666"/>
                </a:lnTo>
                <a:lnTo>
                  <a:pt x="369340" y="216059"/>
                </a:lnTo>
                <a:lnTo>
                  <a:pt x="359835" y="229278"/>
                </a:lnTo>
                <a:lnTo>
                  <a:pt x="350060" y="242321"/>
                </a:lnTo>
                <a:lnTo>
                  <a:pt x="340020" y="255180"/>
                </a:lnTo>
                <a:lnTo>
                  <a:pt x="329718" y="267853"/>
                </a:lnTo>
                <a:lnTo>
                  <a:pt x="319158" y="280333"/>
                </a:lnTo>
                <a:lnTo>
                  <a:pt x="308344" y="292617"/>
                </a:lnTo>
                <a:lnTo>
                  <a:pt x="297279" y="304699"/>
                </a:lnTo>
                <a:lnTo>
                  <a:pt x="285969" y="316576"/>
                </a:lnTo>
                <a:lnTo>
                  <a:pt x="274418" y="328241"/>
                </a:lnTo>
                <a:lnTo>
                  <a:pt x="262629" y="339692"/>
                </a:lnTo>
                <a:lnTo>
                  <a:pt x="250608" y="350924"/>
                </a:lnTo>
                <a:lnTo>
                  <a:pt x="238358" y="361932"/>
                </a:lnTo>
                <a:lnTo>
                  <a:pt x="225885" y="372712"/>
                </a:lnTo>
                <a:lnTo>
                  <a:pt x="213194" y="383261"/>
                </a:lnTo>
                <a:lnTo>
                  <a:pt x="200288" y="393574"/>
                </a:lnTo>
                <a:lnTo>
                  <a:pt x="187173" y="403648"/>
                </a:lnTo>
                <a:lnTo>
                  <a:pt x="173854" y="413478"/>
                </a:lnTo>
                <a:lnTo>
                  <a:pt x="160335" y="423061"/>
                </a:lnTo>
                <a:lnTo>
                  <a:pt x="146623" y="432394"/>
                </a:lnTo>
                <a:lnTo>
                  <a:pt x="132722" y="441472"/>
                </a:lnTo>
                <a:lnTo>
                  <a:pt x="118637" y="450292"/>
                </a:lnTo>
                <a:lnTo>
                  <a:pt x="104374" y="458852"/>
                </a:lnTo>
                <a:lnTo>
                  <a:pt x="89938" y="467147"/>
                </a:lnTo>
                <a:lnTo>
                  <a:pt x="75334" y="475175"/>
                </a:lnTo>
                <a:lnTo>
                  <a:pt x="60569" y="482932"/>
                </a:lnTo>
                <a:lnTo>
                  <a:pt x="45647" y="490416"/>
                </a:lnTo>
                <a:lnTo>
                  <a:pt x="30575" y="497624"/>
                </a:lnTo>
                <a:lnTo>
                  <a:pt x="15357" y="504553"/>
                </a:lnTo>
                <a:lnTo>
                  <a:pt x="0" y="511201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097304" y="3082941"/>
            <a:ext cx="529235" cy="1484169"/>
          </a:xfrm>
          <a:custGeom>
            <a:avLst/>
            <a:gdLst/>
            <a:ahLst/>
            <a:cxnLst/>
            <a:rect l="l" t="t" r="r" b="b"/>
            <a:pathLst>
              <a:path w="529235" h="1484169">
                <a:moveTo>
                  <a:pt x="460835" y="1484169"/>
                </a:moveTo>
                <a:lnTo>
                  <a:pt x="422139" y="1463457"/>
                </a:lnTo>
                <a:lnTo>
                  <a:pt x="384611" y="1440897"/>
                </a:lnTo>
                <a:lnTo>
                  <a:pt x="348351" y="1416547"/>
                </a:lnTo>
                <a:lnTo>
                  <a:pt x="313453" y="1390473"/>
                </a:lnTo>
                <a:lnTo>
                  <a:pt x="280008" y="1362742"/>
                </a:lnTo>
                <a:lnTo>
                  <a:pt x="248104" y="1333427"/>
                </a:lnTo>
                <a:lnTo>
                  <a:pt x="217824" y="1302604"/>
                </a:lnTo>
                <a:lnTo>
                  <a:pt x="189249" y="1270354"/>
                </a:lnTo>
                <a:lnTo>
                  <a:pt x="162452" y="1236762"/>
                </a:lnTo>
                <a:lnTo>
                  <a:pt x="137503" y="1201915"/>
                </a:lnTo>
                <a:lnTo>
                  <a:pt x="114469" y="1165905"/>
                </a:lnTo>
                <a:lnTo>
                  <a:pt x="93408" y="1128826"/>
                </a:lnTo>
                <a:lnTo>
                  <a:pt x="74378" y="1090775"/>
                </a:lnTo>
                <a:lnTo>
                  <a:pt x="57426" y="1051851"/>
                </a:lnTo>
                <a:lnTo>
                  <a:pt x="42598" y="1012158"/>
                </a:lnTo>
                <a:lnTo>
                  <a:pt x="29933" y="971797"/>
                </a:lnTo>
                <a:lnTo>
                  <a:pt x="19463" y="930876"/>
                </a:lnTo>
                <a:lnTo>
                  <a:pt x="11216" y="889501"/>
                </a:lnTo>
                <a:lnTo>
                  <a:pt x="5214" y="847781"/>
                </a:lnTo>
                <a:lnTo>
                  <a:pt x="1472" y="805824"/>
                </a:lnTo>
                <a:lnTo>
                  <a:pt x="0" y="763741"/>
                </a:lnTo>
                <a:lnTo>
                  <a:pt x="802" y="721641"/>
                </a:lnTo>
                <a:lnTo>
                  <a:pt x="3876" y="679636"/>
                </a:lnTo>
                <a:lnTo>
                  <a:pt x="9214" y="637835"/>
                </a:lnTo>
                <a:lnTo>
                  <a:pt x="16802" y="596347"/>
                </a:lnTo>
                <a:lnTo>
                  <a:pt x="26619" y="555281"/>
                </a:lnTo>
                <a:lnTo>
                  <a:pt x="38641" y="514744"/>
                </a:lnTo>
                <a:lnTo>
                  <a:pt x="52836" y="474843"/>
                </a:lnTo>
                <a:lnTo>
                  <a:pt x="69166" y="435682"/>
                </a:lnTo>
                <a:lnTo>
                  <a:pt x="87589" y="397363"/>
                </a:lnTo>
                <a:lnTo>
                  <a:pt x="108057" y="359988"/>
                </a:lnTo>
                <a:lnTo>
                  <a:pt x="130516" y="323653"/>
                </a:lnTo>
                <a:lnTo>
                  <a:pt x="154907" y="288454"/>
                </a:lnTo>
                <a:lnTo>
                  <a:pt x="181167" y="254483"/>
                </a:lnTo>
                <a:lnTo>
                  <a:pt x="209226" y="221829"/>
                </a:lnTo>
                <a:lnTo>
                  <a:pt x="239012" y="190577"/>
                </a:lnTo>
                <a:lnTo>
                  <a:pt x="270446" y="160809"/>
                </a:lnTo>
                <a:lnTo>
                  <a:pt x="303446" y="132604"/>
                </a:lnTo>
                <a:lnTo>
                  <a:pt x="337925" y="106034"/>
                </a:lnTo>
                <a:lnTo>
                  <a:pt x="373794" y="81170"/>
                </a:lnTo>
                <a:lnTo>
                  <a:pt x="410958" y="58076"/>
                </a:lnTo>
                <a:lnTo>
                  <a:pt x="449321" y="36814"/>
                </a:lnTo>
                <a:lnTo>
                  <a:pt x="488781" y="17438"/>
                </a:lnTo>
                <a:lnTo>
                  <a:pt x="529235" y="0"/>
                </a:lnTo>
              </a:path>
            </a:pathLst>
          </a:custGeom>
          <a:noFill/>
          <a:ln w="20320">
            <a:solidFill>
              <a:srgbClr val="203864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2770632"/>
            <a:ext cx="1060704" cy="38404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203864"/>
                </a:solidFill>
                <a:latin typeface="Microsoft YaHei"/>
              </a:defRPr>
            </a:pPr>
            <a:r>
              <a:t>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3666744"/>
            <a:ext cx="9144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03864"/>
                </a:solidFill>
                <a:latin typeface="Microsoft YaHei"/>
              </a:defRPr>
            </a:pPr>
            <a:r>
              <a:t>AQ*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709160"/>
            <a:ext cx="219456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AQH· / AHQ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3182112"/>
            <a:ext cx="54864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11111"/>
                </a:solidFill>
                <a:latin typeface="Microsoft YaHei"/>
              </a:defRPr>
            </a:pPr>
            <a:r>
              <a:t>hν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4334256"/>
            <a:ext cx="658368" cy="521207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11111"/>
                </a:solidFill>
                <a:latin typeface="Microsoft YaHei"/>
              </a:defRPr>
            </a:pPr>
            <a:r>
              <a:t>R–H</a:t>
            </a:r>
          </a:p>
          <a:p>
            <a:pPr>
              <a:spcAft>
                <a:spcPts val="600"/>
              </a:spcAft>
              <a:defRPr sz="1300" b="0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621024"/>
            <a:ext cx="50292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160520"/>
            <a:ext cx="658368" cy="5029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再氧化</a:t>
            </a:r>
          </a:p>
          <a:p>
            <a:pPr>
              <a:spcAft>
                <a:spcPts val="600"/>
              </a:spcAft>
              <a:defRPr sz="1000" b="0">
                <a:solidFill>
                  <a:srgbClr val="566273"/>
                </a:solidFill>
                <a:latin typeface="Microsoft YaHei"/>
              </a:defRPr>
            </a:pPr>
            <a:r>
              <a:t>恢复 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456" y="3657600"/>
            <a:ext cx="114300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攫氢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再生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321808"/>
            <a:ext cx="2743200" cy="3657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AQ 类一般过程；EAQ 中间体待确认。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2395728"/>
            <a:ext cx="0" cy="3172968"/>
          </a:xfrm>
          <a:prstGeom prst="line">
            <a:avLst/>
          </a:prstGeom>
          <a:ln w="12700">
            <a:solidFill>
              <a:srgbClr val="D7DE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4956048" y="2395728"/>
            <a:ext cx="5212080" cy="173736"/>
          </a:xfrm>
          <a:custGeom>
            <a:avLst/>
            <a:gdLst/>
            <a:ahLst/>
            <a:cxnLst/>
            <a:rect l="l" t="t" r="r" b="b"/>
            <a:pathLst>
              <a:path w="5212080" h="173736">
                <a:moveTo>
                  <a:pt x="0" y="0"/>
                </a:moveTo>
                <a:lnTo>
                  <a:pt x="521208" y="173736"/>
                </a:lnTo>
                <a:lnTo>
                  <a:pt x="1042416" y="0"/>
                </a:lnTo>
                <a:lnTo>
                  <a:pt x="1563624" y="173736"/>
                </a:lnTo>
                <a:lnTo>
                  <a:pt x="2084831" y="0"/>
                </a:lnTo>
                <a:lnTo>
                  <a:pt x="2606040" y="173736"/>
                </a:lnTo>
                <a:lnTo>
                  <a:pt x="3127248" y="0"/>
                </a:lnTo>
                <a:lnTo>
                  <a:pt x="3648456" y="173736"/>
                </a:lnTo>
                <a:lnTo>
                  <a:pt x="4169664" y="0"/>
                </a:lnTo>
                <a:lnTo>
                  <a:pt x="4690872" y="173736"/>
                </a:lnTo>
                <a:lnTo>
                  <a:pt x="5212080" y="0"/>
                </a:lnTo>
              </a:path>
            </a:pathLst>
          </a:custGeom>
          <a:noFill/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477256" y="2569464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49240" y="2971800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2569464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91656" y="2971800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62088" y="2569464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34071" y="2971800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04504" y="2569464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76488" y="2971800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46920" y="2569464"/>
            <a:ext cx="0" cy="365760"/>
          </a:xfrm>
          <a:prstGeom prst="line">
            <a:avLst/>
          </a:prstGeom>
          <a:ln w="190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18904" y="2971800"/>
            <a:ext cx="365760" cy="25603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11111"/>
                </a:solidFill>
                <a:latin typeface="Arial"/>
              </a:defRPr>
            </a:pPr>
            <a:r>
              <a:t>Cl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36829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2368296"/>
            <a:ext cx="27432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11111"/>
                </a:solidFill>
                <a:latin typeface="Microsoft YaHei"/>
              </a:defRPr>
            </a:pPr>
            <a:r>
              <a:t>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3364992"/>
            <a:ext cx="2286000" cy="30175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AQ* 攫氢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3364992"/>
            <a:ext cx="2240280" cy="30175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03864"/>
                </a:solidFill>
                <a:latin typeface="Microsoft YaHei"/>
              </a:defRPr>
            </a:pPr>
            <a:r>
              <a:t>C–Cl 活化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916168" y="3227832"/>
            <a:ext cx="484632" cy="521207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902952" y="3227832"/>
            <a:ext cx="484632" cy="521207"/>
          </a:xfrm>
          <a:prstGeom prst="line">
            <a:avLst/>
          </a:prstGeom>
          <a:ln w="1778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58384" y="3831336"/>
            <a:ext cx="118872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900" b="1">
                <a:solidFill>
                  <a:srgbClr val="111111"/>
                </a:solidFill>
                <a:latin typeface="Microsoft YaHei"/>
              </a:defRPr>
            </a:pPr>
            <a:r>
              <a:t>R·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3831336"/>
            <a:ext cx="1280160" cy="4114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A9262D"/>
                </a:solidFill>
                <a:latin typeface="Microsoft YaHei"/>
              </a:defRPr>
            </a:pPr>
            <a:r>
              <a:t>Cl·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6830568" y="4059936"/>
            <a:ext cx="2688336" cy="0"/>
          </a:xfrm>
          <a:prstGeom prst="line">
            <a:avLst/>
          </a:prstGeom>
          <a:ln w="17780">
            <a:solidFill>
              <a:srgbClr val="A9262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06640" y="3675887"/>
            <a:ext cx="1508760" cy="27432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A9262D"/>
                </a:solidFill>
                <a:latin typeface="Microsoft YaHei"/>
              </a:defRPr>
            </a:pPr>
            <a:r>
              <a:t>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242816"/>
            <a:ext cx="2697480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66273"/>
                </a:solidFill>
                <a:latin typeface="Microsoft YaHei"/>
              </a:defRPr>
            </a:pPr>
            <a:r>
              <a:t>Cl· + R–H → HCl + R·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25312" y="4361688"/>
            <a:ext cx="0" cy="301752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90488" y="4416552"/>
            <a:ext cx="8229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11111"/>
                </a:solidFill>
                <a:latin typeface="Microsoft YaHei"/>
              </a:defRPr>
            </a:pPr>
            <a:r>
              <a:t>+ O₂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4791456"/>
            <a:ext cx="169164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ROO·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39712" y="5001768"/>
            <a:ext cx="429768" cy="0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51775" y="4791456"/>
            <a:ext cx="1828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ROOH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26296" y="5001768"/>
            <a:ext cx="429768" cy="0"/>
          </a:xfrm>
          <a:prstGeom prst="line">
            <a:avLst/>
          </a:prstGeom>
          <a:ln w="16510">
            <a:solidFill>
              <a:srgbClr val="20386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784080" y="4791456"/>
            <a:ext cx="164592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11111"/>
                </a:solidFill>
                <a:latin typeface="Microsoft YaHei"/>
              </a:defRPr>
            </a:pPr>
            <a:r>
              <a:t>RO·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5266944"/>
            <a:ext cx="1920240" cy="2286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03864"/>
                </a:solidFill>
                <a:latin typeface="Microsoft YaHei"/>
              </a:defRPr>
            </a:pPr>
            <a:r>
              <a:t>后续 β-裂解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522976"/>
            <a:ext cx="7132320" cy="28346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11111"/>
                </a:solidFill>
                <a:latin typeface="Microsoft YaHei"/>
              </a:defRPr>
            </a:pPr>
            <a:r>
              <a:t>R¹–CH(O·)–CH₂–R² → R¹–CHO + ·CH₂–R²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假说要点：AQ 激发态启动攫氢，氧化支路连接潜在链裂解；Cl· 支路单独验证。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第一轮验证明确光、EAQ、介质与氧的作用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一次改变一个主要因素，所有组采用同一套底物与产物定量方法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23160"/>
            <a:ext cx="519379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491740"/>
            <a:ext cx="4937759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光照 / 暗反应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98648"/>
            <a:ext cx="5193792" cy="9144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35808"/>
            <a:ext cx="484632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确认光驱动贡献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447288"/>
            <a:ext cx="484632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温度、反应时间与取样保持一致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2423160"/>
            <a:ext cx="519379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491740"/>
            <a:ext cx="4937759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有 / 无 EAQ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2898648"/>
            <a:ext cx="5193792" cy="9144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35808"/>
            <a:ext cx="484632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评价光敏组分的净增益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47288"/>
            <a:ext cx="484632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同步设置无底物空白与稳定性检查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50791"/>
            <a:ext cx="519379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119372"/>
            <a:ext cx="4937759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DCE / 配对介质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26279"/>
            <a:ext cx="5193792" cy="9144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663440"/>
            <a:ext cx="484632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区分溶剂化学参与与物理效应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074920"/>
            <a:ext cx="484632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同步控制溶解性、浓度与吸收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050791"/>
            <a:ext cx="5193792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4119372"/>
            <a:ext cx="4937759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O₂ / N₂ / 空气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4526279"/>
            <a:ext cx="5193792" cy="9144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63440"/>
            <a:ext cx="4846320" cy="34747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比较氧气对速率和产物的影响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74920"/>
            <a:ext cx="4846320" cy="29260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273"/>
                </a:solidFill>
                <a:latin typeface="Microsoft YaHei"/>
              </a:defRPr>
            </a:pPr>
            <a:r>
              <a:t>记录供气方式、残余氧与传质条件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先确定必要条件与真实产物，再进行自由基身份和催化循环的机制归属。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第二轮验证连接活性物种、氯去向与聚合物链长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各类测量独立解释后交叉验证，避免依靠单一捕获剂或单一阳性信号归属完整机理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  <a:r>
              <a:t>Gardette et al., Macromolecules 1989, 22, 2576–2581. Qin et al., Appl. Catal. B: Environ. 2024, 341, 123355. Su et al., Angew. Chem. Int. Ed. 2026, e5578835.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自由基 / 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191256"/>
            <a:ext cx="2514600" cy="218541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502152"/>
            <a:ext cx="2185416" cy="6858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EPR + 化学捕获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590288"/>
            <a:ext cx="2185416" cy="5852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设置试剂、溶剂与底物空白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4408" y="4233672"/>
            <a:ext cx="192024" cy="0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38728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氯的去向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3191256"/>
            <a:ext cx="2514600" cy="218541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502152"/>
            <a:ext cx="2185416" cy="6858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Cl⁻ + 总氯 / 有机氯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590288"/>
            <a:ext cx="2185416" cy="5852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覆盖固、液与气相回收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17336" y="4233672"/>
            <a:ext cx="192024" cy="0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91656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链长变化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1656" y="3191256"/>
            <a:ext cx="2514600" cy="218541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502152"/>
            <a:ext cx="2185416" cy="6858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SEC/GPC + 凝胶分数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590288"/>
            <a:ext cx="2185416" cy="5852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同时分析可溶与不溶部分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70264" y="4233672"/>
            <a:ext cx="192024" cy="0"/>
          </a:xfrm>
          <a:prstGeom prst="line">
            <a:avLst/>
          </a:prstGeom>
          <a:ln w="1651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44584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产物与结构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44584" y="3191256"/>
            <a:ext cx="2514600" cy="2185416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9176" y="3502152"/>
            <a:ext cx="2185416" cy="68580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03864"/>
                </a:solidFill>
                <a:latin typeface="Microsoft YaHei"/>
              </a:defRPr>
            </a:pPr>
            <a:r>
              <a:t>GC-MS / NMR / 标准品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4590288"/>
            <a:ext cx="2185416" cy="5852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566273"/>
                </a:solidFill>
                <a:latin typeface="Microsoft YaHei"/>
              </a:defRPr>
            </a:pPr>
            <a:r>
              <a:t>建立结构确证与定量平衡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机制支持来自“物种—物料—链长—产物”的证据闭环。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下一步按分析确认、模型优化与聚合物验证逐步推进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阶段推进以可复核的结果为依据，避免用更高表观转化率替代真实进展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确认分析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65576"/>
            <a:ext cx="2295144" cy="10241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标准品 / 内标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无底物 DCE 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809744"/>
            <a:ext cx="2295144" cy="6217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03864"/>
                </a:solidFill>
                <a:latin typeface="Microsoft YaHei"/>
              </a:defRPr>
            </a:pPr>
            <a:r>
              <a:t>明确现有信号来源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64408" y="4151376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38728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优化模型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465576"/>
            <a:ext cx="2295144" cy="10241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2-氯己烷等模型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介质 / 光照 / 气氛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4809744"/>
            <a:ext cx="2295144" cy="6217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03864"/>
                </a:solidFill>
                <a:latin typeface="Microsoft YaHei"/>
              </a:defRPr>
            </a:pPr>
            <a:r>
              <a:t>得到可重复的局部反应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17336" y="4151376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391656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扩展底物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465576"/>
            <a:ext cx="2295144" cy="10241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氯代石蜡 → PVC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控制相态与传质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809744"/>
            <a:ext cx="2295144" cy="6217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03864"/>
                </a:solidFill>
                <a:latin typeface="Microsoft YaHei"/>
              </a:defRPr>
            </a:pPr>
            <a:r>
              <a:t>检验模型结论的迁移性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70264" y="4151376"/>
            <a:ext cx="192024" cy="0"/>
          </a:xfrm>
          <a:prstGeom prst="line">
            <a:avLst/>
          </a:prstGeom>
          <a:ln w="17780">
            <a:solidFill>
              <a:srgbClr val="2038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244584" y="2660904"/>
            <a:ext cx="2514600" cy="39319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729484"/>
            <a:ext cx="2258568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验证机制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1" y="3465576"/>
            <a:ext cx="2295144" cy="1024128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EPR / 氯平衡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111111"/>
                </a:solidFill>
                <a:latin typeface="Microsoft YaHei"/>
              </a:defRPr>
            </a:pPr>
            <a:r>
              <a:t>SEC 与产物分析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1" y="4809744"/>
            <a:ext cx="2295144" cy="6217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03864"/>
                </a:solidFill>
                <a:latin typeface="Microsoft YaHei"/>
              </a:defRPr>
            </a:pPr>
            <a:r>
              <a:t>检验关键箭头与竞争路径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近期优先任务：核实产物与溶剂空白，建立 PVC 分子量与物料去向的测量。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29184"/>
            <a:ext cx="50292" cy="32004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246888"/>
            <a:ext cx="2880360" cy="35661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2100" b="1">
                <a:solidFill>
                  <a:srgbClr val="159BB6"/>
                </a:solidFill>
                <a:latin typeface="Microsoft YaHei"/>
              </a:defRPr>
            </a:pPr>
            <a:r>
              <a:t>北京工业大学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21792"/>
            <a:ext cx="306324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770" b="1">
                <a:solidFill>
                  <a:srgbClr val="159BB6"/>
                </a:solidFill>
                <a:latin typeface="Microsoft YaHei"/>
              </a:defRPr>
            </a:pPr>
            <a:r>
              <a:t>BEIJING UNIVERSITY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1109960" cy="59436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03864"/>
                </a:solidFill>
                <a:latin typeface="Microsoft YaHei"/>
              </a:defRPr>
            </a:pPr>
            <a:r>
              <a:t>阶段总结：以模型结果为起点，完善 PVC 转化证据链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636776"/>
            <a:ext cx="11018520" cy="0"/>
          </a:xfrm>
          <a:prstGeom prst="line">
            <a:avLst/>
          </a:prstGeom>
          <a:ln w="25400">
            <a:solidFill>
              <a:srgbClr val="2038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73936"/>
            <a:ext cx="10972800" cy="393192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273"/>
                </a:solidFill>
                <a:latin typeface="Microsoft YaHei"/>
              </a:defRPr>
            </a:pPr>
            <a:r>
              <a:t>现阶段聚焦反应识别与机制检验，尚未建立经充分验证的 PVC 有效降解体系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46520"/>
            <a:ext cx="11018520" cy="0"/>
          </a:xfrm>
          <a:prstGeom prst="line">
            <a:avLst/>
          </a:prstGeom>
          <a:ln w="10160">
            <a:solidFill>
              <a:srgbClr val="CED7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47104"/>
            <a:ext cx="10469880" cy="18288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566273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137392" y="6510528"/>
            <a:ext cx="438912" cy="23774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203864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96312"/>
            <a:ext cx="2029968" cy="55778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1719072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研究依据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487168"/>
            <a:ext cx="8092440" cy="7863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PVC 光氧化与含氯介质具有自由基反应先例，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氯去向和碳骨架变化需要协同评价。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520440"/>
            <a:ext cx="2029968" cy="55778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1719072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已有进展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511296"/>
            <a:ext cx="8092440" cy="7863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模型实验获得底物转化与候选产物记录，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产物来源、定量与溶剂竞争仍需核实。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544568"/>
            <a:ext cx="2029968" cy="55778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1719072" cy="320040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后续重点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4535424"/>
            <a:ext cx="8092440" cy="786384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先完善对照与分析，再联合自由基、氯平衡、</a:t>
            </a:r>
          </a:p>
          <a:p>
            <a:pPr>
              <a:spcAft>
                <a:spcPts val="600"/>
              </a:spcAft>
              <a:defRPr sz="2000" b="0">
                <a:solidFill>
                  <a:srgbClr val="111111"/>
                </a:solidFill>
                <a:latin typeface="Microsoft YaHei"/>
              </a:defRPr>
            </a:pPr>
            <a:r>
              <a:t>分子量与产物证据检验工作假说。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907024"/>
            <a:ext cx="11018520" cy="411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80176"/>
            <a:ext cx="10652760" cy="265176"/>
          </a:xfrm>
          <a:prstGeom prst="rect">
            <a:avLst/>
          </a:prstGeom>
          <a:noFill/>
          <a:effectLst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03864"/>
                </a:solidFill>
                <a:latin typeface="Microsoft YaHei"/>
              </a:defRPr>
            </a:pPr>
            <a:r>
              <a:t>感谢各位老师聆听，敬请批评指正。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