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转化率</c:v>
                </c:pt>
              </c:strCache>
            </c:strRef>
          </c:tx>
          <c:spPr>
            <a:solidFill>
              <a:srgbClr val="063584"/>
            </a:solidFill>
            <a:ln>
              <a:noFill/>
            </a:ln>
          </c:spPr>
          <c:cat>
            <c:strRef>
              <c:f>Sheet1!$A$2:$A$5</c:f>
              <c:strCache>
                <c:ptCount val="4"/>
                <c:pt idx="0">
                  <c:v>O₂</c:v>
                </c:pt>
                <c:pt idx="1">
                  <c:v>O₂ 鼓泡</c:v>
                </c:pt>
                <c:pt idx="2">
                  <c:v>N₂</c:v>
                </c:pt>
                <c:pt idx="3">
                  <c:v>空气</c:v>
                </c:pt>
              </c:strCache>
            </c:strRef>
          </c:cat>
          <c:val>
            <c:numRef>
              <c:f>Sheet1!$B$2:$B$5</c:f>
              <c:numCache>
                <c:formatCode>General</c:formatCode>
                <c:ptCount val="4"/>
                <c:pt idx="0">
                  <c:v>87.6</c:v>
                </c:pt>
                <c:pt idx="1">
                  <c:v>82.8</c:v>
                </c:pt>
                <c:pt idx="2">
                  <c:v>73.8</c:v>
                </c:pt>
                <c:pt idx="3">
                  <c:v>76.6</c:v>
                </c:pt>
              </c:numCache>
            </c:numRef>
          </c:val>
        </c:ser>
        <c:dLbls>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1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次汇报处于课题探索阶段。研究目标是利用不含贵金属的有机光敏组分，在常温常压条件下探索PVC脱氯和碳骨架转化，但该目标尚未完成。已有模型实验值得进一步分析，不能写成已经建立完整降解体系。封面2-EAQ为文献结构示例，实际试剂乙基取代位号待核实。下一页说明研究故事的六个环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个部分不是机械问答。研究背景界定氯和碳目标，文献提出可行反应，科学问题区分不同来源，策略用简单模型减少解析难度。前期结果没有确认预期产物，因此引出介质竞争和分析复核，最后据此安排实验。接下来从PVC传统处置的局限说明研究目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VC含氯结构使其热处理涉及HCl与含氯有机副产物风险，但二噁英形成不是所有合规焚烧的必然结果，需限定燃烧和尾气控制条件。机械回收通常不改变重复单元中的氯，因此不能作为完全脱氯方法；其性能还受老化和添加剂影响。化学回收路线差异较大，不能笼统称全部高压或贵金属。我们的常温常压有机光敏体系是研究目标而非已实现成果。下一页把传统抑制老化的思路转换为可控活化。</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dette在引言讨论多烯相关含氯结构多步激发以及部分Cl原子逸出并引发氧化链的路径。这比笼统声称所有PVC的C–Cl在光照下均裂更准确。正文通过光谱、化学处理和氢过氧化物测定鉴别产物，再提出网络，不是逐一直接检测所有自由基。传统稳定剂也并非只以淬灭Cl自由基一种机理工作。本研究思路是利用和调控这些过程，但具体作用仍需在EAQ/DCE体系证明。下一页说明选择乙基蒽醌的依据。</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在合适波长吸收后先形成单重激发态，再经ISC形成三重态，并非基态直接一步生成三重态。蒽醌类有HAT和ET的一般文献基础，但取代基、介质和能级影响具体行为。Chen综述收录Ren等2-EAQ在充气溶液光还原并生成H2O2的原始研究线索，当前原文和DOI未取得，明确为二次引文。尚没有直接证明本体系EAQ在365纳米下活化有机C–Cl并释放Cl自由基的证据，不使用宽泛的C–X文献描述来填补这个缺口。下一页介绍真实聚合物光转化案例及可迁移部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侧Su体系标准条件为10毫克PS、4毫升CH2Cl2、365纳米、1bar氧气、30±5摄氏度。原文正文报告Mn和Mw从75.1和208.4kDa降至1.2和1.3kDa；PBN捕获和模拟支持作者对Cl自由基的归属。这些数值作为可编辑图形摘要保留，不伪造原始GPC曲线。右侧Qin摘要报告约76.5%转化和约14%乙酸收率，两者定义不同，不作为同一指标比较。正文说明PVC预处理100摄氏度2小时，其GPC原曲线在未获得的SI中。两文分别说明介质参与和PVC可光催化转化，但都不能直接证明EAQ/DCE体系。下一页从文献事实收敛出自己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类组分可以同时影响反应，不预设某一物种为唯一主导。脱氯可经取代或消除等路径，不一定释放游离Cl自由基。相似的局部键型支持选择氯代烷烃模型，但PVC的连续位点、缺陷、添加剂和聚集态不被模型完整模拟。不能单凭键能大小判定365纳米必然直接光解，必须结合吸收和激发态测量。下一页将这些边界落实为逐级研究策略。</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阶段先用2-氯戊烷建立分析，后续可用2-氯己烷等扩展模型。确认局部反应后进入氯代石蜡，再到PVC。各阶段以真实产物、定量、回收率及必要空白作为推进条件，不能只比较一个表观转化数值。下一页先展示依据文献形成的预想机理，再报告实验检验中出现的异常。</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作为实验前的预想机理，采用用户指定的小AQ循环与大PVC路径。左侧概括AQ类的一般激发、还原及氧再氧化过程，AQH自由基和AHQ表示不同还原层级，不声称同时检出。ET与HAT为不同候选路径，不画成同一具体化学基元步骤。左下将ROS与DCE或模型反应列为待鉴定支路；不混同单线态氧、超氧和羟基自由基，也不把ROS当作一种确定物种。右侧PVC攫氢、C–Cl活化和Cl自由基HAT均未在本体系证实，因此使用虚线及问号。R自由基与氧形成ROO为一般基元反应，但不代表本样品已检测。后续ROOH、RO自由基与β裂解需要独立证据，底部连接式仅示意烷氧自由基裂解。HAT与脱氯可以竞争或并行，Cl离子释放不能独自证明Cl自由基。下一页报告实际模型实验条件，再用观察结果检验这一预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记录为2-氯戊烷0.5毫摩尔、EAQ5毫克每毫升、DCE4毫升、365纳米照射6小时，比较四种气氛。明确写出DCE为1,2-二氯乙烷，避免与文献二氯甲烷混淆。装置图是规范示意，不冒充原实验照片。没有提供实际温度和光通量，不能为了符合目标补写反应已在确定的常温条件进行。下一页完整展示四组转化率与六行候选产物记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组数值87.6、82.8、73.8和76.6来自原始记录。计算式、内标和响应因子未提供，不把通常的转化率公式冒充原记录实际执行的方法。六行定性记录完整保留，2,4-二氯戊烷、四氯丁烷类、氯乙酸为候选名称，不绘制未经确认的确定结构。n.d.和斜杠不等同，不能据此推断零反应或收率。数据未提供重复性，不添加虚假误差线。下一页分析为什么目标产物尚不明确而溶剂相关信号更值得关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前不是已经证明溶剂一定优先反应，而是溶剂相关候选信号提示需要检验这一解释。EAQ激发态与DCE的作用、模型活化不足和检测漏检均可能并存。乙腈更换同时改变溶解性与吸光，不能单独证明Cl自由基或断言零转化。先澄清信号来源和分析方法，再研究选择性。下一页用观察结果更新初始机理，而不是把异常硬塞进原先循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始假说重视PVC链活化；实验异常要求把DCE与模型供氢体纳入并行竞争。这里使用虚线，说明三条支路均需本体系证据。原有观察并未鉴定特定ROS或Cl自由基，也未证明AQ再生及真正链裂解，因此不指定唯一物种。EAQ激发态受溶剂和氧影响的可能性应通过相同吸收与溶解性条件比较。下一页先确定必要条件，避免过早进入复杂物种归属。</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光暗组必须控制温度和时间，有无EAQ比较需同时考虑光敏剂吸收和稳定性。AQ与EAQ对比取决于实际试剂及吸收匹配，不把取代基效应归因于唯一因素。DCE与非氯介质对比还会改变溶解性，供气方式也改变传质。因此所有组沿用同一套定量和回收率方法。下一页设置能够支持或否定机理箭头的独立测量。</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个原生示意不是新生成的实验谱图。自旋捕获需探针自身、溶剂和无底物空白，并结合模拟与合理化学捕获；抑制效应可能来自吸光改变等因素。氯平衡需考虑不同相及背景，SEC仅测可溶部分可能有偏差，需结合凝胶分数与回收率。GC-MS、标准品和必要NMR确认产物来源。EAQ再生应以组分随时间变化和稳定性支持，不能因反应继续就认定催化周转。下一页按可完成的阶段结果安排工作。</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始已完成模型为2-氯戊烷，2-氯己烷列为后续模型计划，不混写成已做。各阶段按真实结果推进，部分分析可并行，但要先确认现有信号来源，再扩大底物。PVC阶段必须有独立的链长与物料证据。下一页将最优先的无底物空白和回收实验具体化为可决策的最小组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把优先任务具体化，而不是重复研究计划。无底物DCE空白出现同类物质会增加介质来源解释的可信度，但仍需确认同一结构；加标回收异常则应先修正分析；只有消耗与产物建立可重复对应后，才深入研究物种和选择性。背景扣除必须有定量依据，不能简单减峰面积或自动把候选物判为唯一产物。下一页总结目前认识与研究方向。</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题价值在于把老化领域的自由基认识转化为主动调控的研究问题，不代表已经建立Cl自由基主导的PVC降解。AQ提供候选入口，介质反应使初始假说需要修正。下一阶段以分析可靠性和来源区分为近期交付，再把机制解释连接到PVC链长和物料变化。参考文献页明确哪些是直接读到全文、哪些仍为二次引用，最后结束汇报。</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题名、作者、年卷页与DOI文本按上传全文或文件标识核对，在线解析因网络403未完成。Gardette DOI与ma00196a005文件标识及配套来源一致，原PDF未显式印出DOI。Huang按正式2024卷期引用。Ren题名与卷页来自Chen Ref.98，原文及DOI未取得，明确为二次引用。完整文献证据与局限另附说明。下一页结束，不再引入新的科学结论。</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感谢各位老师聆听，敬请对分析方法、优先对照及机制证据提出建议。本页不引入新的科学结论。</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3586-023-00227-w" TargetMode="External"/><Relationship Id="rId3" Type="http://schemas.openxmlformats.org/officeDocument/2006/relationships/hyperlink" Target="https://doi.org/10.1021/ma00196a005" TargetMode="External"/><Relationship Id="rId4" Type="http://schemas.openxmlformats.org/officeDocument/2006/relationships/hyperlink" Target="https://doi.org/10.1002/pol.20230322" TargetMode="External"/><Relationship Id="rId5" Type="http://schemas.openxmlformats.org/officeDocument/2006/relationships/hyperlink" Target="https://doi.org/10.1016/j.ese.2024.100449" TargetMode="External"/><Relationship Id="rId6" Type="http://schemas.openxmlformats.org/officeDocument/2006/relationships/hyperlink" Target="https://doi.org/10.1016/j.apcatb.2023.123355" TargetMode="External"/><Relationship Id="rId7" Type="http://schemas.openxmlformats.org/officeDocument/2006/relationships/hyperlink" Target="https://doi.org/10.1002/anie.5578835" TargetMode="Externa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PVC 光化学转化与降解机制探索</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课题组工作汇报；结构示例依据 Chen et al. 2024。</a:t>
            </a: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a:t>
            </a:r>
          </a:p>
        </p:txBody>
      </p:sp>
      <p:sp>
        <p:nvSpPr>
          <p:cNvPr id="6" name="TextBox 5"/>
          <p:cNvSpPr txBox="1"/>
          <p:nvPr/>
        </p:nvSpPr>
        <p:spPr>
          <a:xfrm>
            <a:off x="475488" y="1033271"/>
            <a:ext cx="6400800" cy="1060704"/>
          </a:xfrm>
          <a:prstGeom prst="rect">
            <a:avLst/>
          </a:prstGeom>
          <a:noFill/>
          <a:effectLst/>
        </p:spPr>
        <p:txBody>
          <a:bodyPr wrap="square" lIns="22860" rIns="22860" tIns="0" bIns="0">
            <a:spAutoFit/>
          </a:bodyPr>
          <a:lstStyle/>
          <a:p>
            <a:pPr>
              <a:spcAft>
                <a:spcPts val="600"/>
              </a:spcAft>
              <a:defRPr sz="3100" b="1">
                <a:solidFill>
                  <a:srgbClr val="063584"/>
                </a:solidFill>
                <a:latin typeface="Microsoft YaHei"/>
              </a:defRPr>
            </a:pPr>
            <a:r>
              <a:t>蒽醌参与的</a:t>
            </a:r>
          </a:p>
          <a:p>
            <a:pPr>
              <a:spcAft>
                <a:spcPts val="600"/>
              </a:spcAft>
              <a:defRPr sz="3100" b="1">
                <a:solidFill>
                  <a:srgbClr val="063584"/>
                </a:solidFill>
                <a:latin typeface="Microsoft YaHei"/>
              </a:defRPr>
            </a:pPr>
            <a:r>
              <a:t>自由基反应与模型探索</a:t>
            </a:r>
          </a:p>
        </p:txBody>
      </p:sp>
      <p:cxnSp>
        <p:nvCxnSpPr>
          <p:cNvPr id="7" name="Connector 6"/>
          <p:cNvCxnSpPr/>
          <p:nvPr/>
        </p:nvCxnSpPr>
        <p:spPr>
          <a:xfrm>
            <a:off x="502920" y="2295144"/>
            <a:ext cx="6099048" cy="0"/>
          </a:xfrm>
          <a:prstGeom prst="line">
            <a:avLst/>
          </a:prstGeom>
          <a:ln w="1905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30352" y="2487168"/>
            <a:ext cx="6153912" cy="704088"/>
          </a:xfrm>
          <a:prstGeom prst="rect">
            <a:avLst/>
          </a:prstGeom>
          <a:noFill/>
          <a:effectLst/>
        </p:spPr>
        <p:txBody>
          <a:bodyPr wrap="square" lIns="22860" rIns="22860" tIns="0" bIns="0">
            <a:spAutoFit/>
          </a:bodyPr>
          <a:lstStyle/>
          <a:p>
            <a:pPr>
              <a:spcAft>
                <a:spcPts val="600"/>
              </a:spcAft>
              <a:defRPr sz="2000" b="1">
                <a:solidFill>
                  <a:srgbClr val="111111"/>
                </a:solidFill>
                <a:latin typeface="Microsoft YaHei"/>
              </a:defRPr>
            </a:pPr>
            <a:r>
              <a:t>研究目标：发展有机光敏体系，</a:t>
            </a:r>
          </a:p>
          <a:p>
            <a:pPr>
              <a:spcAft>
                <a:spcPts val="600"/>
              </a:spcAft>
              <a:defRPr sz="2000" b="1">
                <a:solidFill>
                  <a:srgbClr val="111111"/>
                </a:solidFill>
                <a:latin typeface="Microsoft YaHei"/>
              </a:defRPr>
            </a:pPr>
            <a:r>
              <a:t>探索常温常压下 PVC 脱氯与碳骨架转化。</a:t>
            </a:r>
          </a:p>
        </p:txBody>
      </p:sp>
      <p:sp>
        <p:nvSpPr>
          <p:cNvPr id="9" name="Rounded Rectangle 8"/>
          <p:cNvSpPr/>
          <p:nvPr/>
        </p:nvSpPr>
        <p:spPr>
          <a:xfrm>
            <a:off x="512064" y="3474720"/>
            <a:ext cx="6053328" cy="1353312"/>
          </a:xfrm>
          <a:prstGeom prst="roundRect">
            <a:avLst>
              <a:gd name="adj" fmla="val 2500"/>
            </a:avLst>
          </a:prstGeom>
          <a:solidFill>
            <a:srgbClr val="F6F8FC"/>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04088" y="3675887"/>
            <a:ext cx="5669280" cy="320040"/>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报告人：佟可心</a:t>
            </a:r>
          </a:p>
        </p:txBody>
      </p:sp>
      <p:sp>
        <p:nvSpPr>
          <p:cNvPr id="11" name="TextBox 10"/>
          <p:cNvSpPr txBox="1"/>
          <p:nvPr/>
        </p:nvSpPr>
        <p:spPr>
          <a:xfrm>
            <a:off x="704088" y="4123944"/>
            <a:ext cx="5577840" cy="292608"/>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指导教师：孙再成 教授 / 李鹏飞 博士</a:t>
            </a:r>
          </a:p>
        </p:txBody>
      </p:sp>
      <p:sp>
        <p:nvSpPr>
          <p:cNvPr id="12" name="TextBox 11"/>
          <p:cNvSpPr txBox="1"/>
          <p:nvPr/>
        </p:nvSpPr>
        <p:spPr>
          <a:xfrm>
            <a:off x="704088" y="4535424"/>
            <a:ext cx="5577840" cy="21031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北京工业大学  ·  2026 年 10 月 17 日</a:t>
            </a:r>
          </a:p>
        </p:txBody>
      </p:sp>
      <p:sp>
        <p:nvSpPr>
          <p:cNvPr id="13" name="Rounded Rectangle 12"/>
          <p:cNvSpPr/>
          <p:nvPr/>
        </p:nvSpPr>
        <p:spPr>
          <a:xfrm>
            <a:off x="6949440" y="1024128"/>
            <a:ext cx="4700016" cy="3822191"/>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6976872" y="1051560"/>
            <a:ext cx="46451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095744" y="1101852"/>
            <a:ext cx="44074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光敏组分与含氯主链的候选关联</a:t>
            </a:r>
          </a:p>
        </p:txBody>
      </p:sp>
      <p:sp>
        <p:nvSpPr>
          <p:cNvPr id="16" name="Freeform 15"/>
          <p:cNvSpPr/>
          <p:nvPr/>
        </p:nvSpPr>
        <p:spPr>
          <a:xfrm>
            <a:off x="8584950"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8838356" y="2011314"/>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H="1">
            <a:off x="8838356" y="2327330"/>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8655903"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0" name="Freeform 19"/>
          <p:cNvSpPr/>
          <p:nvPr/>
        </p:nvSpPr>
        <p:spPr>
          <a:xfrm>
            <a:off x="9091762" y="1929384"/>
            <a:ext cx="506811" cy="585216"/>
          </a:xfrm>
          <a:custGeom>
            <a:avLst/>
            <a:gdLst/>
            <a:ahLst/>
            <a:cxnLst/>
            <a:rect l="l" t="t" r="r" b="b"/>
            <a:pathLst>
              <a:path w="506811" h="585216">
                <a:moveTo>
                  <a:pt x="253406" y="0"/>
                </a:moveTo>
                <a:lnTo>
                  <a:pt x="506811" y="146304"/>
                </a:lnTo>
                <a:lnTo>
                  <a:pt x="506811"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Freeform 20"/>
          <p:cNvSpPr/>
          <p:nvPr/>
        </p:nvSpPr>
        <p:spPr>
          <a:xfrm>
            <a:off x="9598573"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9851979" y="2011314"/>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H="1">
            <a:off x="9851979" y="2327330"/>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9669527"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932230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V="1">
            <a:off x="936802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9244584" y="149961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28" name="Connector 27"/>
          <p:cNvCxnSpPr/>
          <p:nvPr/>
        </p:nvCxnSpPr>
        <p:spPr>
          <a:xfrm>
            <a:off x="932230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936802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9244584" y="273405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31" name="Connector 30"/>
          <p:cNvCxnSpPr/>
          <p:nvPr/>
        </p:nvCxnSpPr>
        <p:spPr>
          <a:xfrm flipH="1" flipV="1">
            <a:off x="8328918"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H="1">
            <a:off x="8072886"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635240" y="2852928"/>
            <a:ext cx="3429000" cy="265176"/>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2-EAQ 文献结构示例；实际位号待核</a:t>
            </a:r>
          </a:p>
        </p:txBody>
      </p:sp>
      <p:sp>
        <p:nvSpPr>
          <p:cNvPr id="34" name="TextBox 33"/>
          <p:cNvSpPr txBox="1"/>
          <p:nvPr/>
        </p:nvSpPr>
        <p:spPr>
          <a:xfrm>
            <a:off x="8257031" y="3255264"/>
            <a:ext cx="2221992" cy="301752"/>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hν / O₂</a:t>
            </a:r>
          </a:p>
        </p:txBody>
      </p:sp>
      <p:sp>
        <p:nvSpPr>
          <p:cNvPr id="35" name="Freeform 34"/>
          <p:cNvSpPr/>
          <p:nvPr/>
        </p:nvSpPr>
        <p:spPr>
          <a:xfrm>
            <a:off x="7479792" y="3803904"/>
            <a:ext cx="3401567" cy="164592"/>
          </a:xfrm>
          <a:custGeom>
            <a:avLst/>
            <a:gdLst/>
            <a:ahLst/>
            <a:cxnLst/>
            <a:rect l="l" t="t" r="r" b="b"/>
            <a:pathLst>
              <a:path w="3401567" h="164592">
                <a:moveTo>
                  <a:pt x="0" y="0"/>
                </a:moveTo>
                <a:lnTo>
                  <a:pt x="566927" y="164592"/>
                </a:lnTo>
                <a:lnTo>
                  <a:pt x="1133856" y="0"/>
                </a:lnTo>
                <a:lnTo>
                  <a:pt x="1700784" y="164592"/>
                </a:lnTo>
                <a:lnTo>
                  <a:pt x="2267712" y="0"/>
                </a:lnTo>
                <a:lnTo>
                  <a:pt x="2834640" y="164592"/>
                </a:lnTo>
                <a:lnTo>
                  <a:pt x="3401567"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6" name="Connector 35"/>
          <p:cNvCxnSpPr/>
          <p:nvPr/>
        </p:nvCxnSpPr>
        <p:spPr>
          <a:xfrm>
            <a:off x="8046719"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7918703"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8" name="Connector 37"/>
          <p:cNvCxnSpPr/>
          <p:nvPr/>
        </p:nvCxnSpPr>
        <p:spPr>
          <a:xfrm>
            <a:off x="9180576"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9052559"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0" name="Connector 39"/>
          <p:cNvCxnSpPr/>
          <p:nvPr/>
        </p:nvCxnSpPr>
        <p:spPr>
          <a:xfrm>
            <a:off x="10314432"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10186415"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2" name="TextBox 41"/>
          <p:cNvSpPr txBox="1"/>
          <p:nvPr/>
        </p:nvSpPr>
        <p:spPr>
          <a:xfrm>
            <a:off x="7232904"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3" name="TextBox 42"/>
          <p:cNvSpPr txBox="1"/>
          <p:nvPr/>
        </p:nvSpPr>
        <p:spPr>
          <a:xfrm>
            <a:off x="10927080"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4" name="Rounded Rectangle 43"/>
          <p:cNvSpPr/>
          <p:nvPr/>
        </p:nvSpPr>
        <p:spPr>
          <a:xfrm>
            <a:off x="50292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0350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研究基础</a:t>
            </a:r>
          </a:p>
        </p:txBody>
      </p:sp>
      <p:sp>
        <p:nvSpPr>
          <p:cNvPr id="46" name="TextBox 45"/>
          <p:cNvSpPr txBox="1"/>
          <p:nvPr/>
        </p:nvSpPr>
        <p:spPr>
          <a:xfrm>
            <a:off x="60350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PVC 光老化与聚合物光转化</a:t>
            </a:r>
          </a:p>
        </p:txBody>
      </p:sp>
      <p:sp>
        <p:nvSpPr>
          <p:cNvPr id="47" name="Rounded Rectangle 46"/>
          <p:cNvSpPr/>
          <p:nvPr/>
        </p:nvSpPr>
        <p:spPr>
          <a:xfrm>
            <a:off x="4251959"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435254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已有探索</a:t>
            </a:r>
          </a:p>
        </p:txBody>
      </p:sp>
      <p:sp>
        <p:nvSpPr>
          <p:cNvPr id="49" name="TextBox 48"/>
          <p:cNvSpPr txBox="1"/>
          <p:nvPr/>
        </p:nvSpPr>
        <p:spPr>
          <a:xfrm>
            <a:off x="435254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模型底物转化与溶剂相关信号</a:t>
            </a:r>
          </a:p>
        </p:txBody>
      </p:sp>
      <p:sp>
        <p:nvSpPr>
          <p:cNvPr id="50" name="Rounded Rectangle 49"/>
          <p:cNvSpPr/>
          <p:nvPr/>
        </p:nvSpPr>
        <p:spPr>
          <a:xfrm>
            <a:off x="800100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8101583"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工作重点</a:t>
            </a:r>
          </a:p>
        </p:txBody>
      </p:sp>
      <p:sp>
        <p:nvSpPr>
          <p:cNvPr id="52" name="TextBox 51"/>
          <p:cNvSpPr txBox="1"/>
          <p:nvPr/>
        </p:nvSpPr>
        <p:spPr>
          <a:xfrm>
            <a:off x="8101583"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区分反应来源，检验自由基路径</a:t>
            </a:r>
          </a:p>
        </p:txBody>
      </p:sp>
      <p:sp>
        <p:nvSpPr>
          <p:cNvPr id="53" name="Rectangle 5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Chevron 5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汇报定位</a:t>
            </a:r>
          </a:p>
        </p:txBody>
      </p:sp>
      <p:sp>
        <p:nvSpPr>
          <p:cNvPr id="56" name="TextBox 5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用模型结果识别竞争反应，以独立证据连接自由基化学与 PVC 主链变化。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汇报主线：由文献依据走向可证伪的实验假说</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研究背景—文献启发—科学问题—研究策略—前期探索—下一步实验</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a:t>
            </a:r>
          </a:p>
        </p:txBody>
      </p:sp>
      <p:sp>
        <p:nvSpPr>
          <p:cNvPr id="7" name="Rounded Rectangle 6"/>
          <p:cNvSpPr/>
          <p:nvPr/>
        </p:nvSpPr>
        <p:spPr>
          <a:xfrm>
            <a:off x="43891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5778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研究背景</a:t>
            </a:r>
          </a:p>
        </p:txBody>
      </p:sp>
      <p:sp>
        <p:nvSpPr>
          <p:cNvPr id="9" name="TextBox 8"/>
          <p:cNvSpPr txBox="1"/>
          <p:nvPr/>
        </p:nvSpPr>
        <p:spPr>
          <a:xfrm>
            <a:off x="54864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氯管理 + 碳骨架</a:t>
            </a:r>
          </a:p>
        </p:txBody>
      </p:sp>
      <p:cxnSp>
        <p:nvCxnSpPr>
          <p:cNvPr id="10" name="Connector 9"/>
          <p:cNvCxnSpPr/>
          <p:nvPr/>
        </p:nvCxnSpPr>
        <p:spPr>
          <a:xfrm>
            <a:off x="2249424"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2377440"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496312"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文献启发</a:t>
            </a:r>
          </a:p>
        </p:txBody>
      </p:sp>
      <p:sp>
        <p:nvSpPr>
          <p:cNvPr id="13" name="TextBox 12"/>
          <p:cNvSpPr txBox="1"/>
          <p:nvPr/>
        </p:nvSpPr>
        <p:spPr>
          <a:xfrm>
            <a:off x="2487168"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老化、AQ 与介质</a:t>
            </a:r>
          </a:p>
        </p:txBody>
      </p:sp>
      <p:cxnSp>
        <p:nvCxnSpPr>
          <p:cNvPr id="14" name="Connector 13"/>
          <p:cNvCxnSpPr/>
          <p:nvPr/>
        </p:nvCxnSpPr>
        <p:spPr>
          <a:xfrm>
            <a:off x="4187952"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15968"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434840"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科学问题</a:t>
            </a:r>
          </a:p>
        </p:txBody>
      </p:sp>
      <p:sp>
        <p:nvSpPr>
          <p:cNvPr id="17" name="TextBox 16"/>
          <p:cNvSpPr txBox="1"/>
          <p:nvPr/>
        </p:nvSpPr>
        <p:spPr>
          <a:xfrm>
            <a:off x="4425696"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活性来源与链裂解</a:t>
            </a:r>
          </a:p>
        </p:txBody>
      </p:sp>
      <p:cxnSp>
        <p:nvCxnSpPr>
          <p:cNvPr id="18" name="Connector 17"/>
          <p:cNvCxnSpPr/>
          <p:nvPr/>
        </p:nvCxnSpPr>
        <p:spPr>
          <a:xfrm>
            <a:off x="6126480"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6254496"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73368"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研究策略</a:t>
            </a:r>
          </a:p>
        </p:txBody>
      </p:sp>
      <p:sp>
        <p:nvSpPr>
          <p:cNvPr id="21" name="TextBox 20"/>
          <p:cNvSpPr txBox="1"/>
          <p:nvPr/>
        </p:nvSpPr>
        <p:spPr>
          <a:xfrm>
            <a:off x="6364224"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局部模型 → PVC</a:t>
            </a:r>
          </a:p>
        </p:txBody>
      </p:sp>
      <p:cxnSp>
        <p:nvCxnSpPr>
          <p:cNvPr id="22" name="Connector 21"/>
          <p:cNvCxnSpPr/>
          <p:nvPr/>
        </p:nvCxnSpPr>
        <p:spPr>
          <a:xfrm>
            <a:off x="8065008"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8193024"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311896"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前期探索</a:t>
            </a:r>
          </a:p>
        </p:txBody>
      </p:sp>
      <p:sp>
        <p:nvSpPr>
          <p:cNvPr id="25" name="TextBox 24"/>
          <p:cNvSpPr txBox="1"/>
          <p:nvPr/>
        </p:nvSpPr>
        <p:spPr>
          <a:xfrm>
            <a:off x="8302752"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转化与产物不匹配</a:t>
            </a:r>
          </a:p>
        </p:txBody>
      </p:sp>
      <p:cxnSp>
        <p:nvCxnSpPr>
          <p:cNvPr id="26" name="Connector 25"/>
          <p:cNvCxnSpPr/>
          <p:nvPr/>
        </p:nvCxnSpPr>
        <p:spPr>
          <a:xfrm>
            <a:off x="10003536"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1013155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25042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下一步实验</a:t>
            </a:r>
          </a:p>
        </p:txBody>
      </p:sp>
      <p:sp>
        <p:nvSpPr>
          <p:cNvPr id="29" name="TextBox 28"/>
          <p:cNvSpPr txBox="1"/>
          <p:nvPr/>
        </p:nvSpPr>
        <p:spPr>
          <a:xfrm>
            <a:off x="1024128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空白、物种与链长</a:t>
            </a:r>
          </a:p>
        </p:txBody>
      </p:sp>
      <p:sp>
        <p:nvSpPr>
          <p:cNvPr id="30" name="Rounded Rectangle 29"/>
          <p:cNvSpPr/>
          <p:nvPr/>
        </p:nvSpPr>
        <p:spPr>
          <a:xfrm>
            <a:off x="448056" y="2889504"/>
            <a:ext cx="6858000" cy="26700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75488" y="2916936"/>
            <a:ext cx="68031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94360" y="2967228"/>
            <a:ext cx="65653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贯穿汇报的因果链</a:t>
            </a:r>
          </a:p>
        </p:txBody>
      </p:sp>
      <p:sp>
        <p:nvSpPr>
          <p:cNvPr id="33" name="Oval 32"/>
          <p:cNvSpPr/>
          <p:nvPr/>
        </p:nvSpPr>
        <p:spPr>
          <a:xfrm>
            <a:off x="658368" y="343814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62940" y="344728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5" name="TextBox 34"/>
          <p:cNvSpPr txBox="1"/>
          <p:nvPr/>
        </p:nvSpPr>
        <p:spPr>
          <a:xfrm>
            <a:off x="1033271" y="343814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文献给出可能性</a:t>
            </a:r>
          </a:p>
        </p:txBody>
      </p:sp>
      <p:sp>
        <p:nvSpPr>
          <p:cNvPr id="36" name="TextBox 35"/>
          <p:cNvSpPr txBox="1"/>
          <p:nvPr/>
        </p:nvSpPr>
        <p:spPr>
          <a:xfrm>
            <a:off x="3282696" y="345643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自由基过程与含氯介质提供可研究入口</a:t>
            </a:r>
          </a:p>
        </p:txBody>
      </p:sp>
      <p:sp>
        <p:nvSpPr>
          <p:cNvPr id="37" name="Oval 36"/>
          <p:cNvSpPr/>
          <p:nvPr/>
        </p:nvSpPr>
        <p:spPr>
          <a:xfrm>
            <a:off x="658368" y="407822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62940" y="408736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39" name="TextBox 38"/>
          <p:cNvSpPr txBox="1"/>
          <p:nvPr/>
        </p:nvSpPr>
        <p:spPr>
          <a:xfrm>
            <a:off x="1033271" y="407822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实验暴露竞争解释</a:t>
            </a:r>
          </a:p>
        </p:txBody>
      </p:sp>
      <p:sp>
        <p:nvSpPr>
          <p:cNvPr id="40" name="TextBox 39"/>
          <p:cNvSpPr txBox="1"/>
          <p:nvPr/>
        </p:nvSpPr>
        <p:spPr>
          <a:xfrm>
            <a:off x="3282696" y="4096511"/>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目标产物未确认，DCE 相关信号值得关注</a:t>
            </a:r>
          </a:p>
        </p:txBody>
      </p:sp>
      <p:sp>
        <p:nvSpPr>
          <p:cNvPr id="41" name="Oval 40"/>
          <p:cNvSpPr/>
          <p:nvPr/>
        </p:nvSpPr>
        <p:spPr>
          <a:xfrm>
            <a:off x="658368" y="47183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62940" y="47274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3" name="TextBox 42"/>
          <p:cNvSpPr txBox="1"/>
          <p:nvPr/>
        </p:nvSpPr>
        <p:spPr>
          <a:xfrm>
            <a:off x="1033271" y="471830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机制通过实验被约束</a:t>
            </a:r>
          </a:p>
        </p:txBody>
      </p:sp>
      <p:sp>
        <p:nvSpPr>
          <p:cNvPr id="44" name="TextBox 43"/>
          <p:cNvSpPr txBox="1"/>
          <p:nvPr/>
        </p:nvSpPr>
        <p:spPr>
          <a:xfrm>
            <a:off x="3282696" y="473659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每个关键箭头对应独立测量与否定对照</a:t>
            </a:r>
          </a:p>
        </p:txBody>
      </p:sp>
      <p:sp>
        <p:nvSpPr>
          <p:cNvPr id="45" name="Rounded Rectangle 44"/>
          <p:cNvSpPr/>
          <p:nvPr/>
        </p:nvSpPr>
        <p:spPr>
          <a:xfrm>
            <a:off x="7534656" y="2889504"/>
            <a:ext cx="4114800" cy="267004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562088" y="2916936"/>
            <a:ext cx="40599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680960" y="2967228"/>
            <a:ext cx="38221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本次汇报的判据</a:t>
            </a:r>
          </a:p>
        </p:txBody>
      </p:sp>
      <p:sp>
        <p:nvSpPr>
          <p:cNvPr id="48" name="TextBox 47"/>
          <p:cNvSpPr txBox="1"/>
          <p:nvPr/>
        </p:nvSpPr>
        <p:spPr>
          <a:xfrm>
            <a:off x="7781544" y="3538728"/>
            <a:ext cx="3621024" cy="932688"/>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底物转化</a:t>
            </a:r>
          </a:p>
          <a:p>
            <a:pPr algn="ctr">
              <a:spcAft>
                <a:spcPts val="600"/>
              </a:spcAft>
              <a:defRPr sz="2100" b="1">
                <a:solidFill>
                  <a:srgbClr val="063584"/>
                </a:solidFill>
                <a:latin typeface="Microsoft YaHei"/>
              </a:defRPr>
            </a:pPr>
            <a:r>
              <a:t>不直接等同于</a:t>
            </a:r>
          </a:p>
        </p:txBody>
      </p:sp>
      <p:sp>
        <p:nvSpPr>
          <p:cNvPr id="49" name="TextBox 48"/>
          <p:cNvSpPr txBox="1"/>
          <p:nvPr/>
        </p:nvSpPr>
        <p:spPr>
          <a:xfrm>
            <a:off x="7781544" y="4626864"/>
            <a:ext cx="3621024" cy="576072"/>
          </a:xfrm>
          <a:prstGeom prst="rect">
            <a:avLst/>
          </a:prstGeom>
          <a:noFill/>
          <a:effectLst/>
        </p:spPr>
        <p:txBody>
          <a:bodyPr wrap="square" lIns="22860" rIns="22860" tIns="0" bIns="0">
            <a:spAutoFit/>
          </a:bodyPr>
          <a:lstStyle/>
          <a:p>
            <a:pPr algn="ctr">
              <a:spcAft>
                <a:spcPts val="600"/>
              </a:spcAft>
              <a:defRPr sz="2100" b="1">
                <a:solidFill>
                  <a:srgbClr val="C00000"/>
                </a:solidFill>
                <a:latin typeface="Microsoft YaHei"/>
              </a:defRPr>
            </a:pPr>
            <a:r>
              <a:t>脱氯率、目标收率</a:t>
            </a:r>
          </a:p>
          <a:p>
            <a:pPr algn="ctr">
              <a:spcAft>
                <a:spcPts val="600"/>
              </a:spcAft>
              <a:defRPr sz="2100" b="1">
                <a:solidFill>
                  <a:srgbClr val="C00000"/>
                </a:solidFill>
                <a:latin typeface="Microsoft YaHei"/>
              </a:defRPr>
            </a:pPr>
            <a:r>
              <a:t>或 PVC 降解率</a:t>
            </a:r>
          </a:p>
        </p:txBody>
      </p:sp>
      <p:sp>
        <p:nvSpPr>
          <p:cNvPr id="50" name="Rectangle 4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Chevron 5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3" name="TextBox 5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故事围绕“反应由谁启动、信号来自哪里、主链是否改变”逐层收敛。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研究背景：PVC 回收需要兼顾氯管理与碳骨架利用</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PVC 是重要的含氯通用塑料；传统处置的限制来自氯元素、添加剂与复杂的转化路径</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3</a:t>
            </a:r>
          </a:p>
        </p:txBody>
      </p:sp>
      <p:sp>
        <p:nvSpPr>
          <p:cNvPr id="7" name="Rounded Rectangle 6"/>
          <p:cNvSpPr/>
          <p:nvPr/>
        </p:nvSpPr>
        <p:spPr>
          <a:xfrm>
            <a:off x="438912" y="1426464"/>
            <a:ext cx="7562088" cy="430682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53896"/>
            <a:ext cx="7507223"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504188"/>
            <a:ext cx="7269479"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传统路径的化学约束</a:t>
            </a:r>
          </a:p>
        </p:txBody>
      </p:sp>
      <p:sp>
        <p:nvSpPr>
          <p:cNvPr id="10" name="Oval 9"/>
          <p:cNvSpPr/>
          <p:nvPr/>
        </p:nvSpPr>
        <p:spPr>
          <a:xfrm>
            <a:off x="667512" y="1956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72084" y="1965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69848" y="1956816"/>
            <a:ext cx="1856231" cy="36576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热处理 / 焚烧</a:t>
            </a:r>
          </a:p>
        </p:txBody>
      </p:sp>
      <p:cxnSp>
        <p:nvCxnSpPr>
          <p:cNvPr id="13" name="Connector 12"/>
          <p:cNvCxnSpPr/>
          <p:nvPr/>
        </p:nvCxnSpPr>
        <p:spPr>
          <a:xfrm>
            <a:off x="2834640" y="2194560"/>
            <a:ext cx="502920" cy="0"/>
          </a:xfrm>
          <a:prstGeom prst="line">
            <a:avLst/>
          </a:prstGeom>
          <a:ln w="1778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3547872" y="1956816"/>
            <a:ext cx="4041648" cy="374904"/>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HCl 释放与含氯副产物风险</a:t>
            </a:r>
          </a:p>
        </p:txBody>
      </p:sp>
      <p:sp>
        <p:nvSpPr>
          <p:cNvPr id="15" name="TextBox 14"/>
          <p:cNvSpPr txBox="1"/>
          <p:nvPr/>
        </p:nvSpPr>
        <p:spPr>
          <a:xfrm>
            <a:off x="3547872" y="2441448"/>
            <a:ext cx="4041648" cy="438912"/>
          </a:xfrm>
          <a:prstGeom prst="rect">
            <a:avLst/>
          </a:prstGeom>
          <a:noFill/>
          <a:effectLst/>
        </p:spPr>
        <p:txBody>
          <a:bodyPr wrap="square" lIns="22860" rIns="22860" tIns="0" bIns="0">
            <a:spAutoFit/>
          </a:bodyPr>
          <a:lstStyle/>
          <a:p>
            <a:pPr>
              <a:spcAft>
                <a:spcPts val="600"/>
              </a:spcAft>
              <a:defRPr sz="1350" b="0">
                <a:solidFill>
                  <a:srgbClr val="566273"/>
                </a:solidFill>
                <a:latin typeface="Microsoft YaHei"/>
              </a:defRPr>
            </a:pPr>
            <a:r>
              <a:t>二噁英风险与燃烧及尾气控制条件有关</a:t>
            </a:r>
          </a:p>
        </p:txBody>
      </p:sp>
      <p:sp>
        <p:nvSpPr>
          <p:cNvPr id="16" name="Oval 15"/>
          <p:cNvSpPr/>
          <p:nvPr/>
        </p:nvSpPr>
        <p:spPr>
          <a:xfrm>
            <a:off x="667512" y="307238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72084" y="308152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18" name="TextBox 17"/>
          <p:cNvSpPr txBox="1"/>
          <p:nvPr/>
        </p:nvSpPr>
        <p:spPr>
          <a:xfrm>
            <a:off x="1069848" y="3072384"/>
            <a:ext cx="1856231" cy="36576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机械回收</a:t>
            </a:r>
          </a:p>
        </p:txBody>
      </p:sp>
      <p:cxnSp>
        <p:nvCxnSpPr>
          <p:cNvPr id="19" name="Connector 18"/>
          <p:cNvCxnSpPr/>
          <p:nvPr/>
        </p:nvCxnSpPr>
        <p:spPr>
          <a:xfrm>
            <a:off x="2834640" y="3310128"/>
            <a:ext cx="502920" cy="0"/>
          </a:xfrm>
          <a:prstGeom prst="line">
            <a:avLst/>
          </a:prstGeom>
          <a:ln w="1778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3547872" y="3072384"/>
            <a:ext cx="4041648" cy="374904"/>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主要保留聚合物含氯结构</a:t>
            </a:r>
          </a:p>
        </p:txBody>
      </p:sp>
      <p:sp>
        <p:nvSpPr>
          <p:cNvPr id="21" name="TextBox 20"/>
          <p:cNvSpPr txBox="1"/>
          <p:nvPr/>
        </p:nvSpPr>
        <p:spPr>
          <a:xfrm>
            <a:off x="3547872" y="3557016"/>
            <a:ext cx="4041648" cy="438912"/>
          </a:xfrm>
          <a:prstGeom prst="rect">
            <a:avLst/>
          </a:prstGeom>
          <a:noFill/>
          <a:effectLst/>
        </p:spPr>
        <p:txBody>
          <a:bodyPr wrap="square" lIns="22860" rIns="22860" tIns="0" bIns="0">
            <a:spAutoFit/>
          </a:bodyPr>
          <a:lstStyle/>
          <a:p>
            <a:pPr>
              <a:spcAft>
                <a:spcPts val="600"/>
              </a:spcAft>
              <a:defRPr sz="1350" b="0">
                <a:solidFill>
                  <a:srgbClr val="566273"/>
                </a:solidFill>
                <a:latin typeface="Microsoft YaHei"/>
              </a:defRPr>
            </a:pPr>
            <a:r>
              <a:t>老化与添加剂影响循环性能；不能替代化学脱氯</a:t>
            </a:r>
          </a:p>
        </p:txBody>
      </p:sp>
      <p:sp>
        <p:nvSpPr>
          <p:cNvPr id="22" name="Oval 21"/>
          <p:cNvSpPr/>
          <p:nvPr/>
        </p:nvSpPr>
        <p:spPr>
          <a:xfrm>
            <a:off x="667512" y="418795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672084" y="419709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4" name="TextBox 23"/>
          <p:cNvSpPr txBox="1"/>
          <p:nvPr/>
        </p:nvSpPr>
        <p:spPr>
          <a:xfrm>
            <a:off x="1069848" y="4187952"/>
            <a:ext cx="1856231" cy="36576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化学回收</a:t>
            </a:r>
          </a:p>
        </p:txBody>
      </p:sp>
      <p:cxnSp>
        <p:nvCxnSpPr>
          <p:cNvPr id="25" name="Connector 24"/>
          <p:cNvCxnSpPr/>
          <p:nvPr/>
        </p:nvCxnSpPr>
        <p:spPr>
          <a:xfrm>
            <a:off x="2834640" y="4425696"/>
            <a:ext cx="502920" cy="0"/>
          </a:xfrm>
          <a:prstGeom prst="line">
            <a:avLst/>
          </a:prstGeom>
          <a:ln w="1778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3547872" y="4187952"/>
            <a:ext cx="4041648" cy="374904"/>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部分路线需要高温、高压或催化投入</a:t>
            </a:r>
          </a:p>
        </p:txBody>
      </p:sp>
      <p:sp>
        <p:nvSpPr>
          <p:cNvPr id="27" name="TextBox 26"/>
          <p:cNvSpPr txBox="1"/>
          <p:nvPr/>
        </p:nvSpPr>
        <p:spPr>
          <a:xfrm>
            <a:off x="3547872" y="4672584"/>
            <a:ext cx="4041648" cy="438912"/>
          </a:xfrm>
          <a:prstGeom prst="rect">
            <a:avLst/>
          </a:prstGeom>
          <a:noFill/>
          <a:effectLst/>
        </p:spPr>
        <p:txBody>
          <a:bodyPr wrap="square" lIns="22860" rIns="22860" tIns="0" bIns="0">
            <a:spAutoFit/>
          </a:bodyPr>
          <a:lstStyle/>
          <a:p>
            <a:pPr>
              <a:spcAft>
                <a:spcPts val="600"/>
              </a:spcAft>
              <a:defRPr sz="1350" b="0">
                <a:solidFill>
                  <a:srgbClr val="566273"/>
                </a:solidFill>
                <a:latin typeface="Microsoft YaHei"/>
              </a:defRPr>
            </a:pPr>
            <a:r>
              <a:t>不同路线条件差异明显，并非全部依赖贵金属</a:t>
            </a:r>
          </a:p>
        </p:txBody>
      </p:sp>
      <p:sp>
        <p:nvSpPr>
          <p:cNvPr id="28" name="Rounded Rectangle 27"/>
          <p:cNvSpPr/>
          <p:nvPr/>
        </p:nvSpPr>
        <p:spPr>
          <a:xfrm>
            <a:off x="8247888" y="1426464"/>
            <a:ext cx="3392424" cy="4306824"/>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8275319" y="1453896"/>
            <a:ext cx="333756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394192" y="1504188"/>
            <a:ext cx="309981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本研究目标</a:t>
            </a:r>
          </a:p>
        </p:txBody>
      </p:sp>
      <p:sp>
        <p:nvSpPr>
          <p:cNvPr id="31" name="Freeform 30"/>
          <p:cNvSpPr/>
          <p:nvPr/>
        </p:nvSpPr>
        <p:spPr>
          <a:xfrm>
            <a:off x="8723376" y="2093976"/>
            <a:ext cx="1975104" cy="173736"/>
          </a:xfrm>
          <a:custGeom>
            <a:avLst/>
            <a:gdLst/>
            <a:ahLst/>
            <a:cxnLst/>
            <a:rect l="l" t="t" r="r" b="b"/>
            <a:pathLst>
              <a:path w="1975104" h="173736">
                <a:moveTo>
                  <a:pt x="0" y="0"/>
                </a:moveTo>
                <a:lnTo>
                  <a:pt x="493775" y="173736"/>
                </a:lnTo>
                <a:lnTo>
                  <a:pt x="987552" y="0"/>
                </a:lnTo>
                <a:lnTo>
                  <a:pt x="1481328" y="173736"/>
                </a:lnTo>
                <a:lnTo>
                  <a:pt x="1975104"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9217151" y="226771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9089135" y="267004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4" name="Connector 33"/>
          <p:cNvCxnSpPr/>
          <p:nvPr/>
        </p:nvCxnSpPr>
        <p:spPr>
          <a:xfrm>
            <a:off x="10204704" y="226771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10076688" y="267004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36" name="TextBox 35"/>
          <p:cNvSpPr txBox="1"/>
          <p:nvPr/>
        </p:nvSpPr>
        <p:spPr>
          <a:xfrm>
            <a:off x="8476488" y="20665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7" name="TextBox 36"/>
          <p:cNvSpPr txBox="1"/>
          <p:nvPr/>
        </p:nvSpPr>
        <p:spPr>
          <a:xfrm>
            <a:off x="10744200" y="20665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8" name="TextBox 37"/>
          <p:cNvSpPr txBox="1"/>
          <p:nvPr/>
        </p:nvSpPr>
        <p:spPr>
          <a:xfrm>
            <a:off x="8503920" y="3172968"/>
            <a:ext cx="2880360" cy="932688"/>
          </a:xfrm>
          <a:prstGeom prst="rect">
            <a:avLst/>
          </a:prstGeom>
          <a:noFill/>
          <a:effectLst/>
        </p:spPr>
        <p:txBody>
          <a:bodyPr wrap="square" lIns="22860" rIns="22860" tIns="0" bIns="0">
            <a:spAutoFit/>
          </a:bodyPr>
          <a:lstStyle/>
          <a:p>
            <a:pPr algn="ctr">
              <a:spcAft>
                <a:spcPts val="600"/>
              </a:spcAft>
              <a:defRPr sz="2500" b="1">
                <a:solidFill>
                  <a:srgbClr val="C00000"/>
                </a:solidFill>
                <a:latin typeface="Microsoft YaHei"/>
              </a:defRPr>
            </a:pPr>
            <a:r>
              <a:t>常温常压</a:t>
            </a:r>
          </a:p>
          <a:p>
            <a:pPr algn="ctr">
              <a:spcAft>
                <a:spcPts val="600"/>
              </a:spcAft>
              <a:defRPr sz="2500" b="1">
                <a:solidFill>
                  <a:srgbClr val="C00000"/>
                </a:solidFill>
                <a:latin typeface="Microsoft YaHei"/>
              </a:defRPr>
            </a:pPr>
            <a:r>
              <a:t>有机光敏体系</a:t>
            </a:r>
          </a:p>
        </p:txBody>
      </p:sp>
      <p:sp>
        <p:nvSpPr>
          <p:cNvPr id="39" name="TextBox 38"/>
          <p:cNvSpPr txBox="1"/>
          <p:nvPr/>
        </p:nvSpPr>
        <p:spPr>
          <a:xfrm>
            <a:off x="8503920" y="4425696"/>
            <a:ext cx="2880360" cy="96012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脱氯 + 碳骨架转化</a:t>
            </a:r>
          </a:p>
          <a:p>
            <a:pPr algn="ctr">
              <a:spcAft>
                <a:spcPts val="600"/>
              </a:spcAft>
              <a:defRPr sz="1700" b="1">
                <a:solidFill>
                  <a:srgbClr val="063584"/>
                </a:solidFill>
                <a:latin typeface="Microsoft YaHei"/>
              </a:defRPr>
            </a:pPr>
            <a:r>
              <a:t>分析条件与物料平衡</a:t>
            </a:r>
          </a:p>
          <a:p>
            <a:pPr algn="ctr">
              <a:spcAft>
                <a:spcPts val="600"/>
              </a:spcAft>
              <a:defRPr sz="1700" b="1">
                <a:solidFill>
                  <a:srgbClr val="063584"/>
                </a:solidFill>
                <a:latin typeface="Microsoft YaHei"/>
              </a:defRPr>
            </a:pPr>
            <a:r>
              <a:t>以实验结果评价可行性</a:t>
            </a:r>
          </a:p>
        </p:txBody>
      </p:sp>
      <p:sp>
        <p:nvSpPr>
          <p:cNvPr id="40" name="Rectangle 3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hevron 4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研究目标</a:t>
            </a:r>
          </a:p>
        </p:txBody>
      </p:sp>
      <p:sp>
        <p:nvSpPr>
          <p:cNvPr id="43" name="TextBox 4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目标是以可调控光化学替代部分苛刻活化条件，同时追踪氯与碳的去向。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文献启发：从抑制 PVC 光老化转向调控自由基转化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Gardette 讨论多烯相关含氯位点的光激发与 Cl· 逸出，并提出自由基氧化链反应网络</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Huang &amp; Wang, J. Polym. Sci. 2024, 62, 969–997.</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4</a:t>
            </a:r>
          </a:p>
        </p:txBody>
      </p:sp>
      <p:sp>
        <p:nvSpPr>
          <p:cNvPr id="7" name="Rounded Rectangle 6"/>
          <p:cNvSpPr/>
          <p:nvPr/>
        </p:nvSpPr>
        <p:spPr>
          <a:xfrm>
            <a:off x="438912" y="1417320"/>
            <a:ext cx="563270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57784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34009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早期光氧化的机制认识</a:t>
            </a:r>
          </a:p>
        </p:txBody>
      </p:sp>
      <p:sp>
        <p:nvSpPr>
          <p:cNvPr id="10" name="TextBox 9"/>
          <p:cNvSpPr txBox="1"/>
          <p:nvPr/>
        </p:nvSpPr>
        <p:spPr>
          <a:xfrm>
            <a:off x="694944" y="1947672"/>
            <a:ext cx="5148072" cy="512064"/>
          </a:xfrm>
          <a:prstGeom prst="rect">
            <a:avLst/>
          </a:prstGeom>
          <a:noFill/>
          <a:effectLst/>
        </p:spPr>
        <p:txBody>
          <a:bodyPr wrap="square" lIns="22860" rIns="22860" tIns="0" bIns="0">
            <a:spAutoFit/>
          </a:bodyPr>
          <a:lstStyle/>
          <a:p>
            <a:pPr>
              <a:spcAft>
                <a:spcPts val="600"/>
              </a:spcAft>
              <a:defRPr sz="2000" b="1">
                <a:solidFill>
                  <a:srgbClr val="063584"/>
                </a:solidFill>
                <a:latin typeface="Microsoft YaHei"/>
              </a:defRPr>
            </a:pPr>
            <a:r>
              <a:t>发色结构 / 缺陷 → 含氯位点活化</a:t>
            </a:r>
          </a:p>
        </p:txBody>
      </p:sp>
      <p:sp>
        <p:nvSpPr>
          <p:cNvPr id="11" name="TextBox 10"/>
          <p:cNvSpPr txBox="1"/>
          <p:nvPr/>
        </p:nvSpPr>
        <p:spPr>
          <a:xfrm>
            <a:off x="932688" y="2734056"/>
            <a:ext cx="4663440" cy="411480"/>
          </a:xfrm>
          <a:prstGeom prst="rect">
            <a:avLst/>
          </a:prstGeom>
          <a:noFill/>
          <a:effectLst/>
        </p:spPr>
        <p:txBody>
          <a:bodyPr wrap="square" lIns="22860" rIns="22860" tIns="0" bIns="0">
            <a:spAutoFit/>
          </a:bodyPr>
          <a:lstStyle/>
          <a:p>
            <a:pPr algn="ctr">
              <a:spcAft>
                <a:spcPts val="600"/>
              </a:spcAft>
              <a:defRPr sz="2600" b="1">
                <a:solidFill>
                  <a:srgbClr val="111111"/>
                </a:solidFill>
                <a:latin typeface="Microsoft YaHei"/>
              </a:defRPr>
            </a:pPr>
            <a:r>
              <a:t>R–Cl  →  R· + Cl·</a:t>
            </a:r>
          </a:p>
        </p:txBody>
      </p:sp>
      <p:cxnSp>
        <p:nvCxnSpPr>
          <p:cNvPr id="12" name="Connector 11"/>
          <p:cNvCxnSpPr/>
          <p:nvPr/>
        </p:nvCxnSpPr>
        <p:spPr>
          <a:xfrm>
            <a:off x="3200400" y="3337560"/>
            <a:ext cx="0" cy="338327"/>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41248" y="3831336"/>
            <a:ext cx="4800600" cy="50292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R· + O₂ → ROO· → 氧化 / 可能裂解</a:t>
            </a:r>
          </a:p>
        </p:txBody>
      </p:sp>
      <p:sp>
        <p:nvSpPr>
          <p:cNvPr id="14" name="TextBox 13"/>
          <p:cNvSpPr txBox="1"/>
          <p:nvPr/>
        </p:nvSpPr>
        <p:spPr>
          <a:xfrm>
            <a:off x="740664" y="4709160"/>
            <a:ext cx="4983480" cy="722376"/>
          </a:xfrm>
          <a:prstGeom prst="rect">
            <a:avLst/>
          </a:prstGeom>
          <a:noFill/>
          <a:effectLst/>
        </p:spPr>
        <p:txBody>
          <a:bodyPr wrap="square" lIns="22860" rIns="22860" tIns="0" bIns="0">
            <a:spAutoFit/>
          </a:bodyPr>
          <a:lstStyle/>
          <a:p>
            <a:pPr>
              <a:spcAft>
                <a:spcPts val="600"/>
              </a:spcAft>
              <a:defRPr sz="1400" b="0">
                <a:solidFill>
                  <a:srgbClr val="566273"/>
                </a:solidFill>
                <a:latin typeface="Microsoft YaHei"/>
              </a:defRPr>
            </a:pPr>
            <a:r>
              <a:t>证据：含氧产物鉴别与选择性化学处理。</a:t>
            </a:r>
          </a:p>
          <a:p>
            <a:pPr>
              <a:spcAft>
                <a:spcPts val="600"/>
              </a:spcAft>
              <a:defRPr sz="1400" b="0">
                <a:solidFill>
                  <a:srgbClr val="566273"/>
                </a:solidFill>
                <a:latin typeface="Microsoft YaHei"/>
              </a:defRPr>
            </a:pPr>
            <a:r>
              <a:t>边界：不是所有饱和 C–Cl 均直接光解，</a:t>
            </a:r>
          </a:p>
          <a:p>
            <a:pPr>
              <a:spcAft>
                <a:spcPts val="600"/>
              </a:spcAft>
              <a:defRPr sz="1400" b="0">
                <a:solidFill>
                  <a:srgbClr val="566273"/>
                </a:solidFill>
                <a:latin typeface="Microsoft YaHei"/>
              </a:defRPr>
            </a:pPr>
            <a:r>
              <a:t>也不是本体系 Cl· 的直接测量。</a:t>
            </a:r>
          </a:p>
        </p:txBody>
      </p:sp>
      <p:sp>
        <p:nvSpPr>
          <p:cNvPr id="15" name="Rounded Rectangle 14"/>
          <p:cNvSpPr/>
          <p:nvPr/>
        </p:nvSpPr>
        <p:spPr>
          <a:xfrm>
            <a:off x="6281928" y="1417320"/>
            <a:ext cx="5358384" cy="190195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309360" y="1444752"/>
            <a:ext cx="530352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28232" y="1495044"/>
            <a:ext cx="506577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传统稳定化：抑制有害链反应</a:t>
            </a:r>
          </a:p>
        </p:txBody>
      </p:sp>
      <p:sp>
        <p:nvSpPr>
          <p:cNvPr id="18" name="Oval 17"/>
          <p:cNvSpPr/>
          <p:nvPr/>
        </p:nvSpPr>
        <p:spPr>
          <a:xfrm>
            <a:off x="6519672" y="1956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24244" y="1965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20" name="TextBox 19"/>
          <p:cNvSpPr txBox="1"/>
          <p:nvPr/>
        </p:nvSpPr>
        <p:spPr>
          <a:xfrm>
            <a:off x="6867144" y="1956816"/>
            <a:ext cx="4526280"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降低不受控老化</a:t>
            </a:r>
          </a:p>
        </p:txBody>
      </p:sp>
      <p:sp>
        <p:nvSpPr>
          <p:cNvPr id="21" name="TextBox 20"/>
          <p:cNvSpPr txBox="1"/>
          <p:nvPr/>
        </p:nvSpPr>
        <p:spPr>
          <a:xfrm>
            <a:off x="6867144" y="2322576"/>
            <a:ext cx="4526280"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稳定化可涉及吸光屏蔽、HCl 捕获，</a:t>
            </a:r>
          </a:p>
          <a:p>
            <a:pPr>
              <a:spcAft>
                <a:spcPts val="600"/>
              </a:spcAft>
              <a:defRPr sz="1450" b="0">
                <a:solidFill>
                  <a:srgbClr val="111111"/>
                </a:solidFill>
                <a:latin typeface="Microsoft YaHei"/>
              </a:defRPr>
            </a:pPr>
            <a:r>
              <a:t>以及自由基或过氧化过程的抑制。</a:t>
            </a:r>
          </a:p>
        </p:txBody>
      </p:sp>
      <p:sp>
        <p:nvSpPr>
          <p:cNvPr id="22" name="Rounded Rectangle 21"/>
          <p:cNvSpPr/>
          <p:nvPr/>
        </p:nvSpPr>
        <p:spPr>
          <a:xfrm>
            <a:off x="6281928" y="3529584"/>
            <a:ext cx="5358384" cy="22219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6309360" y="3557015"/>
            <a:ext cx="530352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28232" y="3607308"/>
            <a:ext cx="506577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本课题转换：定向启动与追踪</a:t>
            </a:r>
          </a:p>
        </p:txBody>
      </p:sp>
      <p:sp>
        <p:nvSpPr>
          <p:cNvPr id="25" name="Oval 24"/>
          <p:cNvSpPr/>
          <p:nvPr/>
        </p:nvSpPr>
        <p:spPr>
          <a:xfrm>
            <a:off x="6519672" y="407822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524244" y="408736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7" name="TextBox 26"/>
          <p:cNvSpPr txBox="1"/>
          <p:nvPr/>
        </p:nvSpPr>
        <p:spPr>
          <a:xfrm>
            <a:off x="6867144" y="4078224"/>
            <a:ext cx="4526280"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将自由基过程变成研究变量</a:t>
            </a:r>
          </a:p>
        </p:txBody>
      </p:sp>
      <p:sp>
        <p:nvSpPr>
          <p:cNvPr id="28" name="TextBox 27"/>
          <p:cNvSpPr txBox="1"/>
          <p:nvPr/>
        </p:nvSpPr>
        <p:spPr>
          <a:xfrm>
            <a:off x="6867144" y="4443984"/>
            <a:ext cx="4526280"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借助外加光敏组分调节反应入口；</a:t>
            </a:r>
          </a:p>
          <a:p>
            <a:pPr>
              <a:spcAft>
                <a:spcPts val="600"/>
              </a:spcAft>
              <a:defRPr sz="1450" b="0">
                <a:solidFill>
                  <a:srgbClr val="111111"/>
                </a:solidFill>
                <a:latin typeface="Microsoft YaHei"/>
              </a:defRPr>
            </a:pPr>
            <a:r>
              <a:t>Cl· 的产生、贡献和链裂解均单独验证。</a:t>
            </a:r>
          </a:p>
        </p:txBody>
      </p:sp>
      <p:sp>
        <p:nvSpPr>
          <p:cNvPr id="29" name="Rectangle 2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Chevron 2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2" name="TextBox 3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借鉴老化机制的活化入口，避免将“参与老化”直接写成“已实现可控降解”。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光敏组分选择：AQ 的激发态化学提供候选反应入口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实际使用乙基蒽醌；“不含贵金属”不等于总体成本已优化，试剂用量与回收仍需评价</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Ren et al. 2011：据综述引文98，原文及 DOI 未取得。</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5</a:t>
            </a:r>
          </a:p>
        </p:txBody>
      </p:sp>
      <p:sp>
        <p:nvSpPr>
          <p:cNvPr id="7" name="Rounded Rectangle 6"/>
          <p:cNvSpPr/>
          <p:nvPr/>
        </p:nvSpPr>
        <p:spPr>
          <a:xfrm>
            <a:off x="438912" y="1417320"/>
            <a:ext cx="324612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19125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95351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分子基础：AQ 与 EAQ</a:t>
            </a:r>
          </a:p>
        </p:txBody>
      </p:sp>
      <p:sp>
        <p:nvSpPr>
          <p:cNvPr id="10" name="Freeform 9"/>
          <p:cNvSpPr/>
          <p:nvPr/>
        </p:nvSpPr>
        <p:spPr>
          <a:xfrm>
            <a:off x="1392926"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608321" y="2216651"/>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flipH="1">
            <a:off x="1608321" y="2485266"/>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V="1">
            <a:off x="145323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823716" y="2147011"/>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2254507"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a:off x="2469902" y="2216651"/>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H="1">
            <a:off x="2469902" y="2485266"/>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231481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2019680"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2058543"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1953615" y="1781708"/>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22" name="Connector 21"/>
          <p:cNvCxnSpPr/>
          <p:nvPr/>
        </p:nvCxnSpPr>
        <p:spPr>
          <a:xfrm>
            <a:off x="2019680"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058543"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1953615" y="283098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sp>
        <p:nvSpPr>
          <p:cNvPr id="25" name="TextBox 24"/>
          <p:cNvSpPr txBox="1"/>
          <p:nvPr/>
        </p:nvSpPr>
        <p:spPr>
          <a:xfrm>
            <a:off x="722376" y="3118104"/>
            <a:ext cx="2688336" cy="256032"/>
          </a:xfrm>
          <a:prstGeom prst="rect">
            <a:avLst/>
          </a:prstGeom>
          <a:noFill/>
          <a:effectLst/>
        </p:spPr>
        <p:txBody>
          <a:bodyPr wrap="square" lIns="22860" rIns="22860" tIns="0" bIns="0">
            <a:spAutoFit/>
          </a:bodyPr>
          <a:lstStyle/>
          <a:p>
            <a:pPr algn="ctr">
              <a:spcAft>
                <a:spcPts val="600"/>
              </a:spcAft>
              <a:defRPr sz="1300" b="1">
                <a:solidFill>
                  <a:srgbClr val="063584"/>
                </a:solidFill>
                <a:latin typeface="Microsoft YaHei"/>
              </a:defRPr>
            </a:pPr>
            <a:r>
              <a:t>AQ 母体：9,10-二羰基骨架</a:t>
            </a:r>
          </a:p>
        </p:txBody>
      </p:sp>
      <p:sp>
        <p:nvSpPr>
          <p:cNvPr id="26" name="Freeform 25"/>
          <p:cNvSpPr/>
          <p:nvPr/>
        </p:nvSpPr>
        <p:spPr>
          <a:xfrm>
            <a:off x="1392926"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1608321" y="3825995"/>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H="1">
            <a:off x="1608321" y="4094610"/>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V="1">
            <a:off x="145323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Freeform 29"/>
          <p:cNvSpPr/>
          <p:nvPr/>
        </p:nvSpPr>
        <p:spPr>
          <a:xfrm>
            <a:off x="1823716" y="3756355"/>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2254507"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2469902" y="3825995"/>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H="1">
            <a:off x="2469902" y="4094610"/>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V="1">
            <a:off x="231481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V="1">
            <a:off x="2019680"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2058543"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1953615" y="339105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38" name="Connector 37"/>
          <p:cNvCxnSpPr/>
          <p:nvPr/>
        </p:nvCxnSpPr>
        <p:spPr>
          <a:xfrm>
            <a:off x="2019680"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2058543"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1953615" y="4440326"/>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41" name="Connector 40"/>
          <p:cNvCxnSpPr/>
          <p:nvPr/>
        </p:nvCxnSpPr>
        <p:spPr>
          <a:xfrm flipH="1" flipV="1">
            <a:off x="1175299"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flipH="1">
            <a:off x="957672"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04088" y="4736592"/>
            <a:ext cx="2743200" cy="438912"/>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2-EAQ：文献示例</a:t>
            </a:r>
          </a:p>
          <a:p>
            <a:pPr algn="ctr">
              <a:spcAft>
                <a:spcPts val="600"/>
              </a:spcAft>
              <a:defRPr sz="1200" b="0">
                <a:solidFill>
                  <a:srgbClr val="566273"/>
                </a:solidFill>
                <a:latin typeface="Microsoft YaHei"/>
              </a:defRPr>
            </a:pPr>
            <a:r>
              <a:t>本实验取代位号待核实</a:t>
            </a:r>
          </a:p>
        </p:txBody>
      </p:sp>
      <p:sp>
        <p:nvSpPr>
          <p:cNvPr id="44" name="TextBox 43"/>
          <p:cNvSpPr txBox="1"/>
          <p:nvPr/>
        </p:nvSpPr>
        <p:spPr>
          <a:xfrm>
            <a:off x="786384" y="5349240"/>
            <a:ext cx="2542032" cy="347472"/>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取代基与介质影响光化学行为</a:t>
            </a:r>
          </a:p>
        </p:txBody>
      </p:sp>
      <p:sp>
        <p:nvSpPr>
          <p:cNvPr id="45" name="Rounded Rectangle 44"/>
          <p:cNvSpPr/>
          <p:nvPr/>
        </p:nvSpPr>
        <p:spPr>
          <a:xfrm>
            <a:off x="3886200" y="1417320"/>
            <a:ext cx="3822191"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3913632" y="1444752"/>
            <a:ext cx="37673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4032504" y="1495044"/>
            <a:ext cx="35295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反应入口：吸光、ISC 与转移</a:t>
            </a:r>
          </a:p>
        </p:txBody>
      </p:sp>
      <p:sp>
        <p:nvSpPr>
          <p:cNvPr id="48" name="TextBox 47"/>
          <p:cNvSpPr txBox="1"/>
          <p:nvPr/>
        </p:nvSpPr>
        <p:spPr>
          <a:xfrm>
            <a:off x="4709160" y="1965960"/>
            <a:ext cx="2157984" cy="33832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cxnSp>
        <p:nvCxnSpPr>
          <p:cNvPr id="49" name="Connector 48"/>
          <p:cNvCxnSpPr/>
          <p:nvPr/>
        </p:nvCxnSpPr>
        <p:spPr>
          <a:xfrm>
            <a:off x="5788152" y="2350008"/>
            <a:ext cx="0" cy="21945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4709160" y="2642615"/>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¹AQ*</a:t>
            </a:r>
          </a:p>
        </p:txBody>
      </p:sp>
      <p:cxnSp>
        <p:nvCxnSpPr>
          <p:cNvPr id="51" name="Connector 50"/>
          <p:cNvCxnSpPr/>
          <p:nvPr/>
        </p:nvCxnSpPr>
        <p:spPr>
          <a:xfrm>
            <a:off x="5788152" y="3026663"/>
            <a:ext cx="0" cy="219457"/>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4709160" y="3319272"/>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³AQ*</a:t>
            </a:r>
          </a:p>
        </p:txBody>
      </p:sp>
      <p:sp>
        <p:nvSpPr>
          <p:cNvPr id="53" name="TextBox 52"/>
          <p:cNvSpPr txBox="1"/>
          <p:nvPr/>
        </p:nvSpPr>
        <p:spPr>
          <a:xfrm>
            <a:off x="6126480" y="2377440"/>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hν</a:t>
            </a:r>
          </a:p>
        </p:txBody>
      </p:sp>
      <p:sp>
        <p:nvSpPr>
          <p:cNvPr id="54" name="TextBox 53"/>
          <p:cNvSpPr txBox="1"/>
          <p:nvPr/>
        </p:nvSpPr>
        <p:spPr>
          <a:xfrm>
            <a:off x="6126480" y="3054096"/>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ISC</a:t>
            </a:r>
          </a:p>
        </p:txBody>
      </p:sp>
      <p:sp>
        <p:nvSpPr>
          <p:cNvPr id="55" name="TextBox 54"/>
          <p:cNvSpPr txBox="1"/>
          <p:nvPr/>
        </p:nvSpPr>
        <p:spPr>
          <a:xfrm>
            <a:off x="4197096" y="4206240"/>
            <a:ext cx="3200400" cy="621792"/>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HAT / ET → 还原态 AQ</a:t>
            </a:r>
          </a:p>
          <a:p>
            <a:pPr algn="ctr">
              <a:spcAft>
                <a:spcPts val="600"/>
              </a:spcAft>
              <a:defRPr sz="1700" b="1">
                <a:solidFill>
                  <a:srgbClr val="111111"/>
                </a:solidFill>
                <a:latin typeface="Microsoft YaHei"/>
              </a:defRPr>
            </a:pPr>
            <a:r>
              <a:t>与 O₂ 反应 → 再生 / ROS 路径</a:t>
            </a:r>
          </a:p>
        </p:txBody>
      </p:sp>
      <p:sp>
        <p:nvSpPr>
          <p:cNvPr id="56" name="TextBox 55"/>
          <p:cNvSpPr txBox="1"/>
          <p:nvPr/>
        </p:nvSpPr>
        <p:spPr>
          <a:xfrm>
            <a:off x="4169663" y="5093208"/>
            <a:ext cx="3255264" cy="393192"/>
          </a:xfrm>
          <a:prstGeom prst="rect">
            <a:avLst/>
          </a:prstGeom>
          <a:noFill/>
          <a:effectLst/>
        </p:spPr>
        <p:txBody>
          <a:bodyPr wrap="square" lIns="22860" rIns="22860" tIns="0" bIns="0">
            <a:spAutoFit/>
          </a:bodyPr>
          <a:lstStyle/>
          <a:p>
            <a:pPr algn="ctr">
              <a:spcAft>
                <a:spcPts val="600"/>
              </a:spcAft>
              <a:defRPr sz="1250" b="0">
                <a:solidFill>
                  <a:srgbClr val="566273"/>
                </a:solidFill>
                <a:latin typeface="Microsoft YaHei"/>
              </a:defRPr>
            </a:pPr>
            <a:r>
              <a:t>365 nm 下的实际吸收、供氢体</a:t>
            </a:r>
          </a:p>
          <a:p>
            <a:pPr algn="ctr">
              <a:spcAft>
                <a:spcPts val="600"/>
              </a:spcAft>
              <a:defRPr sz="1250" b="0">
                <a:solidFill>
                  <a:srgbClr val="566273"/>
                </a:solidFill>
                <a:latin typeface="Microsoft YaHei"/>
              </a:defRPr>
            </a:pPr>
            <a:r>
              <a:t>与氧相关物种均需测量。</a:t>
            </a:r>
          </a:p>
        </p:txBody>
      </p:sp>
      <p:sp>
        <p:nvSpPr>
          <p:cNvPr id="57" name="Rounded Rectangle 56"/>
          <p:cNvSpPr/>
          <p:nvPr/>
        </p:nvSpPr>
        <p:spPr>
          <a:xfrm>
            <a:off x="7918704" y="1417320"/>
            <a:ext cx="37216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7946136" y="1444752"/>
            <a:ext cx="36667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8065008" y="1495044"/>
            <a:ext cx="34290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支持范围与本体系缺口</a:t>
            </a:r>
          </a:p>
        </p:txBody>
      </p:sp>
      <p:sp>
        <p:nvSpPr>
          <p:cNvPr id="60" name="Oval 59"/>
          <p:cNvSpPr/>
          <p:nvPr/>
        </p:nvSpPr>
        <p:spPr>
          <a:xfrm>
            <a:off x="8165592"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8170164"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62" name="TextBox 61"/>
          <p:cNvSpPr txBox="1"/>
          <p:nvPr/>
        </p:nvSpPr>
        <p:spPr>
          <a:xfrm>
            <a:off x="8513064" y="1965960"/>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综述的一般依据</a:t>
            </a:r>
          </a:p>
        </p:txBody>
      </p:sp>
      <p:sp>
        <p:nvSpPr>
          <p:cNvPr id="63" name="TextBox 62"/>
          <p:cNvSpPr txBox="1"/>
          <p:nvPr/>
        </p:nvSpPr>
        <p:spPr>
          <a:xfrm>
            <a:off x="8513064" y="2331720"/>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激发态、HAT / ET、</a:t>
            </a:r>
          </a:p>
          <a:p>
            <a:pPr>
              <a:spcAft>
                <a:spcPts val="600"/>
              </a:spcAft>
              <a:defRPr sz="1450" b="0">
                <a:solidFill>
                  <a:srgbClr val="111111"/>
                </a:solidFill>
                <a:latin typeface="Microsoft YaHei"/>
              </a:defRPr>
            </a:pPr>
            <a:r>
              <a:t>氧相关过程及再生。</a:t>
            </a:r>
          </a:p>
        </p:txBody>
      </p:sp>
      <p:sp>
        <p:nvSpPr>
          <p:cNvPr id="64" name="Oval 63"/>
          <p:cNvSpPr/>
          <p:nvPr/>
        </p:nvSpPr>
        <p:spPr>
          <a:xfrm>
            <a:off x="8165592" y="321868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8170164" y="322783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66" name="TextBox 65"/>
          <p:cNvSpPr txBox="1"/>
          <p:nvPr/>
        </p:nvSpPr>
        <p:spPr>
          <a:xfrm>
            <a:off x="8513064" y="321868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原始研究线索</a:t>
            </a:r>
          </a:p>
        </p:txBody>
      </p:sp>
      <p:sp>
        <p:nvSpPr>
          <p:cNvPr id="67" name="TextBox 66"/>
          <p:cNvSpPr txBox="1"/>
          <p:nvPr/>
        </p:nvSpPr>
        <p:spPr>
          <a:xfrm>
            <a:off x="8513064" y="358444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2-EAQ 光还原与 H₂O₂</a:t>
            </a:r>
          </a:p>
          <a:p>
            <a:pPr>
              <a:spcAft>
                <a:spcPts val="600"/>
              </a:spcAft>
              <a:defRPr sz="1450" b="0">
                <a:solidFill>
                  <a:srgbClr val="111111"/>
                </a:solidFill>
                <a:latin typeface="Microsoft YaHei"/>
              </a:defRPr>
            </a:pPr>
            <a:r>
              <a:t>生成；仅据二次引文。</a:t>
            </a:r>
          </a:p>
        </p:txBody>
      </p:sp>
      <p:sp>
        <p:nvSpPr>
          <p:cNvPr id="68" name="Oval 67"/>
          <p:cNvSpPr/>
          <p:nvPr/>
        </p:nvSpPr>
        <p:spPr>
          <a:xfrm>
            <a:off x="8165592" y="449884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8170164" y="450799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70" name="TextBox 69"/>
          <p:cNvSpPr txBox="1"/>
          <p:nvPr/>
        </p:nvSpPr>
        <p:spPr>
          <a:xfrm>
            <a:off x="8513064" y="449884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本课题需补证</a:t>
            </a:r>
          </a:p>
        </p:txBody>
      </p:sp>
      <p:sp>
        <p:nvSpPr>
          <p:cNvPr id="71" name="TextBox 70"/>
          <p:cNvSpPr txBox="1"/>
          <p:nvPr/>
        </p:nvSpPr>
        <p:spPr>
          <a:xfrm>
            <a:off x="8513064" y="486460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EAQ 吸光与稳定性；</a:t>
            </a:r>
          </a:p>
          <a:p>
            <a:pPr>
              <a:spcAft>
                <a:spcPts val="600"/>
              </a:spcAft>
              <a:defRPr sz="1450" b="0">
                <a:solidFill>
                  <a:srgbClr val="111111"/>
                </a:solidFill>
                <a:latin typeface="Microsoft YaHei"/>
              </a:defRPr>
            </a:pPr>
            <a:r>
              <a:t>不直接推定释放 Cl·。</a:t>
            </a:r>
          </a:p>
        </p:txBody>
      </p:sp>
      <p:sp>
        <p:nvSpPr>
          <p:cNvPr id="72" name="Rectangle 7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Chevron 7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75" name="TextBox 7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AQ 的作用定位为待检验的光敏入口；C–X 活化与 Cl· 释放不能作为已证实催化步骤。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理论可行性：聚合物文献提供介质参与和链长变化证据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以下为文献结果，条件与本课题不同；数值据正文报告，不与模型底物转化率混用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Su et al., Angew. Chem. Int. Ed. 2026, e5578835. Qin et al., Appl. Catal. B: Environ. 2024, 341, 123355.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6</a:t>
            </a:r>
          </a:p>
        </p:txBody>
      </p:sp>
      <p:sp>
        <p:nvSpPr>
          <p:cNvPr id="7" name="Rounded Rectangle 6"/>
          <p:cNvSpPr/>
          <p:nvPr/>
        </p:nvSpPr>
        <p:spPr>
          <a:xfrm>
            <a:off x="438912" y="1417320"/>
            <a:ext cx="559612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54126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30352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案例一：PS / CH₂Cl₂，无外加光催化剂</a:t>
            </a:r>
          </a:p>
        </p:txBody>
      </p:sp>
      <p:sp>
        <p:nvSpPr>
          <p:cNvPr id="10" name="Freeform 9"/>
          <p:cNvSpPr/>
          <p:nvPr/>
        </p:nvSpPr>
        <p:spPr>
          <a:xfrm>
            <a:off x="905256" y="2039112"/>
            <a:ext cx="2633472" cy="155448"/>
          </a:xfrm>
          <a:custGeom>
            <a:avLst/>
            <a:gdLst/>
            <a:ahLst/>
            <a:cxnLst/>
            <a:rect l="l" t="t" r="r" b="b"/>
            <a:pathLst>
              <a:path w="2633472" h="155448">
                <a:moveTo>
                  <a:pt x="0" y="0"/>
                </a:moveTo>
                <a:lnTo>
                  <a:pt x="438912" y="155448"/>
                </a:lnTo>
                <a:lnTo>
                  <a:pt x="877824" y="0"/>
                </a:lnTo>
                <a:lnTo>
                  <a:pt x="1316735" y="155448"/>
                </a:lnTo>
                <a:lnTo>
                  <a:pt x="1755648" y="0"/>
                </a:lnTo>
                <a:lnTo>
                  <a:pt x="2194559" y="155448"/>
                </a:lnTo>
                <a:lnTo>
                  <a:pt x="2633472"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5836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12" name="TextBox 11"/>
          <p:cNvSpPr txBox="1"/>
          <p:nvPr/>
        </p:nvSpPr>
        <p:spPr>
          <a:xfrm>
            <a:off x="358444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cxnSp>
        <p:nvCxnSpPr>
          <p:cNvPr id="13" name="Connector 12"/>
          <p:cNvCxnSpPr/>
          <p:nvPr/>
        </p:nvCxnSpPr>
        <p:spPr>
          <a:xfrm>
            <a:off x="1344168"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169951" y="2423160"/>
            <a:ext cx="348433" cy="402336"/>
          </a:xfrm>
          <a:custGeom>
            <a:avLst/>
            <a:gdLst/>
            <a:ahLst/>
            <a:cxnLst/>
            <a:rect l="l" t="t" r="r" b="b"/>
            <a:pathLst>
              <a:path w="348433" h="402336">
                <a:moveTo>
                  <a:pt x="174217" y="0"/>
                </a:moveTo>
                <a:lnTo>
                  <a:pt x="348433" y="100584"/>
                </a:lnTo>
                <a:lnTo>
                  <a:pt x="348433" y="301752"/>
                </a:lnTo>
                <a:lnTo>
                  <a:pt x="174217" y="402336"/>
                </a:lnTo>
                <a:lnTo>
                  <a:pt x="0" y="301752"/>
                </a:lnTo>
                <a:lnTo>
                  <a:pt x="0" y="100584"/>
                </a:lnTo>
                <a:lnTo>
                  <a:pt x="1742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1344168" y="2479487"/>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H="1">
            <a:off x="1344168" y="2696748"/>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V="1">
            <a:off x="1218732"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2221991"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9" name="Freeform 18"/>
          <p:cNvSpPr/>
          <p:nvPr/>
        </p:nvSpPr>
        <p:spPr>
          <a:xfrm>
            <a:off x="2047775"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2221991"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H="1">
            <a:off x="2221991"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V="1">
            <a:off x="2096556"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3099815"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Freeform 23"/>
          <p:cNvSpPr/>
          <p:nvPr/>
        </p:nvSpPr>
        <p:spPr>
          <a:xfrm>
            <a:off x="2925599"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a:off x="3099815"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H="1">
            <a:off x="3099815"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V="1">
            <a:off x="2974380"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4105656" y="2112264"/>
            <a:ext cx="1554480" cy="640080"/>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365 nm</a:t>
            </a:r>
          </a:p>
          <a:p>
            <a:pPr>
              <a:spcAft>
                <a:spcPts val="600"/>
              </a:spcAft>
              <a:defRPr sz="1300" b="1">
                <a:solidFill>
                  <a:srgbClr val="063584"/>
                </a:solidFill>
                <a:latin typeface="Microsoft YaHei"/>
              </a:defRPr>
            </a:pPr>
            <a:r>
              <a:t>O₂，30 ± 5 ℃</a:t>
            </a:r>
          </a:p>
        </p:txBody>
      </p:sp>
      <p:cxnSp>
        <p:nvCxnSpPr>
          <p:cNvPr id="29" name="Connector 28"/>
          <p:cNvCxnSpPr/>
          <p:nvPr/>
        </p:nvCxnSpPr>
        <p:spPr>
          <a:xfrm>
            <a:off x="2331720" y="2980944"/>
            <a:ext cx="0" cy="283464"/>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841248" y="3438144"/>
            <a:ext cx="4773168" cy="32004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含氧中间体 → C₆–C₈ 芳香族产物</a:t>
            </a:r>
          </a:p>
        </p:txBody>
      </p:sp>
      <p:sp>
        <p:nvSpPr>
          <p:cNvPr id="31" name="Rounded Rectangle 30"/>
          <p:cNvSpPr/>
          <p:nvPr/>
        </p:nvSpPr>
        <p:spPr>
          <a:xfrm>
            <a:off x="722376"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22960"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Mn：75.1 → 1.2</a:t>
            </a:r>
          </a:p>
        </p:txBody>
      </p:sp>
      <p:sp>
        <p:nvSpPr>
          <p:cNvPr id="33" name="TextBox 32"/>
          <p:cNvSpPr txBox="1"/>
          <p:nvPr/>
        </p:nvSpPr>
        <p:spPr>
          <a:xfrm>
            <a:off x="822960"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4" name="Rounded Rectangle 33"/>
          <p:cNvSpPr/>
          <p:nvPr/>
        </p:nvSpPr>
        <p:spPr>
          <a:xfrm>
            <a:off x="3310128"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3410712"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Mw：208.4 → 1.3</a:t>
            </a:r>
          </a:p>
        </p:txBody>
      </p:sp>
      <p:sp>
        <p:nvSpPr>
          <p:cNvPr id="36" name="TextBox 35"/>
          <p:cNvSpPr txBox="1"/>
          <p:nvPr/>
        </p:nvSpPr>
        <p:spPr>
          <a:xfrm>
            <a:off x="3410712"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7" name="TextBox 36"/>
          <p:cNvSpPr txBox="1"/>
          <p:nvPr/>
        </p:nvSpPr>
        <p:spPr>
          <a:xfrm>
            <a:off x="786384" y="5001768"/>
            <a:ext cx="4873752" cy="521207"/>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Cl· 依据：PBN 自旋捕获及 EPR 模拟归属。</a:t>
            </a:r>
          </a:p>
          <a:p>
            <a:pPr>
              <a:spcAft>
                <a:spcPts val="600"/>
              </a:spcAft>
              <a:defRPr sz="1400" b="1">
                <a:solidFill>
                  <a:srgbClr val="063584"/>
                </a:solidFill>
                <a:latin typeface="Microsoft YaHei"/>
              </a:defRPr>
            </a:pPr>
            <a:r>
              <a:t>限制：CH₂Cl₂ ≠ DCE；PS ≠ PVC。</a:t>
            </a:r>
          </a:p>
        </p:txBody>
      </p:sp>
      <p:sp>
        <p:nvSpPr>
          <p:cNvPr id="38" name="Rounded Rectangle 37"/>
          <p:cNvSpPr/>
          <p:nvPr/>
        </p:nvSpPr>
        <p:spPr>
          <a:xfrm>
            <a:off x="6254496" y="1417320"/>
            <a:ext cx="5385816"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6281928" y="1444752"/>
            <a:ext cx="53309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400800" y="1495044"/>
            <a:ext cx="50932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案例二：PVC / CDs–Zr-MOF 水相光催化</a:t>
            </a:r>
          </a:p>
        </p:txBody>
      </p:sp>
      <p:sp>
        <p:nvSpPr>
          <p:cNvPr id="41" name="Freeform 40"/>
          <p:cNvSpPr/>
          <p:nvPr/>
        </p:nvSpPr>
        <p:spPr>
          <a:xfrm>
            <a:off x="6793992" y="2039112"/>
            <a:ext cx="2121408" cy="146304"/>
          </a:xfrm>
          <a:custGeom>
            <a:avLst/>
            <a:gdLst/>
            <a:ahLst/>
            <a:cxnLst/>
            <a:rect l="l" t="t" r="r" b="b"/>
            <a:pathLst>
              <a:path w="2121408" h="146304">
                <a:moveTo>
                  <a:pt x="0" y="0"/>
                </a:moveTo>
                <a:lnTo>
                  <a:pt x="530352" y="146304"/>
                </a:lnTo>
                <a:lnTo>
                  <a:pt x="1060704" y="0"/>
                </a:lnTo>
                <a:lnTo>
                  <a:pt x="1591056" y="146304"/>
                </a:lnTo>
                <a:lnTo>
                  <a:pt x="2121408"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a:off x="7324344"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196328"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4" name="Connector 43"/>
          <p:cNvCxnSpPr/>
          <p:nvPr/>
        </p:nvCxnSpPr>
        <p:spPr>
          <a:xfrm>
            <a:off x="8385048"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8257031"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6" name="TextBox 45"/>
          <p:cNvSpPr txBox="1"/>
          <p:nvPr/>
        </p:nvSpPr>
        <p:spPr>
          <a:xfrm>
            <a:off x="6547104"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7" name="TextBox 46"/>
          <p:cNvSpPr txBox="1"/>
          <p:nvPr/>
        </p:nvSpPr>
        <p:spPr>
          <a:xfrm>
            <a:off x="8961120"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8" name="TextBox 47"/>
          <p:cNvSpPr txBox="1"/>
          <p:nvPr/>
        </p:nvSpPr>
        <p:spPr>
          <a:xfrm>
            <a:off x="9409176" y="2112264"/>
            <a:ext cx="1837943" cy="603504"/>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300 W Xe</a:t>
            </a:r>
          </a:p>
          <a:p>
            <a:pPr>
              <a:spcAft>
                <a:spcPts val="600"/>
              </a:spcAft>
              <a:defRPr sz="1300" b="1">
                <a:solidFill>
                  <a:srgbClr val="063584"/>
                </a:solidFill>
                <a:latin typeface="Microsoft YaHei"/>
              </a:defRPr>
            </a:pPr>
            <a:r>
              <a:t>水相复合催化剂</a:t>
            </a:r>
          </a:p>
        </p:txBody>
      </p:sp>
      <p:cxnSp>
        <p:nvCxnSpPr>
          <p:cNvPr id="49" name="Connector 48"/>
          <p:cNvCxnSpPr/>
          <p:nvPr/>
        </p:nvCxnSpPr>
        <p:spPr>
          <a:xfrm>
            <a:off x="8577072" y="2880360"/>
            <a:ext cx="0" cy="32004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6601968" y="3410712"/>
            <a:ext cx="4690872" cy="36576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氯释放 + 活性物种 + 聚合物 / 产物</a:t>
            </a:r>
          </a:p>
        </p:txBody>
      </p:sp>
      <p:sp>
        <p:nvSpPr>
          <p:cNvPr id="51" name="Rounded Rectangle 50"/>
          <p:cNvSpPr/>
          <p:nvPr/>
        </p:nvSpPr>
        <p:spPr>
          <a:xfrm>
            <a:off x="6547104"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647688"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76.5% 转化</a:t>
            </a:r>
          </a:p>
        </p:txBody>
      </p:sp>
      <p:sp>
        <p:nvSpPr>
          <p:cNvPr id="53" name="TextBox 52"/>
          <p:cNvSpPr txBox="1"/>
          <p:nvPr/>
        </p:nvSpPr>
        <p:spPr>
          <a:xfrm>
            <a:off x="6647688"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4" name="Rounded Rectangle 53"/>
          <p:cNvSpPr/>
          <p:nvPr/>
        </p:nvSpPr>
        <p:spPr>
          <a:xfrm>
            <a:off x="9043416"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144000"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14% 乙酸收率</a:t>
            </a:r>
          </a:p>
        </p:txBody>
      </p:sp>
      <p:sp>
        <p:nvSpPr>
          <p:cNvPr id="56" name="TextBox 55"/>
          <p:cNvSpPr txBox="1"/>
          <p:nvPr/>
        </p:nvSpPr>
        <p:spPr>
          <a:xfrm>
            <a:off x="9144000"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7" name="TextBox 56"/>
          <p:cNvSpPr txBox="1"/>
          <p:nvPr/>
        </p:nvSpPr>
        <p:spPr>
          <a:xfrm>
            <a:off x="6583680" y="5001768"/>
            <a:ext cx="4681728" cy="56692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前处理：正文 PVC 100 ℃、2 h。</a:t>
            </a:r>
          </a:p>
          <a:p>
            <a:pPr>
              <a:spcAft>
                <a:spcPts val="600"/>
              </a:spcAft>
              <a:defRPr sz="1350" b="1">
                <a:solidFill>
                  <a:srgbClr val="063584"/>
                </a:solidFill>
                <a:latin typeface="Microsoft YaHei"/>
              </a:defRPr>
            </a:pPr>
            <a:r>
              <a:t>GPC 曲线位于未取得的 SI；不是 EAQ/DCE。</a:t>
            </a:r>
          </a:p>
        </p:txBody>
      </p:sp>
      <p:sp>
        <p:nvSpPr>
          <p:cNvPr id="58" name="Rectangle 5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Chevron 5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文献启发</a:t>
            </a:r>
          </a:p>
        </p:txBody>
      </p:sp>
      <p:sp>
        <p:nvSpPr>
          <p:cNvPr id="61" name="TextBox 6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可迁移的是“物种—氯—链长—产物”证据组合，而非完整照搬另一体系机理。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科学问题：区分光敏组分、含氯介质与 PVC 自身的贡献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核心不是预设 Cl· 唯一主导，而是判定活性来源及其与碳链变化的关联</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Huang &amp; Wang, J. Polym. Sci. 2024, 62, 969–997. Chen et al., Environ. Sci. Ecotechnol. 2024, 22, 100449.</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7</a:t>
            </a:r>
          </a:p>
        </p:txBody>
      </p:sp>
      <p:sp>
        <p:nvSpPr>
          <p:cNvPr id="7" name="Rounded Rectangle 6"/>
          <p:cNvSpPr/>
          <p:nvPr/>
        </p:nvSpPr>
        <p:spPr>
          <a:xfrm>
            <a:off x="438912" y="1417320"/>
            <a:ext cx="7406640" cy="2743200"/>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7351775"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711403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三类参与者与可独立检验的作用</a:t>
            </a:r>
          </a:p>
        </p:txBody>
      </p:sp>
      <p:sp>
        <p:nvSpPr>
          <p:cNvPr id="10" name="TextBox 9"/>
          <p:cNvSpPr txBox="1"/>
          <p:nvPr/>
        </p:nvSpPr>
        <p:spPr>
          <a:xfrm>
            <a:off x="658368"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EAQ 激发态</a:t>
            </a:r>
          </a:p>
        </p:txBody>
      </p:sp>
      <p:sp>
        <p:nvSpPr>
          <p:cNvPr id="11" name="TextBox 10"/>
          <p:cNvSpPr txBox="1"/>
          <p:nvPr/>
        </p:nvSpPr>
        <p:spPr>
          <a:xfrm>
            <a:off x="658368"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HAT / ET / 氧相关过程</a:t>
            </a:r>
          </a:p>
        </p:txBody>
      </p:sp>
      <p:sp>
        <p:nvSpPr>
          <p:cNvPr id="12" name="TextBox 11"/>
          <p:cNvSpPr txBox="1"/>
          <p:nvPr/>
        </p:nvSpPr>
        <p:spPr>
          <a:xfrm>
            <a:off x="658368"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吸光与稳定性对照</a:t>
            </a:r>
          </a:p>
        </p:txBody>
      </p:sp>
      <p:sp>
        <p:nvSpPr>
          <p:cNvPr id="13" name="TextBox 12"/>
          <p:cNvSpPr txBox="1"/>
          <p:nvPr/>
        </p:nvSpPr>
        <p:spPr>
          <a:xfrm>
            <a:off x="299008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DCE 介质</a:t>
            </a:r>
          </a:p>
        </p:txBody>
      </p:sp>
      <p:sp>
        <p:nvSpPr>
          <p:cNvPr id="14" name="TextBox 13"/>
          <p:cNvSpPr txBox="1"/>
          <p:nvPr/>
        </p:nvSpPr>
        <p:spPr>
          <a:xfrm>
            <a:off x="299008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竞争供氢 / 背景转化</a:t>
            </a:r>
          </a:p>
        </p:txBody>
      </p:sp>
      <p:sp>
        <p:nvSpPr>
          <p:cNvPr id="15" name="TextBox 14"/>
          <p:cNvSpPr txBox="1"/>
          <p:nvPr/>
        </p:nvSpPr>
        <p:spPr>
          <a:xfrm>
            <a:off x="299008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无底物溶剂空白</a:t>
            </a:r>
          </a:p>
        </p:txBody>
      </p:sp>
      <p:sp>
        <p:nvSpPr>
          <p:cNvPr id="16" name="TextBox 15"/>
          <p:cNvSpPr txBox="1"/>
          <p:nvPr/>
        </p:nvSpPr>
        <p:spPr>
          <a:xfrm>
            <a:off x="532180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PVC 含氯位点</a:t>
            </a:r>
          </a:p>
        </p:txBody>
      </p:sp>
      <p:sp>
        <p:nvSpPr>
          <p:cNvPr id="17" name="TextBox 16"/>
          <p:cNvSpPr txBox="1"/>
          <p:nvPr/>
        </p:nvSpPr>
        <p:spPr>
          <a:xfrm>
            <a:off x="532180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脱氯 / 氧化 / 交联 / 裂解</a:t>
            </a:r>
          </a:p>
        </p:txBody>
      </p:sp>
      <p:sp>
        <p:nvSpPr>
          <p:cNvPr id="18" name="TextBox 17"/>
          <p:cNvSpPr txBox="1"/>
          <p:nvPr/>
        </p:nvSpPr>
        <p:spPr>
          <a:xfrm>
            <a:off x="532180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氯平衡与链长证据</a:t>
            </a:r>
          </a:p>
        </p:txBody>
      </p:sp>
      <p:sp>
        <p:nvSpPr>
          <p:cNvPr id="19" name="Rounded Rectangle 18"/>
          <p:cNvSpPr/>
          <p:nvPr/>
        </p:nvSpPr>
        <p:spPr>
          <a:xfrm>
            <a:off x="8055864" y="1417320"/>
            <a:ext cx="3584448" cy="274320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083296" y="1444752"/>
            <a:ext cx="3529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02168" y="1495044"/>
            <a:ext cx="3291839"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必须区分的化学命题</a:t>
            </a:r>
          </a:p>
        </p:txBody>
      </p:sp>
      <p:sp>
        <p:nvSpPr>
          <p:cNvPr id="22" name="TextBox 21"/>
          <p:cNvSpPr txBox="1"/>
          <p:nvPr/>
        </p:nvSpPr>
        <p:spPr>
          <a:xfrm>
            <a:off x="8266175" y="1965960"/>
            <a:ext cx="3154680" cy="1700784"/>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脱氯 ≠ 游离 Cl·</a:t>
            </a:r>
          </a:p>
          <a:p>
            <a:pPr>
              <a:spcAft>
                <a:spcPts val="600"/>
              </a:spcAft>
              <a:defRPr sz="1800" b="1">
                <a:solidFill>
                  <a:srgbClr val="063584"/>
                </a:solidFill>
                <a:latin typeface="Microsoft YaHei"/>
              </a:defRPr>
            </a:pPr>
            <a:r>
              <a:t>C–Cl 变化 ≠ C–C 断裂</a:t>
            </a:r>
          </a:p>
          <a:p>
            <a:pPr>
              <a:spcAft>
                <a:spcPts val="600"/>
              </a:spcAft>
              <a:defRPr sz="1800" b="1">
                <a:solidFill>
                  <a:srgbClr val="063584"/>
                </a:solidFill>
                <a:latin typeface="Microsoft YaHei"/>
              </a:defRPr>
            </a:pPr>
            <a:r>
              <a:t>含氧结构 ≠ 分子量下降</a:t>
            </a:r>
          </a:p>
          <a:p>
            <a:pPr>
              <a:spcAft>
                <a:spcPts val="600"/>
              </a:spcAft>
              <a:defRPr sz="1800" b="1">
                <a:solidFill>
                  <a:srgbClr val="063584"/>
                </a:solidFill>
                <a:latin typeface="Microsoft YaHei"/>
              </a:defRPr>
            </a:pPr>
            <a:r>
              <a:t>模型转化 ≠ PVC 降解</a:t>
            </a:r>
          </a:p>
        </p:txBody>
      </p:sp>
      <p:sp>
        <p:nvSpPr>
          <p:cNvPr id="23" name="Rounded Rectangle 22"/>
          <p:cNvSpPr/>
          <p:nvPr/>
        </p:nvSpPr>
        <p:spPr>
          <a:xfrm>
            <a:off x="438912" y="4361688"/>
            <a:ext cx="11201400" cy="138074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4389120"/>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4439412"/>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模型的价值与边界</a:t>
            </a:r>
          </a:p>
        </p:txBody>
      </p:sp>
      <p:sp>
        <p:nvSpPr>
          <p:cNvPr id="26" name="TextBox 25"/>
          <p:cNvSpPr txBox="1"/>
          <p:nvPr/>
        </p:nvSpPr>
        <p:spPr>
          <a:xfrm>
            <a:off x="749808" y="4937760"/>
            <a:ext cx="4764024"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2-氯戊烷：局部 C–Cl / C–H，产物易解析</a:t>
            </a:r>
          </a:p>
        </p:txBody>
      </p:sp>
      <p:sp>
        <p:nvSpPr>
          <p:cNvPr id="27" name="TextBox 26"/>
          <p:cNvSpPr txBox="1"/>
          <p:nvPr/>
        </p:nvSpPr>
        <p:spPr>
          <a:xfrm>
            <a:off x="5870448" y="4937760"/>
            <a:ext cx="5394960"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PVC：连续位点、缺陷、溶胀与 O₂ 扩散</a:t>
            </a:r>
          </a:p>
        </p:txBody>
      </p:sp>
      <p:sp>
        <p:nvSpPr>
          <p:cNvPr id="28" name="Rectangle 2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hevron 2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1" name="TextBox 3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用简单模型拆解局部化学，再以聚合物的独立测量检验主链变化。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研究策略：以可解析的局部反应逐级连接到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每一级增加结构复杂度，并保留相同的产物与物料判据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Huang &amp; Wang, J. Polym. Sci. 2024, 62, 969–997.</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8</a:t>
            </a:r>
          </a:p>
        </p:txBody>
      </p:sp>
      <p:sp>
        <p:nvSpPr>
          <p:cNvPr id="7" name="Rounded Rectangle 6"/>
          <p:cNvSpPr/>
          <p:nvPr/>
        </p:nvSpPr>
        <p:spPr>
          <a:xfrm>
            <a:off x="438912"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EAQ 光化学体系</a:t>
            </a:r>
          </a:p>
        </p:txBody>
      </p:sp>
      <p:sp>
        <p:nvSpPr>
          <p:cNvPr id="10" name="Oval 9"/>
          <p:cNvSpPr/>
          <p:nvPr/>
        </p:nvSpPr>
        <p:spPr>
          <a:xfrm>
            <a:off x="603503"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08075"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1</a:t>
            </a:r>
          </a:p>
        </p:txBody>
      </p:sp>
      <p:sp>
        <p:nvSpPr>
          <p:cNvPr id="12" name="TextBox 11"/>
          <p:cNvSpPr txBox="1"/>
          <p:nvPr/>
        </p:nvSpPr>
        <p:spPr>
          <a:xfrm>
            <a:off x="1033271"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吸光、光敏增益与稳定性</a:t>
            </a:r>
          </a:p>
        </p:txBody>
      </p:sp>
      <p:sp>
        <p:nvSpPr>
          <p:cNvPr id="13" name="TextBox 12"/>
          <p:cNvSpPr txBox="1"/>
          <p:nvPr/>
        </p:nvSpPr>
        <p:spPr>
          <a:xfrm>
            <a:off x="603503"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14" name="TextBox 13"/>
          <p:cNvSpPr txBox="1"/>
          <p:nvPr/>
        </p:nvSpPr>
        <p:spPr>
          <a:xfrm>
            <a:off x="603503"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有效启动条件</a:t>
            </a:r>
          </a:p>
        </p:txBody>
      </p:sp>
      <p:cxnSp>
        <p:nvCxnSpPr>
          <p:cNvPr id="15" name="Connector 14"/>
          <p:cNvCxnSpPr/>
          <p:nvPr/>
        </p:nvCxnSpPr>
        <p:spPr>
          <a:xfrm>
            <a:off x="3063240"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3264408"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291839"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410711"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氯代烷烃模型</a:t>
            </a:r>
          </a:p>
        </p:txBody>
      </p:sp>
      <p:sp>
        <p:nvSpPr>
          <p:cNvPr id="19" name="Oval 18"/>
          <p:cNvSpPr/>
          <p:nvPr/>
        </p:nvSpPr>
        <p:spPr>
          <a:xfrm>
            <a:off x="3429000"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433572"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2</a:t>
            </a:r>
          </a:p>
        </p:txBody>
      </p:sp>
      <p:sp>
        <p:nvSpPr>
          <p:cNvPr id="21" name="TextBox 20"/>
          <p:cNvSpPr txBox="1"/>
          <p:nvPr/>
        </p:nvSpPr>
        <p:spPr>
          <a:xfrm>
            <a:off x="3858768"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局部 C–Cl / C–H 反应</a:t>
            </a:r>
          </a:p>
        </p:txBody>
      </p:sp>
      <p:sp>
        <p:nvSpPr>
          <p:cNvPr id="22" name="TextBox 21"/>
          <p:cNvSpPr txBox="1"/>
          <p:nvPr/>
        </p:nvSpPr>
        <p:spPr>
          <a:xfrm>
            <a:off x="3429000"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23" name="TextBox 22"/>
          <p:cNvSpPr txBox="1"/>
          <p:nvPr/>
        </p:nvSpPr>
        <p:spPr>
          <a:xfrm>
            <a:off x="3429000"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产物确证与定量</a:t>
            </a:r>
          </a:p>
        </p:txBody>
      </p:sp>
      <p:cxnSp>
        <p:nvCxnSpPr>
          <p:cNvPr id="24" name="Connector 23"/>
          <p:cNvCxnSpPr/>
          <p:nvPr/>
        </p:nvCxnSpPr>
        <p:spPr>
          <a:xfrm>
            <a:off x="5888736"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6089904"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6117336"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36208"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复杂含氯底物</a:t>
            </a:r>
          </a:p>
        </p:txBody>
      </p:sp>
      <p:sp>
        <p:nvSpPr>
          <p:cNvPr id="28" name="Oval 27"/>
          <p:cNvSpPr/>
          <p:nvPr/>
        </p:nvSpPr>
        <p:spPr>
          <a:xfrm>
            <a:off x="6254496"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259068"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3</a:t>
            </a:r>
          </a:p>
        </p:txBody>
      </p:sp>
      <p:sp>
        <p:nvSpPr>
          <p:cNvPr id="30" name="TextBox 29"/>
          <p:cNvSpPr txBox="1"/>
          <p:nvPr/>
        </p:nvSpPr>
        <p:spPr>
          <a:xfrm>
            <a:off x="6684264"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氯代石蜡等连续位点</a:t>
            </a:r>
          </a:p>
        </p:txBody>
      </p:sp>
      <p:sp>
        <p:nvSpPr>
          <p:cNvPr id="31" name="TextBox 30"/>
          <p:cNvSpPr txBox="1"/>
          <p:nvPr/>
        </p:nvSpPr>
        <p:spPr>
          <a:xfrm>
            <a:off x="6254496"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32" name="TextBox 31"/>
          <p:cNvSpPr txBox="1"/>
          <p:nvPr/>
        </p:nvSpPr>
        <p:spPr>
          <a:xfrm>
            <a:off x="6254496"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竞争反应与迁移范围</a:t>
            </a:r>
          </a:p>
        </p:txBody>
      </p:sp>
      <p:cxnSp>
        <p:nvCxnSpPr>
          <p:cNvPr id="33" name="Connector 32"/>
          <p:cNvCxnSpPr/>
          <p:nvPr/>
        </p:nvCxnSpPr>
        <p:spPr>
          <a:xfrm>
            <a:off x="8714232"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4" name="Rounded Rectangle 33"/>
          <p:cNvSpPr/>
          <p:nvPr/>
        </p:nvSpPr>
        <p:spPr>
          <a:xfrm>
            <a:off x="8915400"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8942832"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9061704"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聚合物</a:t>
            </a:r>
          </a:p>
        </p:txBody>
      </p:sp>
      <p:sp>
        <p:nvSpPr>
          <p:cNvPr id="37" name="Oval 36"/>
          <p:cNvSpPr/>
          <p:nvPr/>
        </p:nvSpPr>
        <p:spPr>
          <a:xfrm>
            <a:off x="9079992"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084564"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4</a:t>
            </a:r>
          </a:p>
        </p:txBody>
      </p:sp>
      <p:sp>
        <p:nvSpPr>
          <p:cNvPr id="39" name="TextBox 38"/>
          <p:cNvSpPr txBox="1"/>
          <p:nvPr/>
        </p:nvSpPr>
        <p:spPr>
          <a:xfrm>
            <a:off x="9509760"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结构、相态与传质</a:t>
            </a:r>
          </a:p>
        </p:txBody>
      </p:sp>
      <p:sp>
        <p:nvSpPr>
          <p:cNvPr id="40" name="TextBox 39"/>
          <p:cNvSpPr txBox="1"/>
          <p:nvPr/>
        </p:nvSpPr>
        <p:spPr>
          <a:xfrm>
            <a:off x="9079992"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41" name="TextBox 40"/>
          <p:cNvSpPr txBox="1"/>
          <p:nvPr/>
        </p:nvSpPr>
        <p:spPr>
          <a:xfrm>
            <a:off x="9079992"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氯与链长联合结果</a:t>
            </a:r>
          </a:p>
        </p:txBody>
      </p:sp>
      <p:sp>
        <p:nvSpPr>
          <p:cNvPr id="42" name="Rounded Rectangle 41"/>
          <p:cNvSpPr/>
          <p:nvPr/>
        </p:nvSpPr>
        <p:spPr>
          <a:xfrm>
            <a:off x="438912" y="4553712"/>
            <a:ext cx="11201400" cy="1197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466344" y="4581144"/>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85216" y="4631436"/>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贯穿所有底物的分析主线</a:t>
            </a:r>
          </a:p>
        </p:txBody>
      </p:sp>
      <p:sp>
        <p:nvSpPr>
          <p:cNvPr id="45" name="TextBox 44"/>
          <p:cNvSpPr txBox="1"/>
          <p:nvPr/>
        </p:nvSpPr>
        <p:spPr>
          <a:xfrm>
            <a:off x="7132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真实产物与回收率</a:t>
            </a:r>
          </a:p>
        </p:txBody>
      </p:sp>
      <p:sp>
        <p:nvSpPr>
          <p:cNvPr id="46" name="TextBox 45"/>
          <p:cNvSpPr txBox="1"/>
          <p:nvPr/>
        </p:nvSpPr>
        <p:spPr>
          <a:xfrm>
            <a:off x="34564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可重复的定量</a:t>
            </a:r>
          </a:p>
        </p:txBody>
      </p:sp>
      <p:sp>
        <p:nvSpPr>
          <p:cNvPr id="47" name="TextBox 46"/>
          <p:cNvSpPr txBox="1"/>
          <p:nvPr/>
        </p:nvSpPr>
        <p:spPr>
          <a:xfrm>
            <a:off x="61996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自由基与氧的作用</a:t>
            </a:r>
          </a:p>
        </p:txBody>
      </p:sp>
      <p:sp>
        <p:nvSpPr>
          <p:cNvPr id="48" name="TextBox 47"/>
          <p:cNvSpPr txBox="1"/>
          <p:nvPr/>
        </p:nvSpPr>
        <p:spPr>
          <a:xfrm>
            <a:off x="89428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氯去向与链长变化</a:t>
            </a:r>
          </a:p>
        </p:txBody>
      </p:sp>
      <p:sp>
        <p:nvSpPr>
          <p:cNvPr id="49" name="Rectangle 4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Chevron 4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2" name="TextBox 5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先把模型结果讲清楚，再推进 PVC；不以更高表观转化率替代分析可靠性。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预想机理：AQ 攫氢再生与 PVC 自由基氧化耦合</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实线：一般文献过程；虚线：本体系合理推测；“?”：关键证据缺口。R· 表示碳中心自由基。</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Chen et al., Environ. Sci. Ecotechnol. 2024, 22, 100449.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9</a:t>
            </a:r>
          </a:p>
        </p:txBody>
      </p:sp>
      <p:sp>
        <p:nvSpPr>
          <p:cNvPr id="7" name="Rounded Rectangle 6"/>
          <p:cNvSpPr/>
          <p:nvPr/>
        </p:nvSpPr>
        <p:spPr>
          <a:xfrm>
            <a:off x="438912" y="1417320"/>
            <a:ext cx="313639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0815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8437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AQ 攫氢—再氧化小循环</a:t>
            </a:r>
          </a:p>
        </p:txBody>
      </p:sp>
      <p:sp>
        <p:nvSpPr>
          <p:cNvPr id="10" name="Rounded Rectangle 9"/>
          <p:cNvSpPr/>
          <p:nvPr/>
        </p:nvSpPr>
        <p:spPr>
          <a:xfrm>
            <a:off x="3767328" y="1417320"/>
            <a:ext cx="787298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3794760" y="1444752"/>
            <a:ext cx="781811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913632" y="1495044"/>
            <a:ext cx="758037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活化—氧化—潜在链裂解（工作假说）</a:t>
            </a:r>
          </a:p>
        </p:txBody>
      </p:sp>
      <p:sp>
        <p:nvSpPr>
          <p:cNvPr id="13" name="Freeform 12"/>
          <p:cNvSpPr/>
          <p:nvPr/>
        </p:nvSpPr>
        <p:spPr>
          <a:xfrm>
            <a:off x="2333080" y="2454544"/>
            <a:ext cx="482577" cy="574752"/>
          </a:xfrm>
          <a:custGeom>
            <a:avLst/>
            <a:gdLst/>
            <a:ahLst/>
            <a:cxnLst/>
            <a:rect l="l" t="t" r="r" b="b"/>
            <a:pathLst>
              <a:path w="482577" h="574752">
                <a:moveTo>
                  <a:pt x="0" y="0"/>
                </a:moveTo>
                <a:lnTo>
                  <a:pt x="16469" y="7477"/>
                </a:lnTo>
                <a:lnTo>
                  <a:pt x="32768" y="15279"/>
                </a:lnTo>
                <a:lnTo>
                  <a:pt x="48891" y="23404"/>
                </a:lnTo>
                <a:lnTo>
                  <a:pt x="64830" y="31849"/>
                </a:lnTo>
                <a:lnTo>
                  <a:pt x="80578" y="40609"/>
                </a:lnTo>
                <a:lnTo>
                  <a:pt x="96128" y="49681"/>
                </a:lnTo>
                <a:lnTo>
                  <a:pt x="111474" y="59061"/>
                </a:lnTo>
                <a:lnTo>
                  <a:pt x="126608" y="68744"/>
                </a:lnTo>
                <a:lnTo>
                  <a:pt x="141523" y="78726"/>
                </a:lnTo>
                <a:lnTo>
                  <a:pt x="156214" y="89004"/>
                </a:lnTo>
                <a:lnTo>
                  <a:pt x="170674" y="99571"/>
                </a:lnTo>
                <a:lnTo>
                  <a:pt x="184896" y="110424"/>
                </a:lnTo>
                <a:lnTo>
                  <a:pt x="198874" y="121558"/>
                </a:lnTo>
                <a:lnTo>
                  <a:pt x="212602" y="132968"/>
                </a:lnTo>
                <a:lnTo>
                  <a:pt x="226073" y="144649"/>
                </a:lnTo>
                <a:lnTo>
                  <a:pt x="239283" y="156595"/>
                </a:lnTo>
                <a:lnTo>
                  <a:pt x="252224" y="168802"/>
                </a:lnTo>
                <a:lnTo>
                  <a:pt x="264892" y="181264"/>
                </a:lnTo>
                <a:lnTo>
                  <a:pt x="277280" y="193976"/>
                </a:lnTo>
                <a:lnTo>
                  <a:pt x="289384" y="206931"/>
                </a:lnTo>
                <a:lnTo>
                  <a:pt x="301197" y="220125"/>
                </a:lnTo>
                <a:lnTo>
                  <a:pt x="312716" y="233551"/>
                </a:lnTo>
                <a:lnTo>
                  <a:pt x="323933" y="247203"/>
                </a:lnTo>
                <a:lnTo>
                  <a:pt x="334845" y="261076"/>
                </a:lnTo>
                <a:lnTo>
                  <a:pt x="345447" y="275163"/>
                </a:lnTo>
                <a:lnTo>
                  <a:pt x="355734" y="289458"/>
                </a:lnTo>
                <a:lnTo>
                  <a:pt x="365702" y="303955"/>
                </a:lnTo>
                <a:lnTo>
                  <a:pt x="375346" y="318647"/>
                </a:lnTo>
                <a:lnTo>
                  <a:pt x="384661" y="333528"/>
                </a:lnTo>
                <a:lnTo>
                  <a:pt x="393644" y="348591"/>
                </a:lnTo>
                <a:lnTo>
                  <a:pt x="402291" y="363829"/>
                </a:lnTo>
                <a:lnTo>
                  <a:pt x="410598" y="379237"/>
                </a:lnTo>
                <a:lnTo>
                  <a:pt x="418562" y="394806"/>
                </a:lnTo>
                <a:lnTo>
                  <a:pt x="426178" y="410531"/>
                </a:lnTo>
                <a:lnTo>
                  <a:pt x="433443" y="426404"/>
                </a:lnTo>
                <a:lnTo>
                  <a:pt x="440355" y="442418"/>
                </a:lnTo>
                <a:lnTo>
                  <a:pt x="446909" y="458566"/>
                </a:lnTo>
                <a:lnTo>
                  <a:pt x="453104" y="474841"/>
                </a:lnTo>
                <a:lnTo>
                  <a:pt x="458937" y="491236"/>
                </a:lnTo>
                <a:lnTo>
                  <a:pt x="464404" y="507744"/>
                </a:lnTo>
                <a:lnTo>
                  <a:pt x="469504" y="524357"/>
                </a:lnTo>
                <a:lnTo>
                  <a:pt x="474234" y="541067"/>
                </a:lnTo>
                <a:lnTo>
                  <a:pt x="478592" y="557868"/>
                </a:lnTo>
                <a:lnTo>
                  <a:pt x="482577" y="574752"/>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2319283" y="3441010"/>
            <a:ext cx="477399" cy="511201"/>
          </a:xfrm>
          <a:custGeom>
            <a:avLst/>
            <a:gdLst/>
            <a:ahLst/>
            <a:cxnLst/>
            <a:rect l="l" t="t" r="r" b="b"/>
            <a:pathLst>
              <a:path w="477399" h="511201">
                <a:moveTo>
                  <a:pt x="477399" y="0"/>
                </a:moveTo>
                <a:lnTo>
                  <a:pt x="472306" y="15250"/>
                </a:lnTo>
                <a:lnTo>
                  <a:pt x="466901" y="30404"/>
                </a:lnTo>
                <a:lnTo>
                  <a:pt x="461186" y="45455"/>
                </a:lnTo>
                <a:lnTo>
                  <a:pt x="455164" y="60398"/>
                </a:lnTo>
                <a:lnTo>
                  <a:pt x="448836" y="75227"/>
                </a:lnTo>
                <a:lnTo>
                  <a:pt x="442205" y="89937"/>
                </a:lnTo>
                <a:lnTo>
                  <a:pt x="435274" y="104523"/>
                </a:lnTo>
                <a:lnTo>
                  <a:pt x="428044" y="118977"/>
                </a:lnTo>
                <a:lnTo>
                  <a:pt x="420520" y="133296"/>
                </a:lnTo>
                <a:lnTo>
                  <a:pt x="412703" y="147474"/>
                </a:lnTo>
                <a:lnTo>
                  <a:pt x="404596" y="161505"/>
                </a:lnTo>
                <a:lnTo>
                  <a:pt x="396204" y="175384"/>
                </a:lnTo>
                <a:lnTo>
                  <a:pt x="387528" y="189107"/>
                </a:lnTo>
                <a:lnTo>
                  <a:pt x="378572" y="202666"/>
                </a:lnTo>
                <a:lnTo>
                  <a:pt x="369340" y="216059"/>
                </a:lnTo>
                <a:lnTo>
                  <a:pt x="359835" y="229278"/>
                </a:lnTo>
                <a:lnTo>
                  <a:pt x="350060" y="242321"/>
                </a:lnTo>
                <a:lnTo>
                  <a:pt x="340020" y="255180"/>
                </a:lnTo>
                <a:lnTo>
                  <a:pt x="329718" y="267853"/>
                </a:lnTo>
                <a:lnTo>
                  <a:pt x="319158" y="280333"/>
                </a:lnTo>
                <a:lnTo>
                  <a:pt x="308344" y="292617"/>
                </a:lnTo>
                <a:lnTo>
                  <a:pt x="297279" y="304699"/>
                </a:lnTo>
                <a:lnTo>
                  <a:pt x="285969" y="316576"/>
                </a:lnTo>
                <a:lnTo>
                  <a:pt x="274418" y="328241"/>
                </a:lnTo>
                <a:lnTo>
                  <a:pt x="262629" y="339692"/>
                </a:lnTo>
                <a:lnTo>
                  <a:pt x="250608" y="350924"/>
                </a:lnTo>
                <a:lnTo>
                  <a:pt x="238358" y="361932"/>
                </a:lnTo>
                <a:lnTo>
                  <a:pt x="225885" y="372712"/>
                </a:lnTo>
                <a:lnTo>
                  <a:pt x="213194" y="383261"/>
                </a:lnTo>
                <a:lnTo>
                  <a:pt x="200288" y="393574"/>
                </a:lnTo>
                <a:lnTo>
                  <a:pt x="187173" y="403648"/>
                </a:lnTo>
                <a:lnTo>
                  <a:pt x="173854" y="413478"/>
                </a:lnTo>
                <a:lnTo>
                  <a:pt x="160335" y="423061"/>
                </a:lnTo>
                <a:lnTo>
                  <a:pt x="146623" y="432394"/>
                </a:lnTo>
                <a:lnTo>
                  <a:pt x="132722" y="441472"/>
                </a:lnTo>
                <a:lnTo>
                  <a:pt x="118637" y="450292"/>
                </a:lnTo>
                <a:lnTo>
                  <a:pt x="104374" y="458852"/>
                </a:lnTo>
                <a:lnTo>
                  <a:pt x="89938" y="467147"/>
                </a:lnTo>
                <a:lnTo>
                  <a:pt x="75334" y="475175"/>
                </a:lnTo>
                <a:lnTo>
                  <a:pt x="60569" y="482932"/>
                </a:lnTo>
                <a:lnTo>
                  <a:pt x="45647" y="490416"/>
                </a:lnTo>
                <a:lnTo>
                  <a:pt x="30575" y="497624"/>
                </a:lnTo>
                <a:lnTo>
                  <a:pt x="15357" y="504553"/>
                </a:lnTo>
                <a:lnTo>
                  <a:pt x="0" y="511201"/>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1097304" y="2442861"/>
            <a:ext cx="529235" cy="1484169"/>
          </a:xfrm>
          <a:custGeom>
            <a:avLst/>
            <a:gdLst/>
            <a:ahLst/>
            <a:cxnLst/>
            <a:rect l="l" t="t" r="r" b="b"/>
            <a:pathLst>
              <a:path w="529235" h="1484169">
                <a:moveTo>
                  <a:pt x="460835" y="1484169"/>
                </a:moveTo>
                <a:lnTo>
                  <a:pt x="422139" y="1463457"/>
                </a:lnTo>
                <a:lnTo>
                  <a:pt x="384611" y="1440897"/>
                </a:lnTo>
                <a:lnTo>
                  <a:pt x="348351" y="1416547"/>
                </a:lnTo>
                <a:lnTo>
                  <a:pt x="313453" y="1390473"/>
                </a:lnTo>
                <a:lnTo>
                  <a:pt x="280008" y="1362742"/>
                </a:lnTo>
                <a:lnTo>
                  <a:pt x="248104" y="1333427"/>
                </a:lnTo>
                <a:lnTo>
                  <a:pt x="217824" y="1302604"/>
                </a:lnTo>
                <a:lnTo>
                  <a:pt x="189249" y="1270354"/>
                </a:lnTo>
                <a:lnTo>
                  <a:pt x="162452" y="1236762"/>
                </a:lnTo>
                <a:lnTo>
                  <a:pt x="137503" y="1201915"/>
                </a:lnTo>
                <a:lnTo>
                  <a:pt x="114469" y="1165905"/>
                </a:lnTo>
                <a:lnTo>
                  <a:pt x="93408" y="1128826"/>
                </a:lnTo>
                <a:lnTo>
                  <a:pt x="74378" y="1090775"/>
                </a:lnTo>
                <a:lnTo>
                  <a:pt x="57426" y="1051851"/>
                </a:lnTo>
                <a:lnTo>
                  <a:pt x="42598" y="1012158"/>
                </a:lnTo>
                <a:lnTo>
                  <a:pt x="29933" y="971797"/>
                </a:lnTo>
                <a:lnTo>
                  <a:pt x="19463" y="930876"/>
                </a:lnTo>
                <a:lnTo>
                  <a:pt x="11216" y="889501"/>
                </a:lnTo>
                <a:lnTo>
                  <a:pt x="5214" y="847781"/>
                </a:lnTo>
                <a:lnTo>
                  <a:pt x="1472" y="805824"/>
                </a:lnTo>
                <a:lnTo>
                  <a:pt x="0" y="763741"/>
                </a:lnTo>
                <a:lnTo>
                  <a:pt x="802" y="721641"/>
                </a:lnTo>
                <a:lnTo>
                  <a:pt x="3876" y="679636"/>
                </a:lnTo>
                <a:lnTo>
                  <a:pt x="9214" y="637835"/>
                </a:lnTo>
                <a:lnTo>
                  <a:pt x="16802" y="596347"/>
                </a:lnTo>
                <a:lnTo>
                  <a:pt x="26619" y="555281"/>
                </a:lnTo>
                <a:lnTo>
                  <a:pt x="38641" y="514744"/>
                </a:lnTo>
                <a:lnTo>
                  <a:pt x="52836" y="474843"/>
                </a:lnTo>
                <a:lnTo>
                  <a:pt x="69166" y="435682"/>
                </a:lnTo>
                <a:lnTo>
                  <a:pt x="87589" y="397363"/>
                </a:lnTo>
                <a:lnTo>
                  <a:pt x="108057" y="359988"/>
                </a:lnTo>
                <a:lnTo>
                  <a:pt x="130516" y="323653"/>
                </a:lnTo>
                <a:lnTo>
                  <a:pt x="154907" y="288454"/>
                </a:lnTo>
                <a:lnTo>
                  <a:pt x="181167" y="254483"/>
                </a:lnTo>
                <a:lnTo>
                  <a:pt x="209226" y="221829"/>
                </a:lnTo>
                <a:lnTo>
                  <a:pt x="239012" y="190577"/>
                </a:lnTo>
                <a:lnTo>
                  <a:pt x="270446" y="160809"/>
                </a:lnTo>
                <a:lnTo>
                  <a:pt x="303446" y="132604"/>
                </a:lnTo>
                <a:lnTo>
                  <a:pt x="337925" y="106034"/>
                </a:lnTo>
                <a:lnTo>
                  <a:pt x="373794" y="81170"/>
                </a:lnTo>
                <a:lnTo>
                  <a:pt x="410958" y="58076"/>
                </a:lnTo>
                <a:lnTo>
                  <a:pt x="449321" y="36814"/>
                </a:lnTo>
                <a:lnTo>
                  <a:pt x="488781" y="17438"/>
                </a:lnTo>
                <a:lnTo>
                  <a:pt x="529235"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444752" y="2130552"/>
            <a:ext cx="1060704" cy="38404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sp>
        <p:nvSpPr>
          <p:cNvPr id="17" name="TextBox 16"/>
          <p:cNvSpPr txBox="1"/>
          <p:nvPr/>
        </p:nvSpPr>
        <p:spPr>
          <a:xfrm>
            <a:off x="2551176" y="3026664"/>
            <a:ext cx="914400" cy="393192"/>
          </a:xfrm>
          <a:prstGeom prst="rect">
            <a:avLst/>
          </a:prstGeom>
          <a:noFill/>
          <a:effectLst/>
        </p:spPr>
        <p:txBody>
          <a:bodyPr wrap="square" lIns="22860" rIns="22860" tIns="0" bIns="0">
            <a:spAutoFit/>
          </a:bodyPr>
          <a:lstStyle/>
          <a:p>
            <a:pPr>
              <a:spcAft>
                <a:spcPts val="600"/>
              </a:spcAft>
              <a:defRPr sz="2300" b="1">
                <a:solidFill>
                  <a:srgbClr val="063584"/>
                </a:solidFill>
                <a:latin typeface="Microsoft YaHei"/>
              </a:defRPr>
            </a:pPr>
            <a:r>
              <a:t>AQ*</a:t>
            </a:r>
          </a:p>
        </p:txBody>
      </p:sp>
      <p:sp>
        <p:nvSpPr>
          <p:cNvPr id="18" name="TextBox 17"/>
          <p:cNvSpPr txBox="1"/>
          <p:nvPr/>
        </p:nvSpPr>
        <p:spPr>
          <a:xfrm>
            <a:off x="941832" y="4069080"/>
            <a:ext cx="2194560"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AQH· / AHQ</a:t>
            </a:r>
          </a:p>
        </p:txBody>
      </p:sp>
      <p:sp>
        <p:nvSpPr>
          <p:cNvPr id="19" name="TextBox 18"/>
          <p:cNvSpPr txBox="1"/>
          <p:nvPr/>
        </p:nvSpPr>
        <p:spPr>
          <a:xfrm>
            <a:off x="2633472" y="2542032"/>
            <a:ext cx="548640" cy="283464"/>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hν</a:t>
            </a:r>
          </a:p>
        </p:txBody>
      </p:sp>
      <p:sp>
        <p:nvSpPr>
          <p:cNvPr id="20" name="TextBox 19"/>
          <p:cNvSpPr txBox="1"/>
          <p:nvPr/>
        </p:nvSpPr>
        <p:spPr>
          <a:xfrm>
            <a:off x="2770632" y="3694176"/>
            <a:ext cx="722376" cy="521207"/>
          </a:xfrm>
          <a:prstGeom prst="rect">
            <a:avLst/>
          </a:prstGeom>
          <a:noFill/>
          <a:effectLst/>
        </p:spPr>
        <p:txBody>
          <a:bodyPr wrap="square" lIns="22860" rIns="22860" tIns="0" bIns="0">
            <a:spAutoFit/>
          </a:bodyPr>
          <a:lstStyle/>
          <a:p>
            <a:pPr>
              <a:spcAft>
                <a:spcPts val="600"/>
              </a:spcAft>
              <a:defRPr sz="1100" b="0">
                <a:solidFill>
                  <a:srgbClr val="111111"/>
                </a:solidFill>
                <a:latin typeface="Microsoft YaHei"/>
              </a:defRPr>
            </a:pPr>
            <a:r>
              <a:t>R–H</a:t>
            </a:r>
          </a:p>
          <a:p>
            <a:pPr>
              <a:spcAft>
                <a:spcPts val="600"/>
              </a:spcAft>
              <a:defRPr sz="1100" b="0">
                <a:solidFill>
                  <a:srgbClr val="111111"/>
                </a:solidFill>
                <a:latin typeface="Microsoft YaHei"/>
              </a:defRPr>
            </a:pPr>
            <a:r>
              <a:t>HAT / ET</a:t>
            </a:r>
          </a:p>
        </p:txBody>
      </p:sp>
      <p:sp>
        <p:nvSpPr>
          <p:cNvPr id="21" name="TextBox 20"/>
          <p:cNvSpPr txBox="1"/>
          <p:nvPr/>
        </p:nvSpPr>
        <p:spPr>
          <a:xfrm>
            <a:off x="521207" y="2980944"/>
            <a:ext cx="502920" cy="29260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O₂</a:t>
            </a:r>
          </a:p>
        </p:txBody>
      </p:sp>
      <p:sp>
        <p:nvSpPr>
          <p:cNvPr id="22" name="TextBox 21"/>
          <p:cNvSpPr txBox="1"/>
          <p:nvPr/>
        </p:nvSpPr>
        <p:spPr>
          <a:xfrm>
            <a:off x="448056" y="3520440"/>
            <a:ext cx="658368" cy="502920"/>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再氧化</a:t>
            </a:r>
          </a:p>
          <a:p>
            <a:pPr>
              <a:spcAft>
                <a:spcPts val="600"/>
              </a:spcAft>
              <a:defRPr sz="1000" b="0">
                <a:solidFill>
                  <a:srgbClr val="566273"/>
                </a:solidFill>
                <a:latin typeface="Microsoft YaHei"/>
              </a:defRPr>
            </a:pPr>
            <a:r>
              <a:t>恢复 AQ</a:t>
            </a:r>
          </a:p>
        </p:txBody>
      </p:sp>
      <p:sp>
        <p:nvSpPr>
          <p:cNvPr id="23" name="TextBox 22"/>
          <p:cNvSpPr txBox="1"/>
          <p:nvPr/>
        </p:nvSpPr>
        <p:spPr>
          <a:xfrm>
            <a:off x="1362456" y="3017520"/>
            <a:ext cx="1143000" cy="594360"/>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攫氢</a:t>
            </a:r>
          </a:p>
          <a:p>
            <a:pPr algn="ctr">
              <a:spcAft>
                <a:spcPts val="600"/>
              </a:spcAft>
              <a:defRPr sz="1600" b="1">
                <a:solidFill>
                  <a:srgbClr val="111111"/>
                </a:solidFill>
                <a:latin typeface="Microsoft YaHei"/>
              </a:defRPr>
            </a:pPr>
            <a:r>
              <a:t>再生</a:t>
            </a:r>
          </a:p>
        </p:txBody>
      </p:sp>
      <p:sp>
        <p:nvSpPr>
          <p:cNvPr id="24" name="TextBox 23"/>
          <p:cNvSpPr txBox="1"/>
          <p:nvPr/>
        </p:nvSpPr>
        <p:spPr>
          <a:xfrm>
            <a:off x="694944" y="4937760"/>
            <a:ext cx="2834640" cy="457200"/>
          </a:xfrm>
          <a:prstGeom prst="rect">
            <a:avLst/>
          </a:prstGeom>
          <a:noFill/>
          <a:effectLst/>
        </p:spPr>
        <p:txBody>
          <a:bodyPr wrap="square" lIns="22860" rIns="22860" tIns="0" bIns="0">
            <a:spAutoFit/>
          </a:bodyPr>
          <a:lstStyle/>
          <a:p>
            <a:pPr>
              <a:spcAft>
                <a:spcPts val="600"/>
              </a:spcAft>
              <a:defRPr sz="1100" b="0">
                <a:solidFill>
                  <a:srgbClr val="566273"/>
                </a:solidFill>
                <a:latin typeface="Microsoft YaHei"/>
              </a:defRPr>
            </a:pPr>
            <a:r>
              <a:t>AQ* + O₂ → ROS ?</a:t>
            </a:r>
          </a:p>
          <a:p>
            <a:pPr>
              <a:spcAft>
                <a:spcPts val="600"/>
              </a:spcAft>
              <a:defRPr sz="1100" b="0">
                <a:solidFill>
                  <a:srgbClr val="566273"/>
                </a:solidFill>
                <a:latin typeface="Microsoft YaHei"/>
              </a:defRPr>
            </a:pPr>
            <a:r>
              <a:t>AQ* + DCE / 模型 → 竞争转化 ?</a:t>
            </a:r>
          </a:p>
        </p:txBody>
      </p:sp>
      <p:sp>
        <p:nvSpPr>
          <p:cNvPr id="25" name="Freeform 24"/>
          <p:cNvSpPr/>
          <p:nvPr/>
        </p:nvSpPr>
        <p:spPr>
          <a:xfrm>
            <a:off x="4956048" y="1920240"/>
            <a:ext cx="5212080" cy="173736"/>
          </a:xfrm>
          <a:custGeom>
            <a:avLst/>
            <a:gdLst/>
            <a:ahLst/>
            <a:cxnLst/>
            <a:rect l="l" t="t" r="r" b="b"/>
            <a:pathLst>
              <a:path w="5212080" h="173736">
                <a:moveTo>
                  <a:pt x="0" y="0"/>
                </a:moveTo>
                <a:lnTo>
                  <a:pt x="521208" y="173736"/>
                </a:lnTo>
                <a:lnTo>
                  <a:pt x="1042416" y="0"/>
                </a:lnTo>
                <a:lnTo>
                  <a:pt x="1563624" y="173736"/>
                </a:lnTo>
                <a:lnTo>
                  <a:pt x="2084831" y="0"/>
                </a:lnTo>
                <a:lnTo>
                  <a:pt x="2606040" y="173736"/>
                </a:lnTo>
                <a:lnTo>
                  <a:pt x="3127248" y="0"/>
                </a:lnTo>
                <a:lnTo>
                  <a:pt x="3648456" y="173736"/>
                </a:lnTo>
                <a:lnTo>
                  <a:pt x="4169664" y="0"/>
                </a:lnTo>
                <a:lnTo>
                  <a:pt x="4690872" y="173736"/>
                </a:lnTo>
                <a:lnTo>
                  <a:pt x="521208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5477256"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5349240"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28" name="Connector 27"/>
          <p:cNvCxnSpPr/>
          <p:nvPr/>
        </p:nvCxnSpPr>
        <p:spPr>
          <a:xfrm>
            <a:off x="6519672"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391656"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0" name="Connector 29"/>
          <p:cNvCxnSpPr/>
          <p:nvPr/>
        </p:nvCxnSpPr>
        <p:spPr>
          <a:xfrm>
            <a:off x="7562088"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434071"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2" name="Connector 31"/>
          <p:cNvCxnSpPr/>
          <p:nvPr/>
        </p:nvCxnSpPr>
        <p:spPr>
          <a:xfrm>
            <a:off x="8604504"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476488"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4" name="Connector 33"/>
          <p:cNvCxnSpPr/>
          <p:nvPr/>
        </p:nvCxnSpPr>
        <p:spPr>
          <a:xfrm>
            <a:off x="9646920"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9518904"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36" name="TextBox 35"/>
          <p:cNvSpPr txBox="1"/>
          <p:nvPr/>
        </p:nvSpPr>
        <p:spPr>
          <a:xfrm>
            <a:off x="4709160"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7" name="TextBox 36"/>
          <p:cNvSpPr txBox="1"/>
          <p:nvPr/>
        </p:nvSpPr>
        <p:spPr>
          <a:xfrm>
            <a:off x="10213848"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8" name="TextBox 37"/>
          <p:cNvSpPr txBox="1"/>
          <p:nvPr/>
        </p:nvSpPr>
        <p:spPr>
          <a:xfrm>
            <a:off x="4453128" y="2935224"/>
            <a:ext cx="228600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AQ* 攫氢 ?</a:t>
            </a:r>
          </a:p>
        </p:txBody>
      </p:sp>
      <p:sp>
        <p:nvSpPr>
          <p:cNvPr id="39" name="TextBox 38"/>
          <p:cNvSpPr txBox="1"/>
          <p:nvPr/>
        </p:nvSpPr>
        <p:spPr>
          <a:xfrm>
            <a:off x="9153144" y="2935224"/>
            <a:ext cx="224028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C–Cl 活化 ?</a:t>
            </a:r>
          </a:p>
        </p:txBody>
      </p:sp>
      <p:cxnSp>
        <p:nvCxnSpPr>
          <p:cNvPr id="40" name="Connector 39"/>
          <p:cNvCxnSpPr/>
          <p:nvPr/>
        </p:nvCxnSpPr>
        <p:spPr>
          <a:xfrm flipH="1">
            <a:off x="5916168"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9902952"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5358384" y="3355848"/>
            <a:ext cx="1188720" cy="411480"/>
          </a:xfrm>
          <a:prstGeom prst="rect">
            <a:avLst/>
          </a:prstGeom>
          <a:noFill/>
          <a:effectLst/>
        </p:spPr>
        <p:txBody>
          <a:bodyPr wrap="square" lIns="22860" rIns="22860" tIns="0" bIns="0">
            <a:spAutoFit/>
          </a:bodyPr>
          <a:lstStyle/>
          <a:p>
            <a:pPr algn="ctr">
              <a:spcAft>
                <a:spcPts val="600"/>
              </a:spcAft>
              <a:defRPr sz="2900" b="1">
                <a:solidFill>
                  <a:srgbClr val="111111"/>
                </a:solidFill>
                <a:latin typeface="Microsoft YaHei"/>
              </a:defRPr>
            </a:pPr>
            <a:r>
              <a:t>R·</a:t>
            </a:r>
          </a:p>
        </p:txBody>
      </p:sp>
      <p:sp>
        <p:nvSpPr>
          <p:cNvPr id="43" name="TextBox 42"/>
          <p:cNvSpPr txBox="1"/>
          <p:nvPr/>
        </p:nvSpPr>
        <p:spPr>
          <a:xfrm>
            <a:off x="9976104" y="3355848"/>
            <a:ext cx="1371600" cy="411480"/>
          </a:xfrm>
          <a:prstGeom prst="rect">
            <a:avLst/>
          </a:prstGeom>
          <a:noFill/>
          <a:effectLst/>
        </p:spPr>
        <p:txBody>
          <a:bodyPr wrap="square" lIns="22860" rIns="22860" tIns="0" bIns="0">
            <a:spAutoFit/>
          </a:bodyPr>
          <a:lstStyle/>
          <a:p>
            <a:pPr algn="ctr">
              <a:spcAft>
                <a:spcPts val="600"/>
              </a:spcAft>
              <a:defRPr sz="2600" b="1">
                <a:solidFill>
                  <a:srgbClr val="C00000"/>
                </a:solidFill>
                <a:latin typeface="Microsoft YaHei"/>
              </a:defRPr>
            </a:pPr>
            <a:r>
              <a:t>Cl· ?</a:t>
            </a:r>
          </a:p>
        </p:txBody>
      </p:sp>
      <p:cxnSp>
        <p:nvCxnSpPr>
          <p:cNvPr id="44" name="Connector 43"/>
          <p:cNvCxnSpPr/>
          <p:nvPr/>
        </p:nvCxnSpPr>
        <p:spPr>
          <a:xfrm flipH="1">
            <a:off x="6830568" y="3584448"/>
            <a:ext cx="2688336" cy="0"/>
          </a:xfrm>
          <a:prstGeom prst="line">
            <a:avLst/>
          </a:prstGeom>
          <a:ln w="17780">
            <a:solidFill>
              <a:srgbClr val="C00000"/>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7406640" y="3200400"/>
            <a:ext cx="1508760" cy="274320"/>
          </a:xfrm>
          <a:prstGeom prst="rect">
            <a:avLst/>
          </a:prstGeom>
          <a:noFill/>
          <a:effectLst/>
        </p:spPr>
        <p:txBody>
          <a:bodyPr wrap="square" lIns="22860" rIns="22860" tIns="0" bIns="0">
            <a:spAutoFit/>
          </a:bodyPr>
          <a:lstStyle/>
          <a:p>
            <a:pPr algn="ctr">
              <a:spcAft>
                <a:spcPts val="600"/>
              </a:spcAft>
              <a:defRPr sz="1600" b="1">
                <a:solidFill>
                  <a:srgbClr val="C00000"/>
                </a:solidFill>
                <a:latin typeface="Microsoft YaHei"/>
              </a:defRPr>
            </a:pPr>
            <a:r>
              <a:t>HAT ?</a:t>
            </a:r>
          </a:p>
        </p:txBody>
      </p:sp>
      <p:sp>
        <p:nvSpPr>
          <p:cNvPr id="46" name="TextBox 45"/>
          <p:cNvSpPr txBox="1"/>
          <p:nvPr/>
        </p:nvSpPr>
        <p:spPr>
          <a:xfrm>
            <a:off x="6949440" y="3767328"/>
            <a:ext cx="2697480" cy="237744"/>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Cl· + R–H → HCl + R·</a:t>
            </a:r>
          </a:p>
        </p:txBody>
      </p:sp>
      <p:cxnSp>
        <p:nvCxnSpPr>
          <p:cNvPr id="47" name="Connector 46"/>
          <p:cNvCxnSpPr/>
          <p:nvPr/>
        </p:nvCxnSpPr>
        <p:spPr>
          <a:xfrm>
            <a:off x="5925312" y="3886200"/>
            <a:ext cx="0" cy="301752"/>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6190488" y="3941063"/>
            <a:ext cx="822960" cy="26517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 O₂</a:t>
            </a:r>
          </a:p>
        </p:txBody>
      </p:sp>
      <p:sp>
        <p:nvSpPr>
          <p:cNvPr id="49" name="TextBox 48"/>
          <p:cNvSpPr txBox="1"/>
          <p:nvPr/>
        </p:nvSpPr>
        <p:spPr>
          <a:xfrm>
            <a:off x="5084064" y="4315968"/>
            <a:ext cx="169164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a:t>
            </a:r>
          </a:p>
        </p:txBody>
      </p:sp>
      <p:cxnSp>
        <p:nvCxnSpPr>
          <p:cNvPr id="50" name="Connector 49"/>
          <p:cNvCxnSpPr/>
          <p:nvPr/>
        </p:nvCxnSpPr>
        <p:spPr>
          <a:xfrm>
            <a:off x="6839712"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351775" y="4315968"/>
            <a:ext cx="182880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ROOH</a:t>
            </a:r>
          </a:p>
        </p:txBody>
      </p:sp>
      <p:cxnSp>
        <p:nvCxnSpPr>
          <p:cNvPr id="52" name="Connector 51"/>
          <p:cNvCxnSpPr/>
          <p:nvPr/>
        </p:nvCxnSpPr>
        <p:spPr>
          <a:xfrm>
            <a:off x="9226296"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9784080" y="4315968"/>
            <a:ext cx="164592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a:t>
            </a:r>
          </a:p>
        </p:txBody>
      </p:sp>
      <p:sp>
        <p:nvSpPr>
          <p:cNvPr id="54" name="TextBox 53"/>
          <p:cNvSpPr txBox="1"/>
          <p:nvPr/>
        </p:nvSpPr>
        <p:spPr>
          <a:xfrm>
            <a:off x="9299448" y="4937760"/>
            <a:ext cx="1920240" cy="228600"/>
          </a:xfrm>
          <a:prstGeom prst="rect">
            <a:avLst/>
          </a:prstGeom>
          <a:noFill/>
          <a:effectLst/>
        </p:spPr>
        <p:txBody>
          <a:bodyPr wrap="square" lIns="22860" rIns="22860" tIns="0" bIns="0">
            <a:spAutoFit/>
          </a:bodyPr>
          <a:lstStyle/>
          <a:p>
            <a:pPr algn="ctr">
              <a:spcAft>
                <a:spcPts val="600"/>
              </a:spcAft>
              <a:defRPr sz="1200" b="1">
                <a:solidFill>
                  <a:srgbClr val="063584"/>
                </a:solidFill>
                <a:latin typeface="Microsoft YaHei"/>
              </a:defRPr>
            </a:pPr>
            <a:r>
              <a:t>后续 β-裂解 ?</a:t>
            </a:r>
          </a:p>
        </p:txBody>
      </p:sp>
      <p:sp>
        <p:nvSpPr>
          <p:cNvPr id="55" name="TextBox 54"/>
          <p:cNvSpPr txBox="1"/>
          <p:nvPr/>
        </p:nvSpPr>
        <p:spPr>
          <a:xfrm>
            <a:off x="4389120" y="5358384"/>
            <a:ext cx="7132320" cy="28346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R¹–CH(O·)–CH₂–R² → R¹–CHO + ·CH₂–R²</a:t>
            </a:r>
          </a:p>
        </p:txBody>
      </p:sp>
      <p:sp>
        <p:nvSpPr>
          <p:cNvPr id="56" name="Rectangle 5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Chevron 5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9" name="TextBox 5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工作假说不等于已证实循环；需区分供氢体、ROS、含氯物种与链裂解的实际贡献。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前期探索：2-氯戊烷实验先检验局部含氯位点的反应</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实际已开展：2-氯戊烷 / EAQ / DCE，365 nm，6 h，比较四种气氛；其余参数不擅自补全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实验条件：用户原始 PPT，第8页；装置为可编辑示意，非照片。</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10</a:t>
            </a:r>
          </a:p>
        </p:txBody>
      </p:sp>
      <p:sp>
        <p:nvSpPr>
          <p:cNvPr id="7" name="Rounded Rectangle 6"/>
          <p:cNvSpPr/>
          <p:nvPr/>
        </p:nvSpPr>
        <p:spPr>
          <a:xfrm>
            <a:off x="438912" y="1417320"/>
            <a:ext cx="39502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8953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6576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底物、介质与反应装置</a:t>
            </a:r>
          </a:p>
        </p:txBody>
      </p:sp>
      <p:sp>
        <p:nvSpPr>
          <p:cNvPr id="10" name="TextBox 9"/>
          <p:cNvSpPr txBox="1"/>
          <p:nvPr/>
        </p:nvSpPr>
        <p:spPr>
          <a:xfrm>
            <a:off x="649224" y="1929384"/>
            <a:ext cx="3538728" cy="384048"/>
          </a:xfrm>
          <a:prstGeom prst="rect">
            <a:avLst/>
          </a:prstGeom>
          <a:noFill/>
          <a:effectLst/>
        </p:spPr>
        <p:txBody>
          <a:bodyPr wrap="square" lIns="22860" rIns="22860" tIns="0" bIns="0">
            <a:spAutoFit/>
          </a:bodyPr>
          <a:lstStyle/>
          <a:p>
            <a:pPr>
              <a:spcAft>
                <a:spcPts val="600"/>
              </a:spcAft>
              <a:defRPr sz="1900" b="1">
                <a:solidFill>
                  <a:srgbClr val="111111"/>
                </a:solidFill>
                <a:latin typeface="Microsoft YaHei"/>
              </a:defRPr>
            </a:pPr>
            <a:r>
              <a:t>CH₃–CH(Cl)–CH₂–CH₂–CH₃</a:t>
            </a:r>
          </a:p>
        </p:txBody>
      </p:sp>
      <p:sp>
        <p:nvSpPr>
          <p:cNvPr id="11" name="TextBox 10"/>
          <p:cNvSpPr txBox="1"/>
          <p:nvPr/>
        </p:nvSpPr>
        <p:spPr>
          <a:xfrm>
            <a:off x="649224" y="2551176"/>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底物：2-氯戊烷</a:t>
            </a:r>
          </a:p>
        </p:txBody>
      </p:sp>
      <p:sp>
        <p:nvSpPr>
          <p:cNvPr id="12" name="TextBox 11"/>
          <p:cNvSpPr txBox="1"/>
          <p:nvPr/>
        </p:nvSpPr>
        <p:spPr>
          <a:xfrm>
            <a:off x="649224" y="2999232"/>
            <a:ext cx="3538728" cy="384048"/>
          </a:xfrm>
          <a:prstGeom prst="rect">
            <a:avLst/>
          </a:prstGeom>
          <a:noFill/>
          <a:effectLst/>
        </p:spPr>
        <p:txBody>
          <a:bodyPr wrap="square" lIns="22860" rIns="22860" tIns="0" bIns="0">
            <a:spAutoFit/>
          </a:bodyPr>
          <a:lstStyle/>
          <a:p>
            <a:pPr>
              <a:spcAft>
                <a:spcPts val="600"/>
              </a:spcAft>
              <a:defRPr sz="2300" b="1">
                <a:solidFill>
                  <a:srgbClr val="111111"/>
                </a:solidFill>
                <a:latin typeface="Microsoft YaHei"/>
              </a:defRPr>
            </a:pPr>
            <a:r>
              <a:t>Cl–CH₂–CH₂–Cl</a:t>
            </a:r>
          </a:p>
        </p:txBody>
      </p:sp>
      <p:sp>
        <p:nvSpPr>
          <p:cNvPr id="13" name="TextBox 12"/>
          <p:cNvSpPr txBox="1"/>
          <p:nvPr/>
        </p:nvSpPr>
        <p:spPr>
          <a:xfrm>
            <a:off x="649224" y="3529584"/>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介质：1,2-二氯乙烷（DCE）</a:t>
            </a:r>
          </a:p>
        </p:txBody>
      </p:sp>
      <p:sp>
        <p:nvSpPr>
          <p:cNvPr id="14" name="Rectangle 13"/>
          <p:cNvSpPr/>
          <p:nvPr/>
        </p:nvSpPr>
        <p:spPr>
          <a:xfrm>
            <a:off x="941832"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941832"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914400"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flipV="1">
            <a:off x="1143000"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8" name="Rectangle 17"/>
          <p:cNvSpPr/>
          <p:nvPr/>
        </p:nvSpPr>
        <p:spPr>
          <a:xfrm>
            <a:off x="1920240"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1920240"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1892808"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flipV="1">
            <a:off x="2121408"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2898648"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2898648"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2871216"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flipV="1">
            <a:off x="3099816"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85800" y="5532120"/>
            <a:ext cx="3438144" cy="201168"/>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光照 · 气氛控制 · 定时取样</a:t>
            </a:r>
          </a:p>
        </p:txBody>
      </p:sp>
      <p:sp>
        <p:nvSpPr>
          <p:cNvPr id="27" name="Rounded Rectangle 26"/>
          <p:cNvSpPr/>
          <p:nvPr/>
        </p:nvSpPr>
        <p:spPr>
          <a:xfrm>
            <a:off x="4599432" y="1417320"/>
            <a:ext cx="7040880" cy="3355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4626864" y="1444752"/>
            <a:ext cx="698601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745736" y="1495044"/>
            <a:ext cx="674827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实际记录的实验条件</a:t>
            </a:r>
          </a:p>
        </p:txBody>
      </p:sp>
      <p:graphicFrame>
        <p:nvGraphicFramePr>
          <p:cNvPr id="30" name="Table 29"/>
          <p:cNvGraphicFramePr>
            <a:graphicFrameLocks noGrp="1"/>
          </p:cNvGraphicFramePr>
          <p:nvPr/>
        </p:nvGraphicFramePr>
        <p:xfrm>
          <a:off x="4736592" y="1947672"/>
          <a:ext cx="6766560" cy="2642616"/>
        </p:xfrm>
        <a:graphic>
          <a:graphicData uri="http://schemas.openxmlformats.org/drawingml/2006/table">
            <a:tbl>
              <a:tblPr firstRow="1" bandRow="1">
                <a:tableStyleId>{5C22544A-7EE6-4342-B048-85BDC9FD1C3A}</a:tableStyleId>
              </a:tblPr>
              <a:tblGrid>
                <a:gridCol w="1965960"/>
                <a:gridCol w="4800600"/>
              </a:tblGrid>
              <a:tr h="440436">
                <a:tc>
                  <a:txBody>
                    <a:bodyPr/>
                    <a:lstStyle/>
                    <a:p>
                      <a:pPr>
                        <a:defRPr sz="1500" b="1">
                          <a:solidFill>
                            <a:srgbClr val="FFFFFF"/>
                          </a:solidFill>
                          <a:latin typeface="Microsoft YaHei"/>
                        </a:defRPr>
                      </a:pPr>
                      <a:r>
                        <a:t>参数</a:t>
                      </a:r>
                    </a:p>
                  </a:txBody>
                  <a:tcPr marL="91440" marR="64008" marT="64008" marB="45720">
                    <a:solidFill>
                      <a:srgbClr val="063584"/>
                    </a:solidFill>
                  </a:tcPr>
                </a:tc>
                <a:tc>
                  <a:txBody>
                    <a:bodyPr/>
                    <a:lstStyle/>
                    <a:p>
                      <a:pPr>
                        <a:defRPr sz="1500" b="1">
                          <a:solidFill>
                            <a:srgbClr val="FFFFFF"/>
                          </a:solidFill>
                          <a:latin typeface="Microsoft YaHei"/>
                        </a:defRPr>
                      </a:pPr>
                      <a:r>
                        <a:t>已记录内容</a:t>
                      </a:r>
                    </a:p>
                  </a:txBody>
                  <a:tcPr marL="91440" marR="64008" marT="64008" marB="45720">
                    <a:solidFill>
                      <a:srgbClr val="063584"/>
                    </a:solidFill>
                  </a:tcPr>
                </a:tc>
              </a:tr>
              <a:tr h="440436">
                <a:tc>
                  <a:txBody>
                    <a:bodyPr/>
                    <a:lstStyle/>
                    <a:p>
                      <a:pPr>
                        <a:defRPr sz="1500" b="0">
                          <a:solidFill>
                            <a:srgbClr val="111111"/>
                          </a:solidFill>
                          <a:latin typeface="Microsoft YaHei"/>
                        </a:defRPr>
                      </a:pPr>
                      <a:r>
                        <a:t>底物用量</a:t>
                      </a:r>
                    </a:p>
                  </a:txBody>
                  <a:tcPr marL="91440" marR="64008" marT="64008" marB="45720">
                    <a:solidFill>
                      <a:srgbClr val="FFFFFF"/>
                    </a:solidFill>
                  </a:tcPr>
                </a:tc>
                <a:tc>
                  <a:txBody>
                    <a:bodyPr/>
                    <a:lstStyle/>
                    <a:p>
                      <a:pPr>
                        <a:defRPr sz="1500" b="0">
                          <a:solidFill>
                            <a:srgbClr val="111111"/>
                          </a:solidFill>
                          <a:latin typeface="Microsoft YaHei"/>
                        </a:defRPr>
                      </a:pPr>
                      <a:r>
                        <a:t>2-氯戊烷，0.5 mmol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光敏组分</a:t>
                      </a:r>
                    </a:p>
                  </a:txBody>
                  <a:tcPr marL="91440" marR="64008" marT="64008" marB="45720">
                    <a:solidFill>
                      <a:srgbClr val="EDF3FF"/>
                    </a:solidFill>
                  </a:tcPr>
                </a:tc>
                <a:tc>
                  <a:txBody>
                    <a:bodyPr/>
                    <a:lstStyle/>
                    <a:p>
                      <a:pPr>
                        <a:defRPr sz="1500" b="0">
                          <a:solidFill>
                            <a:srgbClr val="111111"/>
                          </a:solidFill>
                          <a:latin typeface="Microsoft YaHei"/>
                        </a:defRPr>
                      </a:pPr>
                      <a:r>
                        <a:t>乙基蒽醌，5 mg/mL</a:t>
                      </a:r>
                    </a:p>
                  </a:txBody>
                  <a:tcPr marL="91440" marR="64008" marT="64008" marB="45720">
                    <a:solidFill>
                      <a:srgbClr val="EDF3FF"/>
                    </a:solidFill>
                  </a:tcPr>
                </a:tc>
              </a:tr>
              <a:tr h="440436">
                <a:tc>
                  <a:txBody>
                    <a:bodyPr/>
                    <a:lstStyle/>
                    <a:p>
                      <a:pPr>
                        <a:defRPr sz="1500" b="0">
                          <a:solidFill>
                            <a:srgbClr val="111111"/>
                          </a:solidFill>
                          <a:latin typeface="Microsoft YaHei"/>
                        </a:defRPr>
                      </a:pPr>
                      <a:r>
                        <a:t>介质体积</a:t>
                      </a:r>
                    </a:p>
                  </a:txBody>
                  <a:tcPr marL="91440" marR="64008" marT="64008" marB="45720">
                    <a:solidFill>
                      <a:srgbClr val="FFFFFF"/>
                    </a:solidFill>
                  </a:tcPr>
                </a:tc>
                <a:tc>
                  <a:txBody>
                    <a:bodyPr/>
                    <a:lstStyle/>
                    <a:p>
                      <a:pPr>
                        <a:defRPr sz="1500" b="0">
                          <a:solidFill>
                            <a:srgbClr val="111111"/>
                          </a:solidFill>
                          <a:latin typeface="Microsoft YaHei"/>
                        </a:defRPr>
                      </a:pPr>
                      <a:r>
                        <a:t>DCE，4 mL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光源 / 时间</a:t>
                      </a:r>
                    </a:p>
                  </a:txBody>
                  <a:tcPr marL="91440" marR="64008" marT="64008" marB="45720">
                    <a:solidFill>
                      <a:srgbClr val="EDF3FF"/>
                    </a:solidFill>
                  </a:tcPr>
                </a:tc>
                <a:tc>
                  <a:txBody>
                    <a:bodyPr/>
                    <a:lstStyle/>
                    <a:p>
                      <a:pPr>
                        <a:defRPr sz="1500" b="0">
                          <a:solidFill>
                            <a:srgbClr val="111111"/>
                          </a:solidFill>
                          <a:latin typeface="Microsoft YaHei"/>
                        </a:defRPr>
                      </a:pPr>
                      <a:r>
                        <a:t>365 nm，6 h</a:t>
                      </a:r>
                    </a:p>
                  </a:txBody>
                  <a:tcPr marL="91440" marR="64008" marT="64008" marB="45720">
                    <a:solidFill>
                      <a:srgbClr val="EDF3FF"/>
                    </a:solidFill>
                  </a:tcPr>
                </a:tc>
              </a:tr>
              <a:tr h="440436">
                <a:tc>
                  <a:txBody>
                    <a:bodyPr/>
                    <a:lstStyle/>
                    <a:p>
                      <a:pPr>
                        <a:defRPr sz="1500" b="0">
                          <a:solidFill>
                            <a:srgbClr val="111111"/>
                          </a:solidFill>
                          <a:latin typeface="Microsoft YaHei"/>
                        </a:defRPr>
                      </a:pPr>
                      <a:r>
                        <a:t>气氛条件</a:t>
                      </a:r>
                    </a:p>
                  </a:txBody>
                  <a:tcPr marL="91440" marR="64008" marT="64008" marB="45720">
                    <a:solidFill>
                      <a:srgbClr val="FFFFFF"/>
                    </a:solidFill>
                  </a:tcPr>
                </a:tc>
                <a:tc>
                  <a:txBody>
                    <a:bodyPr/>
                    <a:lstStyle/>
                    <a:p>
                      <a:pPr>
                        <a:defRPr sz="1500" b="0">
                          <a:solidFill>
                            <a:srgbClr val="111111"/>
                          </a:solidFill>
                          <a:latin typeface="Microsoft YaHei"/>
                        </a:defRPr>
                      </a:pPr>
                      <a:r>
                        <a:t>O₂ / O₂ 鼓泡 / N₂ / 空气</a:t>
                      </a:r>
                    </a:p>
                  </a:txBody>
                  <a:tcPr marL="91440" marR="64008" marT="64008" marB="45720">
                    <a:solidFill>
                      <a:srgbClr val="FFFFFF"/>
                    </a:solidFill>
                  </a:tcPr>
                </a:tc>
              </a:tr>
            </a:tbl>
          </a:graphicData>
        </a:graphic>
      </p:graphicFrame>
      <p:sp>
        <p:nvSpPr>
          <p:cNvPr id="31" name="Rounded Rectangle 30"/>
          <p:cNvSpPr/>
          <p:nvPr/>
        </p:nvSpPr>
        <p:spPr>
          <a:xfrm>
            <a:off x="4599432" y="4974336"/>
            <a:ext cx="7040880" cy="77724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0" y="5111496"/>
            <a:ext cx="6601968" cy="45720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光通量、实际温度、试剂身份及定量方法待核实；</a:t>
            </a:r>
          </a:p>
          <a:p>
            <a:pPr>
              <a:spcAft>
                <a:spcPts val="600"/>
              </a:spcAft>
              <a:defRPr sz="1400" b="1">
                <a:solidFill>
                  <a:srgbClr val="063584"/>
                </a:solidFill>
                <a:latin typeface="Microsoft YaHei"/>
              </a:defRPr>
            </a:pPr>
            <a:r>
              <a:t>常温常压是研究目标，不补写为已测量结果。</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先保留真实条件与缺口，再判断所记录的转化率及产物信号。</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实验观察：已有转化记录，预期产物仍未得到可靠确认</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底物消耗、候选信号与目标产物收率属于不同证据层级，不相互替代</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数据：用户原始实验 PPT，第8页；候选结构与计算方法尚待复核。</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11</a:t>
            </a:r>
          </a:p>
        </p:txBody>
      </p:sp>
      <p:sp>
        <p:nvSpPr>
          <p:cNvPr id="7" name="Rounded Rectangle 6"/>
          <p:cNvSpPr/>
          <p:nvPr/>
        </p:nvSpPr>
        <p:spPr>
          <a:xfrm>
            <a:off x="438912" y="1417320"/>
            <a:ext cx="4727448"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4672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43484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四种气氛下已记录的转化率 / %</a:t>
            </a:r>
          </a:p>
        </p:txBody>
      </p:sp>
      <p:graphicFrame>
        <p:nvGraphicFramePr>
          <p:cNvPr id="10" name="Chart 9"/>
          <p:cNvGraphicFramePr>
            <a:graphicFrameLocks noGrp="1"/>
          </p:cNvGraphicFramePr>
          <p:nvPr/>
        </p:nvGraphicFramePr>
        <p:xfrm>
          <a:off x="621792" y="1984248"/>
          <a:ext cx="4361688" cy="2670048"/>
        </p:xfrm>
        <a:graphic>
          <a:graphicData uri="http://schemas.openxmlformats.org/drawingml/2006/chart">
            <c:chart xmlns:c="http://schemas.openxmlformats.org/drawingml/2006/chart" r:id="rId2"/>
          </a:graphicData>
        </a:graphic>
      </p:graphicFrame>
      <p:sp>
        <p:nvSpPr>
          <p:cNvPr id="11" name="Rounded Rectangle 10"/>
          <p:cNvSpPr/>
          <p:nvPr/>
        </p:nvSpPr>
        <p:spPr>
          <a:xfrm>
            <a:off x="5376672" y="1417320"/>
            <a:ext cx="6263640"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5404104" y="1444752"/>
            <a:ext cx="62087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522976" y="1495044"/>
            <a:ext cx="59710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候选产物：原始定性记录</a:t>
            </a:r>
          </a:p>
        </p:txBody>
      </p:sp>
      <p:graphicFrame>
        <p:nvGraphicFramePr>
          <p:cNvPr id="14" name="Table 13"/>
          <p:cNvGraphicFramePr>
            <a:graphicFrameLocks noGrp="1"/>
          </p:cNvGraphicFramePr>
          <p:nvPr/>
        </p:nvGraphicFramePr>
        <p:xfrm>
          <a:off x="5504688" y="1947672"/>
          <a:ext cx="5998464" cy="2697480"/>
        </p:xfrm>
        <a:graphic>
          <a:graphicData uri="http://schemas.openxmlformats.org/drawingml/2006/table">
            <a:tbl>
              <a:tblPr firstRow="1" bandRow="1">
                <a:tableStyleId>{5C22544A-7EE6-4342-B048-85BDC9FD1C3A}</a:tableStyleId>
              </a:tblPr>
              <a:tblGrid>
                <a:gridCol w="2011680"/>
                <a:gridCol w="1188720"/>
                <a:gridCol w="1097280"/>
                <a:gridCol w="914400"/>
                <a:gridCol w="786384"/>
              </a:tblGrid>
              <a:tr h="385354">
                <a:tc>
                  <a:txBody>
                    <a:bodyPr/>
                    <a:lstStyle/>
                    <a:p>
                      <a:pPr>
                        <a:defRPr sz="1050" b="1">
                          <a:solidFill>
                            <a:srgbClr val="FFFFFF"/>
                          </a:solidFill>
                          <a:latin typeface="Microsoft YaHei"/>
                        </a:defRPr>
                      </a:pPr>
                      <a:r>
                        <a:t>条件</a:t>
                      </a:r>
                    </a:p>
                  </a:txBody>
                  <a:tcPr marL="91440" marR="64008" marT="64008" marB="45720">
                    <a:solidFill>
                      <a:srgbClr val="063584"/>
                    </a:solidFill>
                  </a:tcPr>
                </a:tc>
                <a:tc>
                  <a:txBody>
                    <a:bodyPr/>
                    <a:lstStyle/>
                    <a:p>
                      <a:pPr>
                        <a:defRPr sz="1050" b="1">
                          <a:solidFill>
                            <a:srgbClr val="FFFFFF"/>
                          </a:solidFill>
                          <a:latin typeface="Microsoft YaHei"/>
                        </a:defRPr>
                      </a:pPr>
                      <a:r>
                        <a:t>2,4-二氯戊烷</a:t>
                      </a:r>
                    </a:p>
                  </a:txBody>
                  <a:tcPr marL="91440" marR="64008" marT="64008" marB="45720">
                    <a:solidFill>
                      <a:srgbClr val="063584"/>
                    </a:solidFill>
                  </a:tcPr>
                </a:tc>
                <a:tc>
                  <a:txBody>
                    <a:bodyPr/>
                    <a:lstStyle/>
                    <a:p>
                      <a:pPr>
                        <a:defRPr sz="1050" b="1">
                          <a:solidFill>
                            <a:srgbClr val="FFFFFF"/>
                          </a:solidFill>
                          <a:latin typeface="Microsoft YaHei"/>
                        </a:defRPr>
                      </a:pPr>
                      <a:r>
                        <a:t>四氯丁烷类</a:t>
                      </a:r>
                    </a:p>
                  </a:txBody>
                  <a:tcPr marL="91440" marR="64008" marT="64008" marB="45720">
                    <a:solidFill>
                      <a:srgbClr val="063584"/>
                    </a:solidFill>
                  </a:tcPr>
                </a:tc>
                <a:tc>
                  <a:txBody>
                    <a:bodyPr/>
                    <a:lstStyle/>
                    <a:p>
                      <a:pPr>
                        <a:defRPr sz="1050" b="1">
                          <a:solidFill>
                            <a:srgbClr val="FFFFFF"/>
                          </a:solidFill>
                          <a:latin typeface="Microsoft YaHei"/>
                        </a:defRPr>
                      </a:pPr>
                      <a:r>
                        <a:t>氯乙酸</a:t>
                      </a:r>
                    </a:p>
                  </a:txBody>
                  <a:tcPr marL="91440" marR="64008" marT="64008" marB="45720">
                    <a:solidFill>
                      <a:srgbClr val="063584"/>
                    </a:solidFill>
                  </a:tcPr>
                </a:tc>
                <a:tc>
                  <a:txBody>
                    <a:bodyPr/>
                    <a:lstStyle/>
                    <a:p>
                      <a:pPr>
                        <a:defRPr sz="1050" b="1">
                          <a:solidFill>
                            <a:srgbClr val="FFFFFF"/>
                          </a:solidFill>
                          <a:latin typeface="Microsoft YaHei"/>
                        </a:defRPr>
                      </a:pPr>
                      <a:r>
                        <a:t>未知</a:t>
                      </a:r>
                    </a:p>
                  </a:txBody>
                  <a:tcPr marL="91440" marR="64008" marT="64008" marB="45720">
                    <a:solidFill>
                      <a:srgbClr val="063584"/>
                    </a:solidFill>
                  </a:tcPr>
                </a:tc>
              </a:tr>
              <a:tr h="385354">
                <a:tc>
                  <a:txBody>
                    <a:bodyPr/>
                    <a:lstStyle/>
                    <a:p>
                      <a:pPr>
                        <a:defRPr sz="1050" b="0">
                          <a:solidFill>
                            <a:srgbClr val="111111"/>
                          </a:solidFill>
                          <a:latin typeface="Microsoft YaHei"/>
                        </a:defRPr>
                      </a:pPr>
                      <a:r>
                        <a:t>O₂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O₂ 鼓泡</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N₂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空气</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乙腈 / 各气氛</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6">
                <a:tc>
                  <a:txBody>
                    <a:bodyPr/>
                    <a:lstStyle/>
                    <a:p>
                      <a:pPr>
                        <a:defRPr sz="1050" b="0">
                          <a:solidFill>
                            <a:srgbClr val="111111"/>
                          </a:solidFill>
                          <a:latin typeface="Microsoft YaHei"/>
                        </a:defRPr>
                      </a:pPr>
                      <a:r>
                        <a:t>乙腈 / 2.5 mmol 2-CP</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bl>
          </a:graphicData>
        </a:graphic>
      </p:graphicFrame>
      <p:sp>
        <p:nvSpPr>
          <p:cNvPr id="15" name="Rounded Rectangle 14"/>
          <p:cNvSpPr/>
          <p:nvPr/>
        </p:nvSpPr>
        <p:spPr>
          <a:xfrm>
            <a:off x="438912" y="5093208"/>
            <a:ext cx="11201400" cy="65836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0080" y="5221224"/>
            <a:ext cx="523951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定量缺口：计算式、内标、响应校准未提供。</a:t>
            </a:r>
          </a:p>
          <a:p>
            <a:pPr>
              <a:spcAft>
                <a:spcPts val="600"/>
              </a:spcAft>
              <a:defRPr sz="1350" b="1">
                <a:solidFill>
                  <a:srgbClr val="063584"/>
                </a:solidFill>
                <a:latin typeface="Microsoft YaHei"/>
              </a:defRPr>
            </a:pPr>
            <a:r>
              <a:t>无平行实验信息，不添加误差线。</a:t>
            </a:r>
          </a:p>
        </p:txBody>
      </p:sp>
      <p:sp>
        <p:nvSpPr>
          <p:cNvPr id="17" name="TextBox 16"/>
          <p:cNvSpPr txBox="1"/>
          <p:nvPr/>
        </p:nvSpPr>
        <p:spPr>
          <a:xfrm>
            <a:off x="5971032" y="5221224"/>
            <a:ext cx="537667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定性缺口：候选峰归属待标准品确认。</a:t>
            </a:r>
          </a:p>
          <a:p>
            <a:pPr>
              <a:spcAft>
                <a:spcPts val="600"/>
              </a:spcAft>
              <a:defRPr sz="1350" b="1">
                <a:solidFill>
                  <a:srgbClr val="063584"/>
                </a:solidFill>
                <a:latin typeface="Microsoft YaHei"/>
              </a:defRPr>
            </a:pPr>
            <a:r>
              <a:t>保留 √、n.d. 与 /，不将其解释为收率。</a:t>
            </a:r>
          </a:p>
        </p:txBody>
      </p:sp>
      <p:sp>
        <p:nvSpPr>
          <p:cNvPr id="18" name="Rectangle 1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hevron 1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1" name="TextBox 2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当前优先任务是核对“消耗—产物—物料”的对应关系，而非直接优化转化率。</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问题分析：溶剂相关信号要求重新检查初始活化与分析归属</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观察：预期模型产物未明确确认；DCE 相关候选信号出现；乙腈中未见同类明确产物</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实验观察：用户补充说明与原始记录；下列解释均为待验证假说。</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12</a:t>
            </a:r>
          </a:p>
        </p:txBody>
      </p:sp>
      <p:sp>
        <p:nvSpPr>
          <p:cNvPr id="7" name="Rounded Rectangle 6"/>
          <p:cNvSpPr/>
          <p:nvPr/>
        </p:nvSpPr>
        <p:spPr>
          <a:xfrm>
            <a:off x="438912"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39496"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现象一：目标产物未确认</a:t>
            </a:r>
          </a:p>
        </p:txBody>
      </p:sp>
      <p:sp>
        <p:nvSpPr>
          <p:cNvPr id="9" name="TextBox 8"/>
          <p:cNvSpPr txBox="1"/>
          <p:nvPr/>
        </p:nvSpPr>
        <p:spPr>
          <a:xfrm>
            <a:off x="539496"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不能以底物消耗替代结构确证</a:t>
            </a:r>
          </a:p>
        </p:txBody>
      </p:sp>
      <p:sp>
        <p:nvSpPr>
          <p:cNvPr id="10" name="Rounded Rectangle 9"/>
          <p:cNvSpPr/>
          <p:nvPr/>
        </p:nvSpPr>
        <p:spPr>
          <a:xfrm>
            <a:off x="4242816"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343400"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现象二：介质相关信号</a:t>
            </a:r>
          </a:p>
        </p:txBody>
      </p:sp>
      <p:sp>
        <p:nvSpPr>
          <p:cNvPr id="12" name="TextBox 11"/>
          <p:cNvSpPr txBox="1"/>
          <p:nvPr/>
        </p:nvSpPr>
        <p:spPr>
          <a:xfrm>
            <a:off x="4343400"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DCE 可能不是惰性背景</a:t>
            </a:r>
          </a:p>
        </p:txBody>
      </p:sp>
      <p:sp>
        <p:nvSpPr>
          <p:cNvPr id="13" name="Rounded Rectangle 12"/>
          <p:cNvSpPr/>
          <p:nvPr/>
        </p:nvSpPr>
        <p:spPr>
          <a:xfrm>
            <a:off x="8037575"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138159"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现象三：换介质后差异明显</a:t>
            </a:r>
          </a:p>
        </p:txBody>
      </p:sp>
      <p:sp>
        <p:nvSpPr>
          <p:cNvPr id="15" name="TextBox 14"/>
          <p:cNvSpPr txBox="1"/>
          <p:nvPr/>
        </p:nvSpPr>
        <p:spPr>
          <a:xfrm>
            <a:off x="8138159"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化学参与与物理性质需要分离</a:t>
            </a:r>
          </a:p>
        </p:txBody>
      </p:sp>
      <p:graphicFrame>
        <p:nvGraphicFramePr>
          <p:cNvPr id="16" name="Table 15"/>
          <p:cNvGraphicFramePr>
            <a:graphicFrameLocks noGrp="1"/>
          </p:cNvGraphicFramePr>
          <p:nvPr/>
        </p:nvGraphicFramePr>
        <p:xfrm>
          <a:off x="438912" y="2432304"/>
          <a:ext cx="11201400" cy="3319272"/>
        </p:xfrm>
        <a:graphic>
          <a:graphicData uri="http://schemas.openxmlformats.org/drawingml/2006/table">
            <a:tbl>
              <a:tblPr firstRow="1" bandRow="1">
                <a:tableStyleId>{5C22544A-7EE6-4342-B048-85BDC9FD1C3A}</a:tableStyleId>
              </a:tblPr>
              <a:tblGrid>
                <a:gridCol w="2697480"/>
                <a:gridCol w="3931920"/>
                <a:gridCol w="4572000"/>
              </a:tblGrid>
              <a:tr h="474181">
                <a:tc>
                  <a:txBody>
                    <a:bodyPr/>
                    <a:lstStyle/>
                    <a:p>
                      <a:pPr>
                        <a:defRPr sz="1400" b="1">
                          <a:solidFill>
                            <a:srgbClr val="FFFFFF"/>
                          </a:solidFill>
                          <a:latin typeface="Microsoft YaHei"/>
                        </a:defRPr>
                      </a:pPr>
                      <a:r>
                        <a:t>竞争解释</a:t>
                      </a:r>
                    </a:p>
                  </a:txBody>
                  <a:tcPr marL="91440" marR="64008" marT="64008" marB="45720">
                    <a:solidFill>
                      <a:srgbClr val="063584"/>
                    </a:solidFill>
                  </a:tcPr>
                </a:tc>
                <a:tc>
                  <a:txBody>
                    <a:bodyPr/>
                    <a:lstStyle/>
                    <a:p>
                      <a:pPr>
                        <a:defRPr sz="1400" b="1">
                          <a:solidFill>
                            <a:srgbClr val="FFFFFF"/>
                          </a:solidFill>
                          <a:latin typeface="Microsoft YaHei"/>
                        </a:defRPr>
                      </a:pPr>
                      <a:r>
                        <a:t>分析重点</a:t>
                      </a:r>
                    </a:p>
                  </a:txBody>
                  <a:tcPr marL="91440" marR="64008" marT="64008" marB="45720">
                    <a:solidFill>
                      <a:srgbClr val="063584"/>
                    </a:solidFill>
                  </a:tcPr>
                </a:tc>
                <a:tc>
                  <a:txBody>
                    <a:bodyPr/>
                    <a:lstStyle/>
                    <a:p>
                      <a:pPr>
                        <a:defRPr sz="1400" b="1">
                          <a:solidFill>
                            <a:srgbClr val="FFFFFF"/>
                          </a:solidFill>
                          <a:latin typeface="Microsoft YaHei"/>
                        </a:defRPr>
                      </a:pPr>
                      <a:r>
                        <a:t>区分实验</a:t>
                      </a:r>
                    </a:p>
                  </a:txBody>
                  <a:tcPr marL="91440" marR="64008" marT="64008" marB="45720">
                    <a:solidFill>
                      <a:srgbClr val="063584"/>
                    </a:solidFill>
                  </a:tcPr>
                </a:tc>
              </a:tr>
              <a:tr h="474181">
                <a:tc>
                  <a:txBody>
                    <a:bodyPr/>
                    <a:lstStyle/>
                    <a:p>
                      <a:pPr>
                        <a:defRPr sz="1400" b="0">
                          <a:solidFill>
                            <a:srgbClr val="111111"/>
                          </a:solidFill>
                          <a:latin typeface="Microsoft YaHei"/>
                        </a:defRPr>
                      </a:pPr>
                      <a:r>
                        <a:t>DCE 本身反应</a:t>
                      </a:r>
                    </a:p>
                  </a:txBody>
                  <a:tcPr marL="91440" marR="64008" marT="64008" marB="45720">
                    <a:solidFill>
                      <a:srgbClr val="FFFFFF"/>
                    </a:solidFill>
                  </a:tcPr>
                </a:tc>
                <a:tc>
                  <a:txBody>
                    <a:bodyPr/>
                    <a:lstStyle/>
                    <a:p>
                      <a:pPr>
                        <a:defRPr sz="1400" b="0">
                          <a:solidFill>
                            <a:srgbClr val="111111"/>
                          </a:solidFill>
                          <a:latin typeface="Microsoft YaHei"/>
                        </a:defRPr>
                      </a:pPr>
                      <a:r>
                        <a:t>介质可能产生背景 / 副产物</a:t>
                      </a:r>
                    </a:p>
                  </a:txBody>
                  <a:tcPr marL="91440" marR="64008" marT="64008" marB="45720">
                    <a:solidFill>
                      <a:srgbClr val="FFFFFF"/>
                    </a:solidFill>
                  </a:tcPr>
                </a:tc>
                <a:tc>
                  <a:txBody>
                    <a:bodyPr/>
                    <a:lstStyle/>
                    <a:p>
                      <a:pPr>
                        <a:defRPr sz="1400" b="0">
                          <a:solidFill>
                            <a:srgbClr val="111111"/>
                          </a:solidFill>
                          <a:latin typeface="Microsoft YaHei"/>
                        </a:defRPr>
                      </a:pPr>
                      <a:r>
                        <a:t>无底物 DCE + EAQ 光照空白</a:t>
                      </a:r>
                    </a:p>
                  </a:txBody>
                  <a:tcPr marL="91440" marR="64008" marT="64008" marB="45720">
                    <a:solidFill>
                      <a:srgbClr val="FFFFFF"/>
                    </a:solidFill>
                  </a:tcPr>
                </a:tc>
              </a:tr>
              <a:tr h="474181">
                <a:tc>
                  <a:txBody>
                    <a:bodyPr/>
                    <a:lstStyle/>
                    <a:p>
                      <a:pPr>
                        <a:defRPr sz="1400" b="0">
                          <a:solidFill>
                            <a:srgbClr val="111111"/>
                          </a:solidFill>
                          <a:latin typeface="Microsoft YaHei"/>
                        </a:defRPr>
                      </a:pPr>
                      <a:r>
                        <a:t>EAQ* 与溶剂优先作用</a:t>
                      </a:r>
                    </a:p>
                  </a:txBody>
                  <a:tcPr marL="91440" marR="64008" marT="64008" marB="45720">
                    <a:solidFill>
                      <a:srgbClr val="EDF3FF"/>
                    </a:solidFill>
                  </a:tcPr>
                </a:tc>
                <a:tc>
                  <a:txBody>
                    <a:bodyPr/>
                    <a:lstStyle/>
                    <a:p>
                      <a:pPr>
                        <a:defRPr sz="1400" b="0">
                          <a:solidFill>
                            <a:srgbClr val="111111"/>
                          </a:solidFill>
                          <a:latin typeface="Microsoft YaHei"/>
                        </a:defRPr>
                      </a:pPr>
                      <a:r>
                        <a:t>浓度与激发态相互作用竞争</a:t>
                      </a:r>
                    </a:p>
                  </a:txBody>
                  <a:tcPr marL="91440" marR="64008" marT="64008" marB="45720">
                    <a:solidFill>
                      <a:srgbClr val="EDF3FF"/>
                    </a:solidFill>
                  </a:tcPr>
                </a:tc>
                <a:tc>
                  <a:txBody>
                    <a:bodyPr/>
                    <a:lstStyle/>
                    <a:p>
                      <a:pPr>
                        <a:defRPr sz="1400" b="0">
                          <a:solidFill>
                            <a:srgbClr val="111111"/>
                          </a:solidFill>
                          <a:latin typeface="Microsoft YaHei"/>
                        </a:defRPr>
                      </a:pPr>
                      <a:r>
                        <a:t>吸收 / 必要时瞬态测量；配对介质</a:t>
                      </a:r>
                    </a:p>
                  </a:txBody>
                  <a:tcPr marL="91440" marR="64008" marT="64008" marB="45720">
                    <a:solidFill>
                      <a:srgbClr val="EDF3FF"/>
                    </a:solidFill>
                  </a:tcPr>
                </a:tc>
              </a:tr>
              <a:tr h="474181">
                <a:tc>
                  <a:txBody>
                    <a:bodyPr/>
                    <a:lstStyle/>
                    <a:p>
                      <a:pPr>
                        <a:defRPr sz="1400" b="0">
                          <a:solidFill>
                            <a:srgbClr val="111111"/>
                          </a:solidFill>
                          <a:latin typeface="Microsoft YaHei"/>
                        </a:defRPr>
                      </a:pPr>
                      <a:r>
                        <a:t>模型初始活化不足</a:t>
                      </a:r>
                    </a:p>
                  </a:txBody>
                  <a:tcPr marL="91440" marR="64008" marT="64008" marB="45720">
                    <a:solidFill>
                      <a:srgbClr val="FFFFFF"/>
                    </a:solidFill>
                  </a:tcPr>
                </a:tc>
                <a:tc>
                  <a:txBody>
                    <a:bodyPr/>
                    <a:lstStyle/>
                    <a:p>
                      <a:pPr>
                        <a:defRPr sz="1400" b="0">
                          <a:solidFill>
                            <a:srgbClr val="111111"/>
                          </a:solidFill>
                          <a:latin typeface="Microsoft YaHei"/>
                        </a:defRPr>
                      </a:pPr>
                      <a:r>
                        <a:t>底物未有效进入预想路径</a:t>
                      </a:r>
                    </a:p>
                  </a:txBody>
                  <a:tcPr marL="91440" marR="64008" marT="64008" marB="45720">
                    <a:solidFill>
                      <a:srgbClr val="FFFFFF"/>
                    </a:solidFill>
                  </a:tcPr>
                </a:tc>
                <a:tc>
                  <a:txBody>
                    <a:bodyPr/>
                    <a:lstStyle/>
                    <a:p>
                      <a:pPr>
                        <a:defRPr sz="1400" b="0">
                          <a:solidFill>
                            <a:srgbClr val="111111"/>
                          </a:solidFill>
                          <a:latin typeface="Microsoft YaHei"/>
                        </a:defRPr>
                      </a:pPr>
                      <a:r>
                        <a:t>底物回收、浓度与时间曲线</a:t>
                      </a:r>
                    </a:p>
                  </a:txBody>
                  <a:tcPr marL="91440" marR="64008" marT="64008" marB="45720">
                    <a:solidFill>
                      <a:srgbClr val="FFFFFF"/>
                    </a:solidFill>
                  </a:tcPr>
                </a:tc>
              </a:tr>
              <a:tr h="474181">
                <a:tc>
                  <a:txBody>
                    <a:bodyPr/>
                    <a:lstStyle/>
                    <a:p>
                      <a:pPr>
                        <a:defRPr sz="1400" b="0">
                          <a:solidFill>
                            <a:srgbClr val="111111"/>
                          </a:solidFill>
                          <a:latin typeface="Microsoft YaHei"/>
                        </a:defRPr>
                      </a:pPr>
                      <a:r>
                        <a:t>产物未被当前方法识别</a:t>
                      </a:r>
                    </a:p>
                  </a:txBody>
                  <a:tcPr marL="91440" marR="64008" marT="64008" marB="45720">
                    <a:solidFill>
                      <a:srgbClr val="EDF3FF"/>
                    </a:solidFill>
                  </a:tcPr>
                </a:tc>
                <a:tc>
                  <a:txBody>
                    <a:bodyPr/>
                    <a:lstStyle/>
                    <a:p>
                      <a:pPr>
                        <a:defRPr sz="1400" b="0">
                          <a:solidFill>
                            <a:srgbClr val="111111"/>
                          </a:solidFill>
                          <a:latin typeface="Microsoft YaHei"/>
                        </a:defRPr>
                      </a:pPr>
                      <a:r>
                        <a:t>挥发性、极性或不稳定组分漏检</a:t>
                      </a:r>
                    </a:p>
                  </a:txBody>
                  <a:tcPr marL="91440" marR="64008" marT="64008" marB="45720">
                    <a:solidFill>
                      <a:srgbClr val="EDF3FF"/>
                    </a:solidFill>
                  </a:tcPr>
                </a:tc>
                <a:tc>
                  <a:txBody>
                    <a:bodyPr/>
                    <a:lstStyle/>
                    <a:p>
                      <a:pPr>
                        <a:defRPr sz="1400" b="0">
                          <a:solidFill>
                            <a:srgbClr val="111111"/>
                          </a:solidFill>
                          <a:latin typeface="Microsoft YaHei"/>
                        </a:defRPr>
                      </a:pPr>
                      <a:r>
                        <a:t>标准品、检测窗口与加标回收</a:t>
                      </a:r>
                    </a:p>
                  </a:txBody>
                  <a:tcPr marL="91440" marR="64008" marT="64008" marB="45720">
                    <a:solidFill>
                      <a:srgbClr val="EDF3FF"/>
                    </a:solidFill>
                  </a:tcPr>
                </a:tc>
              </a:tr>
              <a:tr h="474181">
                <a:tc>
                  <a:txBody>
                    <a:bodyPr/>
                    <a:lstStyle/>
                    <a:p>
                      <a:pPr>
                        <a:defRPr sz="1400" b="0">
                          <a:solidFill>
                            <a:srgbClr val="111111"/>
                          </a:solidFill>
                          <a:latin typeface="Microsoft YaHei"/>
                        </a:defRPr>
                      </a:pPr>
                      <a:r>
                        <a:t>氧气改变路径</a:t>
                      </a:r>
                    </a:p>
                  </a:txBody>
                  <a:tcPr marL="91440" marR="64008" marT="64008" marB="45720">
                    <a:solidFill>
                      <a:srgbClr val="FFFFFF"/>
                    </a:solidFill>
                  </a:tcPr>
                </a:tc>
                <a:tc>
                  <a:txBody>
                    <a:bodyPr/>
                    <a:lstStyle/>
                    <a:p>
                      <a:pPr>
                        <a:defRPr sz="1400" b="0">
                          <a:solidFill>
                            <a:srgbClr val="111111"/>
                          </a:solidFill>
                          <a:latin typeface="Microsoft YaHei"/>
                        </a:defRPr>
                      </a:pPr>
                      <a:r>
                        <a:t>氧参与、猝灭或传质影响结果</a:t>
                      </a:r>
                    </a:p>
                  </a:txBody>
                  <a:tcPr marL="91440" marR="64008" marT="64008" marB="45720">
                    <a:solidFill>
                      <a:srgbClr val="FFFFFF"/>
                    </a:solidFill>
                  </a:tcPr>
                </a:tc>
                <a:tc>
                  <a:txBody>
                    <a:bodyPr/>
                    <a:lstStyle/>
                    <a:p>
                      <a:pPr>
                        <a:defRPr sz="1400" b="0">
                          <a:solidFill>
                            <a:srgbClr val="111111"/>
                          </a:solidFill>
                          <a:latin typeface="Microsoft YaHei"/>
                        </a:defRPr>
                      </a:pPr>
                      <a:r>
                        <a:t>O₂ / N₂ 配对与氧化产物分析</a:t>
                      </a:r>
                    </a:p>
                  </a:txBody>
                  <a:tcPr marL="91440" marR="64008" marT="64008" marB="45720">
                    <a:solidFill>
                      <a:srgbClr val="FFFFFF"/>
                    </a:solidFill>
                  </a:tcPr>
                </a:tc>
              </a:tr>
              <a:tr h="474186">
                <a:tc>
                  <a:txBody>
                    <a:bodyPr/>
                    <a:lstStyle/>
                    <a:p>
                      <a:pPr>
                        <a:defRPr sz="1400" b="0">
                          <a:solidFill>
                            <a:srgbClr val="111111"/>
                          </a:solidFill>
                          <a:latin typeface="Microsoft YaHei"/>
                        </a:defRPr>
                      </a:pPr>
                      <a:r>
                        <a:t>转化率仍需方法学复核</a:t>
                      </a:r>
                    </a:p>
                  </a:txBody>
                  <a:tcPr marL="91440" marR="64008" marT="64008" marB="45720">
                    <a:solidFill>
                      <a:srgbClr val="EDF3FF"/>
                    </a:solidFill>
                  </a:tcPr>
                </a:tc>
                <a:tc>
                  <a:txBody>
                    <a:bodyPr/>
                    <a:lstStyle/>
                    <a:p>
                      <a:pPr>
                        <a:defRPr sz="1400" b="0">
                          <a:solidFill>
                            <a:srgbClr val="111111"/>
                          </a:solidFill>
                          <a:latin typeface="Microsoft YaHei"/>
                        </a:defRPr>
                      </a:pPr>
                      <a:r>
                        <a:t>峰重叠、响应因子或内标偏差</a:t>
                      </a:r>
                    </a:p>
                  </a:txBody>
                  <a:tcPr marL="91440" marR="64008" marT="64008" marB="45720">
                    <a:solidFill>
                      <a:srgbClr val="EDF3FF"/>
                    </a:solidFill>
                  </a:tcPr>
                </a:tc>
                <a:tc>
                  <a:txBody>
                    <a:bodyPr/>
                    <a:lstStyle/>
                    <a:p>
                      <a:pPr>
                        <a:defRPr sz="1400" b="0">
                          <a:solidFill>
                            <a:srgbClr val="111111"/>
                          </a:solidFill>
                          <a:latin typeface="Microsoft YaHei"/>
                        </a:defRPr>
                      </a:pPr>
                      <a:r>
                        <a:t>重审原始色谱与校准曲线</a:t>
                      </a:r>
                    </a:p>
                  </a:txBody>
                  <a:tcPr marL="91440" marR="64008" marT="64008" marB="45720">
                    <a:solidFill>
                      <a:srgbClr val="EDF3FF"/>
                    </a:solidFill>
                  </a:tcPr>
                </a:tc>
              </a:tr>
            </a:tbl>
          </a:graphicData>
        </a:graphic>
      </p:graphicFrame>
      <p:sp>
        <p:nvSpPr>
          <p:cNvPr id="17" name="Rectangle 1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hevron 1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0" name="TextBox 1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六种解释允许并存，先用空白与分析验证缩小范围，再决定反应条件优化。</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机理修正：将介质竞争纳入与目标底物并行的反应网络</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保留 AQ 激发与氧相关反应的合理入口，暂不指定单一供氢体或唯一活性物种</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Su et al., Angew. Chem. Int. Ed. 2026, e5578835.；本课题支路均待验证。</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13</a:t>
            </a:r>
          </a:p>
        </p:txBody>
      </p:sp>
      <p:sp>
        <p:nvSpPr>
          <p:cNvPr id="7" name="Rounded Rectangle 6"/>
          <p:cNvSpPr/>
          <p:nvPr/>
        </p:nvSpPr>
        <p:spPr>
          <a:xfrm>
            <a:off x="438912" y="1417320"/>
            <a:ext cx="11201400" cy="93268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共同入口</a:t>
            </a:r>
          </a:p>
        </p:txBody>
      </p:sp>
      <p:sp>
        <p:nvSpPr>
          <p:cNvPr id="10" name="TextBox 9"/>
          <p:cNvSpPr txBox="1"/>
          <p:nvPr/>
        </p:nvSpPr>
        <p:spPr>
          <a:xfrm>
            <a:off x="795528" y="1911095"/>
            <a:ext cx="3794760" cy="292608"/>
          </a:xfrm>
          <a:prstGeom prst="rect">
            <a:avLst/>
          </a:prstGeom>
          <a:noFill/>
          <a:effectLst/>
        </p:spPr>
        <p:txBody>
          <a:bodyPr wrap="square" lIns="22860" rIns="22860" tIns="0" bIns="0">
            <a:spAutoFit/>
          </a:bodyPr>
          <a:lstStyle/>
          <a:p>
            <a:pPr>
              <a:spcAft>
                <a:spcPts val="600"/>
              </a:spcAft>
              <a:defRPr sz="2200" b="1">
                <a:solidFill>
                  <a:srgbClr val="063584"/>
                </a:solidFill>
                <a:latin typeface="Microsoft YaHei"/>
              </a:defRPr>
            </a:pPr>
            <a:r>
              <a:t>EAQ ─hν / ISC→ ³EAQ*</a:t>
            </a:r>
          </a:p>
        </p:txBody>
      </p:sp>
      <p:sp>
        <p:nvSpPr>
          <p:cNvPr id="11" name="TextBox 10"/>
          <p:cNvSpPr txBox="1"/>
          <p:nvPr/>
        </p:nvSpPr>
        <p:spPr>
          <a:xfrm>
            <a:off x="5148072" y="1911095"/>
            <a:ext cx="5897880" cy="292608"/>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分流取决于吸光、浓度、反应性与氧条件</a:t>
            </a:r>
          </a:p>
        </p:txBody>
      </p:sp>
      <p:cxnSp>
        <p:nvCxnSpPr>
          <p:cNvPr id="12" name="Connector 11"/>
          <p:cNvCxnSpPr/>
          <p:nvPr/>
        </p:nvCxnSpPr>
        <p:spPr>
          <a:xfrm>
            <a:off x="2057400"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6071616"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0040112"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891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46634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8521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目标底物支路</a:t>
            </a:r>
          </a:p>
        </p:txBody>
      </p:sp>
      <p:sp>
        <p:nvSpPr>
          <p:cNvPr id="18" name="TextBox 17"/>
          <p:cNvSpPr txBox="1"/>
          <p:nvPr/>
        </p:nvSpPr>
        <p:spPr>
          <a:xfrm>
            <a:off x="612647"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模型 / PVC → R·</a:t>
            </a:r>
          </a:p>
        </p:txBody>
      </p:sp>
      <p:sp>
        <p:nvSpPr>
          <p:cNvPr id="19" name="TextBox 18"/>
          <p:cNvSpPr txBox="1"/>
          <p:nvPr/>
        </p:nvSpPr>
        <p:spPr>
          <a:xfrm>
            <a:off x="612647"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 + O₂ → ROO· → 含氧结构</a:t>
            </a:r>
          </a:p>
        </p:txBody>
      </p:sp>
      <p:sp>
        <p:nvSpPr>
          <p:cNvPr id="20" name="TextBox 19"/>
          <p:cNvSpPr txBox="1"/>
          <p:nvPr/>
        </p:nvSpPr>
        <p:spPr>
          <a:xfrm>
            <a:off x="612647"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依据：一般反应性；本体系待证</a:t>
            </a:r>
          </a:p>
        </p:txBody>
      </p:sp>
      <p:sp>
        <p:nvSpPr>
          <p:cNvPr id="21" name="Rounded Rectangle 20"/>
          <p:cNvSpPr/>
          <p:nvPr/>
        </p:nvSpPr>
        <p:spPr>
          <a:xfrm>
            <a:off x="423367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426110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37997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介质竞争支路</a:t>
            </a:r>
          </a:p>
        </p:txBody>
      </p:sp>
      <p:sp>
        <p:nvSpPr>
          <p:cNvPr id="24" name="TextBox 23"/>
          <p:cNvSpPr txBox="1"/>
          <p:nvPr/>
        </p:nvSpPr>
        <p:spPr>
          <a:xfrm>
            <a:off x="440740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DCE → 介质衍生物种</a:t>
            </a:r>
          </a:p>
        </p:txBody>
      </p:sp>
      <p:sp>
        <p:nvSpPr>
          <p:cNvPr id="25" name="TextBox 24"/>
          <p:cNvSpPr txBox="1"/>
          <p:nvPr/>
        </p:nvSpPr>
        <p:spPr>
          <a:xfrm>
            <a:off x="440740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候选副产物 / 光敏组分消耗</a:t>
            </a:r>
          </a:p>
        </p:txBody>
      </p:sp>
      <p:sp>
        <p:nvSpPr>
          <p:cNvPr id="26" name="TextBox 25"/>
          <p:cNvSpPr txBox="1"/>
          <p:nvPr/>
        </p:nvSpPr>
        <p:spPr>
          <a:xfrm>
            <a:off x="440740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依据：已有候选信号；来源待证</a:t>
            </a:r>
          </a:p>
        </p:txBody>
      </p:sp>
      <p:sp>
        <p:nvSpPr>
          <p:cNvPr id="27" name="Rounded Rectangle 26"/>
          <p:cNvSpPr/>
          <p:nvPr/>
        </p:nvSpPr>
        <p:spPr>
          <a:xfrm>
            <a:off x="802843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805586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17473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氧与含氯物种支路</a:t>
            </a:r>
          </a:p>
        </p:txBody>
      </p:sp>
      <p:sp>
        <p:nvSpPr>
          <p:cNvPr id="30" name="TextBox 29"/>
          <p:cNvSpPr txBox="1"/>
          <p:nvPr/>
        </p:nvSpPr>
        <p:spPr>
          <a:xfrm>
            <a:off x="820216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ROS / Cl· 的候选参与</a:t>
            </a:r>
          </a:p>
        </p:txBody>
      </p:sp>
      <p:sp>
        <p:nvSpPr>
          <p:cNvPr id="31" name="TextBox 30"/>
          <p:cNvSpPr txBox="1"/>
          <p:nvPr/>
        </p:nvSpPr>
        <p:spPr>
          <a:xfrm>
            <a:off x="820216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影响启动、HAT 与后续路径</a:t>
            </a:r>
          </a:p>
        </p:txBody>
      </p:sp>
      <p:sp>
        <p:nvSpPr>
          <p:cNvPr id="32" name="TextBox 31"/>
          <p:cNvSpPr txBox="1"/>
          <p:nvPr/>
        </p:nvSpPr>
        <p:spPr>
          <a:xfrm>
            <a:off x="820216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依据：相关文献；本体系待证</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修正的是竞争路径与证据等级，不将任何候选支路包装成已经成立的催化循环。</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第一轮实验先拆分光、EAQ、介质和氧的作用</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所有组采用统一内标、校准、时间与温度记录；一次只改变一个主要因素</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14</a:t>
            </a:r>
          </a:p>
        </p:txBody>
      </p:sp>
      <p:sp>
        <p:nvSpPr>
          <p:cNvPr id="7" name="Rounded Rectangle 6"/>
          <p:cNvSpPr/>
          <p:nvPr/>
        </p:nvSpPr>
        <p:spPr>
          <a:xfrm>
            <a:off x="438912"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光照 / 暗反应</a:t>
            </a:r>
          </a:p>
        </p:txBody>
      </p:sp>
      <p:sp>
        <p:nvSpPr>
          <p:cNvPr id="10" name="Oval 9"/>
          <p:cNvSpPr/>
          <p:nvPr/>
        </p:nvSpPr>
        <p:spPr>
          <a:xfrm>
            <a:off x="621792"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26364"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05840"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识别光驱动贡献</a:t>
            </a:r>
          </a:p>
        </p:txBody>
      </p:sp>
      <p:sp>
        <p:nvSpPr>
          <p:cNvPr id="13" name="TextBox 12"/>
          <p:cNvSpPr txBox="1"/>
          <p:nvPr/>
        </p:nvSpPr>
        <p:spPr>
          <a:xfrm>
            <a:off x="640080"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同温、同取样；记录有效光通量</a:t>
            </a:r>
          </a:p>
        </p:txBody>
      </p:sp>
      <p:sp>
        <p:nvSpPr>
          <p:cNvPr id="14" name="TextBox 13"/>
          <p:cNvSpPr txBox="1"/>
          <p:nvPr/>
        </p:nvSpPr>
        <p:spPr>
          <a:xfrm>
            <a:off x="640080"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观察：底物回收与产物净生成</a:t>
            </a:r>
          </a:p>
        </p:txBody>
      </p:sp>
      <p:sp>
        <p:nvSpPr>
          <p:cNvPr id="15" name="Rounded Rectangle 14"/>
          <p:cNvSpPr/>
          <p:nvPr/>
        </p:nvSpPr>
        <p:spPr>
          <a:xfrm>
            <a:off x="6163056"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190488"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309360"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有 / 无 EAQ；AQ / EAQ</a:t>
            </a:r>
          </a:p>
        </p:txBody>
      </p:sp>
      <p:sp>
        <p:nvSpPr>
          <p:cNvPr id="18" name="Oval 17"/>
          <p:cNvSpPr/>
          <p:nvPr/>
        </p:nvSpPr>
        <p:spPr>
          <a:xfrm>
            <a:off x="6345936"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350508"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0" name="TextBox 19"/>
          <p:cNvSpPr txBox="1"/>
          <p:nvPr/>
        </p:nvSpPr>
        <p:spPr>
          <a:xfrm>
            <a:off x="6729984"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量化光敏增益与取代基影响</a:t>
            </a:r>
          </a:p>
        </p:txBody>
      </p:sp>
      <p:sp>
        <p:nvSpPr>
          <p:cNvPr id="21" name="TextBox 20"/>
          <p:cNvSpPr txBox="1"/>
          <p:nvPr/>
        </p:nvSpPr>
        <p:spPr>
          <a:xfrm>
            <a:off x="6364224"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匹配吸收；检查光敏剂稳定性</a:t>
            </a:r>
          </a:p>
        </p:txBody>
      </p:sp>
      <p:sp>
        <p:nvSpPr>
          <p:cNvPr id="22" name="TextBox 21"/>
          <p:cNvSpPr txBox="1"/>
          <p:nvPr/>
        </p:nvSpPr>
        <p:spPr>
          <a:xfrm>
            <a:off x="6364224"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观察：相对空白的净变化</a:t>
            </a:r>
          </a:p>
        </p:txBody>
      </p:sp>
      <p:sp>
        <p:nvSpPr>
          <p:cNvPr id="23" name="Rounded Rectangle 22"/>
          <p:cNvSpPr/>
          <p:nvPr/>
        </p:nvSpPr>
        <p:spPr>
          <a:xfrm>
            <a:off x="438912"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DCE / 非氯配对介质</a:t>
            </a:r>
          </a:p>
        </p:txBody>
      </p:sp>
      <p:sp>
        <p:nvSpPr>
          <p:cNvPr id="26" name="Oval 25"/>
          <p:cNvSpPr/>
          <p:nvPr/>
        </p:nvSpPr>
        <p:spPr>
          <a:xfrm>
            <a:off x="621792"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6364"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8" name="TextBox 27"/>
          <p:cNvSpPr txBox="1"/>
          <p:nvPr/>
        </p:nvSpPr>
        <p:spPr>
          <a:xfrm>
            <a:off x="1005840"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区分介质反应与物理效应</a:t>
            </a:r>
          </a:p>
        </p:txBody>
      </p:sp>
      <p:sp>
        <p:nvSpPr>
          <p:cNvPr id="29" name="TextBox 28"/>
          <p:cNvSpPr txBox="1"/>
          <p:nvPr/>
        </p:nvSpPr>
        <p:spPr>
          <a:xfrm>
            <a:off x="640080"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控制溶解性、浓度与吸光</a:t>
            </a:r>
          </a:p>
        </p:txBody>
      </p:sp>
      <p:sp>
        <p:nvSpPr>
          <p:cNvPr id="30" name="TextBox 29"/>
          <p:cNvSpPr txBox="1"/>
          <p:nvPr/>
        </p:nvSpPr>
        <p:spPr>
          <a:xfrm>
            <a:off x="640080"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观察：相同候选产物的来源</a:t>
            </a:r>
          </a:p>
        </p:txBody>
      </p:sp>
      <p:sp>
        <p:nvSpPr>
          <p:cNvPr id="31" name="Rounded Rectangle 30"/>
          <p:cNvSpPr/>
          <p:nvPr/>
        </p:nvSpPr>
        <p:spPr>
          <a:xfrm>
            <a:off x="6163056"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190488"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309360"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O₂ / N₂ / 空气</a:t>
            </a:r>
          </a:p>
        </p:txBody>
      </p:sp>
      <p:sp>
        <p:nvSpPr>
          <p:cNvPr id="34" name="Oval 33"/>
          <p:cNvSpPr/>
          <p:nvPr/>
        </p:nvSpPr>
        <p:spPr>
          <a:xfrm>
            <a:off x="6345936"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350508"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4</a:t>
            </a:r>
          </a:p>
        </p:txBody>
      </p:sp>
      <p:sp>
        <p:nvSpPr>
          <p:cNvPr id="36" name="TextBox 35"/>
          <p:cNvSpPr txBox="1"/>
          <p:nvPr/>
        </p:nvSpPr>
        <p:spPr>
          <a:xfrm>
            <a:off x="6729984"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分离氧作用与供气传质影响</a:t>
            </a:r>
          </a:p>
        </p:txBody>
      </p:sp>
      <p:sp>
        <p:nvSpPr>
          <p:cNvPr id="37" name="TextBox 36"/>
          <p:cNvSpPr txBox="1"/>
          <p:nvPr/>
        </p:nvSpPr>
        <p:spPr>
          <a:xfrm>
            <a:off x="6364224"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残余氧、供气方式与搅拌一致</a:t>
            </a:r>
          </a:p>
        </p:txBody>
      </p:sp>
      <p:sp>
        <p:nvSpPr>
          <p:cNvPr id="38" name="TextBox 37"/>
          <p:cNvSpPr txBox="1"/>
          <p:nvPr/>
        </p:nvSpPr>
        <p:spPr>
          <a:xfrm>
            <a:off x="6364224"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观察：速率与产物分布变化</a:t>
            </a:r>
          </a:p>
        </p:txBody>
      </p:sp>
      <p:sp>
        <p:nvSpPr>
          <p:cNvPr id="39" name="Rectangle 3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Chevron 3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2" name="TextBox 4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确认必要条件与介质背景后，再对特定自由基与再生路径作机制归属。</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第二轮实验以物种、氯与链长证据交叉约束机制</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不以单一捕获剂抑制或一条阳性信号作为完整机理证明</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Qin et al., Appl. Catal. B: Environ. 2024, 341, 123355.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15</a:t>
            </a:r>
          </a:p>
        </p:txBody>
      </p:sp>
      <p:sp>
        <p:nvSpPr>
          <p:cNvPr id="7" name="Rounded Rectangle 6"/>
          <p:cNvSpPr/>
          <p:nvPr/>
        </p:nvSpPr>
        <p:spPr>
          <a:xfrm>
            <a:off x="43891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自由基 / ROS</a:t>
            </a:r>
          </a:p>
        </p:txBody>
      </p:sp>
      <p:sp>
        <p:nvSpPr>
          <p:cNvPr id="10" name="TextBox 9"/>
          <p:cNvSpPr txBox="1"/>
          <p:nvPr/>
        </p:nvSpPr>
        <p:spPr>
          <a:xfrm>
            <a:off x="603503"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R· + 捕获剂 → 加合物</a:t>
            </a:r>
          </a:p>
        </p:txBody>
      </p:sp>
      <p:cxnSp>
        <p:nvCxnSpPr>
          <p:cNvPr id="11" name="Connector 10"/>
          <p:cNvCxnSpPr/>
          <p:nvPr/>
        </p:nvCxnSpPr>
        <p:spPr>
          <a:xfrm>
            <a:off x="224028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03503"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EPR + 化学捕获</a:t>
            </a:r>
          </a:p>
        </p:txBody>
      </p:sp>
      <p:sp>
        <p:nvSpPr>
          <p:cNvPr id="13" name="TextBox 12"/>
          <p:cNvSpPr txBox="1"/>
          <p:nvPr/>
        </p:nvSpPr>
        <p:spPr>
          <a:xfrm>
            <a:off x="603503"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探针空白、模拟与选择性</a:t>
            </a:r>
          </a:p>
          <a:p>
            <a:pPr algn="ctr">
              <a:spcAft>
                <a:spcPts val="600"/>
              </a:spcAft>
              <a:defRPr sz="1400" b="0">
                <a:solidFill>
                  <a:srgbClr val="566273"/>
                </a:solidFill>
                <a:latin typeface="Microsoft YaHei"/>
              </a:defRPr>
            </a:pPr>
            <a:r>
              <a:t>区分 Cl·、R· 和氧相关物种</a:t>
            </a:r>
          </a:p>
        </p:txBody>
      </p:sp>
      <p:sp>
        <p:nvSpPr>
          <p:cNvPr id="14" name="Rounded Rectangle 13"/>
          <p:cNvSpPr/>
          <p:nvPr/>
        </p:nvSpPr>
        <p:spPr>
          <a:xfrm>
            <a:off x="423367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426110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37997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氯的去向</a:t>
            </a:r>
          </a:p>
        </p:txBody>
      </p:sp>
      <p:sp>
        <p:nvSpPr>
          <p:cNvPr id="17" name="TextBox 16"/>
          <p:cNvSpPr txBox="1"/>
          <p:nvPr/>
        </p:nvSpPr>
        <p:spPr>
          <a:xfrm>
            <a:off x="439826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C–Cl → 含氯产物 / Cl⁻</a:t>
            </a:r>
          </a:p>
        </p:txBody>
      </p:sp>
      <p:cxnSp>
        <p:nvCxnSpPr>
          <p:cNvPr id="18" name="Connector 17"/>
          <p:cNvCxnSpPr/>
          <p:nvPr/>
        </p:nvCxnSpPr>
        <p:spPr>
          <a:xfrm>
            <a:off x="603504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439826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Cl⁻ + 总氯 / 有机氯</a:t>
            </a:r>
          </a:p>
        </p:txBody>
      </p:sp>
      <p:sp>
        <p:nvSpPr>
          <p:cNvPr id="20" name="TextBox 19"/>
          <p:cNvSpPr txBox="1"/>
          <p:nvPr/>
        </p:nvSpPr>
        <p:spPr>
          <a:xfrm>
            <a:off x="439826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覆盖固、液、气相回收</a:t>
            </a:r>
          </a:p>
          <a:p>
            <a:pPr algn="ctr">
              <a:spcAft>
                <a:spcPts val="600"/>
              </a:spcAft>
              <a:defRPr sz="1400" b="0">
                <a:solidFill>
                  <a:srgbClr val="566273"/>
                </a:solidFill>
                <a:latin typeface="Microsoft YaHei"/>
              </a:defRPr>
            </a:pPr>
            <a:r>
              <a:t>Cl⁻ 释放不直接证明 Cl·</a:t>
            </a:r>
          </a:p>
        </p:txBody>
      </p:sp>
      <p:sp>
        <p:nvSpPr>
          <p:cNvPr id="21" name="Rounded Rectangle 20"/>
          <p:cNvSpPr/>
          <p:nvPr/>
        </p:nvSpPr>
        <p:spPr>
          <a:xfrm>
            <a:off x="802843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805586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17473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聚合物链变化</a:t>
            </a:r>
          </a:p>
        </p:txBody>
      </p:sp>
      <p:sp>
        <p:nvSpPr>
          <p:cNvPr id="24" name="TextBox 23"/>
          <p:cNvSpPr txBox="1"/>
          <p:nvPr/>
        </p:nvSpPr>
        <p:spPr>
          <a:xfrm>
            <a:off x="819302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长链 → 低聚物 / 凝胶</a:t>
            </a:r>
          </a:p>
        </p:txBody>
      </p:sp>
      <p:cxnSp>
        <p:nvCxnSpPr>
          <p:cNvPr id="25" name="Connector 24"/>
          <p:cNvCxnSpPr/>
          <p:nvPr/>
        </p:nvCxnSpPr>
        <p:spPr>
          <a:xfrm>
            <a:off x="982980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819302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SEC/GPC + 凝胶分数</a:t>
            </a:r>
          </a:p>
        </p:txBody>
      </p:sp>
      <p:sp>
        <p:nvSpPr>
          <p:cNvPr id="27" name="TextBox 26"/>
          <p:cNvSpPr txBox="1"/>
          <p:nvPr/>
        </p:nvSpPr>
        <p:spPr>
          <a:xfrm>
            <a:off x="819302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兼顾可溶与不溶组分</a:t>
            </a:r>
          </a:p>
          <a:p>
            <a:pPr algn="ctr">
              <a:spcAft>
                <a:spcPts val="600"/>
              </a:spcAft>
              <a:defRPr sz="1400" b="0">
                <a:solidFill>
                  <a:srgbClr val="566273"/>
                </a:solidFill>
                <a:latin typeface="Microsoft YaHei"/>
              </a:defRPr>
            </a:pPr>
            <a:r>
              <a:t>官能团变化不替代链长证据</a:t>
            </a:r>
          </a:p>
        </p:txBody>
      </p:sp>
      <p:sp>
        <p:nvSpPr>
          <p:cNvPr id="28" name="Rounded Rectangle 27"/>
          <p:cNvSpPr/>
          <p:nvPr/>
        </p:nvSpPr>
        <p:spPr>
          <a:xfrm>
            <a:off x="438912" y="5020056"/>
            <a:ext cx="112014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58368" y="5184648"/>
            <a:ext cx="10744200" cy="39319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共同闭环：GC-MS / 标准品 / NMR 确认产物与定量；跟踪 EAQ 组分以检验稳定性与再生。</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物种识别、物料去向、链长与产物相互约束，才能支持 PVC 主链断裂的机制解释。</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下一步实验按分析确认、底物扩展和机制检验逐级推进</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以阶段输出作为推进判据；先完成最有区分度的实验，避免堆叠缺少归属的阳性结果</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16</a:t>
            </a:r>
          </a:p>
        </p:txBody>
      </p:sp>
      <p:cxnSp>
        <p:nvCxnSpPr>
          <p:cNvPr id="7" name="Connector 6"/>
          <p:cNvCxnSpPr/>
          <p:nvPr/>
        </p:nvCxnSpPr>
        <p:spPr>
          <a:xfrm>
            <a:off x="896112" y="1901952"/>
            <a:ext cx="10232136" cy="0"/>
          </a:xfrm>
          <a:prstGeom prst="line">
            <a:avLst/>
          </a:prstGeom>
          <a:ln w="254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 name="Oval 7"/>
          <p:cNvSpPr/>
          <p:nvPr/>
        </p:nvSpPr>
        <p:spPr>
          <a:xfrm>
            <a:off x="1298448"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03019"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1</a:t>
            </a:r>
          </a:p>
        </p:txBody>
      </p:sp>
      <p:sp>
        <p:nvSpPr>
          <p:cNvPr id="10" name="TextBox 9"/>
          <p:cNvSpPr txBox="1"/>
          <p:nvPr/>
        </p:nvSpPr>
        <p:spPr>
          <a:xfrm>
            <a:off x="484632"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确认分析</a:t>
            </a:r>
          </a:p>
        </p:txBody>
      </p:sp>
      <p:sp>
        <p:nvSpPr>
          <p:cNvPr id="11" name="TextBox 10"/>
          <p:cNvSpPr txBox="1"/>
          <p:nvPr/>
        </p:nvSpPr>
        <p:spPr>
          <a:xfrm>
            <a:off x="484632"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原始色谱、峰归属</a:t>
            </a:r>
          </a:p>
          <a:p>
            <a:pPr algn="ctr">
              <a:spcAft>
                <a:spcPts val="600"/>
              </a:spcAft>
              <a:defRPr sz="1600" b="0">
                <a:solidFill>
                  <a:srgbClr val="111111"/>
                </a:solidFill>
                <a:latin typeface="Microsoft YaHei"/>
              </a:defRPr>
            </a:pPr>
            <a:r>
              <a:t>内标、校准、回收率</a:t>
            </a:r>
          </a:p>
        </p:txBody>
      </p:sp>
      <p:cxnSp>
        <p:nvCxnSpPr>
          <p:cNvPr id="12" name="Connector 11"/>
          <p:cNvCxnSpPr/>
          <p:nvPr/>
        </p:nvCxnSpPr>
        <p:spPr>
          <a:xfrm>
            <a:off x="640080"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484632"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产物与底物消耗可对应</a:t>
            </a:r>
          </a:p>
        </p:txBody>
      </p:sp>
      <p:sp>
        <p:nvSpPr>
          <p:cNvPr id="14" name="Oval 13"/>
          <p:cNvSpPr/>
          <p:nvPr/>
        </p:nvSpPr>
        <p:spPr>
          <a:xfrm>
            <a:off x="3575303"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79876"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2</a:t>
            </a:r>
          </a:p>
        </p:txBody>
      </p:sp>
      <p:sp>
        <p:nvSpPr>
          <p:cNvPr id="16" name="TextBox 15"/>
          <p:cNvSpPr txBox="1"/>
          <p:nvPr/>
        </p:nvSpPr>
        <p:spPr>
          <a:xfrm>
            <a:off x="2761488"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优化模型</a:t>
            </a:r>
          </a:p>
        </p:txBody>
      </p:sp>
      <p:sp>
        <p:nvSpPr>
          <p:cNvPr id="17" name="TextBox 16"/>
          <p:cNvSpPr txBox="1"/>
          <p:nvPr/>
        </p:nvSpPr>
        <p:spPr>
          <a:xfrm>
            <a:off x="2761488"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2-氯己烷等模型</a:t>
            </a:r>
          </a:p>
          <a:p>
            <a:pPr algn="ctr">
              <a:spcAft>
                <a:spcPts val="600"/>
              </a:spcAft>
              <a:defRPr sz="1600" b="0">
                <a:solidFill>
                  <a:srgbClr val="111111"/>
                </a:solidFill>
                <a:latin typeface="Microsoft YaHei"/>
              </a:defRPr>
            </a:pPr>
            <a:r>
              <a:t>介质、波长与气氛</a:t>
            </a:r>
          </a:p>
        </p:txBody>
      </p:sp>
      <p:cxnSp>
        <p:nvCxnSpPr>
          <p:cNvPr id="18" name="Connector 17"/>
          <p:cNvCxnSpPr/>
          <p:nvPr/>
        </p:nvCxnSpPr>
        <p:spPr>
          <a:xfrm>
            <a:off x="2916936"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2761488"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可重复的局部反应</a:t>
            </a:r>
          </a:p>
        </p:txBody>
      </p:sp>
      <p:sp>
        <p:nvSpPr>
          <p:cNvPr id="20" name="Oval 19"/>
          <p:cNvSpPr/>
          <p:nvPr/>
        </p:nvSpPr>
        <p:spPr>
          <a:xfrm>
            <a:off x="5852160"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856732"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3</a:t>
            </a:r>
          </a:p>
        </p:txBody>
      </p:sp>
      <p:sp>
        <p:nvSpPr>
          <p:cNvPr id="22" name="TextBox 21"/>
          <p:cNvSpPr txBox="1"/>
          <p:nvPr/>
        </p:nvSpPr>
        <p:spPr>
          <a:xfrm>
            <a:off x="5038344"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扩展底物</a:t>
            </a:r>
          </a:p>
        </p:txBody>
      </p:sp>
      <p:sp>
        <p:nvSpPr>
          <p:cNvPr id="23" name="TextBox 22"/>
          <p:cNvSpPr txBox="1"/>
          <p:nvPr/>
        </p:nvSpPr>
        <p:spPr>
          <a:xfrm>
            <a:off x="5038344"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氯代石蜡等</a:t>
            </a:r>
          </a:p>
          <a:p>
            <a:pPr algn="ctr">
              <a:spcAft>
                <a:spcPts val="600"/>
              </a:spcAft>
              <a:defRPr sz="1600" b="0">
                <a:solidFill>
                  <a:srgbClr val="111111"/>
                </a:solidFill>
                <a:latin typeface="Microsoft YaHei"/>
              </a:defRPr>
            </a:pPr>
            <a:r>
              <a:t>连续含氯位点</a:t>
            </a:r>
          </a:p>
        </p:txBody>
      </p:sp>
      <p:cxnSp>
        <p:nvCxnSpPr>
          <p:cNvPr id="24" name="Connector 23"/>
          <p:cNvCxnSpPr/>
          <p:nvPr/>
        </p:nvCxnSpPr>
        <p:spPr>
          <a:xfrm>
            <a:off x="5193792"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5038344"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模型结论的适用范围</a:t>
            </a:r>
          </a:p>
        </p:txBody>
      </p:sp>
      <p:sp>
        <p:nvSpPr>
          <p:cNvPr id="26" name="Oval 25"/>
          <p:cNvSpPr/>
          <p:nvPr/>
        </p:nvSpPr>
        <p:spPr>
          <a:xfrm>
            <a:off x="8129016"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133588"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4</a:t>
            </a:r>
          </a:p>
        </p:txBody>
      </p:sp>
      <p:sp>
        <p:nvSpPr>
          <p:cNvPr id="28" name="TextBox 27"/>
          <p:cNvSpPr txBox="1"/>
          <p:nvPr/>
        </p:nvSpPr>
        <p:spPr>
          <a:xfrm>
            <a:off x="7315200"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进入 PVC</a:t>
            </a:r>
          </a:p>
        </p:txBody>
      </p:sp>
      <p:sp>
        <p:nvSpPr>
          <p:cNvPr id="29" name="TextBox 28"/>
          <p:cNvSpPr txBox="1"/>
          <p:nvPr/>
        </p:nvSpPr>
        <p:spPr>
          <a:xfrm>
            <a:off x="7315200"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氯平衡、SEC/GPC</a:t>
            </a:r>
          </a:p>
          <a:p>
            <a:pPr algn="ctr">
              <a:spcAft>
                <a:spcPts val="600"/>
              </a:spcAft>
              <a:defRPr sz="1600" b="0">
                <a:solidFill>
                  <a:srgbClr val="111111"/>
                </a:solidFill>
                <a:latin typeface="Microsoft YaHei"/>
              </a:defRPr>
            </a:pPr>
            <a:r>
              <a:t>凝胶与产物分析</a:t>
            </a:r>
          </a:p>
        </p:txBody>
      </p:sp>
      <p:cxnSp>
        <p:nvCxnSpPr>
          <p:cNvPr id="30" name="Connector 29"/>
          <p:cNvCxnSpPr/>
          <p:nvPr/>
        </p:nvCxnSpPr>
        <p:spPr>
          <a:xfrm>
            <a:off x="7470648"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315200"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独立判断主链变化</a:t>
            </a:r>
          </a:p>
        </p:txBody>
      </p:sp>
      <p:sp>
        <p:nvSpPr>
          <p:cNvPr id="32" name="Oval 31"/>
          <p:cNvSpPr/>
          <p:nvPr/>
        </p:nvSpPr>
        <p:spPr>
          <a:xfrm>
            <a:off x="10405872"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0410444"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5</a:t>
            </a:r>
          </a:p>
        </p:txBody>
      </p:sp>
      <p:sp>
        <p:nvSpPr>
          <p:cNvPr id="34" name="TextBox 33"/>
          <p:cNvSpPr txBox="1"/>
          <p:nvPr/>
        </p:nvSpPr>
        <p:spPr>
          <a:xfrm>
            <a:off x="9592056"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完善机制</a:t>
            </a:r>
          </a:p>
        </p:txBody>
      </p:sp>
      <p:sp>
        <p:nvSpPr>
          <p:cNvPr id="35" name="TextBox 34"/>
          <p:cNvSpPr txBox="1"/>
          <p:nvPr/>
        </p:nvSpPr>
        <p:spPr>
          <a:xfrm>
            <a:off x="9592056"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EPR、稳定性</a:t>
            </a:r>
          </a:p>
          <a:p>
            <a:pPr algn="ctr">
              <a:spcAft>
                <a:spcPts val="600"/>
              </a:spcAft>
              <a:defRPr sz="1600" b="0">
                <a:solidFill>
                  <a:srgbClr val="111111"/>
                </a:solidFill>
                <a:latin typeface="Microsoft YaHei"/>
              </a:defRPr>
            </a:pPr>
            <a:r>
              <a:t>必要时激发态测量</a:t>
            </a:r>
          </a:p>
        </p:txBody>
      </p:sp>
      <p:cxnSp>
        <p:nvCxnSpPr>
          <p:cNvPr id="36" name="Connector 35"/>
          <p:cNvCxnSpPr/>
          <p:nvPr/>
        </p:nvCxnSpPr>
        <p:spPr>
          <a:xfrm>
            <a:off x="9747504"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9592056"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支持或否定候选路径</a:t>
            </a:r>
          </a:p>
        </p:txBody>
      </p:sp>
      <p:sp>
        <p:nvSpPr>
          <p:cNvPr id="38" name="Rounded Rectangle 37"/>
          <p:cNvSpPr/>
          <p:nvPr/>
        </p:nvSpPr>
        <p:spPr>
          <a:xfrm>
            <a:off x="438912" y="5349240"/>
            <a:ext cx="11201400" cy="402336"/>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58368" y="5431536"/>
            <a:ext cx="10744200" cy="228600"/>
          </a:xfrm>
          <a:prstGeom prst="rect">
            <a:avLst/>
          </a:prstGeom>
          <a:noFill/>
          <a:effectLst/>
        </p:spPr>
        <p:txBody>
          <a:bodyPr wrap="square" lIns="22860" rIns="22860" tIns="0" bIns="0">
            <a:spAutoFit/>
          </a:bodyPr>
          <a:lstStyle/>
          <a:p>
            <a:pPr>
              <a:spcAft>
                <a:spcPts val="600"/>
              </a:spcAft>
              <a:defRPr sz="1450" b="1">
                <a:solidFill>
                  <a:srgbClr val="C00000"/>
                </a:solidFill>
                <a:latin typeface="Microsoft YaHei"/>
              </a:defRPr>
            </a:pPr>
            <a:r>
              <a:t>当前优先：无底物 DCE 空白 + 标准品与加标回收 + 转化率计算复核。</a:t>
            </a:r>
          </a:p>
        </p:txBody>
      </p:sp>
      <p:sp>
        <p:nvSpPr>
          <p:cNvPr id="40" name="Rectangle 3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hevron 4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3" name="TextBox 4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先让现有模型结果可信、可重复，再增加底物复杂度与机制解析深度。</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优先实验：空白与加标回收可先分离三类竞争解释</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沿用现有分析方法，在相同光照、气氛与取样条件下比较；先建立信号来源判据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17</a:t>
            </a:r>
          </a:p>
        </p:txBody>
      </p:sp>
      <p:sp>
        <p:nvSpPr>
          <p:cNvPr id="7" name="Rounded Rectangle 6"/>
          <p:cNvSpPr/>
          <p:nvPr/>
        </p:nvSpPr>
        <p:spPr>
          <a:xfrm>
            <a:off x="438912" y="1417320"/>
            <a:ext cx="508406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029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791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最小实验组合与记录项</a:t>
            </a:r>
          </a:p>
        </p:txBody>
      </p:sp>
      <p:graphicFrame>
        <p:nvGraphicFramePr>
          <p:cNvPr id="10" name="Table 9"/>
          <p:cNvGraphicFramePr>
            <a:graphicFrameLocks noGrp="1"/>
          </p:cNvGraphicFramePr>
          <p:nvPr/>
        </p:nvGraphicFramePr>
        <p:xfrm>
          <a:off x="594360" y="1965960"/>
          <a:ext cx="4773168" cy="2395728"/>
        </p:xfrm>
        <a:graphic>
          <a:graphicData uri="http://schemas.openxmlformats.org/drawingml/2006/table">
            <a:tbl>
              <a:tblPr firstRow="1" bandRow="1">
                <a:tableStyleId>{5C22544A-7EE6-4342-B048-85BDC9FD1C3A}</a:tableStyleId>
              </a:tblPr>
              <a:tblGrid>
                <a:gridCol w="2642616"/>
                <a:gridCol w="2130552"/>
              </a:tblGrid>
              <a:tr h="479145">
                <a:tc>
                  <a:txBody>
                    <a:bodyPr/>
                    <a:lstStyle/>
                    <a:p>
                      <a:pPr>
                        <a:defRPr sz="1350" b="1">
                          <a:solidFill>
                            <a:srgbClr val="FFFFFF"/>
                          </a:solidFill>
                          <a:latin typeface="Microsoft YaHei"/>
                        </a:defRPr>
                      </a:pPr>
                      <a:r>
                        <a:t>实验组</a:t>
                      </a:r>
                    </a:p>
                  </a:txBody>
                  <a:tcPr marL="91440" marR="64008" marT="64008" marB="45720">
                    <a:solidFill>
                      <a:srgbClr val="063584"/>
                    </a:solidFill>
                  </a:tcPr>
                </a:tc>
                <a:tc>
                  <a:txBody>
                    <a:bodyPr/>
                    <a:lstStyle/>
                    <a:p>
                      <a:pPr>
                        <a:defRPr sz="1350" b="1">
                          <a:solidFill>
                            <a:srgbClr val="FFFFFF"/>
                          </a:solidFill>
                          <a:latin typeface="Microsoft YaHei"/>
                        </a:defRPr>
                      </a:pPr>
                      <a:r>
                        <a:t>用途</a:t>
                      </a:r>
                    </a:p>
                  </a:txBody>
                  <a:tcPr marL="91440" marR="64008" marT="64008" marB="45720">
                    <a:solidFill>
                      <a:srgbClr val="063584"/>
                    </a:solidFill>
                  </a:tcPr>
                </a:tc>
              </a:tr>
              <a:tr h="479145">
                <a:tc>
                  <a:txBody>
                    <a:bodyPr/>
                    <a:lstStyle/>
                    <a:p>
                      <a:pPr>
                        <a:defRPr sz="1350" b="0">
                          <a:solidFill>
                            <a:srgbClr val="111111"/>
                          </a:solidFill>
                          <a:latin typeface="Microsoft YaHei"/>
                        </a:defRPr>
                      </a:pPr>
                      <a:r>
                        <a:t>完整反应体系</a:t>
                      </a:r>
                    </a:p>
                  </a:txBody>
                  <a:tcPr marL="91440" marR="64008" marT="64008" marB="45720">
                    <a:solidFill>
                      <a:srgbClr val="FFFFFF"/>
                    </a:solidFill>
                  </a:tcPr>
                </a:tc>
                <a:tc>
                  <a:txBody>
                    <a:bodyPr/>
                    <a:lstStyle/>
                    <a:p>
                      <a:pPr>
                        <a:defRPr sz="1350" b="0">
                          <a:solidFill>
                            <a:srgbClr val="111111"/>
                          </a:solidFill>
                          <a:latin typeface="Microsoft YaHei"/>
                        </a:defRPr>
                      </a:pPr>
                      <a:r>
                        <a:t>记录模型消耗与候选信号</a:t>
                      </a:r>
                    </a:p>
                  </a:txBody>
                  <a:tcPr marL="91440" marR="64008" marT="64008" marB="45720">
                    <a:solidFill>
                      <a:srgbClr val="FFFFFF"/>
                    </a:solidFill>
                  </a:tcPr>
                </a:tc>
              </a:tr>
              <a:tr h="479145">
                <a:tc>
                  <a:txBody>
                    <a:bodyPr/>
                    <a:lstStyle/>
                    <a:p>
                      <a:pPr>
                        <a:defRPr sz="1350" b="0">
                          <a:solidFill>
                            <a:srgbClr val="111111"/>
                          </a:solidFill>
                          <a:latin typeface="Microsoft YaHei"/>
                        </a:defRPr>
                      </a:pPr>
                      <a:r>
                        <a:t>无底物：DCE + EAQ + 光</a:t>
                      </a:r>
                    </a:p>
                  </a:txBody>
                  <a:tcPr marL="91440" marR="64008" marT="64008" marB="45720">
                    <a:solidFill>
                      <a:srgbClr val="EDF3FF"/>
                    </a:solidFill>
                  </a:tcPr>
                </a:tc>
                <a:tc>
                  <a:txBody>
                    <a:bodyPr/>
                    <a:lstStyle/>
                    <a:p>
                      <a:pPr>
                        <a:defRPr sz="1350" b="0">
                          <a:solidFill>
                            <a:srgbClr val="111111"/>
                          </a:solidFill>
                          <a:latin typeface="Microsoft YaHei"/>
                        </a:defRPr>
                      </a:pPr>
                      <a:r>
                        <a:t>检查介质背景产物</a:t>
                      </a:r>
                    </a:p>
                  </a:txBody>
                  <a:tcPr marL="91440" marR="64008" marT="64008" marB="45720">
                    <a:solidFill>
                      <a:srgbClr val="EDF3FF"/>
                    </a:solidFill>
                  </a:tcPr>
                </a:tc>
              </a:tr>
              <a:tr h="479145">
                <a:tc>
                  <a:txBody>
                    <a:bodyPr/>
                    <a:lstStyle/>
                    <a:p>
                      <a:pPr>
                        <a:defRPr sz="1350" b="0">
                          <a:solidFill>
                            <a:srgbClr val="111111"/>
                          </a:solidFill>
                          <a:latin typeface="Microsoft YaHei"/>
                        </a:defRPr>
                      </a:pPr>
                      <a:r>
                        <a:t>无 EAQ：底物 + DCE + 光</a:t>
                      </a:r>
                    </a:p>
                  </a:txBody>
                  <a:tcPr marL="91440" marR="64008" marT="64008" marB="45720">
                    <a:solidFill>
                      <a:srgbClr val="FFFFFF"/>
                    </a:solidFill>
                  </a:tcPr>
                </a:tc>
                <a:tc>
                  <a:txBody>
                    <a:bodyPr/>
                    <a:lstStyle/>
                    <a:p>
                      <a:pPr>
                        <a:defRPr sz="1350" b="0">
                          <a:solidFill>
                            <a:srgbClr val="111111"/>
                          </a:solidFill>
                          <a:latin typeface="Microsoft YaHei"/>
                        </a:defRPr>
                      </a:pPr>
                      <a:r>
                        <a:t>检查背景光反应</a:t>
                      </a:r>
                    </a:p>
                  </a:txBody>
                  <a:tcPr marL="91440" marR="64008" marT="64008" marB="45720">
                    <a:solidFill>
                      <a:srgbClr val="FFFFFF"/>
                    </a:solidFill>
                  </a:tcPr>
                </a:tc>
              </a:tr>
              <a:tr h="479148">
                <a:tc>
                  <a:txBody>
                    <a:bodyPr/>
                    <a:lstStyle/>
                    <a:p>
                      <a:pPr>
                        <a:defRPr sz="1350" b="0">
                          <a:solidFill>
                            <a:srgbClr val="111111"/>
                          </a:solidFill>
                          <a:latin typeface="Microsoft YaHei"/>
                        </a:defRPr>
                      </a:pPr>
                      <a:r>
                        <a:t>未反应样品加标 / 回收</a:t>
                      </a:r>
                    </a:p>
                  </a:txBody>
                  <a:tcPr marL="91440" marR="64008" marT="64008" marB="45720">
                    <a:solidFill>
                      <a:srgbClr val="EDF3FF"/>
                    </a:solidFill>
                  </a:tcPr>
                </a:tc>
                <a:tc>
                  <a:txBody>
                    <a:bodyPr/>
                    <a:lstStyle/>
                    <a:p>
                      <a:pPr>
                        <a:defRPr sz="1350" b="0">
                          <a:solidFill>
                            <a:srgbClr val="111111"/>
                          </a:solidFill>
                          <a:latin typeface="Microsoft YaHei"/>
                        </a:defRPr>
                      </a:pPr>
                      <a:r>
                        <a:t>检查响应、回收率与漏检</a:t>
                      </a:r>
                    </a:p>
                  </a:txBody>
                  <a:tcPr marL="91440" marR="64008" marT="64008" marB="45720">
                    <a:solidFill>
                      <a:srgbClr val="EDF3FF"/>
                    </a:solidFill>
                  </a:tcPr>
                </a:tc>
              </a:tr>
            </a:tbl>
          </a:graphicData>
        </a:graphic>
      </p:graphicFrame>
      <p:sp>
        <p:nvSpPr>
          <p:cNvPr id="11" name="TextBox 10"/>
          <p:cNvSpPr txBox="1"/>
          <p:nvPr/>
        </p:nvSpPr>
        <p:spPr>
          <a:xfrm>
            <a:off x="713232" y="4663440"/>
            <a:ext cx="4507992" cy="749808"/>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共同记录：原始色谱、保留时间、内标、</a:t>
            </a:r>
          </a:p>
          <a:p>
            <a:pPr>
              <a:spcAft>
                <a:spcPts val="600"/>
              </a:spcAft>
              <a:defRPr sz="1500" b="1">
                <a:solidFill>
                  <a:srgbClr val="063584"/>
                </a:solidFill>
                <a:latin typeface="Microsoft YaHei"/>
              </a:defRPr>
            </a:pPr>
            <a:r>
              <a:t>响应校准、回收率与质量去向。</a:t>
            </a:r>
          </a:p>
        </p:txBody>
      </p:sp>
      <p:sp>
        <p:nvSpPr>
          <p:cNvPr id="12" name="Rounded Rectangle 11"/>
          <p:cNvSpPr/>
          <p:nvPr/>
        </p:nvSpPr>
        <p:spPr>
          <a:xfrm>
            <a:off x="5733288" y="1417320"/>
            <a:ext cx="590702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5760720" y="1444752"/>
            <a:ext cx="585216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879592" y="1495044"/>
            <a:ext cx="561441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结果—解释—后续动作</a:t>
            </a:r>
          </a:p>
        </p:txBody>
      </p:sp>
      <p:sp>
        <p:nvSpPr>
          <p:cNvPr id="15" name="Oval 14"/>
          <p:cNvSpPr/>
          <p:nvPr/>
        </p:nvSpPr>
        <p:spPr>
          <a:xfrm>
            <a:off x="5961888"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966459"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7" name="TextBox 16"/>
          <p:cNvSpPr txBox="1"/>
          <p:nvPr/>
        </p:nvSpPr>
        <p:spPr>
          <a:xfrm>
            <a:off x="6345936" y="1965960"/>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空白出现同类候选物</a:t>
            </a:r>
          </a:p>
        </p:txBody>
      </p:sp>
      <p:sp>
        <p:nvSpPr>
          <p:cNvPr id="18" name="TextBox 17"/>
          <p:cNvSpPr txBox="1"/>
          <p:nvPr/>
        </p:nvSpPr>
        <p:spPr>
          <a:xfrm>
            <a:off x="6345936" y="2395728"/>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优先支持介质来源</a:t>
            </a:r>
          </a:p>
        </p:txBody>
      </p:sp>
      <p:sp>
        <p:nvSpPr>
          <p:cNvPr id="19" name="TextBox 18"/>
          <p:cNvSpPr txBox="1"/>
          <p:nvPr/>
        </p:nvSpPr>
        <p:spPr>
          <a:xfrm>
            <a:off x="6345936" y="2779776"/>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先做结构确证与背景扣除</a:t>
            </a:r>
          </a:p>
        </p:txBody>
      </p:sp>
      <p:sp>
        <p:nvSpPr>
          <p:cNvPr id="20" name="Oval 19"/>
          <p:cNvSpPr/>
          <p:nvPr/>
        </p:nvSpPr>
        <p:spPr>
          <a:xfrm>
            <a:off x="5961888" y="3099815"/>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966459" y="3108959"/>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2" name="TextBox 21"/>
          <p:cNvSpPr txBox="1"/>
          <p:nvPr/>
        </p:nvSpPr>
        <p:spPr>
          <a:xfrm>
            <a:off x="6345936" y="3099815"/>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加标回收或校准异常</a:t>
            </a:r>
          </a:p>
        </p:txBody>
      </p:sp>
      <p:sp>
        <p:nvSpPr>
          <p:cNvPr id="23" name="TextBox 22"/>
          <p:cNvSpPr txBox="1"/>
          <p:nvPr/>
        </p:nvSpPr>
        <p:spPr>
          <a:xfrm>
            <a:off x="6345936" y="3529583"/>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优先排查分析方法</a:t>
            </a:r>
          </a:p>
        </p:txBody>
      </p:sp>
      <p:sp>
        <p:nvSpPr>
          <p:cNvPr id="24" name="TextBox 23"/>
          <p:cNvSpPr txBox="1"/>
          <p:nvPr/>
        </p:nvSpPr>
        <p:spPr>
          <a:xfrm>
            <a:off x="6345936" y="3913631"/>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修正方法后再比较转化率</a:t>
            </a:r>
          </a:p>
        </p:txBody>
      </p:sp>
      <p:sp>
        <p:nvSpPr>
          <p:cNvPr id="25" name="Oval 24"/>
          <p:cNvSpPr/>
          <p:nvPr/>
        </p:nvSpPr>
        <p:spPr>
          <a:xfrm>
            <a:off x="5961888" y="423367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966459" y="424281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7" name="TextBox 26"/>
          <p:cNvSpPr txBox="1"/>
          <p:nvPr/>
        </p:nvSpPr>
        <p:spPr>
          <a:xfrm>
            <a:off x="6345936" y="4233672"/>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底物消耗与产物可对应</a:t>
            </a:r>
          </a:p>
        </p:txBody>
      </p:sp>
      <p:sp>
        <p:nvSpPr>
          <p:cNvPr id="28" name="TextBox 27"/>
          <p:cNvSpPr txBox="1"/>
          <p:nvPr/>
        </p:nvSpPr>
        <p:spPr>
          <a:xfrm>
            <a:off x="6345936" y="4663440"/>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支持真实模型转化</a:t>
            </a:r>
          </a:p>
        </p:txBody>
      </p:sp>
      <p:sp>
        <p:nvSpPr>
          <p:cNvPr id="29" name="TextBox 28"/>
          <p:cNvSpPr txBox="1"/>
          <p:nvPr/>
        </p:nvSpPr>
        <p:spPr>
          <a:xfrm>
            <a:off x="6345936" y="5047488"/>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再进入物种、选择性与条件优化</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近期重点</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这组实验先缩小解释空间，结果本身仍不能单独鉴定 Cl· 或证明 PVC 断链。</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总结：以模型异常修正假说，以独立证据验证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研究依据、实际观察和后续证据明确分层，避免将探索阶段包装成已建立的降解体系</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18</a:t>
            </a:r>
          </a:p>
        </p:txBody>
      </p:sp>
      <p:sp>
        <p:nvSpPr>
          <p:cNvPr id="7" name="Rounded Rectangle 6"/>
          <p:cNvSpPr/>
          <p:nvPr/>
        </p:nvSpPr>
        <p:spPr>
          <a:xfrm>
            <a:off x="438912" y="1417320"/>
            <a:ext cx="371246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65759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41985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已经具备的研究依据</a:t>
            </a:r>
          </a:p>
        </p:txBody>
      </p:sp>
      <p:sp>
        <p:nvSpPr>
          <p:cNvPr id="10" name="Oval 9"/>
          <p:cNvSpPr/>
          <p:nvPr/>
        </p:nvSpPr>
        <p:spPr>
          <a:xfrm>
            <a:off x="676656"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81228"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24128" y="1993392"/>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自由基过程可参与老化</a:t>
            </a:r>
          </a:p>
        </p:txBody>
      </p:sp>
      <p:sp>
        <p:nvSpPr>
          <p:cNvPr id="13" name="TextBox 12"/>
          <p:cNvSpPr txBox="1"/>
          <p:nvPr/>
        </p:nvSpPr>
        <p:spPr>
          <a:xfrm>
            <a:off x="1024128" y="2359152"/>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早期光氧化研究提供</a:t>
            </a:r>
          </a:p>
          <a:p>
            <a:pPr>
              <a:spcAft>
                <a:spcPts val="600"/>
              </a:spcAft>
              <a:defRPr sz="1450" b="0">
                <a:solidFill>
                  <a:srgbClr val="111111"/>
                </a:solidFill>
                <a:latin typeface="Microsoft YaHei"/>
              </a:defRPr>
            </a:pPr>
            <a:r>
              <a:t>活化与氧化链反应入口。</a:t>
            </a:r>
          </a:p>
        </p:txBody>
      </p:sp>
      <p:sp>
        <p:nvSpPr>
          <p:cNvPr id="14" name="Oval 13"/>
          <p:cNvSpPr/>
          <p:nvPr/>
        </p:nvSpPr>
        <p:spPr>
          <a:xfrm>
            <a:off x="676656" y="323697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1228" y="324612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16" name="TextBox 15"/>
          <p:cNvSpPr txBox="1"/>
          <p:nvPr/>
        </p:nvSpPr>
        <p:spPr>
          <a:xfrm>
            <a:off x="1024128" y="3236976"/>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AQ 与介质具有可研究性</a:t>
            </a:r>
          </a:p>
        </p:txBody>
      </p:sp>
      <p:sp>
        <p:nvSpPr>
          <p:cNvPr id="17" name="TextBox 16"/>
          <p:cNvSpPr txBox="1"/>
          <p:nvPr/>
        </p:nvSpPr>
        <p:spPr>
          <a:xfrm>
            <a:off x="1024128" y="3602736"/>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AQ 光化学与聚合物文献</a:t>
            </a:r>
          </a:p>
          <a:p>
            <a:pPr>
              <a:spcAft>
                <a:spcPts val="600"/>
              </a:spcAft>
              <a:defRPr sz="1450" b="0">
                <a:solidFill>
                  <a:srgbClr val="111111"/>
                </a:solidFill>
                <a:latin typeface="Microsoft YaHei"/>
              </a:defRPr>
            </a:pPr>
            <a:r>
              <a:t>支持提出候选机制。</a:t>
            </a:r>
          </a:p>
        </p:txBody>
      </p:sp>
      <p:sp>
        <p:nvSpPr>
          <p:cNvPr id="18" name="Oval 17"/>
          <p:cNvSpPr/>
          <p:nvPr/>
        </p:nvSpPr>
        <p:spPr>
          <a:xfrm>
            <a:off x="676656" y="44897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81228" y="44988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0" name="TextBox 19"/>
          <p:cNvSpPr txBox="1"/>
          <p:nvPr/>
        </p:nvSpPr>
        <p:spPr>
          <a:xfrm>
            <a:off x="1024128" y="4489704"/>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现有结果需要重新关联</a:t>
            </a:r>
          </a:p>
        </p:txBody>
      </p:sp>
      <p:sp>
        <p:nvSpPr>
          <p:cNvPr id="21" name="TextBox 20"/>
          <p:cNvSpPr txBox="1"/>
          <p:nvPr/>
        </p:nvSpPr>
        <p:spPr>
          <a:xfrm>
            <a:off x="1024128" y="4855464"/>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转化记录存在，但目标</a:t>
            </a:r>
          </a:p>
          <a:p>
            <a:pPr>
              <a:spcAft>
                <a:spcPts val="600"/>
              </a:spcAft>
              <a:defRPr sz="1450" b="0">
                <a:solidFill>
                  <a:srgbClr val="111111"/>
                </a:solidFill>
                <a:latin typeface="Microsoft YaHei"/>
              </a:defRPr>
            </a:pPr>
            <a:r>
              <a:t>产物和信号来源未明确。</a:t>
            </a:r>
          </a:p>
        </p:txBody>
      </p:sp>
      <p:sp>
        <p:nvSpPr>
          <p:cNvPr id="22" name="Rounded Rectangle 21"/>
          <p:cNvSpPr/>
          <p:nvPr/>
        </p:nvSpPr>
        <p:spPr>
          <a:xfrm>
            <a:off x="4361688" y="1417320"/>
            <a:ext cx="333756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4389120" y="1444752"/>
            <a:ext cx="328269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507992" y="1495044"/>
            <a:ext cx="304495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由预想走向修正</a:t>
            </a:r>
          </a:p>
        </p:txBody>
      </p:sp>
      <p:sp>
        <p:nvSpPr>
          <p:cNvPr id="25" name="TextBox 24"/>
          <p:cNvSpPr txBox="1"/>
          <p:nvPr/>
        </p:nvSpPr>
        <p:spPr>
          <a:xfrm>
            <a:off x="4572000" y="1993392"/>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AQ 启动的候选网络</a:t>
            </a:r>
          </a:p>
        </p:txBody>
      </p:sp>
      <p:cxnSp>
        <p:nvCxnSpPr>
          <p:cNvPr id="26" name="Connector 25"/>
          <p:cNvCxnSpPr/>
          <p:nvPr/>
        </p:nvCxnSpPr>
        <p:spPr>
          <a:xfrm>
            <a:off x="6025896" y="2478024"/>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4572000" y="2834640"/>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实验出现介质相关信号</a:t>
            </a:r>
          </a:p>
        </p:txBody>
      </p:sp>
      <p:cxnSp>
        <p:nvCxnSpPr>
          <p:cNvPr id="28" name="Connector 27"/>
          <p:cNvCxnSpPr/>
          <p:nvPr/>
        </p:nvCxnSpPr>
        <p:spPr>
          <a:xfrm>
            <a:off x="6025896" y="3319272"/>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4572000" y="3675888"/>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加入竞争路径与分析缺口</a:t>
            </a:r>
          </a:p>
        </p:txBody>
      </p:sp>
      <p:cxnSp>
        <p:nvCxnSpPr>
          <p:cNvPr id="30" name="Connector 29"/>
          <p:cNvCxnSpPr/>
          <p:nvPr/>
        </p:nvCxnSpPr>
        <p:spPr>
          <a:xfrm>
            <a:off x="6025896" y="4160520"/>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4572000" y="4517136"/>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以对照筛选真实路径</a:t>
            </a:r>
          </a:p>
        </p:txBody>
      </p:sp>
      <p:sp>
        <p:nvSpPr>
          <p:cNvPr id="32" name="Rounded Rectangle 31"/>
          <p:cNvSpPr/>
          <p:nvPr/>
        </p:nvSpPr>
        <p:spPr>
          <a:xfrm>
            <a:off x="7909560" y="1417320"/>
            <a:ext cx="373075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936992" y="1444752"/>
            <a:ext cx="367588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055864" y="1495044"/>
            <a:ext cx="343814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下一阶段的关键交付</a:t>
            </a:r>
          </a:p>
        </p:txBody>
      </p:sp>
      <p:sp>
        <p:nvSpPr>
          <p:cNvPr id="35" name="Oval 34"/>
          <p:cNvSpPr/>
          <p:nvPr/>
        </p:nvSpPr>
        <p:spPr>
          <a:xfrm>
            <a:off x="8147304"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8151876"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7" name="TextBox 36"/>
          <p:cNvSpPr txBox="1"/>
          <p:nvPr/>
        </p:nvSpPr>
        <p:spPr>
          <a:xfrm>
            <a:off x="8494776" y="1993392"/>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可靠模型反应</a:t>
            </a:r>
          </a:p>
        </p:txBody>
      </p:sp>
      <p:sp>
        <p:nvSpPr>
          <p:cNvPr id="38" name="TextBox 37"/>
          <p:cNvSpPr txBox="1"/>
          <p:nvPr/>
        </p:nvSpPr>
        <p:spPr>
          <a:xfrm>
            <a:off x="8494776" y="2359152"/>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标准品、定量、溶剂空白</a:t>
            </a:r>
          </a:p>
          <a:p>
            <a:pPr>
              <a:spcAft>
                <a:spcPts val="600"/>
              </a:spcAft>
              <a:defRPr sz="1450" b="0">
                <a:solidFill>
                  <a:srgbClr val="111111"/>
                </a:solidFill>
                <a:latin typeface="Microsoft YaHei"/>
              </a:defRPr>
            </a:pPr>
            <a:r>
              <a:t>与可重复的产物对应。</a:t>
            </a:r>
          </a:p>
        </p:txBody>
      </p:sp>
      <p:sp>
        <p:nvSpPr>
          <p:cNvPr id="39" name="Oval 38"/>
          <p:cNvSpPr/>
          <p:nvPr/>
        </p:nvSpPr>
        <p:spPr>
          <a:xfrm>
            <a:off x="8147304" y="330098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151876" y="331012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41" name="TextBox 40"/>
          <p:cNvSpPr txBox="1"/>
          <p:nvPr/>
        </p:nvSpPr>
        <p:spPr>
          <a:xfrm>
            <a:off x="8494776" y="3300984"/>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PVC 主链变化证据</a:t>
            </a:r>
          </a:p>
        </p:txBody>
      </p:sp>
      <p:sp>
        <p:nvSpPr>
          <p:cNvPr id="42" name="TextBox 41"/>
          <p:cNvSpPr txBox="1"/>
          <p:nvPr/>
        </p:nvSpPr>
        <p:spPr>
          <a:xfrm>
            <a:off x="8494776" y="3666744"/>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氯平衡 + 链长 + 凝胶</a:t>
            </a:r>
          </a:p>
          <a:p>
            <a:pPr>
              <a:spcAft>
                <a:spcPts val="600"/>
              </a:spcAft>
              <a:defRPr sz="1450" b="0">
                <a:solidFill>
                  <a:srgbClr val="111111"/>
                </a:solidFill>
                <a:latin typeface="Microsoft YaHei"/>
              </a:defRPr>
            </a:pPr>
            <a:r>
              <a:t>与产物组成联合测量。</a:t>
            </a:r>
          </a:p>
        </p:txBody>
      </p:sp>
      <p:sp>
        <p:nvSpPr>
          <p:cNvPr id="43" name="Oval 42"/>
          <p:cNvSpPr/>
          <p:nvPr/>
        </p:nvSpPr>
        <p:spPr>
          <a:xfrm>
            <a:off x="8147304" y="461772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151876" y="4626864"/>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5" name="TextBox 44"/>
          <p:cNvSpPr txBox="1"/>
          <p:nvPr/>
        </p:nvSpPr>
        <p:spPr>
          <a:xfrm>
            <a:off x="8494776" y="4617720"/>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可证伪的机制解释</a:t>
            </a:r>
          </a:p>
        </p:txBody>
      </p:sp>
      <p:sp>
        <p:nvSpPr>
          <p:cNvPr id="46" name="TextBox 45"/>
          <p:cNvSpPr txBox="1"/>
          <p:nvPr/>
        </p:nvSpPr>
        <p:spPr>
          <a:xfrm>
            <a:off x="8494776" y="4983480"/>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不预设唯一自由基，</a:t>
            </a:r>
          </a:p>
          <a:p>
            <a:pPr>
              <a:spcAft>
                <a:spcPts val="600"/>
              </a:spcAft>
              <a:defRPr sz="1450" b="0">
                <a:solidFill>
                  <a:srgbClr val="111111"/>
                </a:solidFill>
                <a:latin typeface="Microsoft YaHei"/>
              </a:defRPr>
            </a:pPr>
            <a:r>
              <a:t>允许关键支路被否定。</a:t>
            </a:r>
          </a:p>
        </p:txBody>
      </p:sp>
      <p:sp>
        <p:nvSpPr>
          <p:cNvPr id="47" name="Rectangle 4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Chevron 4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0" name="TextBox 4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研究目标保持不变：探索有机光敏体系；研究结论必须随证据逐步建立。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参考文献：按实际支持的论点使用，并保留核验边界</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六篇上传全文已查阅；AQ 原始研究线索仅二次引用；在线检索与 DOI 解析受网络 403 限制</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19</a:t>
            </a:r>
          </a:p>
        </p:txBody>
      </p:sp>
      <p:sp>
        <p:nvSpPr>
          <p:cNvPr id="7" name="Oval 6"/>
          <p:cNvSpPr/>
          <p:nvPr/>
        </p:nvSpPr>
        <p:spPr>
          <a:xfrm>
            <a:off x="475488" y="14813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0060" y="14904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1</a:t>
            </a:r>
          </a:p>
        </p:txBody>
      </p:sp>
      <p:sp>
        <p:nvSpPr>
          <p:cNvPr id="9" name="TextBox 8"/>
          <p:cNvSpPr txBox="1"/>
          <p:nvPr/>
        </p:nvSpPr>
        <p:spPr>
          <a:xfrm>
            <a:off x="832104" y="14538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Xu, S.; Han, Z.; Yuan, K.; et al. Nat. Rev. Methods Primers 2023, 3, 44.</a:t>
            </a:r>
          </a:p>
        </p:txBody>
      </p:sp>
      <p:sp>
        <p:nvSpPr>
          <p:cNvPr id="10" name="TextBox 9"/>
          <p:cNvSpPr txBox="1"/>
          <p:nvPr/>
        </p:nvSpPr>
        <p:spPr>
          <a:xfrm>
            <a:off x="832104" y="16550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Upcycling chlorinated waste plastics.</a:t>
            </a:r>
          </a:p>
        </p:txBody>
      </p:sp>
      <p:sp>
        <p:nvSpPr>
          <p:cNvPr id="11" name="TextBox 10"/>
          <p:cNvSpPr txBox="1"/>
          <p:nvPr/>
        </p:nvSpPr>
        <p:spPr>
          <a:xfrm>
            <a:off x="832104" y="18745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2"/>
              </a:rPr>
              <a:t>https://doi.org/10.1038/s43586-023-00227-w</a:t>
            </a:r>
          </a:p>
        </p:txBody>
      </p:sp>
      <p:sp>
        <p:nvSpPr>
          <p:cNvPr id="12" name="TextBox 11"/>
          <p:cNvSpPr txBox="1"/>
          <p:nvPr/>
        </p:nvSpPr>
        <p:spPr>
          <a:xfrm>
            <a:off x="6702552" y="18745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氯管理与升级利用</a:t>
            </a:r>
          </a:p>
        </p:txBody>
      </p:sp>
      <p:sp>
        <p:nvSpPr>
          <p:cNvPr id="13" name="Oval 12"/>
          <p:cNvSpPr/>
          <p:nvPr/>
        </p:nvSpPr>
        <p:spPr>
          <a:xfrm>
            <a:off x="475488" y="20756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0060" y="208483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2</a:t>
            </a:r>
          </a:p>
        </p:txBody>
      </p:sp>
      <p:sp>
        <p:nvSpPr>
          <p:cNvPr id="15" name="TextBox 14"/>
          <p:cNvSpPr txBox="1"/>
          <p:nvPr/>
        </p:nvSpPr>
        <p:spPr>
          <a:xfrm>
            <a:off x="832104" y="20482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Gardette, J.-L.; Gaumet, S.; Lemaire, J. Macromolecules 1989, 22, 2576–2581.</a:t>
            </a:r>
          </a:p>
        </p:txBody>
      </p:sp>
      <p:sp>
        <p:nvSpPr>
          <p:cNvPr id="16" name="TextBox 15"/>
          <p:cNvSpPr txBox="1"/>
          <p:nvPr/>
        </p:nvSpPr>
        <p:spPr>
          <a:xfrm>
            <a:off x="832104" y="22494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Photooxidation of poly(vinyl chloride). 1. A reexamination of the mechanism.</a:t>
            </a:r>
          </a:p>
        </p:txBody>
      </p:sp>
      <p:sp>
        <p:nvSpPr>
          <p:cNvPr id="17" name="TextBox 16"/>
          <p:cNvSpPr txBox="1"/>
          <p:nvPr/>
        </p:nvSpPr>
        <p:spPr>
          <a:xfrm>
            <a:off x="832104" y="246888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3"/>
              </a:rPr>
              <a:t>https://doi.org/10.1021/ma00196a005</a:t>
            </a:r>
          </a:p>
        </p:txBody>
      </p:sp>
      <p:sp>
        <p:nvSpPr>
          <p:cNvPr id="18" name="TextBox 17"/>
          <p:cNvSpPr txBox="1"/>
          <p:nvPr/>
        </p:nvSpPr>
        <p:spPr>
          <a:xfrm>
            <a:off x="6702552" y="246888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光氧化产物与机制讨论</a:t>
            </a:r>
          </a:p>
        </p:txBody>
      </p:sp>
      <p:sp>
        <p:nvSpPr>
          <p:cNvPr id="19" name="Oval 18"/>
          <p:cNvSpPr/>
          <p:nvPr/>
        </p:nvSpPr>
        <p:spPr>
          <a:xfrm>
            <a:off x="475488" y="267004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80060" y="267919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3</a:t>
            </a:r>
          </a:p>
        </p:txBody>
      </p:sp>
      <p:sp>
        <p:nvSpPr>
          <p:cNvPr id="21" name="TextBox 20"/>
          <p:cNvSpPr txBox="1"/>
          <p:nvPr/>
        </p:nvSpPr>
        <p:spPr>
          <a:xfrm>
            <a:off x="832104" y="264261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Huang, Z.; Wang, H. J. Polym. Sci. 2024, 62, 969–997.</a:t>
            </a:r>
          </a:p>
        </p:txBody>
      </p:sp>
      <p:sp>
        <p:nvSpPr>
          <p:cNvPr id="22" name="TextBox 21"/>
          <p:cNvSpPr txBox="1"/>
          <p:nvPr/>
        </p:nvSpPr>
        <p:spPr>
          <a:xfrm>
            <a:off x="832104" y="284378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 review on photochemical effects of common plastics and their related applications.</a:t>
            </a:r>
          </a:p>
        </p:txBody>
      </p:sp>
      <p:sp>
        <p:nvSpPr>
          <p:cNvPr id="23" name="TextBox 22"/>
          <p:cNvSpPr txBox="1"/>
          <p:nvPr/>
        </p:nvSpPr>
        <p:spPr>
          <a:xfrm>
            <a:off x="832104" y="306324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4"/>
              </a:rPr>
              <a:t>https://doi.org/10.1002/pol.20230322</a:t>
            </a:r>
          </a:p>
        </p:txBody>
      </p:sp>
      <p:sp>
        <p:nvSpPr>
          <p:cNvPr id="24" name="TextBox 23"/>
          <p:cNvSpPr txBox="1"/>
          <p:nvPr/>
        </p:nvSpPr>
        <p:spPr>
          <a:xfrm>
            <a:off x="6702552" y="306324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聚合物吸光、结构与相态</a:t>
            </a:r>
          </a:p>
        </p:txBody>
      </p:sp>
      <p:sp>
        <p:nvSpPr>
          <p:cNvPr id="25" name="Oval 24"/>
          <p:cNvSpPr/>
          <p:nvPr/>
        </p:nvSpPr>
        <p:spPr>
          <a:xfrm>
            <a:off x="475488" y="326440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80060" y="327355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4</a:t>
            </a:r>
          </a:p>
        </p:txBody>
      </p:sp>
      <p:sp>
        <p:nvSpPr>
          <p:cNvPr id="27" name="TextBox 26"/>
          <p:cNvSpPr txBox="1"/>
          <p:nvPr/>
        </p:nvSpPr>
        <p:spPr>
          <a:xfrm>
            <a:off x="832104" y="323697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Chen, C.-X.; Yang, S.-S.; Pang, J.-W.; et al. Environ. Sci. Ecotechnol. 2024, 22, 100449.</a:t>
            </a:r>
          </a:p>
        </p:txBody>
      </p:sp>
      <p:sp>
        <p:nvSpPr>
          <p:cNvPr id="28" name="TextBox 27"/>
          <p:cNvSpPr txBox="1"/>
          <p:nvPr/>
        </p:nvSpPr>
        <p:spPr>
          <a:xfrm>
            <a:off x="832104" y="343814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Anthraquinones-based photocatalysis: A comprehensive review.</a:t>
            </a:r>
          </a:p>
        </p:txBody>
      </p:sp>
      <p:sp>
        <p:nvSpPr>
          <p:cNvPr id="29" name="TextBox 28"/>
          <p:cNvSpPr txBox="1"/>
          <p:nvPr/>
        </p:nvSpPr>
        <p:spPr>
          <a:xfrm>
            <a:off x="832104" y="365760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5"/>
              </a:rPr>
              <a:t>https://doi.org/10.1016/j.ese.2024.100449</a:t>
            </a:r>
          </a:p>
        </p:txBody>
      </p:sp>
      <p:sp>
        <p:nvSpPr>
          <p:cNvPr id="30" name="TextBox 29"/>
          <p:cNvSpPr txBox="1"/>
          <p:nvPr/>
        </p:nvSpPr>
        <p:spPr>
          <a:xfrm>
            <a:off x="6702552" y="365760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AQ 激发态与氧相关过程</a:t>
            </a:r>
          </a:p>
        </p:txBody>
      </p:sp>
      <p:sp>
        <p:nvSpPr>
          <p:cNvPr id="31" name="Oval 30"/>
          <p:cNvSpPr/>
          <p:nvPr/>
        </p:nvSpPr>
        <p:spPr>
          <a:xfrm>
            <a:off x="475488" y="385876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 y="386791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5</a:t>
            </a:r>
          </a:p>
        </p:txBody>
      </p:sp>
      <p:sp>
        <p:nvSpPr>
          <p:cNvPr id="33" name="TextBox 32"/>
          <p:cNvSpPr txBox="1"/>
          <p:nvPr/>
        </p:nvSpPr>
        <p:spPr>
          <a:xfrm>
            <a:off x="832104" y="383133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Qin, J.; Dou, Y.; Zhou, J.; et al. Appl. Catal. B: Environ. 2024, 341, 123355.</a:t>
            </a:r>
          </a:p>
        </p:txBody>
      </p:sp>
      <p:sp>
        <p:nvSpPr>
          <p:cNvPr id="34" name="TextBox 33"/>
          <p:cNvSpPr txBox="1"/>
          <p:nvPr/>
        </p:nvSpPr>
        <p:spPr>
          <a:xfrm>
            <a:off x="832104" y="403250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Encapsulation of carbon-nanodots into metal-organic frameworks for boosting photocatalytic upcycling of polyvinyl chloride plastic.</a:t>
            </a:r>
          </a:p>
        </p:txBody>
      </p:sp>
      <p:sp>
        <p:nvSpPr>
          <p:cNvPr id="35" name="TextBox 34"/>
          <p:cNvSpPr txBox="1"/>
          <p:nvPr/>
        </p:nvSpPr>
        <p:spPr>
          <a:xfrm>
            <a:off x="832104" y="425196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6"/>
              </a:rPr>
              <a:t>https://doi.org/10.1016/j.apcatb.2023.123355</a:t>
            </a:r>
          </a:p>
        </p:txBody>
      </p:sp>
      <p:sp>
        <p:nvSpPr>
          <p:cNvPr id="36" name="TextBox 35"/>
          <p:cNvSpPr txBox="1"/>
          <p:nvPr/>
        </p:nvSpPr>
        <p:spPr>
          <a:xfrm>
            <a:off x="6702552" y="425196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联合证据与条件差异</a:t>
            </a:r>
          </a:p>
        </p:txBody>
      </p:sp>
      <p:sp>
        <p:nvSpPr>
          <p:cNvPr id="37" name="Oval 36"/>
          <p:cNvSpPr/>
          <p:nvPr/>
        </p:nvSpPr>
        <p:spPr>
          <a:xfrm>
            <a:off x="475488" y="44531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80060" y="44622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6</a:t>
            </a:r>
          </a:p>
        </p:txBody>
      </p:sp>
      <p:sp>
        <p:nvSpPr>
          <p:cNvPr id="39" name="TextBox 38"/>
          <p:cNvSpPr txBox="1"/>
          <p:nvPr/>
        </p:nvSpPr>
        <p:spPr>
          <a:xfrm>
            <a:off x="832104" y="44256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Su, K.; Gao, T.; Liu, H.; et al. Angew. Chem. Int. Ed. 2026, e5578835.</a:t>
            </a:r>
          </a:p>
        </p:txBody>
      </p:sp>
      <p:sp>
        <p:nvSpPr>
          <p:cNvPr id="40" name="TextBox 39"/>
          <p:cNvSpPr txBox="1"/>
          <p:nvPr/>
        </p:nvSpPr>
        <p:spPr>
          <a:xfrm>
            <a:off x="832104" y="46268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Photocracking of Polystyrene into Aromatic Products in CH₂Cl₂.</a:t>
            </a:r>
          </a:p>
        </p:txBody>
      </p:sp>
      <p:sp>
        <p:nvSpPr>
          <p:cNvPr id="41" name="TextBox 40"/>
          <p:cNvSpPr txBox="1"/>
          <p:nvPr/>
        </p:nvSpPr>
        <p:spPr>
          <a:xfrm>
            <a:off x="832104" y="48463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7"/>
              </a:rPr>
              <a:t>https://doi.org/10.1002/anie.5578835</a:t>
            </a:r>
          </a:p>
        </p:txBody>
      </p:sp>
      <p:sp>
        <p:nvSpPr>
          <p:cNvPr id="42" name="TextBox 41"/>
          <p:cNvSpPr txBox="1"/>
          <p:nvPr/>
        </p:nvSpPr>
        <p:spPr>
          <a:xfrm>
            <a:off x="6702552" y="48463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介质、Cl· 与链长证据</a:t>
            </a:r>
          </a:p>
        </p:txBody>
      </p:sp>
      <p:sp>
        <p:nvSpPr>
          <p:cNvPr id="43" name="Oval 42"/>
          <p:cNvSpPr/>
          <p:nvPr/>
        </p:nvSpPr>
        <p:spPr>
          <a:xfrm>
            <a:off x="475488" y="50474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480060" y="505663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7</a:t>
            </a:r>
          </a:p>
        </p:txBody>
      </p:sp>
      <p:sp>
        <p:nvSpPr>
          <p:cNvPr id="45" name="TextBox 44"/>
          <p:cNvSpPr txBox="1"/>
          <p:nvPr/>
        </p:nvSpPr>
        <p:spPr>
          <a:xfrm>
            <a:off x="832104" y="50200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Ren, M. G.; Mao, M.; Duan, X. Y.; Song, Q. H. J. Photochem. Photobiol. A: Chem. 2011, 217, 164–168.</a:t>
            </a:r>
          </a:p>
        </p:txBody>
      </p:sp>
      <p:sp>
        <p:nvSpPr>
          <p:cNvPr id="46" name="TextBox 45"/>
          <p:cNvSpPr txBox="1"/>
          <p:nvPr/>
        </p:nvSpPr>
        <p:spPr>
          <a:xfrm>
            <a:off x="832104" y="52212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Hydrogen peroxide synthesis by direct photoreduction of 2-ethylanthraquinone in aerated solutions.</a:t>
            </a:r>
          </a:p>
        </p:txBody>
      </p:sp>
      <p:sp>
        <p:nvSpPr>
          <p:cNvPr id="47" name="TextBox 46"/>
          <p:cNvSpPr txBox="1"/>
          <p:nvPr/>
        </p:nvSpPr>
        <p:spPr>
          <a:xfrm>
            <a:off x="832104" y="5440680"/>
            <a:ext cx="1051560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据 Chen 综述 Ref.98；原文 / DOI 未取得；不补写未核实 DOI。</a:t>
            </a:r>
          </a:p>
        </p:txBody>
      </p:sp>
      <p:sp>
        <p:nvSpPr>
          <p:cNvPr id="48" name="Rectangle 4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Chevron 4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1" name="TextBox 5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文献支持提出机制，不替代本体系的物种检测、物料平衡和主链变化证据。</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感谢聆听，敬请各位老师批评指正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20</a:t>
            </a:r>
          </a:p>
        </p:txBody>
      </p:sp>
      <p:sp>
        <p:nvSpPr>
          <p:cNvPr id="6" name="Rounded Rectangle 5"/>
          <p:cNvSpPr/>
          <p:nvPr/>
        </p:nvSpPr>
        <p:spPr>
          <a:xfrm>
            <a:off x="438912" y="1234440"/>
            <a:ext cx="11201400" cy="4498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05840" y="1783080"/>
            <a:ext cx="10058400" cy="594360"/>
          </a:xfrm>
          <a:prstGeom prst="rect">
            <a:avLst/>
          </a:prstGeom>
          <a:noFill/>
          <a:effectLst/>
        </p:spPr>
        <p:txBody>
          <a:bodyPr wrap="square" lIns="22860" rIns="22860" tIns="0" bIns="0">
            <a:spAutoFit/>
          </a:bodyPr>
          <a:lstStyle/>
          <a:p>
            <a:pPr algn="ctr">
              <a:spcAft>
                <a:spcPts val="600"/>
              </a:spcAft>
              <a:defRPr sz="3800" b="1">
                <a:solidFill>
                  <a:srgbClr val="063584"/>
                </a:solidFill>
                <a:latin typeface="Microsoft YaHei"/>
              </a:defRPr>
            </a:pPr>
            <a:r>
              <a:t>THANK YOU</a:t>
            </a:r>
          </a:p>
        </p:txBody>
      </p:sp>
      <p:sp>
        <p:nvSpPr>
          <p:cNvPr id="8" name="Freeform 7"/>
          <p:cNvSpPr/>
          <p:nvPr/>
        </p:nvSpPr>
        <p:spPr>
          <a:xfrm>
            <a:off x="2761488" y="3008376"/>
            <a:ext cx="6675120" cy="219456"/>
          </a:xfrm>
          <a:custGeom>
            <a:avLst/>
            <a:gdLst/>
            <a:ahLst/>
            <a:cxnLst/>
            <a:rect l="l" t="t" r="r" b="b"/>
            <a:pathLst>
              <a:path w="6675120" h="219456">
                <a:moveTo>
                  <a:pt x="0" y="0"/>
                </a:moveTo>
                <a:lnTo>
                  <a:pt x="667512" y="219456"/>
                </a:lnTo>
                <a:lnTo>
                  <a:pt x="1335024" y="0"/>
                </a:lnTo>
                <a:lnTo>
                  <a:pt x="2002536" y="219456"/>
                </a:lnTo>
                <a:lnTo>
                  <a:pt x="2670048" y="0"/>
                </a:lnTo>
                <a:lnTo>
                  <a:pt x="3337560" y="219456"/>
                </a:lnTo>
                <a:lnTo>
                  <a:pt x="4005072" y="0"/>
                </a:lnTo>
                <a:lnTo>
                  <a:pt x="4672583" y="219456"/>
                </a:lnTo>
                <a:lnTo>
                  <a:pt x="5340095" y="0"/>
                </a:lnTo>
                <a:lnTo>
                  <a:pt x="6007608" y="219456"/>
                </a:lnTo>
                <a:lnTo>
                  <a:pt x="667512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429000"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3300984"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1" name="Connector 10"/>
          <p:cNvCxnSpPr/>
          <p:nvPr/>
        </p:nvCxnSpPr>
        <p:spPr>
          <a:xfrm>
            <a:off x="4764024"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4636008"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3" name="Connector 12"/>
          <p:cNvCxnSpPr/>
          <p:nvPr/>
        </p:nvCxnSpPr>
        <p:spPr>
          <a:xfrm>
            <a:off x="6099048"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71032"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5" name="Connector 14"/>
          <p:cNvCxnSpPr/>
          <p:nvPr/>
        </p:nvCxnSpPr>
        <p:spPr>
          <a:xfrm>
            <a:off x="7434071"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306055"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7" name="Connector 16"/>
          <p:cNvCxnSpPr/>
          <p:nvPr/>
        </p:nvCxnSpPr>
        <p:spPr>
          <a:xfrm>
            <a:off x="8769096"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8641080"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19" name="TextBox 18"/>
          <p:cNvSpPr txBox="1"/>
          <p:nvPr/>
        </p:nvSpPr>
        <p:spPr>
          <a:xfrm>
            <a:off x="2514600"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0" name="TextBox 19"/>
          <p:cNvSpPr txBox="1"/>
          <p:nvPr/>
        </p:nvSpPr>
        <p:spPr>
          <a:xfrm>
            <a:off x="9482328"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1" name="TextBox 20"/>
          <p:cNvSpPr txBox="1"/>
          <p:nvPr/>
        </p:nvSpPr>
        <p:spPr>
          <a:xfrm>
            <a:off x="1024128" y="4700016"/>
            <a:ext cx="10040112" cy="393192"/>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佟可心  ·  北京工业大学</a:t>
            </a:r>
          </a:p>
        </p:txBody>
      </p:sp>
      <p:sp>
        <p:nvSpPr>
          <p:cNvPr id="22" name="Rectangle 2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Chevron 2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讨论</a:t>
            </a:r>
          </a:p>
        </p:txBody>
      </p:sp>
      <p:sp>
        <p:nvSpPr>
          <p:cNvPr id="25" name="TextBox 2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期待对实验优先级、分析方法及机理证据提出建议。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